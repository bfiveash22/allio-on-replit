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orgottenformula.com/sho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peptide-chat.abacusai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FORGOTTEN FORMULA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MEMBER ASSOCIATION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25400">
            <a:solidFill>
              <a:srgbClr val="C9A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Member Protocol  2026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Michael Hanneman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by: FF Trustee Michael Blake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"Before you heal someone, ask him if he's willing to give up the things that make him sick"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Hippocrates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ABOUT OUR ASSOCIATION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Is Forgotten Formula PMA?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Forgotten Formula PMA is a Private Members Association operating at the constitutional level — providing medical freedom through natural therapies, peptide protocols, and regenerative modalities.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Supreme Court has upheld the constitutional right to private association, allowing members to access modalities and therapeutic formulations outside of conventional regulation.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Constitutional Protection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Operating above state-level regulation under the right to private association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In-House Manufacturing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peptide compounding and bioregulator formulation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AI-Powered Research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FORMULA protocol assembly backed by published PubMed research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"We hold these truths to be self-evident…" — Declaration of Independence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PMA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Constitutional framework &amp; philosophy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methodology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Therapy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Injectable, oral &amp; bioregulator protocols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HBOT &amp; IV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Hyperbaric &amp; infusion therapy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Detoxification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Heavy metal, pathogen &amp; gut protocols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 support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 &amp; Nutrition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Phased dietary protocol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03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Follow-up labs &amp; milestones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Root-Cause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"Illness is the summation of experience" — every symptom traces back to a disrupted foundation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CarbonCycle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Environmental toxin accumulation disrupts cellular energy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MicrobiotaShift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Gut flora dysbiosis triggers systemic immune dysfunction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MitochondrialDrift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108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ATP production failure leads to chronic fatigue and degeneration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AutoimmuneLoop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Chronic inflammation creates self-perpetuating tissue damage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body was designed to heal itself — given the proper conditions" — Hippocrates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R's to Healing at FF PMA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85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1: REMOVE (Weeks 1-3)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10058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 elimination of pesticides, heavy metals, and pathogens; reduce inflammatory signals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68580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2: RESTORE (Weeks 4-6)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4-6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Restore renal and hepatic filtration, microbiome, &amp; antioxidant systems.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73152" cy="685800"/>
          </a:xfrm>
          <a:prstGeom prst="rect">
            <a:avLst/>
          </a:prstGeom>
          <a:solidFill>
            <a:srgbClr val="C8CFE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FE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3: REPLENISH (Weeks 7-9)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7-9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Replenish minerals, antioxidants, mitochondrial/energy cofactors, gut flora.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37560"/>
            <a:ext cx="73152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4: REGENERATE (Weeks 10-12)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10-12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3375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Tissue, mitochondrial, and nephron regenerative therapies; reinforce sirtuin/NAD axis; stem cell optimization.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5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5: REBALANCE (Weeks 13+)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4114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Maintenance, personalization, stress adaptation, ongoing detox pulse therapy,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Systems of Focus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P53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Tumor Suppressor Pathways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P53 gene is the body's master cancer defense. When disrupted by toxins, oxidative stress, or chronic inflammation, malignant cells escape surveillance.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Peptides: PNC-27, FOXO4-DRI, MENK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 produce cellular energy. Dysfunction leads to fatigue, neurodegeneration, and metabolic collapse. Supporting ATP production is foundational.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Peptides: SS-31, MOTS-c, Epithalon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ECS regulates pain, mood, immunity, and homeostasis. Deficiency drives chronic illness. Targeted cannabinoid ratios restore balance.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Compounds: CBD, CBG, CBN, THC, DMSO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90-Day Protocol + Phase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10312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 —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Detox IV protocol (5-step)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Begin oral peptides &amp; bioregulators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ECS suppository introduction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Dietary elimination phase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Baseline labs &amp; imaging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097280"/>
            <a:ext cx="210312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 —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Add injectable peptides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HBOT sessions begin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Increase cannabinoid ratios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Gut flora optimization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Nutrient repletion protocols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97280"/>
            <a:ext cx="2103120" cy="36576"/>
          </a:xfrm>
          <a:prstGeom prst="rect">
            <a:avLst/>
          </a:prstGeom>
          <a:solidFill>
            <a:srgbClr val="C8CFE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FE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 — Optimize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Full-spectrum modality stack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Advanced sirtuin/mito support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Exosome therapy if indicated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Re-assess labs &amp; markers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Transition planning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9516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0" y="1097280"/>
            <a:ext cx="210312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 — Maintain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8660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Maintenance peptide cycles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Quarterly lab monitoring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Lifestyle integration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Community support access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Ongoing ECS optimization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 Information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238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Legal 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Michael Hanneman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MM / DD / YYYY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Phone Number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(___) ___-____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Address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email@example.com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Mailing Address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Rural United States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Emergency 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 &amp; phone number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Height / Weight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___ft ___in / ___lbs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 History &amp; Current Conditions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238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Health Concern(s)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Chronic kidney disease — renal function decline, Decades of pesticide exposure from crop dusting career, Heavy metal accumulation from aerial chemical application, Declining energy and vitality, Toxin-induced organ damage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Previous Assessments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Chronic kidney disease, Pesticide toxicity syndrome, Heavy metal burden, Renal insufficiency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Medications &amp; Supplements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Kidney support medications (to be confirmed at intake)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Known Allergies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Medications, foods, environmental...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Family History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Cancer, autoimmune, cardiovascular...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 Surgeries / Procedures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 with approximate dates...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Symptoms, Lifestyle &amp; Goals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286000"/>
          </a:xfrm>
          <a:prstGeom prst="rect">
            <a:avLst>
              <a:gd name="adj" fmla="val 4000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Symptoms (check all that apply)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Chronic fatigue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Joint/muscle pain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Brain fog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Digestive issues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Insomnia / poor sleep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Weight gain/loss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Skin issues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Mood / anxiety / depression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Hormonal imbalance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Autoimmune flare-ups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6888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Frequent infections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0" y="2743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Chemical sensitivity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2286000"/>
          </a:xfrm>
          <a:prstGeom prst="rect">
            <a:avLst>
              <a:gd name="adj" fmla="val 4000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Lifestyle &amp; Environmental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Diet 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1581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/ Keto / Paleo / Vegan...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920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Exercise Frequency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None / 1-2x / 3-5x / Daily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Toxic Exposures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2587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Heavy metals, Pesticides, Organophosphate pesticides (chlorpyrifos, malathion, parathion), Glyphosate (Roundup) — extensive exposure, 2,4-D herbicide, Carbamate insecticides, Pyrethroid insecticides, Fumigants and fungicides, Aviation fuel and exhaust particulates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926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Stress Level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/ Moderate / High / Severe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229600" cy="1371600"/>
          </a:xfrm>
          <a:prstGeom prst="rect">
            <a:avLst>
              <a:gd name="adj" fmla="val 6667"/>
            </a:avLst>
          </a:prstGeom>
          <a:solidFill>
            <a:srgbClr val="24305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Goals &amp; Desired Outcomes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are your top health goals for this 90-day program?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THERAPY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16 Custom Peptides — Injectable, Oral &amp; Bioregulator Protocols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C9A5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Injectable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9224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Bioregulators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IMMUNE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Immune Surveillance &amp; Defense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LL-37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200mcg SC daily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x4 weeks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 days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Thymosin Alpha-1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1.6mg SC 2x weekly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2x weekly for 8 weeks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 weeks/cycle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KPV (oral)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capsule (500mcg)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2x daily on empty stomach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weeks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Thymosin Alpha-1 (Oral)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capsule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1x daily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LONGEVITY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Anti-Aging &amp; Cellular Longevity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Kidney Bioregulator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10mg SC daily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x10-20 days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10-20 days/cycle, repeat 3-6 months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Epithalon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10mg SC daily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x10 days (repeat every 6 mo)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days/cycle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Kidney Bioregulator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capsules (10mg)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 1: 30 days, then 10 days monthly x3mo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Liver Bioregulator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capsules (10mg)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 1: 30 days, then 10 days monthly x3mo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+ 2 additional peptides in this category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ADDITIONAL PEPTIDES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Peptide Protocols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Pancragen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10mg SC daily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x20 days (repeat quarterly)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 days per cycle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Livagen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10mg SC daily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x10-20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10-20 days per cycle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SS-31 (Elamipretide)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10-20mg SC daily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x4-6 weeks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28-42 days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BPC-157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500mcg SC daily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x4-8 weeks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28-56 days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+ 2 additional peptides in this category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THERAPY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Hyperbaric Oxygen Therapy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delivers 100% oxygen under increased atmospheric pressure, driving oxygen deep into tissues, plasma, and cerebrospinal fluid. This accelerates wound healing, reduces inflammation, stimulates stem cell mobilization, and enhances mitochondrial function.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operates its own HBOT Systems Division with medical-grade chambers available to members.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Neovascularization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Stimulates new blood vessel growth in damaged tissues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Stem Cell Release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 to 8x increase in circulating stem cells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Anti-Inflammatory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cytokine storms and systemic inflammation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Neuroprotection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brain oxygenation and cognitive recovery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HBOT Systems Division — Contact us for availability and member pricing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Chamber Options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HE5000 Plus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Premium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Clinical-grade hard-shell chamber with full 1.5 ATA capability. Walk-in design seats 5 people. Ideal for families, clinics, and high-volume use.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1.5 ATA maximum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Walk-in, 5-person capacity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Medical-grade oxygen concentrator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Built-in cooling 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Vitaeris 320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Portable soft-shell chamber rated to 1.3 ATA. Single-person design, easy setup. Perfect for daily home use and maintenance protocols.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1.3 ATA maximum pressure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Single-person portable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Easy home setup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Quiet operation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Military Grade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Dual-person hard-shell chamber rated to 2.0 ATA. Hospital-grade construction with advanced monitoring. For clinics and serious practitioners.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2.0 ATA maximum pressure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Dual-person capacity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0936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Hospital-grade construction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Advanced pressure monitoring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DETOXIFICATION PROTOCOLS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5-Step Detox IV Sequence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Administered sequentially in-clinic to chelate heavy metals, replenish nutrients, and support detox pathways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Chelation therapy — binds and removes lead, mercury, cadmium, arsenic from bloodstream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Myers' Cocktail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Magnesium, calcium, B-vitamins, vitamin C — replenishes minerals depleted by chelation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Glutathione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Master antioxidant — supports liver detox pathways, protects cells during chelation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High-Dose Vitamin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25–75g IV — generates hydrogen peroxide in cancer cells, spares healthy tissue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Phosphatidylcholine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Cell membrane repair — restores lipid bilayer integrity damaged by toxins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At-Home Therapeutic Protocols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Detox Baths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Epsom salt, bentonite clay, and essential oil baths — 3x per week for lymphatic drainage and toxin elimination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Castor Oil Packs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to liver area 30–60 min, 3–4x/week to stimulate lymphatic flow and reduce inflammation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Coffee Enemas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Organic coffee retention enemas for glutathione production and bile duct cleansing — per protocol schedule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Nebulization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Colloidal silver, glutathione, or hydrogen peroxide nebulization for respiratory and immune support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 Light Therapy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NIR/red light panel sessions for mitochondrial support, wound healing, and inflammation reduction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Barefoot earthing 20+ min/day for inflammation reduction and circadian rhythm regulation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PREREQUISITE — BIOLOGICAL DENTISTRY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Dental Dangers &amp; Disease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"Fix the roof before it rains — amalgam, cavitations, and root canals are silent drivers of systemic disease"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Mercury Amalgam Fillings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amalgam filling contains ~50% mercury — a potent neurotoxin. Mercury vapor is released 24/7, accumulating in brain, kidneys, and gut. Safe removal by IAOMT-certified dentist required.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 Canals &amp; Cavitations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Dead teeth harbor anaerobic bacteria that produce potent toxins (thioethers). These drain into the bloodstream, contributing to autoimmune disease, cancer, and chronic inflammation.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9A5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Galvanic Currents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Mixed metals in the mouth create battery-like electrical currents that disrupt the nervous system and accelerate mercury release from amalgam fillings.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Dietary Protocol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54864" cy="1188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Elimination/Clean Start (Week 1)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all processed/contaminated food; start organic/kidney-safe diet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Eliminate: Dairy, Gluten, Processed food, High potassium (if GFR&lt;30), Artificial sweeteners, Refined sugar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Low-potassium organic produce, Berries, Beets, Artichoke, Wild fish, Fermented foods as tolerated, Olive oil, Filtered water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118872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Anti-Inflammatory/Microbiome Restoration (Weeks 2-6)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renal and gut repair; maintain strict anti-toxin &amp; microbiome safe food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Eliminate: Glyphosate sourced/crop foods, Conventional grains/vegetable oils, Nightshades (if arthritic)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High-fiber, prebiotic vegetables, Omega-3-rich wild fish, Greek yogurt (if tolerated, for probiotics), Cooked cruciferous veggies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Condition-Specific Nutrition (Weeks 7-9)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low-toxin animal proteins/plant variety, monitor renal threshold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Eliminate: Large protein boluses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Rotate fish, plant legumes, eggs as tolerated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572000"/>
            <a:ext cx="54864" cy="1188720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17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Regenerative/Stem Cell (Weeks 10-12)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protein within renal safety, mitochondrial/detox nutrients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Bone broth, collagen peptides, high-antioxidant produce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5897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Intermittent Fasting: 12:12 time-restricted eating </a:t>
            </a:r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First meal 7-8AM, last meal 7-8PM (Support mitochondrial repair, minimize renal stress overnight)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MODALITIES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Therapeutic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Liposomal Supplements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Astaxanthin + Vitamin C (Liposomal), Curcumin+6 (Liposomal), Vitamin D + K (Liposomal), Selenium + 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Nebulization Protocols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097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Nebulized Glutathione, Nebulized Hydrogen Peroxide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Topical Protocols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Extended Recovery Cooling Lotion, Kaneh Bosem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Lifestyle Modifications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Hydration, Sleep, Movement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Dietary Guidelines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 processed foods, refined carbohydrates, and all sources of glyphosate/resi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MITOCHONDRIAL &amp; SIRTUIN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NAD+, GlyNAC, MitoSTAC Complex, Methylation, Cellular Energy Restoration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Sirtuin &amp; Mitochondrial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MitoSTAC Complex (Sirtuin Activation)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Resveratrol: 250mg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Pterostilbene: 100mg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Quercetin: 500mg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Fisetin: 500mg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822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&amp; GlyNAC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NMN: 250mg — 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GlyNAC Protocol: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Glycine: 5g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NAC: 900mg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 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Support Stack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 (ubiquinol): 100mg — Mitochondrial ETC/renal energy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PQQ: 20mg — Biogenesis, mitochondrial regeneration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D-ribose: 5g — ATP synthesis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L-carnitine: 500mg — Fatty acid mitochondrial import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Methylation Support: 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Methyl-b12 1000mcg | Active folate 400mcg | TMG (trimethylglycine) 500mg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PATHWAY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MitoSTAC Activation Cascade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Input Compounds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Oral / IV / Suppository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NMN / NR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precursors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Resveratrol + Quercetin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 activators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 + PQQ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ETC cofactors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 + Glutathione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Antioxidant shield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Fisetin + Curcumin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Senolytic + NF-kB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5176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5176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Cellular Targets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15544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Pool 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1828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Sirtuin activation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00400" y="22402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ETC Efficiency 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2514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ATP production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00400" y="29260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Senescent Cell 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200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Zombie cell clearance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00400" y="36118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611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Inflammation 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886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NF-kB suppression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24305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Cellular energy (ATP)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DNA repair capacity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↓ Oxidative stress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↓ Biological age markers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Telomere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CANNABINOID LIGAND PATHWAY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Endocannabinoid System &amp; Ligand Pathways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Cannabinoid Ligand Pathway Research (FFPMA Drive) — CB1/CB2 receptor signaling cascade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CB1 Receptors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Brain, CNS, Nervous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Pain modulation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Mood &amp; anxiety regulation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Appetite control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Memory &amp; cognition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411480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CB2 Receptors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Immune System, Periphery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Immune modulation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Anti-inflammatory signaling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Bone density regulation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Gut barrier integrity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Multi-layered ECS modulation using suppositories, C60-rich tinctures, and daytime/nighttime cannabinoids reduces inflamm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Forgotten Formula Core Product 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protocol includes these foundational products — available at forgottenformula.com/shop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794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ECS Suppositories (Day + Night)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CBD/CBG/CBN/THC in cacao butter + DMSO — rectal delivery for 80%+ bioavailability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Elixir for Everything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non-psychoactive cannabinoids sublingual tincture — full ECS activation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Nascent Iodine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1-3 drops titrating up — thyroid, breast tissue, whole-body repletion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MitoStac (Sirtuin Activator)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Resveratrol + Pterostilbene + Quercetin + Fisetin — mitochondrial longevity complex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 Essential Nutrients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Wallach framework — complete mineral, vitamin, amino acid, and fatty acid repletion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Bio-Vitamin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Whole-food bioavailable vitamin complex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Mighty Blue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Antioxidant superfood blend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914400"/>
            <a:ext cx="3794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Reds + Greens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Organic phytonutrient powder — alkalizing and nutrient-dense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GlyNAC (Glycine + NAC)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Glycine 5g + NAC 900mg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Glutathione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absorption — detox, immune, and cellular defense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Curcumin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Anti-inflammatory — NF-kB suppression, joint and tissue support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Vitamin C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High-dose bioavailable C — immune, collagen, antioxidant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D3/K2 + Astaxanthin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Bone, immune, and cardiovascular support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Kaneh Bosem (Ancient Healing Oil)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Topical CBD/CBG/DMSO blend — targeted transdermal delivery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Shop: https://www.forgottenformula.com/shop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 PROTOCOL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 Optimization — Suppositories, Tinctures &amp; Targeted Ratios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 Protocol — Endocannabinoid System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Multi-layered ECS modulation using suppositories, C60-rich tinctures, and daytime/nighttime cannabinoids reduces inflammation, protects mitochondria, and promotes homeostasis—crucial for root-cause resolution of toxin and kidney injury.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DAYTIME SUPPOSITORY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CBD: 40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CBG: 20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DMSO: 25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Base: cacao butter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Delivery: suppository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NIGHTTIME SUPPOSITORY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CBD: 50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THC: 2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CBN: 20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DMSO: 25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Base: cacao butter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Elixir for Everything with C60: 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0.5ml AM/PM — CBD, CBG, CBC, CBDV, CBN, THCV, CBDA, CBGA, CBCA, THCA, CBDVA, CBCVA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TARGETED CANNABINOID RATIOS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Inflammation, tissue repair (CKD, chemical injury): </a:t>
            </a:r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CBD:CBG:CBN:THC = 5:1:2:0.1 — CBD/CBG potentiate anti-inflammatory, CBN at night for sleep repair, minimal THC for tissue and pain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Suppository Protocols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 PMA Suppositories (nighttime)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Formula: ECS Nighttime Blend | Base: cacao butter | Freq: Nightly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Anti-inflammatory, analgesic, mitochondrial, and sleep repair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 PMA Suppositories (daytime)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Formula: ECS Daytime Blend | Base: cacao butter | Freq: Every AM or as-needed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Inflammation control, pain/energy support, immune homeostasis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Liposomal Supplements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Enhanced bioavailability through phospholipid encapsulation — 5-10x absorption vs standard oral supplements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Astaxanthin + Vitamin C (Liposomal)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1 tbsp (Bedtime)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Purpose: Mitochondrial and kidney tissue antioxidant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Curcumin+6 (Liposomal)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1 tbsp (Midday)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Purpose: Systemic anti-inflammatory, kidney/liver protection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Vitamin D + K (Liposomal)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1 tbsp (Midday)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Purpose: Immune, bone, endocrine, renal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Selenium + Magnesium + Zinc (Liposomal)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1 tbsp (Midday)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Purpose: Trace element replenishment for kidney/heavy metal protection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Nebulization Protocols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Direct pulmonary delivery — bypasses GI tract for immediate systemic absorption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Nebulized Glutathione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Solution: 200mg in 3mL saline | Dose: 200mg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 3x weekly | Duration: 10-15 minutes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Mycotoxin clearance from respiratory system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Nebulized Hydrogen Peroxide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Solution: 0.04% food-grade H2O2 in saline | Dose: 3mL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 2x weekly | Duration: 10 minutes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Antimicrobial respiratory support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Topical Protocols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Extended Recovery Cooling Lotion (Lotion)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Application: Thin layer over low back/kidney region | Frequency: 2-3x/week or after castor oil pack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Tissue penetration, local inflammation reduction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Kaneh Bosem (Oil)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Application: Massage into lumbar and abdominal area after bath or before bed | Frequency: 2-3x/week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Purpose: Pain, circulation, skin/soft tissue repair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Nascent Iodine Protocol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Thyroid, breast tissue, and whole-body iodine repletion — the most universally deficient mineral in modern populations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NASCENT IODINE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Product: Nascent Iodine (Detoxified Form)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Starting Dose: 1-3 drops in water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Titration: Increase by 1 drop every 3-5 days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Target: 12-50mg daily (condition-dependent)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Timing: Morning on empty stomach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Nascent: Atomic form (I²) is immediately bioavailable — no conversion needed by thyroid peroxidase enzyme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SELENIUM COMPANION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Product: Selenium + Magnesium &amp; Zinc (Liposomal)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 1 tbsp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Timing: Midday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CRITICAL: Always pair iodine with selenium — selenium activates glutathione peroxidase (GPx) which neutralizes H₂O₂ generated during iodine uptake by thyroid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Also supports: Thyroid hormone T4→T3 conversion, heavy metal chelation, immune modulation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IODINE LOADING PROTOCOL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1-2: 1-3 drops nascent iodine AM  |  Week 3-4: 5-7 drops  |  Week 5+: Titrate to therapeutic dose per labs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Monitor: 24-hour iodine loading test (urinary iodine) every 90 days  |  TSH, Free T3/T4 at baseline and 6 weeks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BUILDER — MODALITY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Your Custom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 all modalities and products for this member's program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Selection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Pancragen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Kidney Bioregulator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Livagen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951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SS-31 (Elamipretide)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96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Epithalon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BPC-157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HBOT Chamber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HE5000 Plus (1.5 ATA)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Vitaeris 320 (1.3 ATA)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20939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Military Grade (2.0 ATA)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91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 Protocols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EDTA Chelation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813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Myers' Cocktail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40142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Glutathione Push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42153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High-Dose Vit 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44165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Phosphatidylcholine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291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Modalities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11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Detox Bath Protocol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3480" y="3813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Biological Dentistry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0142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5-Day Fast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83480" y="42153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Cannabinoid Pathway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3480" y="44165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MitoSTAC Stack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 Schedule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32004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Bio-Vitamin All-in-One Micronized Liquid — 1 tablespoon daily for broad-spectrum micronutrients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Mighty Blue Liposomal Glutathione — 1 tablespoon daily for antioxidant/detox support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Sirtuin/MitoSTAC stack — Resveratrol 250mg, Pterostilbene 100mg, Quercetin 500mg, Fisetin 500mg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GlyNAC protocol — Glycine 5g + NAC 900mg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Reds + Adaptogen Greens powder — 1 scoop each in filtered water, daily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Elixir for Everything (C60 formula) — 0.5ml sublingual, hold 60 seconds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Pancragen peptide — 10mg SC injection, 30g insulin syringe, daily x20 days (renal regeneration)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Milk Thistle (if not allergic) — 600mg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Filtered water with FF Trace Minerals &amp; French Celtic Salt — 16oz, upon rising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965960" cy="3200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Kidney Bioregulator — 2 capsules (10mg/cap) daily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Livagen peptide — 10mg SC, after meal, use 30g insulin syringe (liver detox/bioregulation)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 Ubiquinol — 100mg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Curcumin+6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Vitamin D3+K2 Liposomal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Selenium + Magnesium &amp; Zinc Liposomal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L-carnitine — 500mg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Probiotic (100B CFU multi-strain) — High potency, with food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965960" cy="320040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Omega-3 (Algal or Fish oil) — 1,000mg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D-ribose powder — 5g in water (mitochondrial energy)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TB-500 peptide — 5mg SC, 30g insulin, every other day x4-6 weeks (renal/gut repair)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LL-37 peptide — 200mcg SC, 30g insulin, daily x4 weeks (antimicrobial, anti-inflammatory)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Glutathione oral (as extra antioxidant) — 250mg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65960" cy="32004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BEDTIME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ECS Nighttime Suppository — CBD 50mg, CBG 10mg, CBN 20mg, THC 2mg, DMSO 25mg in cacao butter base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Astaxanthin w/ Vitamin C Liposomal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Pinealon oral peptide — 1-2 capsules for pineal + circadian/anti-aging effects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Castor oil pack over kidneys/liver — 30-45 minutes, min. 3x/week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90-Day Schedule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1–4: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1: Intake + labs + detox bath begins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2: First IV sequence + immune peptides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3: 5-day fast (supervised)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4: Liver cleanse + HBOT starts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5–8: Rebuild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5: Full peptide stack active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6: Daily HBOT sessions begin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7: Mid-protocol labs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8: Bioregulator cycle starts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9–12: Optimize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9: Advanced modalities introduced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10: MitoSTAC activation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11: Cannabinoid pathway tuning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12: Final labs + protocol review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4: Maintain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HBOT maintenance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Quarterly lab monitoring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Bioregulator cycling continues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Lifestyle protocol maintenance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MONITORING &amp; FOLLOW-UP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Progress Tracking &amp; Lab Schedule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560320"/>
          </a:xfrm>
          <a:prstGeom prst="rect">
            <a:avLst>
              <a:gd name="adj" fmla="val 357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 Work Schedule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417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CBC, CMP, thyroid panel, hormone panel, inflammatory markers (CRP, ESR), heavy metals, mycotoxins, vitamin D, B12, folate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Mid-Protocol Labs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 inflammatory markers, metabolic panel, hormone re-check, liver enzymes, kidney function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Labs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423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repeat of baseline panel, before/after comparison, P53 markers, telomere length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Maintenance Labs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2926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Quarterly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Inflammatory markers, metabolic panel, vitamin levels, hormone panel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9728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Follow-Up Schedule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RESEARCH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Chat — AI Assistant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our custom AI research assistant trained on thousands of peptide studies, clinical trials, and mechanism-of-action papers.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questions about any peptide in your protocol — interactions, dosing rationale, mechanism of action, supporting research.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"What is the mechanism of PNC-27 against pancreatic cancer?"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"Can LL-37 and KPV be taken simultaneously?"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49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"Show me clinical trials for Epithalon and telomere extension"</a:t>
            </a:r>
            <a:endParaRPr lang="en-US" sz="9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2743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Peptide Chat →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Backing Our Protocols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Moringa Health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Comprehensive overview of moringa's anti-inflammatory, antioxidant, and immune-supporting properties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https://ensosuperfoods.com/blogs/supergreens/moringa-health-benefits-for-women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Chlorella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Heavy metal detox, immune support, and nutrient density — why chlorella is in your protocol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https://www.healthline.com/nutrition/benefits-of-chlorella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Marine Phytoplankton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marine phytoplankton provides bioavailable nutrition at the cellular level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https://flexhealthandwellness.com/blogs/blog/marine-phytoplankton-improves-human-health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Sirtuins and Atherosclerosis Reduction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Peer-reviewed research on how sirtuin activation reduces atherosclerosis — the science behind our NAD+ protocols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https://www.ahajournals.org/doi/10.1161/CIRCRESAHA.118.312498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IV for Plaque Reduction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DMSO IV therapy supports plaque reduction and cardiovascular health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https://www.lifeextension.com/magazine/2007/7/cover_dmso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Hydrogen Peroxide for Clogged Arteries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hydrogen peroxide therapy supports arterial clearance and cardiovascular function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https://rmcgeorgia.com/how-hydrogen-peroxide-helps-clear-clogged-arteries/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Mercury Toxicity from Dental Amalgam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Scientific evidence linking mercury amalgam fillings to systemic toxicity and chronic health conditions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https://www.ncbi.nlm.nih.gov/pmc/articles/PMC3388771/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 and Immune Regulation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the ECS modulates immune response — the science behind our CBD/CBG protocols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https://www.ncbi.nlm.nih.gov/pmc/articles/PMC7023045/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Iodine Deficiency and Thyroid/Cancer Connection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Relationship between iodine deficiency, thyroid dysfunction, and cancer risk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https://www.ncbi.nlm.nih.gov/pmc/articles/PMC3752513/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Gut Microbiome and Systemic Health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gut dysbiosis drives systemic inflammation and chronic disease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https://www.ncbi.nlm.nih.gov/pmc/articles/PMC7510518/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LIBRARY &amp; 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 Library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books, research documents, schedules, and protocol guides in one place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Recommended Reading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Virus Recovery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Essential reading on breaking up biofilm with nebulization and high-dose vitamin C therapy for viral recovery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Dental Dangers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Please read over Dental Dangers as amalgam issues and periodontal problems can significantly hurt longevity goals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Iodine Crisis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reading on the relationship between selenium, iodine, and cancer rise in the U.S.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Minute Restore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Hydrogen peroxide therapy overview and its applications for supporting the body's natural healing processes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Cymatics: A Study of Wave Phenomena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Foundation text for frequency-based healing modalities — understanding how sound and vibration affect cellular health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Toxic Dentistry Exposed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how mercury amalgam fillings and root canals create systemic toxicity that undermines your healing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93192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Drive Resources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documents, research papers, and guides will be shared via Google Drive after onboarding.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Custom Protocol —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Name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Michael Hanneman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2026-03-15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Selected Peptides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Pancragen, Kidney Bioregulator, Livagen, SS-31 (Elamipretide), Epithalon, BPC-157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Modalities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IV Therapy, IM Injections, ECS Optimization, Sirtuin/Mito Support, HBOT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Dietary Focus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Elimination/Clean Start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Healing Begins 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root-cause approach to regeneration — customized for your body, backed by science, protected by constitutional right.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C9A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forgottenformulapma.com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peptide-chat.abacusai.app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Systems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Division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"Before you heal someone, ask him if he's willing to give up the things that make him sick"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Hippocrates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Confidential — Private Members Association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Michael Hanneman — Member Protocol 2026</dc:title>
  <dc:subject>Structural template derived from Trustee FINAL reference PPTX (Drive: 1Tc_hVN7M6c2Q41151GXsvrH8OWAZ7hPL). Color theme: Navy (#1A2440/#0A0E1A) + Gold (#C9A54E) + Lavender (#E8EDF5/#C8CFE0). Fonts: Playfair Display (headers) + Source Sans 3 (body). Based on Trustee_FFPMA_Protocol_Final_Template_1773763070654.pptx. 34-slide structure.</dc:subject>
  <dc:creator>Forgotten Formula PMA — DR. FORMULA</dc:creator>
  <cp:lastModifiedBy>Forgotten Formula PMA — DR. FORMULA</cp:lastModifiedBy>
  <cp:revision>1</cp:revision>
  <dcterms:created xsi:type="dcterms:W3CDTF">2026-03-19T04:08:14Z</dcterms:created>
  <dcterms:modified xsi:type="dcterms:W3CDTF">2026-03-19T04:08:14Z</dcterms:modified>
</cp:coreProperties>
</file>