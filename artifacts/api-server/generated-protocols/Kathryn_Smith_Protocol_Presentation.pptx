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forgottenformula.com/shop"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923"/>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sp>
      <p:sp>
        <p:nvSpPr>
          <p:cNvPr id="3" name="Shape 1"/>
          <p:cNvSpPr/>
          <p:nvPr/>
        </p:nvSpPr>
        <p:spPr>
          <a:xfrm>
            <a:off x="0" y="5088636"/>
            <a:ext cx="9144000" cy="54864"/>
          </a:xfrm>
          <a:prstGeom prst="rect">
            <a:avLst/>
          </a:prstGeom>
          <a:solidFill>
            <a:srgbClr val="00B4D8"/>
          </a:solidFill>
          <a:ln/>
        </p:spPr>
      </p:sp>
      <p:sp>
        <p:nvSpPr>
          <p:cNvPr id="4" name="Text 2"/>
          <p:cNvSpPr/>
          <p:nvPr/>
        </p:nvSpPr>
        <p:spPr>
          <a:xfrm>
            <a:off x="0" y="914400"/>
            <a:ext cx="9144000" cy="7315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FORGOTTEN FORMULA</a:t>
            </a:r>
            <a:endParaRPr lang="en-US" sz="3600" dirty="0"/>
          </a:p>
        </p:txBody>
      </p:sp>
      <p:sp>
        <p:nvSpPr>
          <p:cNvPr id="5" name="Text 3"/>
          <p:cNvSpPr/>
          <p:nvPr/>
        </p:nvSpPr>
        <p:spPr>
          <a:xfrm>
            <a:off x="0" y="1554480"/>
            <a:ext cx="9144000" cy="457200"/>
          </a:xfrm>
          <a:prstGeom prst="rect">
            <a:avLst/>
          </a:prstGeom>
          <a:noFill/>
          <a:ln/>
        </p:spPr>
        <p:txBody>
          <a:bodyPr wrap="square" rtlCol="0" anchor="ctr"/>
          <a:lstStyle/>
          <a:p>
            <a:pPr algn="ctr" indent="0" marL="0">
              <a:buNone/>
            </a:pPr>
            <a:r>
              <a:rPr lang="en-US" sz="1400" dirty="0">
                <a:solidFill>
                  <a:srgbClr val="00B4D8"/>
                </a:solidFill>
                <a:latin typeface="Calibri" pitchFamily="34" charset="0"/>
                <a:ea typeface="Calibri" pitchFamily="34" charset="-122"/>
                <a:cs typeface="Calibri" pitchFamily="34" charset="-120"/>
              </a:rPr>
              <a:t>PRIVATE MEMBER ASSOCIATION</a:t>
            </a:r>
            <a:endParaRPr lang="en-US" sz="1400" dirty="0"/>
          </a:p>
        </p:txBody>
      </p:sp>
      <p:sp>
        <p:nvSpPr>
          <p:cNvPr id="6" name="Shape 4"/>
          <p:cNvSpPr/>
          <p:nvPr/>
        </p:nvSpPr>
        <p:spPr>
          <a:xfrm>
            <a:off x="3200400" y="2194560"/>
            <a:ext cx="2743200" cy="0"/>
          </a:xfrm>
          <a:prstGeom prst="line">
            <a:avLst/>
          </a:prstGeom>
          <a:noFill/>
          <a:ln w="25400">
            <a:solidFill>
              <a:srgbClr val="D4A843"/>
            </a:solidFill>
            <a:prstDash val="solid"/>
          </a:ln>
        </p:spPr>
      </p:sp>
      <p:sp>
        <p:nvSpPr>
          <p:cNvPr id="7" name="Text 5"/>
          <p:cNvSpPr/>
          <p:nvPr/>
        </p:nvSpPr>
        <p:spPr>
          <a:xfrm>
            <a:off x="0" y="2468880"/>
            <a:ext cx="9144000" cy="640080"/>
          </a:xfrm>
          <a:prstGeom prst="rect">
            <a:avLst/>
          </a:prstGeom>
          <a:noFill/>
          <a:ln/>
        </p:spPr>
        <p:txBody>
          <a:bodyPr wrap="square" rtlCol="0" anchor="ctr"/>
          <a:lstStyle/>
          <a:p>
            <a:pPr algn="ctr" indent="0" marL="0">
              <a:buNone/>
            </a:pPr>
            <a:r>
              <a:rPr lang="en-US" sz="2800" dirty="0">
                <a:solidFill>
                  <a:srgbClr val="D4A843"/>
                </a:solidFill>
                <a:latin typeface="Georgia" pitchFamily="34" charset="0"/>
                <a:ea typeface="Georgia" pitchFamily="34" charset="-122"/>
                <a:cs typeface="Georgia" pitchFamily="34" charset="-120"/>
              </a:rPr>
              <a:t>Member Protocol  2026</a:t>
            </a:r>
            <a:endParaRPr lang="en-US" sz="2800" dirty="0"/>
          </a:p>
        </p:txBody>
      </p:sp>
      <p:sp>
        <p:nvSpPr>
          <p:cNvPr id="8" name="Text 6"/>
          <p:cNvSpPr/>
          <p:nvPr/>
        </p:nvSpPr>
        <p:spPr>
          <a:xfrm>
            <a:off x="0" y="3108960"/>
            <a:ext cx="9144000" cy="457200"/>
          </a:xfrm>
          <a:prstGeom prst="rect">
            <a:avLst/>
          </a:prstGeom>
          <a:noFill/>
          <a:ln/>
        </p:spPr>
        <p:txBody>
          <a:bodyPr wrap="square" rtlCol="0" anchor="ctr"/>
          <a:lstStyle/>
          <a:p>
            <a:pPr algn="ctr" indent="0" marL="0">
              <a:buNone/>
            </a:pPr>
            <a:r>
              <a:rPr lang="en-US" sz="2000" dirty="0">
                <a:solidFill>
                  <a:srgbClr val="00B4D8"/>
                </a:solidFill>
                <a:latin typeface="Calibri" pitchFamily="34" charset="0"/>
                <a:ea typeface="Calibri" pitchFamily="34" charset="-122"/>
                <a:cs typeface="Calibri" pitchFamily="34" charset="-120"/>
              </a:rPr>
              <a:t>Kathryn Smith</a:t>
            </a:r>
            <a:endParaRPr lang="en-US" sz="2000" dirty="0"/>
          </a:p>
        </p:txBody>
      </p:sp>
      <p:sp>
        <p:nvSpPr>
          <p:cNvPr id="9" name="Text 7"/>
          <p:cNvSpPr/>
          <p:nvPr/>
        </p:nvSpPr>
        <p:spPr>
          <a:xfrm>
            <a:off x="0" y="3566160"/>
            <a:ext cx="9144000" cy="365760"/>
          </a:xfrm>
          <a:prstGeom prst="rect">
            <a:avLst/>
          </a:prstGeom>
          <a:noFill/>
          <a:ln/>
        </p:spPr>
        <p:txBody>
          <a:bodyPr wrap="square" rtlCol="0" anchor="ctr"/>
          <a:lstStyle/>
          <a:p>
            <a:pPr algn="ctr" indent="0" marL="0">
              <a:buNone/>
            </a:pPr>
            <a:r>
              <a:rPr lang="en-US" sz="1100" dirty="0">
                <a:solidFill>
                  <a:srgbClr val="AAAAAA"/>
                </a:solidFill>
                <a:latin typeface="Calibri" pitchFamily="34" charset="0"/>
                <a:ea typeface="Calibri" pitchFamily="34" charset="-122"/>
                <a:cs typeface="Calibri" pitchFamily="34" charset="-120"/>
              </a:rPr>
              <a:t>Prepared by: FF Trustee Michael Blake</a:t>
            </a:r>
            <a:endParaRPr lang="en-US" sz="1100" dirty="0"/>
          </a:p>
        </p:txBody>
      </p:sp>
      <p:sp>
        <p:nvSpPr>
          <p:cNvPr id="10" name="Shape 8"/>
          <p:cNvSpPr/>
          <p:nvPr/>
        </p:nvSpPr>
        <p:spPr>
          <a:xfrm>
            <a:off x="2926080" y="3931920"/>
            <a:ext cx="3291840" cy="320040"/>
          </a:xfrm>
          <a:prstGeom prst="rect">
            <a:avLst/>
          </a:prstGeom>
          <a:solidFill>
            <a:srgbClr val="331111"/>
          </a:solidFill>
          <a:ln/>
        </p:spPr>
      </p:sp>
      <p:sp>
        <p:nvSpPr>
          <p:cNvPr id="11" name="Text 9"/>
          <p:cNvSpPr/>
          <p:nvPr/>
        </p:nvSpPr>
        <p:spPr>
          <a:xfrm>
            <a:off x="2926080" y="3931920"/>
            <a:ext cx="3291840" cy="320040"/>
          </a:xfrm>
          <a:prstGeom prst="rect">
            <a:avLst/>
          </a:prstGeom>
          <a:noFill/>
          <a:ln/>
        </p:spPr>
        <p:txBody>
          <a:bodyPr wrap="square" rtlCol="0" anchor="ctr"/>
          <a:lstStyle/>
          <a:p>
            <a:pPr algn="ctr" indent="0" marL="0">
              <a:buNone/>
            </a:pPr>
            <a:r>
              <a:rPr lang="en-US" sz="1000" dirty="0">
                <a:solidFill>
                  <a:srgbClr val="FF4444"/>
                </a:solidFill>
                <a:latin typeface="Calibri" pitchFamily="34" charset="0"/>
                <a:ea typeface="Calibri" pitchFamily="34" charset="-122"/>
                <a:cs typeface="Calibri" pitchFamily="34" charset="-120"/>
              </a:rPr>
              <a:t>CANCER-SPECIFIC PROTOCOL</a:t>
            </a:r>
            <a:endParaRPr lang="en-US" sz="1000" dirty="0"/>
          </a:p>
        </p:txBody>
      </p:sp>
      <p:sp>
        <p:nvSpPr>
          <p:cNvPr id="12" name="Text 10"/>
          <p:cNvSpPr/>
          <p:nvPr/>
        </p:nvSpPr>
        <p:spPr>
          <a:xfrm>
            <a:off x="1371600" y="4389120"/>
            <a:ext cx="6400800" cy="548640"/>
          </a:xfrm>
          <a:prstGeom prst="rect">
            <a:avLst/>
          </a:prstGeom>
          <a:noFill/>
          <a:ln/>
        </p:spPr>
        <p:txBody>
          <a:bodyPr wrap="square" rtlCol="0" anchor="ctr"/>
          <a:lstStyle/>
          <a:p>
            <a:pPr algn="ctr" indent="0" marL="0">
              <a:buNone/>
            </a:pPr>
            <a:r>
              <a:rPr lang="en-US" sz="900" i="1" dirty="0">
                <a:solidFill>
                  <a:srgbClr val="777777"/>
                </a:solidFill>
                <a:latin typeface="Calibri" pitchFamily="34" charset="0"/>
                <a:ea typeface="Calibri" pitchFamily="34" charset="-122"/>
                <a:cs typeface="Calibri" pitchFamily="34" charset="-120"/>
              </a:rPr>
              <a:t>"Before you heal someone, ask him if he's willing to give up the things that make him sick"</a:t>
            </a:r>
            <a:endParaRPr lang="en-US" sz="900" dirty="0"/>
          </a:p>
          <a:p>
            <a:pPr algn="ctr" indent="0" marL="0">
              <a:buNone/>
            </a:pPr>
            <a:r>
              <a:rPr lang="en-US" sz="900" dirty="0">
                <a:solidFill>
                  <a:srgbClr val="00B4D8"/>
                </a:solidFill>
                <a:latin typeface="Calibri" pitchFamily="34" charset="0"/>
                <a:ea typeface="Calibri" pitchFamily="34" charset="-122"/>
                <a:cs typeface="Calibri" pitchFamily="34" charset="-120"/>
              </a:rPr>
              <a:t>— Hippocrates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Presentation Summary</a:t>
            </a:r>
            <a:endParaRPr lang="en-US" sz="2800" dirty="0"/>
          </a:p>
        </p:txBody>
      </p:sp>
      <p:sp>
        <p:nvSpPr>
          <p:cNvPr id="3" name="Shape 1"/>
          <p:cNvSpPr/>
          <p:nvPr/>
        </p:nvSpPr>
        <p:spPr>
          <a:xfrm>
            <a:off x="457200" y="868680"/>
            <a:ext cx="8229600" cy="3931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731520" y="1005840"/>
            <a:ext cx="7680960" cy="2286000"/>
          </a:xfrm>
          <a:prstGeom prst="rect">
            <a:avLst/>
          </a:prstGeom>
          <a:noFill/>
          <a:ln/>
        </p:spPr>
        <p:txBody>
          <a:bodyPr wrap="square" rtlCol="0" anchor="t"/>
          <a:lstStyle/>
          <a:p>
            <a:pPr indent="0" marL="0">
              <a:buNone/>
            </a:pPr>
            <a:r>
              <a:rPr lang="en-US" sz="1300" dirty="0">
                <a:solidFill>
                  <a:srgbClr val="222222"/>
                </a:solidFill>
                <a:latin typeface="Calibri" pitchFamily="34" charset="0"/>
                <a:ea typeface="Calibri" pitchFamily="34" charset="-122"/>
                <a:cs typeface="Calibri" pitchFamily="34" charset="-120"/>
              </a:rPr>
              <a:t>This 90-day protocol for Kathryn Smith focuses on reducing mycotoxin and mercury burdens, addressing copper deficiency, restoring immune function, and improving overall quality of life. It integrates detoxification, targeted peptide therapies, immune support, and lifestyle modifications.</a:t>
            </a:r>
            <a:endParaRPr lang="en-US" sz="1300" dirty="0"/>
          </a:p>
        </p:txBody>
      </p:sp>
      <p:sp>
        <p:nvSpPr>
          <p:cNvPr id="5" name="Text 3"/>
          <p:cNvSpPr/>
          <p:nvPr/>
        </p:nvSpPr>
        <p:spPr>
          <a:xfrm>
            <a:off x="731520" y="3200400"/>
            <a:ext cx="7680960" cy="1371600"/>
          </a:xfrm>
          <a:prstGeom prst="rect">
            <a:avLst/>
          </a:prstGeom>
          <a:noFill/>
          <a:ln/>
        </p:spPr>
        <p:txBody>
          <a:bodyPr wrap="square" rtlCol="0" anchor="t"/>
          <a:lstStyle/>
          <a:p>
            <a:pPr marL="342900" indent="-342900">
              <a:buSzPct val="100000"/>
              <a:buChar char="•"/>
            </a:pPr>
            <a:r>
              <a:rPr lang="en-US" sz="1200" dirty="0">
                <a:solidFill>
                  <a:srgbClr val="222222"/>
                </a:solidFill>
                <a:latin typeface="Calibri" pitchFamily="34" charset="0"/>
                <a:ea typeface="Calibri" pitchFamily="34" charset="-122"/>
                <a:cs typeface="Calibri" pitchFamily="34" charset="-120"/>
              </a:rPr>
              <a:t>Addresses toxin exposure, gut health, and nutrient deficiencies</a:t>
            </a:r>
            <a:endParaRPr lang="en-US" sz="1200" dirty="0"/>
          </a:p>
          <a:p>
            <a:pPr marL="342900" indent="-342900">
              <a:buSzPct val="100000"/>
              <a:buChar char="•"/>
            </a:pPr>
            <a:r>
              <a:rPr lang="en-US" sz="1200" dirty="0">
                <a:solidFill>
                  <a:srgbClr val="222222"/>
                </a:solidFill>
                <a:latin typeface="Calibri" pitchFamily="34" charset="0"/>
                <a:ea typeface="Calibri" pitchFamily="34" charset="-122"/>
                <a:cs typeface="Calibri" pitchFamily="34" charset="-120"/>
              </a:rPr>
              <a:t>5 Stages of Wellness to achieve balance</a:t>
            </a:r>
            <a:endParaRPr lang="en-US" sz="1200" dirty="0"/>
          </a:p>
          <a:p>
            <a:pPr marL="342900" indent="-342900">
              <a:buSzPct val="100000"/>
              <a:buChar char="•"/>
            </a:pPr>
            <a:r>
              <a:rPr lang="en-US" sz="1200" dirty="0">
                <a:solidFill>
                  <a:srgbClr val="222222"/>
                </a:solidFill>
                <a:latin typeface="Calibri" pitchFamily="34" charset="0"/>
                <a:ea typeface="Calibri" pitchFamily="34" charset="-122"/>
                <a:cs typeface="Calibri" pitchFamily="34" charset="-120"/>
              </a:rPr>
              <a:t>Emphasizes holistic approach focusing on inflammation, viral load, parasite load, and metabolic functionality</a:t>
            </a:r>
            <a:endParaRPr lang="en-US" sz="1200" dirty="0"/>
          </a:p>
        </p:txBody>
      </p:sp>
      <p:sp>
        <p:nvSpPr>
          <p:cNvPr id="6" name="Text 4"/>
          <p:cNvSpPr/>
          <p:nvPr/>
        </p:nvSpPr>
        <p:spPr>
          <a:xfrm>
            <a:off x="914400" y="4572000"/>
            <a:ext cx="7315200" cy="457200"/>
          </a:xfrm>
          <a:prstGeom prst="rect">
            <a:avLst/>
          </a:prstGeom>
          <a:noFill/>
          <a:ln/>
        </p:spPr>
        <p:txBody>
          <a:bodyPr wrap="square" rtlCol="0" anchor="ctr"/>
          <a:lstStyle/>
          <a:p>
            <a:pPr algn="ctr" indent="0" marL="0">
              <a:buNone/>
            </a:pPr>
            <a:r>
              <a:rPr lang="en-US" sz="1000" i="1" dirty="0">
                <a:solidFill>
                  <a:srgbClr val="00B4D8"/>
                </a:solidFill>
                <a:latin typeface="Calibri" pitchFamily="34" charset="0"/>
                <a:ea typeface="Calibri" pitchFamily="34" charset="-122"/>
                <a:cs typeface="Calibri" pitchFamily="34" charset="-120"/>
              </a:rPr>
              <a:t>"The natural healing force within each of us is the greatest force in getting well"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Member Information</a:t>
            </a:r>
            <a:endParaRPr lang="en-US" sz="2800" dirty="0"/>
          </a:p>
        </p:txBody>
      </p:sp>
      <p:sp>
        <p:nvSpPr>
          <p:cNvPr id="3" name="Shape 1"/>
          <p:cNvSpPr/>
          <p:nvPr/>
        </p:nvSpPr>
        <p:spPr>
          <a:xfrm>
            <a:off x="457200" y="868680"/>
            <a:ext cx="3840480" cy="20116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3474720" cy="1828800"/>
          </a:xfrm>
          <a:prstGeom prst="rect">
            <a:avLst/>
          </a:prstGeom>
          <a:noFill/>
          <a:ln/>
        </p:spPr>
        <p:txBody>
          <a:bodyPr wrap="square" rtlCol="0" anchor="t"/>
          <a:lstStyle/>
          <a:p>
            <a:pPr indent="0" marL="0">
              <a:buNone/>
            </a:pPr>
            <a:r>
              <a:rPr lang="en-US" sz="1100" b="1" dirty="0">
                <a:solidFill>
                  <a:srgbClr val="00B4D8"/>
                </a:solidFill>
                <a:latin typeface="Calibri" pitchFamily="34" charset="0"/>
                <a:ea typeface="Calibri" pitchFamily="34" charset="-122"/>
                <a:cs typeface="Calibri" pitchFamily="34" charset="-120"/>
              </a:rPr>
              <a:t>Name: </a:t>
            </a:r>
            <a:pPr indent="0" marL="0">
              <a:buNone/>
            </a:pPr>
            <a:r>
              <a:rPr lang="en-US" sz="1100" dirty="0">
                <a:solidFill>
                  <a:srgbClr val="222222"/>
                </a:solidFill>
                <a:latin typeface="Calibri" pitchFamily="34" charset="0"/>
                <a:ea typeface="Calibri" pitchFamily="34" charset="-122"/>
                <a:cs typeface="Calibri" pitchFamily="34" charset="-120"/>
              </a:rPr>
              <a:t>Kathryn Smith</a:t>
            </a:r>
            <a:endParaRPr lang="en-US" sz="1100" dirty="0"/>
          </a:p>
          <a:p>
            <a:pPr indent="0" marL="0">
              <a:buNone/>
            </a:pPr>
            <a:r>
              <a:rPr lang="en-US" sz="1100" b="1" dirty="0">
                <a:solidFill>
                  <a:srgbClr val="00B4D8"/>
                </a:solidFill>
                <a:latin typeface="Calibri" pitchFamily="34" charset="0"/>
                <a:ea typeface="Calibri" pitchFamily="34" charset="-122"/>
                <a:cs typeface="Calibri" pitchFamily="34" charset="-120"/>
              </a:rPr>
              <a:t>Age: </a:t>
            </a:r>
            <a:pPr indent="0" marL="0">
              <a:buNone/>
            </a:pPr>
            <a:r>
              <a:rPr lang="en-US" sz="1100" dirty="0">
                <a:solidFill>
                  <a:srgbClr val="222222"/>
                </a:solidFill>
                <a:latin typeface="Calibri" pitchFamily="34" charset="0"/>
                <a:ea typeface="Calibri" pitchFamily="34" charset="-122"/>
                <a:cs typeface="Calibri" pitchFamily="34" charset="-120"/>
              </a:rPr>
              <a:t>65</a:t>
            </a:r>
            <a:endParaRPr lang="en-US" sz="1100" dirty="0"/>
          </a:p>
          <a:p>
            <a:pPr indent="0" marL="0">
              <a:buNone/>
            </a:pPr>
            <a:r>
              <a:rPr lang="en-US" sz="1100" b="1" dirty="0">
                <a:solidFill>
                  <a:srgbClr val="00B4D8"/>
                </a:solidFill>
                <a:latin typeface="Calibri" pitchFamily="34" charset="0"/>
                <a:ea typeface="Calibri" pitchFamily="34" charset="-122"/>
                <a:cs typeface="Calibri" pitchFamily="34" charset="-120"/>
              </a:rPr>
              <a:t>Gender: </a:t>
            </a:r>
            <a:pPr indent="0" marL="0">
              <a:buNone/>
            </a:pPr>
            <a:r>
              <a:rPr lang="en-US" sz="1100" dirty="0">
                <a:solidFill>
                  <a:srgbClr val="222222"/>
                </a:solidFill>
                <a:latin typeface="Calibri" pitchFamily="34" charset="0"/>
                <a:ea typeface="Calibri" pitchFamily="34" charset="-122"/>
                <a:cs typeface="Calibri" pitchFamily="34" charset="-120"/>
              </a:rPr>
              <a:t>Female</a:t>
            </a:r>
            <a:endParaRPr lang="en-US" sz="1100" dirty="0"/>
          </a:p>
          <a:p>
            <a:pPr indent="0" marL="0">
              <a:buNone/>
            </a:pPr>
            <a:r>
              <a:rPr lang="en-US" sz="1100" b="1" dirty="0">
                <a:solidFill>
                  <a:srgbClr val="00B4D8"/>
                </a:solidFill>
                <a:latin typeface="Calibri" pitchFamily="34" charset="0"/>
                <a:ea typeface="Calibri" pitchFamily="34" charset="-122"/>
                <a:cs typeface="Calibri" pitchFamily="34" charset="-120"/>
              </a:rPr>
              <a:t>Location: </a:t>
            </a:r>
            <a:pPr indent="0" marL="0">
              <a:buNone/>
            </a:pPr>
            <a:r>
              <a:rPr lang="en-US" sz="1100" dirty="0">
                <a:solidFill>
                  <a:srgbClr val="222222"/>
                </a:solidFill>
                <a:latin typeface="Calibri" pitchFamily="34" charset="0"/>
                <a:ea typeface="Calibri" pitchFamily="34" charset="-122"/>
                <a:cs typeface="Calibri" pitchFamily="34" charset="-120"/>
              </a:rPr>
              <a:t>Fort Worth, TX</a:t>
            </a:r>
            <a:endParaRPr lang="en-US" sz="1100" dirty="0"/>
          </a:p>
          <a:p>
            <a:pPr indent="0" marL="0">
              <a:buNone/>
            </a:pPr>
            <a:r>
              <a:rPr lang="en-US" sz="1100" b="1" dirty="0">
                <a:solidFill>
                  <a:srgbClr val="00B4D8"/>
                </a:solidFill>
                <a:latin typeface="Calibri" pitchFamily="34" charset="0"/>
                <a:ea typeface="Calibri" pitchFamily="34" charset="-122"/>
                <a:cs typeface="Calibri" pitchFamily="34" charset="-120"/>
              </a:rPr>
              <a:t>Protocol Duration: </a:t>
            </a:r>
            <a:pPr indent="0" marL="0">
              <a:buNone/>
            </a:pPr>
            <a:r>
              <a:rPr lang="en-US" sz="1100" dirty="0">
                <a:solidFill>
                  <a:srgbClr val="222222"/>
                </a:solidFill>
                <a:latin typeface="Calibri" pitchFamily="34" charset="0"/>
                <a:ea typeface="Calibri" pitchFamily="34" charset="-122"/>
                <a:cs typeface="Calibri" pitchFamily="34" charset="-120"/>
              </a:rPr>
              <a:t>90 days</a:t>
            </a:r>
            <a:endParaRPr lang="en-US" sz="1100" dirty="0"/>
          </a:p>
        </p:txBody>
      </p:sp>
      <p:sp>
        <p:nvSpPr>
          <p:cNvPr id="5" name="Shape 3"/>
          <p:cNvSpPr/>
          <p:nvPr/>
        </p:nvSpPr>
        <p:spPr>
          <a:xfrm>
            <a:off x="4572000" y="868680"/>
            <a:ext cx="4114800" cy="20116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Text 4"/>
          <p:cNvSpPr/>
          <p:nvPr/>
        </p:nvSpPr>
        <p:spPr>
          <a:xfrm>
            <a:off x="4754880" y="914400"/>
            <a:ext cx="3749040" cy="274320"/>
          </a:xfrm>
          <a:prstGeom prst="rect">
            <a:avLst/>
          </a:prstGeom>
          <a:noFill/>
          <a:ln/>
        </p:spPr>
        <p:txBody>
          <a:bodyPr wrap="square"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Current Diagnoses:</a:t>
            </a:r>
            <a:endParaRPr lang="en-US" sz="1100" dirty="0"/>
          </a:p>
        </p:txBody>
      </p:sp>
      <p:sp>
        <p:nvSpPr>
          <p:cNvPr id="7" name="Text 5"/>
          <p:cNvSpPr/>
          <p:nvPr/>
        </p:nvSpPr>
        <p:spPr>
          <a:xfrm>
            <a:off x="4754880" y="1188720"/>
            <a:ext cx="3749040" cy="822960"/>
          </a:xfrm>
          <a:prstGeom prst="rect">
            <a:avLst/>
          </a:prstGeom>
          <a:noFill/>
          <a:ln/>
        </p:spPr>
        <p:txBody>
          <a:bodyPr wrap="square" rtlCol="0" anchor="t"/>
          <a:lstStyle/>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ER+/PR+/HER2+ breast cancer</a:t>
            </a:r>
            <a:endParaRPr lang="en-US" sz="1000" dirty="0"/>
          </a:p>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Chronic respiratory symptoms</a:t>
            </a:r>
            <a:endParaRPr lang="en-US" sz="1000" dirty="0"/>
          </a:p>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Chronic fatigue</a:t>
            </a:r>
            <a:endParaRPr lang="en-US" sz="1000" dirty="0"/>
          </a:p>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Chemical sensitivities</a:t>
            </a:r>
            <a:endParaRPr lang="en-US" sz="1000" dirty="0"/>
          </a:p>
        </p:txBody>
      </p:sp>
      <p:sp>
        <p:nvSpPr>
          <p:cNvPr id="8" name="Text 6"/>
          <p:cNvSpPr/>
          <p:nvPr/>
        </p:nvSpPr>
        <p:spPr>
          <a:xfrm>
            <a:off x="4754880" y="2011680"/>
            <a:ext cx="3749040" cy="274320"/>
          </a:xfrm>
          <a:prstGeom prst="rect">
            <a:avLst/>
          </a:prstGeom>
          <a:noFill/>
          <a:ln/>
        </p:spPr>
        <p:txBody>
          <a:bodyPr wrap="square"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Symptoms:</a:t>
            </a:r>
            <a:endParaRPr lang="en-US" sz="1100" dirty="0"/>
          </a:p>
        </p:txBody>
      </p:sp>
      <p:sp>
        <p:nvSpPr>
          <p:cNvPr id="9" name="Text 7"/>
          <p:cNvSpPr/>
          <p:nvPr/>
        </p:nvSpPr>
        <p:spPr>
          <a:xfrm>
            <a:off x="4754880" y="2286000"/>
            <a:ext cx="3749040" cy="548640"/>
          </a:xfrm>
          <a:prstGeom prst="rect">
            <a:avLst/>
          </a:prstGeom>
          <a:noFill/>
          <a:ln/>
        </p:spPr>
        <p:txBody>
          <a:bodyPr wrap="square" rtlCol="0" anchor="t"/>
          <a:lstStyle/>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ER+/PR+/HER2+ breast cancer</a:t>
            </a:r>
            <a:endParaRPr lang="en-US" sz="1000" dirty="0"/>
          </a:p>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Chronic cough and mucus production</a:t>
            </a:r>
            <a:endParaRPr lang="en-US" sz="1000" dirty="0"/>
          </a:p>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Fatigue and immune suppression</a:t>
            </a:r>
            <a:endParaRPr lang="en-US" sz="1000" dirty="0"/>
          </a:p>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History of mercury amalgam fillings</a:t>
            </a:r>
            <a:endParaRPr lang="en-US" sz="1000" dirty="0"/>
          </a:p>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Mycotoxin exposure suspected</a:t>
            </a:r>
            <a:endParaRPr lang="en-US" sz="1000" dirty="0"/>
          </a:p>
        </p:txBody>
      </p:sp>
      <p:sp>
        <p:nvSpPr>
          <p:cNvPr id="10" name="Shape 8"/>
          <p:cNvSpPr/>
          <p:nvPr/>
        </p:nvSpPr>
        <p:spPr>
          <a:xfrm>
            <a:off x="457200" y="3063240"/>
            <a:ext cx="8229600" cy="1828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Text 9"/>
          <p:cNvSpPr/>
          <p:nvPr/>
        </p:nvSpPr>
        <p:spPr>
          <a:xfrm>
            <a:off x="640080" y="3108960"/>
            <a:ext cx="7863840" cy="274320"/>
          </a:xfrm>
          <a:prstGeom prst="rect">
            <a:avLst/>
          </a:prstGeom>
          <a:noFill/>
          <a:ln/>
        </p:spPr>
        <p:txBody>
          <a:bodyPr wrap="square" rtlCol="0" anchor="ctr"/>
          <a:lstStyle/>
          <a:p>
            <a:pPr indent="0" marL="0">
              <a:buNone/>
            </a:pPr>
            <a:r>
              <a:rPr lang="en-US" sz="1200" b="1" dirty="0">
                <a:solidFill>
                  <a:srgbClr val="D4A843"/>
                </a:solidFill>
                <a:latin typeface="Georgia" pitchFamily="34" charset="0"/>
                <a:ea typeface="Georgia" pitchFamily="34" charset="-122"/>
                <a:cs typeface="Georgia" pitchFamily="34" charset="-120"/>
              </a:rPr>
              <a:t>Recommended Starter Books:</a:t>
            </a:r>
            <a:endParaRPr lang="en-US" sz="1200" dirty="0"/>
          </a:p>
        </p:txBody>
      </p:sp>
      <p:sp>
        <p:nvSpPr>
          <p:cNvPr id="12" name="Text 10"/>
          <p:cNvSpPr/>
          <p:nvPr/>
        </p:nvSpPr>
        <p:spPr>
          <a:xfrm>
            <a:off x="640080" y="3429000"/>
            <a:ext cx="7863840" cy="1371600"/>
          </a:xfrm>
          <a:prstGeom prst="rect">
            <a:avLst/>
          </a:prstGeom>
          <a:noFill/>
          <a:ln/>
        </p:spPr>
        <p:txBody>
          <a:bodyPr wrap="square" rtlCol="0" anchor="t"/>
          <a:lstStyle/>
          <a:p>
            <a:pPr indent="0" marL="0">
              <a:buNone/>
            </a:pPr>
            <a:r>
              <a:rPr lang="en-US" sz="1000" b="1" dirty="0">
                <a:solidFill>
                  <a:srgbClr val="1B2A4A"/>
                </a:solidFill>
                <a:latin typeface="Calibri" pitchFamily="34" charset="0"/>
                <a:ea typeface="Calibri" pitchFamily="34" charset="-122"/>
                <a:cs typeface="Calibri" pitchFamily="34" charset="-120"/>
              </a:rPr>
              <a:t>Rapid Virus Recovery</a:t>
            </a:r>
            <a:pPr indent="0" marL="0">
              <a:buNone/>
            </a:pPr>
            <a:r>
              <a:rPr lang="en-US" sz="900" dirty="0">
                <a:solidFill>
                  <a:srgbClr val="666666"/>
                </a:solidFill>
                <a:latin typeface="Calibri" pitchFamily="34" charset="0"/>
                <a:ea typeface="Calibri" pitchFamily="34" charset="-122"/>
                <a:cs typeface="Calibri" pitchFamily="34" charset="-120"/>
              </a:rPr>
              <a:t> — Essential reading on breaking up biofilm with nebulization and high-dose vitamin C therapy for viral recovery</a:t>
            </a:r>
            <a:endParaRPr lang="en-US" sz="1000" dirty="0"/>
          </a:p>
          <a:p>
            <a:pPr indent="0" marL="0">
              <a:buNone/>
            </a:pPr>
            <a:r>
              <a:rPr lang="en-US" sz="1000" b="1" dirty="0">
                <a:solidFill>
                  <a:srgbClr val="1B2A4A"/>
                </a:solidFill>
                <a:latin typeface="Calibri" pitchFamily="34" charset="0"/>
                <a:ea typeface="Calibri" pitchFamily="34" charset="-122"/>
                <a:cs typeface="Calibri" pitchFamily="34" charset="-120"/>
              </a:rPr>
              <a:t>Dental Dangers</a:t>
            </a:r>
            <a:pPr indent="0" marL="0">
              <a:buNone/>
            </a:pPr>
            <a:r>
              <a:rPr lang="en-US" sz="900" dirty="0">
                <a:solidFill>
                  <a:srgbClr val="666666"/>
                </a:solidFill>
                <a:latin typeface="Calibri" pitchFamily="34" charset="0"/>
                <a:ea typeface="Calibri" pitchFamily="34" charset="-122"/>
                <a:cs typeface="Calibri" pitchFamily="34" charset="-120"/>
              </a:rPr>
              <a:t> — Please read over Dental Dangers as amalgam issues and periodontal problems can significantly hurt longevity goals</a:t>
            </a:r>
            <a:endParaRPr lang="en-US" sz="1000" dirty="0"/>
          </a:p>
          <a:p>
            <a:pPr indent="0" marL="0">
              <a:buNone/>
            </a:pPr>
            <a:r>
              <a:rPr lang="en-US" sz="1000" b="1" dirty="0">
                <a:solidFill>
                  <a:srgbClr val="1B2A4A"/>
                </a:solidFill>
                <a:latin typeface="Calibri" pitchFamily="34" charset="0"/>
                <a:ea typeface="Calibri" pitchFamily="34" charset="-122"/>
                <a:cs typeface="Calibri" pitchFamily="34" charset="-120"/>
              </a:rPr>
              <a:t>A World Without Cancer</a:t>
            </a:r>
            <a:pPr indent="0" marL="0">
              <a:buNone/>
            </a:pPr>
            <a:r>
              <a:rPr lang="en-US" sz="900" dirty="0">
                <a:solidFill>
                  <a:srgbClr val="666666"/>
                </a:solidFill>
                <a:latin typeface="Calibri" pitchFamily="34" charset="0"/>
                <a:ea typeface="Calibri" pitchFamily="34" charset="-122"/>
                <a:cs typeface="Calibri" pitchFamily="34" charset="-120"/>
              </a:rPr>
              <a:t> — The link between nitrilosides and cancer — the story of B17 Laetrile and why it matters for your protocol</a:t>
            </a:r>
            <a:endParaRPr lang="en-US" sz="1000" dirty="0"/>
          </a:p>
          <a:p>
            <a:pPr indent="0" marL="0">
              <a:buNone/>
            </a:pPr>
            <a:r>
              <a:rPr lang="en-US" sz="1000" b="1" dirty="0">
                <a:solidFill>
                  <a:srgbClr val="1B2A4A"/>
                </a:solidFill>
                <a:latin typeface="Calibri" pitchFamily="34" charset="0"/>
                <a:ea typeface="Calibri" pitchFamily="34" charset="-122"/>
                <a:cs typeface="Calibri" pitchFamily="34" charset="-120"/>
              </a:rPr>
              <a:t>The Iodine Crisis</a:t>
            </a:r>
            <a:pPr indent="0" marL="0">
              <a:buNone/>
            </a:pPr>
            <a:r>
              <a:rPr lang="en-US" sz="900" dirty="0">
                <a:solidFill>
                  <a:srgbClr val="666666"/>
                </a:solidFill>
                <a:latin typeface="Calibri" pitchFamily="34" charset="0"/>
                <a:ea typeface="Calibri" pitchFamily="34" charset="-122"/>
                <a:cs typeface="Calibri" pitchFamily="34" charset="-120"/>
              </a:rPr>
              <a:t> — Critical reading on the relationship between selenium, iodine, and cancer rise in the U.S.</a:t>
            </a:r>
            <a:endParaRPr lang="en-US" sz="1000" dirty="0"/>
          </a:p>
          <a:p>
            <a:pPr indent="0" marL="0">
              <a:buNone/>
            </a:pPr>
            <a:r>
              <a:rPr lang="en-US" sz="1000" b="1" dirty="0">
                <a:solidFill>
                  <a:srgbClr val="1B2A4A"/>
                </a:solidFill>
                <a:latin typeface="Calibri" pitchFamily="34" charset="0"/>
                <a:ea typeface="Calibri" pitchFamily="34" charset="-122"/>
                <a:cs typeface="Calibri" pitchFamily="34" charset="-120"/>
              </a:rPr>
              <a:t>A Cancer Therapy: Results of Fifty Cases</a:t>
            </a:r>
            <a:pPr indent="0" marL="0">
              <a:buNone/>
            </a:pPr>
            <a:r>
              <a:rPr lang="en-US" sz="900" dirty="0">
                <a:solidFill>
                  <a:srgbClr val="666666"/>
                </a:solidFill>
                <a:latin typeface="Calibri" pitchFamily="34" charset="0"/>
                <a:ea typeface="Calibri" pitchFamily="34" charset="-122"/>
                <a:cs typeface="Calibri" pitchFamily="34" charset="-120"/>
              </a:rPr>
              <a:t> — The original Gerson therapy clinical documentation — foundational for understanding dietary protocols in cancer care</a:t>
            </a:r>
            <a:endParaRPr lang="en-US" sz="1000" dirty="0"/>
          </a:p>
          <a:p>
            <a:pPr indent="0" marL="0">
              <a:buNone/>
            </a:pPr>
            <a:r>
              <a:rPr lang="en-US" sz="1000" b="1" dirty="0">
                <a:solidFill>
                  <a:srgbClr val="1B2A4A"/>
                </a:solidFill>
                <a:latin typeface="Calibri" pitchFamily="34" charset="0"/>
                <a:ea typeface="Calibri" pitchFamily="34" charset="-122"/>
                <a:cs typeface="Calibri" pitchFamily="34" charset="-120"/>
              </a:rPr>
              <a:t>The Metabolic Approach to Cancer</a:t>
            </a:r>
            <a:pPr indent="0" marL="0">
              <a:buNone/>
            </a:pPr>
            <a:r>
              <a:rPr lang="en-US" sz="900" dirty="0">
                <a:solidFill>
                  <a:srgbClr val="666666"/>
                </a:solidFill>
                <a:latin typeface="Calibri" pitchFamily="34" charset="0"/>
                <a:ea typeface="Calibri" pitchFamily="34" charset="-122"/>
                <a:cs typeface="Calibri" pitchFamily="34" charset="-120"/>
              </a:rPr>
              <a:t> — Integrative oncology nutrition and metabolic terrain assessment — essential for understanding cancer as a metabolic disease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Member Timeline</a:t>
            </a:r>
            <a:endParaRPr lang="en-US" sz="2800" dirty="0"/>
          </a:p>
        </p:txBody>
      </p:sp>
      <p:sp>
        <p:nvSpPr>
          <p:cNvPr id="3" name="Shape 1"/>
          <p:cNvSpPr/>
          <p:nvPr/>
        </p:nvSpPr>
        <p:spPr>
          <a:xfrm>
            <a:off x="457200" y="868680"/>
            <a:ext cx="8229600" cy="3931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100" b="1" dirty="0">
                <a:solidFill>
                  <a:srgbClr val="00B4D8"/>
                </a:solidFill>
                <a:latin typeface="Calibri" pitchFamily="34" charset="0"/>
                <a:ea typeface="Calibri" pitchFamily="34" charset="-122"/>
                <a:cs typeface="Calibri" pitchFamily="34" charset="-120"/>
              </a:rPr>
              <a:t>2-8</a:t>
            </a:r>
            <a:pPr indent="0" marL="0">
              <a:buNone/>
            </a:pPr>
            <a:r>
              <a:rPr lang="en-US" sz="1100" dirty="0">
                <a:solidFill>
                  <a:srgbClr val="222222"/>
                </a:solidFill>
                <a:latin typeface="Calibri" pitchFamily="34" charset="0"/>
                <a:ea typeface="Calibri" pitchFamily="34" charset="-122"/>
                <a:cs typeface="Calibri" pitchFamily="34" charset="-120"/>
              </a:rPr>
              <a:t> — Multiple rounds of antibiotics for recurrent ear infections</a:t>
            </a:r>
            <a:pPr indent="0" marL="0">
              <a:buNone/>
            </a:pPr>
            <a:r>
              <a:rPr lang="en-US" sz="900" dirty="0">
                <a:solidFill>
                  <a:srgbClr val="666666"/>
                </a:solidFill>
                <a:latin typeface="Calibri" pitchFamily="34" charset="0"/>
                <a:ea typeface="Calibri" pitchFamily="34" charset="-122"/>
                <a:cs typeface="Calibri" pitchFamily="34" charset="-120"/>
              </a:rPr>
              <a:t> (Gut dysbiosis)</a:t>
            </a:r>
            <a:endParaRPr lang="en-US" sz="1100" dirty="0"/>
          </a:p>
          <a:p>
            <a:pPr indent="0" marL="0">
              <a:buNone/>
            </a:pPr>
            <a:r>
              <a:rPr lang="en-US" sz="1100" b="1" dirty="0">
                <a:solidFill>
                  <a:srgbClr val="00B4D8"/>
                </a:solidFill>
                <a:latin typeface="Calibri" pitchFamily="34" charset="0"/>
                <a:ea typeface="Calibri" pitchFamily="34" charset="-122"/>
                <a:cs typeface="Calibri" pitchFamily="34" charset="-120"/>
              </a:rPr>
              <a:t>Childhood</a:t>
            </a:r>
            <a:pPr indent="0" marL="0">
              <a:buNone/>
            </a:pPr>
            <a:r>
              <a:rPr lang="en-US" sz="1100" dirty="0">
                <a:solidFill>
                  <a:srgbClr val="222222"/>
                </a:solidFill>
                <a:latin typeface="Calibri" pitchFamily="34" charset="0"/>
                <a:ea typeface="Calibri" pitchFamily="34" charset="-122"/>
                <a:cs typeface="Calibri" pitchFamily="34" charset="-120"/>
              </a:rPr>
              <a:t> — Emotional/psychological trauma</a:t>
            </a:r>
            <a:pPr indent="0" marL="0">
              <a:buNone/>
            </a:pPr>
            <a:r>
              <a:rPr lang="en-US" sz="900" dirty="0">
                <a:solidFill>
                  <a:srgbClr val="666666"/>
                </a:solidFill>
                <a:latin typeface="Calibri" pitchFamily="34" charset="0"/>
                <a:ea typeface="Calibri" pitchFamily="34" charset="-122"/>
                <a:cs typeface="Calibri" pitchFamily="34" charset="-120"/>
              </a:rPr>
              <a:t> (HPA axis dysregulation)</a:t>
            </a:r>
            <a:endParaRPr lang="en-US" sz="1100" dirty="0"/>
          </a:p>
          <a:p>
            <a:pPr indent="0" marL="0">
              <a:buNone/>
            </a:pPr>
            <a:r>
              <a:rPr lang="en-US" sz="1100" b="1" dirty="0">
                <a:solidFill>
                  <a:srgbClr val="00B4D8"/>
                </a:solidFill>
                <a:latin typeface="Calibri" pitchFamily="34" charset="0"/>
                <a:ea typeface="Calibri" pitchFamily="34" charset="-122"/>
                <a:cs typeface="Calibri" pitchFamily="34" charset="-120"/>
              </a:rPr>
              <a:t>2000s</a:t>
            </a:r>
            <a:pPr indent="0" marL="0">
              <a:buNone/>
            </a:pPr>
            <a:r>
              <a:rPr lang="en-US" sz="1100" dirty="0">
                <a:solidFill>
                  <a:srgbClr val="222222"/>
                </a:solidFill>
                <a:latin typeface="Calibri" pitchFamily="34" charset="0"/>
                <a:ea typeface="Calibri" pitchFamily="34" charset="-122"/>
                <a:cs typeface="Calibri" pitchFamily="34" charset="-120"/>
              </a:rPr>
              <a:t> — Mercury amalgam dental fillings placed</a:t>
            </a:r>
            <a:pPr indent="0" marL="0">
              <a:buNone/>
            </a:pPr>
            <a:r>
              <a:rPr lang="en-US" sz="900" dirty="0">
                <a:solidFill>
                  <a:srgbClr val="666666"/>
                </a:solidFill>
                <a:latin typeface="Calibri" pitchFamily="34" charset="0"/>
                <a:ea typeface="Calibri" pitchFamily="34" charset="-122"/>
                <a:cs typeface="Calibri" pitchFamily="34" charset="-120"/>
              </a:rPr>
              <a:t> (Mercury toxicity)</a:t>
            </a:r>
            <a:endParaRPr lang="en-US" sz="1100" dirty="0"/>
          </a:p>
          <a:p>
            <a:pPr indent="0" marL="0">
              <a:buNone/>
            </a:pPr>
            <a:r>
              <a:rPr lang="en-US" sz="1100" b="1" dirty="0">
                <a:solidFill>
                  <a:srgbClr val="00B4D8"/>
                </a:solidFill>
                <a:latin typeface="Calibri" pitchFamily="34" charset="0"/>
                <a:ea typeface="Calibri" pitchFamily="34" charset="-122"/>
                <a:cs typeface="Calibri" pitchFamily="34" charset="-120"/>
              </a:rPr>
              <a:t>2000s</a:t>
            </a:r>
            <a:pPr indent="0" marL="0">
              <a:buNone/>
            </a:pPr>
            <a:r>
              <a:rPr lang="en-US" sz="1100" dirty="0">
                <a:solidFill>
                  <a:srgbClr val="222222"/>
                </a:solidFill>
                <a:latin typeface="Calibri" pitchFamily="34" charset="0"/>
                <a:ea typeface="Calibri" pitchFamily="34" charset="-122"/>
                <a:cs typeface="Calibri" pitchFamily="34" charset="-120"/>
              </a:rPr>
              <a:t> — Chronic fatigue begins</a:t>
            </a:r>
            <a:pPr indent="0" marL="0">
              <a:buNone/>
            </a:pPr>
            <a:r>
              <a:rPr lang="en-US" sz="900" dirty="0">
                <a:solidFill>
                  <a:srgbClr val="666666"/>
                </a:solidFill>
                <a:latin typeface="Calibri" pitchFamily="34" charset="0"/>
                <a:ea typeface="Calibri" pitchFamily="34" charset="-122"/>
                <a:cs typeface="Calibri" pitchFamily="34" charset="-120"/>
              </a:rPr>
              <a:t> (Stress-related fatigue)</a:t>
            </a:r>
            <a:endParaRPr lang="en-US" sz="1100" dirty="0"/>
          </a:p>
          <a:p>
            <a:pPr indent="0" marL="0">
              <a:buNone/>
            </a:pPr>
            <a:r>
              <a:rPr lang="en-US" sz="1100" b="1" dirty="0">
                <a:solidFill>
                  <a:srgbClr val="00B4D8"/>
                </a:solidFill>
                <a:latin typeface="Calibri" pitchFamily="34" charset="0"/>
                <a:ea typeface="Calibri" pitchFamily="34" charset="-122"/>
                <a:cs typeface="Calibri" pitchFamily="34" charset="-120"/>
              </a:rPr>
              <a:t>2000s</a:t>
            </a:r>
            <a:pPr indent="0" marL="0">
              <a:buNone/>
            </a:pPr>
            <a:r>
              <a:rPr lang="en-US" sz="1100" dirty="0">
                <a:solidFill>
                  <a:srgbClr val="222222"/>
                </a:solidFill>
                <a:latin typeface="Calibri" pitchFamily="34" charset="0"/>
                <a:ea typeface="Calibri" pitchFamily="34" charset="-122"/>
                <a:cs typeface="Calibri" pitchFamily="34" charset="-120"/>
              </a:rPr>
              <a:t> — Onset of digestive issues</a:t>
            </a:r>
            <a:pPr indent="0" marL="0">
              <a:buNone/>
            </a:pPr>
            <a:r>
              <a:rPr lang="en-US" sz="900" dirty="0">
                <a:solidFill>
                  <a:srgbClr val="666666"/>
                </a:solidFill>
                <a:latin typeface="Calibri" pitchFamily="34" charset="0"/>
                <a:ea typeface="Calibri" pitchFamily="34" charset="-122"/>
                <a:cs typeface="Calibri" pitchFamily="34" charset="-120"/>
              </a:rPr>
              <a:t> (Gut dysbiosis)</a:t>
            </a:r>
            <a:endParaRPr lang="en-US" sz="1100" dirty="0"/>
          </a:p>
          <a:p>
            <a:pPr indent="0" marL="0">
              <a:buNone/>
            </a:pPr>
            <a:r>
              <a:rPr lang="en-US" sz="1100" b="1" dirty="0">
                <a:solidFill>
                  <a:srgbClr val="00B4D8"/>
                </a:solidFill>
                <a:latin typeface="Calibri" pitchFamily="34" charset="0"/>
                <a:ea typeface="Calibri" pitchFamily="34" charset="-122"/>
                <a:cs typeface="Calibri" pitchFamily="34" charset="-120"/>
              </a:rPr>
              <a:t>2018-2021</a:t>
            </a:r>
            <a:pPr indent="0" marL="0">
              <a:buNone/>
            </a:pPr>
            <a:r>
              <a:rPr lang="en-US" sz="1100" dirty="0">
                <a:solidFill>
                  <a:srgbClr val="222222"/>
                </a:solidFill>
                <a:latin typeface="Calibri" pitchFamily="34" charset="0"/>
                <a:ea typeface="Calibri" pitchFamily="34" charset="-122"/>
                <a:cs typeface="Calibri" pitchFamily="34" charset="-120"/>
              </a:rPr>
              <a:t> — Lived in water-damaged home with visible mold</a:t>
            </a:r>
            <a:pPr indent="0" marL="0">
              <a:buNone/>
            </a:pPr>
            <a:r>
              <a:rPr lang="en-US" sz="900" dirty="0">
                <a:solidFill>
                  <a:srgbClr val="666666"/>
                </a:solidFill>
                <a:latin typeface="Calibri" pitchFamily="34" charset="0"/>
                <a:ea typeface="Calibri" pitchFamily="34" charset="-122"/>
                <a:cs typeface="Calibri" pitchFamily="34" charset="-120"/>
              </a:rPr>
              <a:t> (Mycotoxin exposure)</a:t>
            </a:r>
            <a:endParaRPr lang="en-US" sz="1100" dirty="0"/>
          </a:p>
          <a:p>
            <a:pPr indent="0" marL="0">
              <a:buNone/>
            </a:pPr>
            <a:r>
              <a:rPr lang="en-US" sz="1100" b="1" dirty="0">
                <a:solidFill>
                  <a:srgbClr val="00B4D8"/>
                </a:solidFill>
                <a:latin typeface="Calibri" pitchFamily="34" charset="0"/>
                <a:ea typeface="Calibri" pitchFamily="34" charset="-122"/>
                <a:cs typeface="Calibri" pitchFamily="34" charset="-120"/>
              </a:rPr>
              <a:t>2024</a:t>
            </a:r>
            <a:pPr indent="0" marL="0">
              <a:buNone/>
            </a:pPr>
            <a:r>
              <a:rPr lang="en-US" sz="1100" dirty="0">
                <a:solidFill>
                  <a:srgbClr val="222222"/>
                </a:solidFill>
                <a:latin typeface="Calibri" pitchFamily="34" charset="0"/>
                <a:ea typeface="Calibri" pitchFamily="34" charset="-122"/>
                <a:cs typeface="Calibri" pitchFamily="34" charset="-120"/>
              </a:rPr>
              <a:t> — Breast cancer diagnosis</a:t>
            </a:r>
            <a:pPr indent="0" marL="0">
              <a:buNone/>
            </a:pPr>
            <a:r>
              <a:rPr lang="en-US" sz="900" dirty="0">
                <a:solidFill>
                  <a:srgbClr val="666666"/>
                </a:solidFill>
                <a:latin typeface="Calibri" pitchFamily="34" charset="0"/>
                <a:ea typeface="Calibri" pitchFamily="34" charset="-122"/>
                <a:cs typeface="Calibri" pitchFamily="34" charset="-120"/>
              </a:rPr>
              <a:t> (Major health event)</a:t>
            </a:r>
            <a:endParaRPr lang="en-US" sz="1100" dirty="0"/>
          </a:p>
          <a:p>
            <a:pPr indent="0" marL="0">
              <a:buNone/>
            </a:pPr>
            <a:r>
              <a:rPr lang="en-US" sz="1100" b="1" dirty="0">
                <a:solidFill>
                  <a:srgbClr val="00B4D8"/>
                </a:solidFill>
                <a:latin typeface="Calibri" pitchFamily="34" charset="0"/>
                <a:ea typeface="Calibri" pitchFamily="34" charset="-122"/>
                <a:cs typeface="Calibri" pitchFamily="34" charset="-120"/>
              </a:rPr>
              <a:t>2024</a:t>
            </a:r>
            <a:pPr indent="0" marL="0">
              <a:buNone/>
            </a:pPr>
            <a:r>
              <a:rPr lang="en-US" sz="1100" dirty="0">
                <a:solidFill>
                  <a:srgbClr val="222222"/>
                </a:solidFill>
                <a:latin typeface="Calibri" pitchFamily="34" charset="0"/>
                <a:ea typeface="Calibri" pitchFamily="34" charset="-122"/>
                <a:cs typeface="Calibri" pitchFamily="34" charset="-120"/>
              </a:rPr>
              <a:t> — Initial labs showed mineral deficiencies and elevated mercury</a:t>
            </a:r>
            <a:pPr indent="0" marL="0">
              <a:buNone/>
            </a:pPr>
            <a:r>
              <a:rPr lang="en-US" sz="900" dirty="0">
                <a:solidFill>
                  <a:srgbClr val="666666"/>
                </a:solidFill>
                <a:latin typeface="Calibri" pitchFamily="34" charset="0"/>
                <a:ea typeface="Calibri" pitchFamily="34" charset="-122"/>
                <a:cs typeface="Calibri" pitchFamily="34" charset="-120"/>
              </a:rPr>
              <a:t> (Nutrient deficiencies and mercury toxicity)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Trustee's Analysis</a:t>
            </a:r>
            <a:endParaRPr lang="en-US" sz="2800" dirty="0"/>
          </a:p>
        </p:txBody>
      </p:sp>
      <p:sp>
        <p:nvSpPr>
          <p:cNvPr id="3" name="Shape 1"/>
          <p:cNvSpPr/>
          <p:nvPr/>
        </p:nvSpPr>
        <p:spPr>
          <a:xfrm>
            <a:off x="457200" y="868680"/>
            <a:ext cx="8229600" cy="3931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200" dirty="0">
                <a:solidFill>
                  <a:srgbClr val="222222"/>
                </a:solidFill>
                <a:latin typeface="Calibri" pitchFamily="34" charset="0"/>
                <a:ea typeface="Calibri" pitchFamily="34" charset="-122"/>
                <a:cs typeface="Calibri" pitchFamily="34" charset="-120"/>
              </a:rPr>
              <a:t>This 90-day protocol for Kathryn Smith focuses on reducing mycotoxin and mercury burdens, addressing copper deficiency, restoring immune function, and improving overall quality of life. It integrates detoxification, targeted peptide therapies, immune support, and lifestyle modifications.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Root Cause Analysis</a:t>
            </a:r>
            <a:endParaRPr lang="en-US" sz="2800" dirty="0"/>
          </a:p>
        </p:txBody>
      </p:sp>
      <p:sp>
        <p:nvSpPr>
          <p:cNvPr id="3" name="Shape 1"/>
          <p:cNvSpPr/>
          <p:nvPr/>
        </p:nvSpPr>
        <p:spPr>
          <a:xfrm>
            <a:off x="457200" y="914400"/>
            <a:ext cx="822960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Shape 2"/>
          <p:cNvSpPr/>
          <p:nvPr/>
        </p:nvSpPr>
        <p:spPr>
          <a:xfrm>
            <a:off x="457200" y="914400"/>
            <a:ext cx="73152" cy="731520"/>
          </a:xfrm>
          <a:prstGeom prst="rect">
            <a:avLst/>
          </a:prstGeom>
          <a:solidFill>
            <a:srgbClr val="C62828"/>
          </a:solidFill>
          <a:ln/>
        </p:spPr>
      </p:sp>
      <p:sp>
        <p:nvSpPr>
          <p:cNvPr id="5" name="Text 3"/>
          <p:cNvSpPr/>
          <p:nvPr/>
        </p:nvSpPr>
        <p:spPr>
          <a:xfrm>
            <a:off x="640080" y="914400"/>
            <a:ext cx="2743200" cy="365760"/>
          </a:xfrm>
          <a:prstGeom prst="rect">
            <a:avLst/>
          </a:prstGeom>
          <a:noFill/>
          <a:ln/>
        </p:spPr>
        <p:txBody>
          <a:bodyPr wrap="square" rtlCol="0" anchor="ctr"/>
          <a:lstStyle/>
          <a:p>
            <a:pPr indent="0" marL="0">
              <a:buNone/>
            </a:pPr>
            <a:r>
              <a:rPr lang="en-US" sz="1200" b="1" dirty="0">
                <a:solidFill>
                  <a:srgbClr val="1B2A4A"/>
                </a:solidFill>
                <a:latin typeface="Georgia" pitchFamily="34" charset="0"/>
                <a:ea typeface="Georgia" pitchFamily="34" charset="-122"/>
                <a:cs typeface="Georgia" pitchFamily="34" charset="-120"/>
              </a:rPr>
              <a:t>1. Mycotoxin-driven chronic NF-κB inflammation</a:t>
            </a:r>
            <a:endParaRPr lang="en-US" sz="1200" dirty="0"/>
          </a:p>
        </p:txBody>
      </p:sp>
      <p:sp>
        <p:nvSpPr>
          <p:cNvPr id="6" name="Text 4"/>
          <p:cNvSpPr/>
          <p:nvPr/>
        </p:nvSpPr>
        <p:spPr>
          <a:xfrm>
            <a:off x="640080" y="1243584"/>
            <a:ext cx="1828800" cy="292608"/>
          </a:xfrm>
          <a:prstGeom prst="rect">
            <a:avLst/>
          </a:prstGeom>
          <a:noFill/>
          <a:ln/>
        </p:spPr>
        <p:txBody>
          <a:bodyPr wrap="square" rtlCol="0" anchor="t"/>
          <a:lstStyle/>
          <a:p>
            <a:pPr indent="0" marL="0">
              <a:buNone/>
            </a:pPr>
            <a:r>
              <a:rPr lang="en-US" sz="800" dirty="0">
                <a:solidFill>
                  <a:srgbClr val="C62828"/>
                </a:solidFill>
                <a:latin typeface="Calibri" pitchFamily="34" charset="0"/>
                <a:ea typeface="Calibri" pitchFamily="34" charset="-122"/>
                <a:cs typeface="Calibri" pitchFamily="34" charset="-120"/>
              </a:rPr>
              <a:t>PRIMARY</a:t>
            </a:r>
            <a:endParaRPr lang="en-US" sz="800" dirty="0"/>
          </a:p>
        </p:txBody>
      </p:sp>
      <p:sp>
        <p:nvSpPr>
          <p:cNvPr id="7" name="Text 5"/>
          <p:cNvSpPr/>
          <p:nvPr/>
        </p:nvSpPr>
        <p:spPr>
          <a:xfrm>
            <a:off x="3200400" y="914400"/>
            <a:ext cx="5303520" cy="73152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Ochratoxin A and aflatoxin exposure from water-damaged home</a:t>
            </a:r>
            <a:endParaRPr lang="en-US" sz="1000" dirty="0"/>
          </a:p>
        </p:txBody>
      </p:sp>
      <p:sp>
        <p:nvSpPr>
          <p:cNvPr id="8" name="Shape 6"/>
          <p:cNvSpPr/>
          <p:nvPr/>
        </p:nvSpPr>
        <p:spPr>
          <a:xfrm>
            <a:off x="457200" y="1737360"/>
            <a:ext cx="822960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Shape 7"/>
          <p:cNvSpPr/>
          <p:nvPr/>
        </p:nvSpPr>
        <p:spPr>
          <a:xfrm>
            <a:off x="457200" y="1737360"/>
            <a:ext cx="73152" cy="731520"/>
          </a:xfrm>
          <a:prstGeom prst="rect">
            <a:avLst/>
          </a:prstGeom>
          <a:solidFill>
            <a:srgbClr val="EF6C00"/>
          </a:solidFill>
          <a:ln/>
        </p:spPr>
      </p:sp>
      <p:sp>
        <p:nvSpPr>
          <p:cNvPr id="10" name="Text 8"/>
          <p:cNvSpPr/>
          <p:nvPr/>
        </p:nvSpPr>
        <p:spPr>
          <a:xfrm>
            <a:off x="640080" y="1737360"/>
            <a:ext cx="2743200" cy="365760"/>
          </a:xfrm>
          <a:prstGeom prst="rect">
            <a:avLst/>
          </a:prstGeom>
          <a:noFill/>
          <a:ln/>
        </p:spPr>
        <p:txBody>
          <a:bodyPr wrap="square" rtlCol="0" anchor="ctr"/>
          <a:lstStyle/>
          <a:p>
            <a:pPr indent="0" marL="0">
              <a:buNone/>
            </a:pPr>
            <a:r>
              <a:rPr lang="en-US" sz="1200" b="1" dirty="0">
                <a:solidFill>
                  <a:srgbClr val="1B2A4A"/>
                </a:solidFill>
                <a:latin typeface="Georgia" pitchFamily="34" charset="0"/>
                <a:ea typeface="Georgia" pitchFamily="34" charset="-122"/>
                <a:cs typeface="Georgia" pitchFamily="34" charset="-120"/>
              </a:rPr>
              <a:t>2. Mercury-induced oxidative stress and immune suppression</a:t>
            </a:r>
            <a:endParaRPr lang="en-US" sz="1200" dirty="0"/>
          </a:p>
        </p:txBody>
      </p:sp>
      <p:sp>
        <p:nvSpPr>
          <p:cNvPr id="11" name="Text 9"/>
          <p:cNvSpPr/>
          <p:nvPr/>
        </p:nvSpPr>
        <p:spPr>
          <a:xfrm>
            <a:off x="640080" y="2066544"/>
            <a:ext cx="1828800" cy="292608"/>
          </a:xfrm>
          <a:prstGeom prst="rect">
            <a:avLst/>
          </a:prstGeom>
          <a:noFill/>
          <a:ln/>
        </p:spPr>
        <p:txBody>
          <a:bodyPr wrap="square" rtlCol="0" anchor="t"/>
          <a:lstStyle/>
          <a:p>
            <a:pPr indent="0" marL="0">
              <a:buNone/>
            </a:pPr>
            <a:r>
              <a:rPr lang="en-US" sz="800" dirty="0">
                <a:solidFill>
                  <a:srgbClr val="EF6C00"/>
                </a:solidFill>
                <a:latin typeface="Calibri" pitchFamily="34" charset="0"/>
                <a:ea typeface="Calibri" pitchFamily="34" charset="-122"/>
                <a:cs typeface="Calibri" pitchFamily="34" charset="-120"/>
              </a:rPr>
              <a:t>SECONDARY</a:t>
            </a:r>
            <a:endParaRPr lang="en-US" sz="800" dirty="0"/>
          </a:p>
        </p:txBody>
      </p:sp>
      <p:sp>
        <p:nvSpPr>
          <p:cNvPr id="12" name="Text 10"/>
          <p:cNvSpPr/>
          <p:nvPr/>
        </p:nvSpPr>
        <p:spPr>
          <a:xfrm>
            <a:off x="3200400" y="1737360"/>
            <a:ext cx="5303520" cy="73152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Amalgam fillings leaching mercury</a:t>
            </a:r>
            <a:endParaRPr lang="en-US" sz="1000" dirty="0"/>
          </a:p>
        </p:txBody>
      </p:sp>
      <p:sp>
        <p:nvSpPr>
          <p:cNvPr id="13" name="Shape 11"/>
          <p:cNvSpPr/>
          <p:nvPr/>
        </p:nvSpPr>
        <p:spPr>
          <a:xfrm>
            <a:off x="457200" y="2560320"/>
            <a:ext cx="822960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Shape 12"/>
          <p:cNvSpPr/>
          <p:nvPr/>
        </p:nvSpPr>
        <p:spPr>
          <a:xfrm>
            <a:off x="457200" y="2560320"/>
            <a:ext cx="73152" cy="731520"/>
          </a:xfrm>
          <a:prstGeom prst="rect">
            <a:avLst/>
          </a:prstGeom>
          <a:solidFill>
            <a:srgbClr val="F9A825"/>
          </a:solidFill>
          <a:ln/>
        </p:spPr>
      </p:sp>
      <p:sp>
        <p:nvSpPr>
          <p:cNvPr id="15" name="Text 13"/>
          <p:cNvSpPr/>
          <p:nvPr/>
        </p:nvSpPr>
        <p:spPr>
          <a:xfrm>
            <a:off x="640080" y="2560320"/>
            <a:ext cx="2743200" cy="365760"/>
          </a:xfrm>
          <a:prstGeom prst="rect">
            <a:avLst/>
          </a:prstGeom>
          <a:noFill/>
          <a:ln/>
        </p:spPr>
        <p:txBody>
          <a:bodyPr wrap="square" rtlCol="0" anchor="ctr"/>
          <a:lstStyle/>
          <a:p>
            <a:pPr indent="0" marL="0">
              <a:buNone/>
            </a:pPr>
            <a:r>
              <a:rPr lang="en-US" sz="1200" b="1" dirty="0">
                <a:solidFill>
                  <a:srgbClr val="1B2A4A"/>
                </a:solidFill>
                <a:latin typeface="Georgia" pitchFamily="34" charset="0"/>
                <a:ea typeface="Georgia" pitchFamily="34" charset="-122"/>
                <a:cs typeface="Georgia" pitchFamily="34" charset="-120"/>
              </a:rPr>
              <a:t>3. Copper deficiency</a:t>
            </a:r>
            <a:endParaRPr lang="en-US" sz="1200" dirty="0"/>
          </a:p>
        </p:txBody>
      </p:sp>
      <p:sp>
        <p:nvSpPr>
          <p:cNvPr id="16" name="Text 14"/>
          <p:cNvSpPr/>
          <p:nvPr/>
        </p:nvSpPr>
        <p:spPr>
          <a:xfrm>
            <a:off x="640080" y="2889504"/>
            <a:ext cx="1828800" cy="292608"/>
          </a:xfrm>
          <a:prstGeom prst="rect">
            <a:avLst/>
          </a:prstGeom>
          <a:noFill/>
          <a:ln/>
        </p:spPr>
        <p:txBody>
          <a:bodyPr wrap="square" rtlCol="0" anchor="t"/>
          <a:lstStyle/>
          <a:p>
            <a:pPr indent="0" marL="0">
              <a:buNone/>
            </a:pPr>
            <a:r>
              <a:rPr lang="en-US" sz="800" dirty="0">
                <a:solidFill>
                  <a:srgbClr val="F9A825"/>
                </a:solidFill>
                <a:latin typeface="Calibri" pitchFamily="34" charset="0"/>
                <a:ea typeface="Calibri" pitchFamily="34" charset="-122"/>
                <a:cs typeface="Calibri" pitchFamily="34" charset="-120"/>
              </a:rPr>
              <a:t>TERTIARY</a:t>
            </a:r>
            <a:endParaRPr lang="en-US" sz="800" dirty="0"/>
          </a:p>
        </p:txBody>
      </p:sp>
      <p:sp>
        <p:nvSpPr>
          <p:cNvPr id="17" name="Text 15"/>
          <p:cNvSpPr/>
          <p:nvPr/>
        </p:nvSpPr>
        <p:spPr>
          <a:xfrm>
            <a:off x="3200400" y="2560320"/>
            <a:ext cx="5303520" cy="73152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Suppresses p53/p21 tumor suppressor genes</a:t>
            </a:r>
            <a:endParaRPr lang="en-US" sz="1000" dirty="0"/>
          </a:p>
        </p:txBody>
      </p:sp>
      <p:sp>
        <p:nvSpPr>
          <p:cNvPr id="18" name="Shape 16"/>
          <p:cNvSpPr/>
          <p:nvPr/>
        </p:nvSpPr>
        <p:spPr>
          <a:xfrm>
            <a:off x="457200" y="3383280"/>
            <a:ext cx="822960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9" name="Shape 17"/>
          <p:cNvSpPr/>
          <p:nvPr/>
        </p:nvSpPr>
        <p:spPr>
          <a:xfrm>
            <a:off x="457200" y="3383280"/>
            <a:ext cx="73152" cy="731520"/>
          </a:xfrm>
          <a:prstGeom prst="rect">
            <a:avLst/>
          </a:prstGeom>
          <a:solidFill>
            <a:srgbClr val="2E7D32"/>
          </a:solidFill>
          <a:ln/>
        </p:spPr>
      </p:sp>
      <p:sp>
        <p:nvSpPr>
          <p:cNvPr id="20" name="Text 18"/>
          <p:cNvSpPr/>
          <p:nvPr/>
        </p:nvSpPr>
        <p:spPr>
          <a:xfrm>
            <a:off x="640080" y="3383280"/>
            <a:ext cx="2743200" cy="365760"/>
          </a:xfrm>
          <a:prstGeom prst="rect">
            <a:avLst/>
          </a:prstGeom>
          <a:noFill/>
          <a:ln/>
        </p:spPr>
        <p:txBody>
          <a:bodyPr wrap="square" rtlCol="0" anchor="ctr"/>
          <a:lstStyle/>
          <a:p>
            <a:pPr indent="0" marL="0">
              <a:buNone/>
            </a:pPr>
            <a:r>
              <a:rPr lang="en-US" sz="1200" b="1" dirty="0">
                <a:solidFill>
                  <a:srgbClr val="1B2A4A"/>
                </a:solidFill>
                <a:latin typeface="Georgia" pitchFamily="34" charset="0"/>
                <a:ea typeface="Georgia" pitchFamily="34" charset="-122"/>
                <a:cs typeface="Georgia" pitchFamily="34" charset="-120"/>
              </a:rPr>
              <a:t>4. Gut-immune axis disruption</a:t>
            </a:r>
            <a:endParaRPr lang="en-US" sz="1200" dirty="0"/>
          </a:p>
        </p:txBody>
      </p:sp>
      <p:sp>
        <p:nvSpPr>
          <p:cNvPr id="21" name="Text 19"/>
          <p:cNvSpPr/>
          <p:nvPr/>
        </p:nvSpPr>
        <p:spPr>
          <a:xfrm>
            <a:off x="640080" y="3712464"/>
            <a:ext cx="1828800" cy="292608"/>
          </a:xfrm>
          <a:prstGeom prst="rect">
            <a:avLst/>
          </a:prstGeom>
          <a:noFill/>
          <a:ln/>
        </p:spPr>
        <p:txBody>
          <a:bodyPr wrap="square" rtlCol="0" anchor="t"/>
          <a:lstStyle/>
          <a:p>
            <a:pPr indent="0" marL="0">
              <a:buNone/>
            </a:pPr>
            <a:r>
              <a:rPr lang="en-US" sz="800" dirty="0">
                <a:solidFill>
                  <a:srgbClr val="2E7D32"/>
                </a:solidFill>
                <a:latin typeface="Calibri" pitchFamily="34" charset="0"/>
                <a:ea typeface="Calibri" pitchFamily="34" charset="-122"/>
                <a:cs typeface="Calibri" pitchFamily="34" charset="-120"/>
              </a:rPr>
              <a:t>QUATERNARY</a:t>
            </a:r>
            <a:endParaRPr lang="en-US" sz="800" dirty="0"/>
          </a:p>
        </p:txBody>
      </p:sp>
      <p:sp>
        <p:nvSpPr>
          <p:cNvPr id="22" name="Text 20"/>
          <p:cNvSpPr/>
          <p:nvPr/>
        </p:nvSpPr>
        <p:spPr>
          <a:xfrm>
            <a:off x="3200400" y="3383280"/>
            <a:ext cx="5303520" cy="73152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Antibiotic-damaged microbiome</a:t>
            </a:r>
            <a:endParaRPr lang="en-US" sz="1000" dirty="0"/>
          </a:p>
        </p:txBody>
      </p:sp>
      <p:sp>
        <p:nvSpPr>
          <p:cNvPr id="23" name="Shape 21"/>
          <p:cNvSpPr/>
          <p:nvPr/>
        </p:nvSpPr>
        <p:spPr>
          <a:xfrm>
            <a:off x="457200" y="4206240"/>
            <a:ext cx="822960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4" name="Shape 22"/>
          <p:cNvSpPr/>
          <p:nvPr/>
        </p:nvSpPr>
        <p:spPr>
          <a:xfrm>
            <a:off x="457200" y="4206240"/>
            <a:ext cx="73152" cy="731520"/>
          </a:xfrm>
          <a:prstGeom prst="rect">
            <a:avLst/>
          </a:prstGeom>
          <a:solidFill>
            <a:srgbClr val="1565C0"/>
          </a:solidFill>
          <a:ln/>
        </p:spPr>
      </p:sp>
      <p:sp>
        <p:nvSpPr>
          <p:cNvPr id="25" name="Text 23"/>
          <p:cNvSpPr/>
          <p:nvPr/>
        </p:nvSpPr>
        <p:spPr>
          <a:xfrm>
            <a:off x="640080" y="4206240"/>
            <a:ext cx="2743200" cy="365760"/>
          </a:xfrm>
          <a:prstGeom prst="rect">
            <a:avLst/>
          </a:prstGeom>
          <a:noFill/>
          <a:ln/>
        </p:spPr>
        <p:txBody>
          <a:bodyPr wrap="square" rtlCol="0" anchor="ctr"/>
          <a:lstStyle/>
          <a:p>
            <a:pPr indent="0" marL="0">
              <a:buNone/>
            </a:pPr>
            <a:r>
              <a:rPr lang="en-US" sz="1200" b="1" dirty="0">
                <a:solidFill>
                  <a:srgbClr val="1B2A4A"/>
                </a:solidFill>
                <a:latin typeface="Georgia" pitchFamily="34" charset="0"/>
                <a:ea typeface="Georgia" pitchFamily="34" charset="-122"/>
                <a:cs typeface="Georgia" pitchFamily="34" charset="-120"/>
              </a:rPr>
              <a:t>5. HPA axis dysregulation from unresolved trauma</a:t>
            </a:r>
            <a:endParaRPr lang="en-US" sz="1200" dirty="0"/>
          </a:p>
        </p:txBody>
      </p:sp>
      <p:sp>
        <p:nvSpPr>
          <p:cNvPr id="26" name="Text 24"/>
          <p:cNvSpPr/>
          <p:nvPr/>
        </p:nvSpPr>
        <p:spPr>
          <a:xfrm>
            <a:off x="640080" y="4535424"/>
            <a:ext cx="1828800" cy="292608"/>
          </a:xfrm>
          <a:prstGeom prst="rect">
            <a:avLst/>
          </a:prstGeom>
          <a:noFill/>
          <a:ln/>
        </p:spPr>
        <p:txBody>
          <a:bodyPr wrap="square" rtlCol="0" anchor="t"/>
          <a:lstStyle/>
          <a:p>
            <a:pPr indent="0" marL="0">
              <a:buNone/>
            </a:pPr>
            <a:r>
              <a:rPr lang="en-US" sz="800" dirty="0">
                <a:solidFill>
                  <a:srgbClr val="1565C0"/>
                </a:solidFill>
                <a:latin typeface="Calibri" pitchFamily="34" charset="0"/>
                <a:ea typeface="Calibri" pitchFamily="34" charset="-122"/>
                <a:cs typeface="Calibri" pitchFamily="34" charset="-120"/>
              </a:rPr>
              <a:t>QUINARY</a:t>
            </a:r>
            <a:endParaRPr lang="en-US" sz="800" dirty="0"/>
          </a:p>
        </p:txBody>
      </p:sp>
      <p:sp>
        <p:nvSpPr>
          <p:cNvPr id="27" name="Text 25"/>
          <p:cNvSpPr/>
          <p:nvPr/>
        </p:nvSpPr>
        <p:spPr>
          <a:xfrm>
            <a:off x="3200400" y="4206240"/>
            <a:ext cx="5303520" cy="73152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Chronic cortisol elevation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923"/>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5 R's to Healing at FF PMA</a:t>
            </a:r>
            <a:endParaRPr lang="en-US" sz="2800" dirty="0"/>
          </a:p>
        </p:txBody>
      </p:sp>
      <p:sp>
        <p:nvSpPr>
          <p:cNvPr id="3" name="Shape 1"/>
          <p:cNvSpPr/>
          <p:nvPr/>
        </p:nvSpPr>
        <p:spPr>
          <a:xfrm>
            <a:off x="457200" y="1005840"/>
            <a:ext cx="8229600" cy="685800"/>
          </a:xfrm>
          <a:prstGeom prst="rect">
            <a:avLst/>
          </a:prstGeom>
          <a:solidFill>
            <a:srgbClr val="1A2A3A"/>
          </a:solidFill>
          <a:ln/>
        </p:spPr>
      </p:sp>
      <p:sp>
        <p:nvSpPr>
          <p:cNvPr id="4" name="Shape 2"/>
          <p:cNvSpPr/>
          <p:nvPr/>
        </p:nvSpPr>
        <p:spPr>
          <a:xfrm>
            <a:off x="457200" y="1005840"/>
            <a:ext cx="73152" cy="685800"/>
          </a:xfrm>
          <a:prstGeom prst="rect">
            <a:avLst/>
          </a:prstGeom>
          <a:solidFill>
            <a:srgbClr val="C62828"/>
          </a:solidFill>
          <a:ln/>
        </p:spPr>
      </p:sp>
      <p:sp>
        <p:nvSpPr>
          <p:cNvPr id="5" name="Text 3"/>
          <p:cNvSpPr/>
          <p:nvPr/>
        </p:nvSpPr>
        <p:spPr>
          <a:xfrm>
            <a:off x="640080" y="1005840"/>
            <a:ext cx="3200400" cy="320040"/>
          </a:xfrm>
          <a:prstGeom prst="rect">
            <a:avLst/>
          </a:prstGeom>
          <a:noFill/>
          <a:ln/>
        </p:spPr>
        <p:txBody>
          <a:bodyPr wrap="square" rtlCol="0" anchor="ctr"/>
          <a:lstStyle/>
          <a:p>
            <a:pPr indent="0" marL="0">
              <a:buNone/>
            </a:pPr>
            <a:r>
              <a:rPr lang="en-US" sz="1300" b="1" dirty="0">
                <a:solidFill>
                  <a:srgbClr val="C62828"/>
                </a:solidFill>
                <a:latin typeface="Georgia" pitchFamily="34" charset="0"/>
                <a:ea typeface="Georgia" pitchFamily="34" charset="-122"/>
                <a:cs typeface="Georgia" pitchFamily="34" charset="-120"/>
              </a:rPr>
              <a:t>Phase 1: Phase 1: REMOVE (Weeks 1-3)</a:t>
            </a:r>
            <a:endParaRPr lang="en-US" sz="1300" dirty="0"/>
          </a:p>
        </p:txBody>
      </p:sp>
      <p:sp>
        <p:nvSpPr>
          <p:cNvPr id="6" name="Text 4"/>
          <p:cNvSpPr/>
          <p:nvPr/>
        </p:nvSpPr>
        <p:spPr>
          <a:xfrm>
            <a:off x="640080" y="1325880"/>
            <a:ext cx="1828800" cy="274320"/>
          </a:xfrm>
          <a:prstGeom prst="rect">
            <a:avLst/>
          </a:prstGeom>
          <a:noFill/>
          <a:ln/>
        </p:spPr>
        <p:txBody>
          <a:bodyPr wrap="square" rtlCol="0" anchor="t"/>
          <a:lstStyle/>
          <a:p>
            <a:pPr indent="0" marL="0">
              <a:buNone/>
            </a:pPr>
            <a:r>
              <a:rPr lang="en-US" sz="900" dirty="0">
                <a:solidFill>
                  <a:srgbClr val="666666"/>
                </a:solidFill>
                <a:latin typeface="Calibri" pitchFamily="34" charset="0"/>
                <a:ea typeface="Calibri" pitchFamily="34" charset="-122"/>
                <a:cs typeface="Calibri" pitchFamily="34" charset="-120"/>
              </a:rPr>
              <a:t>Weeks 1-3</a:t>
            </a:r>
            <a:endParaRPr lang="en-US" sz="900" dirty="0"/>
          </a:p>
        </p:txBody>
      </p:sp>
      <p:sp>
        <p:nvSpPr>
          <p:cNvPr id="7" name="Text 5"/>
          <p:cNvSpPr/>
          <p:nvPr/>
        </p:nvSpPr>
        <p:spPr>
          <a:xfrm>
            <a:off x="3840480" y="1005840"/>
            <a:ext cx="4663440" cy="6858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Eliminate toxins, pathogens, and environmental insults that created the disease environment.</a:t>
            </a:r>
            <a:endParaRPr lang="en-US" sz="1000" dirty="0"/>
          </a:p>
        </p:txBody>
      </p:sp>
      <p:sp>
        <p:nvSpPr>
          <p:cNvPr id="8" name="Shape 6"/>
          <p:cNvSpPr/>
          <p:nvPr/>
        </p:nvSpPr>
        <p:spPr>
          <a:xfrm>
            <a:off x="457200" y="1783080"/>
            <a:ext cx="8229600" cy="685800"/>
          </a:xfrm>
          <a:prstGeom prst="rect">
            <a:avLst/>
          </a:prstGeom>
          <a:solidFill>
            <a:srgbClr val="1A2A3A"/>
          </a:solidFill>
          <a:ln/>
        </p:spPr>
      </p:sp>
      <p:sp>
        <p:nvSpPr>
          <p:cNvPr id="9" name="Shape 7"/>
          <p:cNvSpPr/>
          <p:nvPr/>
        </p:nvSpPr>
        <p:spPr>
          <a:xfrm>
            <a:off x="457200" y="1783080"/>
            <a:ext cx="73152" cy="685800"/>
          </a:xfrm>
          <a:prstGeom prst="rect">
            <a:avLst/>
          </a:prstGeom>
          <a:solidFill>
            <a:srgbClr val="EF6C00"/>
          </a:solidFill>
          <a:ln/>
        </p:spPr>
      </p:sp>
      <p:sp>
        <p:nvSpPr>
          <p:cNvPr id="10" name="Text 8"/>
          <p:cNvSpPr/>
          <p:nvPr/>
        </p:nvSpPr>
        <p:spPr>
          <a:xfrm>
            <a:off x="640080" y="1783080"/>
            <a:ext cx="3200400" cy="320040"/>
          </a:xfrm>
          <a:prstGeom prst="rect">
            <a:avLst/>
          </a:prstGeom>
          <a:noFill/>
          <a:ln/>
        </p:spPr>
        <p:txBody>
          <a:bodyPr wrap="square" rtlCol="0" anchor="ctr"/>
          <a:lstStyle/>
          <a:p>
            <a:pPr indent="0" marL="0">
              <a:buNone/>
            </a:pPr>
            <a:r>
              <a:rPr lang="en-US" sz="1300" b="1" dirty="0">
                <a:solidFill>
                  <a:srgbClr val="EF6C00"/>
                </a:solidFill>
                <a:latin typeface="Georgia" pitchFamily="34" charset="0"/>
                <a:ea typeface="Georgia" pitchFamily="34" charset="-122"/>
                <a:cs typeface="Georgia" pitchFamily="34" charset="-120"/>
              </a:rPr>
              <a:t>Phase 2: Phase 2: RESTORE (Weeks 3-5)</a:t>
            </a:r>
            <a:endParaRPr lang="en-US" sz="1300" dirty="0"/>
          </a:p>
        </p:txBody>
      </p:sp>
      <p:sp>
        <p:nvSpPr>
          <p:cNvPr id="11" name="Text 9"/>
          <p:cNvSpPr/>
          <p:nvPr/>
        </p:nvSpPr>
        <p:spPr>
          <a:xfrm>
            <a:off x="640080" y="2103120"/>
            <a:ext cx="1828800" cy="274320"/>
          </a:xfrm>
          <a:prstGeom prst="rect">
            <a:avLst/>
          </a:prstGeom>
          <a:noFill/>
          <a:ln/>
        </p:spPr>
        <p:txBody>
          <a:bodyPr wrap="square" rtlCol="0" anchor="t"/>
          <a:lstStyle/>
          <a:p>
            <a:pPr indent="0" marL="0">
              <a:buNone/>
            </a:pPr>
            <a:r>
              <a:rPr lang="en-US" sz="900" dirty="0">
                <a:solidFill>
                  <a:srgbClr val="666666"/>
                </a:solidFill>
                <a:latin typeface="Calibri" pitchFamily="34" charset="0"/>
                <a:ea typeface="Calibri" pitchFamily="34" charset="-122"/>
                <a:cs typeface="Calibri" pitchFamily="34" charset="-120"/>
              </a:rPr>
              <a:t>Weeks 3-5</a:t>
            </a:r>
            <a:endParaRPr lang="en-US" sz="900" dirty="0"/>
          </a:p>
        </p:txBody>
      </p:sp>
      <p:sp>
        <p:nvSpPr>
          <p:cNvPr id="12" name="Text 10"/>
          <p:cNvSpPr/>
          <p:nvPr/>
        </p:nvSpPr>
        <p:spPr>
          <a:xfrm>
            <a:off x="3840480" y="1783080"/>
            <a:ext cx="4663440" cy="6858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Restore gut integrity, microbiome balance, and digestive function damaged by childhood antibiotics and chronic inflammation.</a:t>
            </a:r>
            <a:endParaRPr lang="en-US" sz="1000" dirty="0"/>
          </a:p>
        </p:txBody>
      </p:sp>
      <p:sp>
        <p:nvSpPr>
          <p:cNvPr id="13" name="Shape 11"/>
          <p:cNvSpPr/>
          <p:nvPr/>
        </p:nvSpPr>
        <p:spPr>
          <a:xfrm>
            <a:off x="457200" y="2560320"/>
            <a:ext cx="8229600" cy="685800"/>
          </a:xfrm>
          <a:prstGeom prst="rect">
            <a:avLst/>
          </a:prstGeom>
          <a:solidFill>
            <a:srgbClr val="1A2A3A"/>
          </a:solidFill>
          <a:ln/>
        </p:spPr>
      </p:sp>
      <p:sp>
        <p:nvSpPr>
          <p:cNvPr id="14" name="Shape 12"/>
          <p:cNvSpPr/>
          <p:nvPr/>
        </p:nvSpPr>
        <p:spPr>
          <a:xfrm>
            <a:off x="457200" y="2560320"/>
            <a:ext cx="73152" cy="685800"/>
          </a:xfrm>
          <a:prstGeom prst="rect">
            <a:avLst/>
          </a:prstGeom>
          <a:solidFill>
            <a:srgbClr val="F9A825"/>
          </a:solidFill>
          <a:ln/>
        </p:spPr>
      </p:sp>
      <p:sp>
        <p:nvSpPr>
          <p:cNvPr id="15" name="Text 13"/>
          <p:cNvSpPr/>
          <p:nvPr/>
        </p:nvSpPr>
        <p:spPr>
          <a:xfrm>
            <a:off x="640080" y="2560320"/>
            <a:ext cx="3200400" cy="320040"/>
          </a:xfrm>
          <a:prstGeom prst="rect">
            <a:avLst/>
          </a:prstGeom>
          <a:noFill/>
          <a:ln/>
        </p:spPr>
        <p:txBody>
          <a:bodyPr wrap="square" rtlCol="0" anchor="ctr"/>
          <a:lstStyle/>
          <a:p>
            <a:pPr indent="0" marL="0">
              <a:buNone/>
            </a:pPr>
            <a:r>
              <a:rPr lang="en-US" sz="1300" b="1" dirty="0">
                <a:solidFill>
                  <a:srgbClr val="F9A825"/>
                </a:solidFill>
                <a:latin typeface="Georgia" pitchFamily="34" charset="0"/>
                <a:ea typeface="Georgia" pitchFamily="34" charset="-122"/>
                <a:cs typeface="Georgia" pitchFamily="34" charset="-120"/>
              </a:rPr>
              <a:t>Phase 3: Phase 3: REPLENISH (Weeks 5-8)</a:t>
            </a:r>
            <a:endParaRPr lang="en-US" sz="1300" dirty="0"/>
          </a:p>
        </p:txBody>
      </p:sp>
      <p:sp>
        <p:nvSpPr>
          <p:cNvPr id="16" name="Text 14"/>
          <p:cNvSpPr/>
          <p:nvPr/>
        </p:nvSpPr>
        <p:spPr>
          <a:xfrm>
            <a:off x="640080" y="2880360"/>
            <a:ext cx="1828800" cy="274320"/>
          </a:xfrm>
          <a:prstGeom prst="rect">
            <a:avLst/>
          </a:prstGeom>
          <a:noFill/>
          <a:ln/>
        </p:spPr>
        <p:txBody>
          <a:bodyPr wrap="square" rtlCol="0" anchor="t"/>
          <a:lstStyle/>
          <a:p>
            <a:pPr indent="0" marL="0">
              <a:buNone/>
            </a:pPr>
            <a:r>
              <a:rPr lang="en-US" sz="900" dirty="0">
                <a:solidFill>
                  <a:srgbClr val="666666"/>
                </a:solidFill>
                <a:latin typeface="Calibri" pitchFamily="34" charset="0"/>
                <a:ea typeface="Calibri" pitchFamily="34" charset="-122"/>
                <a:cs typeface="Calibri" pitchFamily="34" charset="-120"/>
              </a:rPr>
              <a:t>Weeks 5-7</a:t>
            </a:r>
            <a:endParaRPr lang="en-US" sz="900" dirty="0"/>
          </a:p>
        </p:txBody>
      </p:sp>
      <p:sp>
        <p:nvSpPr>
          <p:cNvPr id="17" name="Text 15"/>
          <p:cNvSpPr/>
          <p:nvPr/>
        </p:nvSpPr>
        <p:spPr>
          <a:xfrm>
            <a:off x="3840480" y="2560320"/>
            <a:ext cx="4663440" cy="6858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Replenish essential nutrients, enhance immune response, and support cellular regeneration.</a:t>
            </a:r>
            <a:endParaRPr lang="en-US" sz="1000" dirty="0"/>
          </a:p>
        </p:txBody>
      </p:sp>
      <p:sp>
        <p:nvSpPr>
          <p:cNvPr id="18" name="Shape 16"/>
          <p:cNvSpPr/>
          <p:nvPr/>
        </p:nvSpPr>
        <p:spPr>
          <a:xfrm>
            <a:off x="457200" y="3337560"/>
            <a:ext cx="8229600" cy="685800"/>
          </a:xfrm>
          <a:prstGeom prst="rect">
            <a:avLst/>
          </a:prstGeom>
          <a:solidFill>
            <a:srgbClr val="1A2A3A"/>
          </a:solidFill>
          <a:ln/>
        </p:spPr>
      </p:sp>
      <p:sp>
        <p:nvSpPr>
          <p:cNvPr id="19" name="Shape 17"/>
          <p:cNvSpPr/>
          <p:nvPr/>
        </p:nvSpPr>
        <p:spPr>
          <a:xfrm>
            <a:off x="457200" y="3337560"/>
            <a:ext cx="73152" cy="685800"/>
          </a:xfrm>
          <a:prstGeom prst="rect">
            <a:avLst/>
          </a:prstGeom>
          <a:solidFill>
            <a:srgbClr val="2E7D32"/>
          </a:solidFill>
          <a:ln/>
        </p:spPr>
      </p:sp>
      <p:sp>
        <p:nvSpPr>
          <p:cNvPr id="20" name="Text 18"/>
          <p:cNvSpPr/>
          <p:nvPr/>
        </p:nvSpPr>
        <p:spPr>
          <a:xfrm>
            <a:off x="640080" y="3337560"/>
            <a:ext cx="3200400" cy="320040"/>
          </a:xfrm>
          <a:prstGeom prst="rect">
            <a:avLst/>
          </a:prstGeom>
          <a:noFill/>
          <a:ln/>
        </p:spPr>
        <p:txBody>
          <a:bodyPr wrap="square" rtlCol="0" anchor="ctr"/>
          <a:lstStyle/>
          <a:p>
            <a:pPr indent="0" marL="0">
              <a:buNone/>
            </a:pPr>
            <a:r>
              <a:rPr lang="en-US" sz="1300" b="1" dirty="0">
                <a:solidFill>
                  <a:srgbClr val="2E7D32"/>
                </a:solidFill>
                <a:latin typeface="Georgia" pitchFamily="34" charset="0"/>
                <a:ea typeface="Georgia" pitchFamily="34" charset="-122"/>
                <a:cs typeface="Georgia" pitchFamily="34" charset="-120"/>
              </a:rPr>
              <a:t>Phase 4: Phase 4: REGENERATE (Weeks 8-11)</a:t>
            </a:r>
            <a:endParaRPr lang="en-US" sz="1300" dirty="0"/>
          </a:p>
        </p:txBody>
      </p:sp>
      <p:sp>
        <p:nvSpPr>
          <p:cNvPr id="21" name="Text 19"/>
          <p:cNvSpPr/>
          <p:nvPr/>
        </p:nvSpPr>
        <p:spPr>
          <a:xfrm>
            <a:off x="640080" y="3657600"/>
            <a:ext cx="1828800" cy="274320"/>
          </a:xfrm>
          <a:prstGeom prst="rect">
            <a:avLst/>
          </a:prstGeom>
          <a:noFill/>
          <a:ln/>
        </p:spPr>
        <p:txBody>
          <a:bodyPr wrap="square" rtlCol="0" anchor="t"/>
          <a:lstStyle/>
          <a:p>
            <a:pPr indent="0" marL="0">
              <a:buNone/>
            </a:pPr>
            <a:r>
              <a:rPr lang="en-US" sz="900" dirty="0">
                <a:solidFill>
                  <a:srgbClr val="666666"/>
                </a:solidFill>
                <a:latin typeface="Calibri" pitchFamily="34" charset="0"/>
                <a:ea typeface="Calibri" pitchFamily="34" charset="-122"/>
                <a:cs typeface="Calibri" pitchFamily="34" charset="-120"/>
              </a:rPr>
              <a:t>Weeks 7-9</a:t>
            </a:r>
            <a:endParaRPr lang="en-US" sz="900" dirty="0"/>
          </a:p>
        </p:txBody>
      </p:sp>
      <p:sp>
        <p:nvSpPr>
          <p:cNvPr id="22" name="Text 20"/>
          <p:cNvSpPr/>
          <p:nvPr/>
        </p:nvSpPr>
        <p:spPr>
          <a:xfrm>
            <a:off x="3840480" y="3337560"/>
            <a:ext cx="4663440" cy="6858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Activate regenerative peptides, bioregulators, and immune-modulating compounds to restore cellular function and anti-tumor immunity.</a:t>
            </a:r>
            <a:endParaRPr lang="en-US" sz="1000" dirty="0"/>
          </a:p>
        </p:txBody>
      </p:sp>
      <p:sp>
        <p:nvSpPr>
          <p:cNvPr id="23" name="Shape 21"/>
          <p:cNvSpPr/>
          <p:nvPr/>
        </p:nvSpPr>
        <p:spPr>
          <a:xfrm>
            <a:off x="457200" y="4114800"/>
            <a:ext cx="8229600" cy="685800"/>
          </a:xfrm>
          <a:prstGeom prst="rect">
            <a:avLst/>
          </a:prstGeom>
          <a:solidFill>
            <a:srgbClr val="1A2A3A"/>
          </a:solidFill>
          <a:ln/>
        </p:spPr>
      </p:sp>
      <p:sp>
        <p:nvSpPr>
          <p:cNvPr id="24" name="Shape 22"/>
          <p:cNvSpPr/>
          <p:nvPr/>
        </p:nvSpPr>
        <p:spPr>
          <a:xfrm>
            <a:off x="457200" y="4114800"/>
            <a:ext cx="73152" cy="685800"/>
          </a:xfrm>
          <a:prstGeom prst="rect">
            <a:avLst/>
          </a:prstGeom>
          <a:solidFill>
            <a:srgbClr val="1565C0"/>
          </a:solidFill>
          <a:ln/>
        </p:spPr>
      </p:sp>
      <p:sp>
        <p:nvSpPr>
          <p:cNvPr id="25" name="Text 23"/>
          <p:cNvSpPr/>
          <p:nvPr/>
        </p:nvSpPr>
        <p:spPr>
          <a:xfrm>
            <a:off x="640080" y="4114800"/>
            <a:ext cx="3200400" cy="320040"/>
          </a:xfrm>
          <a:prstGeom prst="rect">
            <a:avLst/>
          </a:prstGeom>
          <a:noFill/>
          <a:ln/>
        </p:spPr>
        <p:txBody>
          <a:bodyPr wrap="square" rtlCol="0" anchor="ctr"/>
          <a:lstStyle/>
          <a:p>
            <a:pPr indent="0" marL="0">
              <a:buNone/>
            </a:pPr>
            <a:r>
              <a:rPr lang="en-US" sz="1300" b="1" dirty="0">
                <a:solidFill>
                  <a:srgbClr val="1565C0"/>
                </a:solidFill>
                <a:latin typeface="Georgia" pitchFamily="34" charset="0"/>
                <a:ea typeface="Georgia" pitchFamily="34" charset="-122"/>
                <a:cs typeface="Georgia" pitchFamily="34" charset="-120"/>
              </a:rPr>
              <a:t>Phase 5: Phase 5: REBALANCE (Weeks 11-13+)</a:t>
            </a:r>
            <a:endParaRPr lang="en-US" sz="1300" dirty="0"/>
          </a:p>
        </p:txBody>
      </p:sp>
      <p:sp>
        <p:nvSpPr>
          <p:cNvPr id="26" name="Text 24"/>
          <p:cNvSpPr/>
          <p:nvPr/>
        </p:nvSpPr>
        <p:spPr>
          <a:xfrm>
            <a:off x="640080" y="4434840"/>
            <a:ext cx="1828800" cy="274320"/>
          </a:xfrm>
          <a:prstGeom prst="rect">
            <a:avLst/>
          </a:prstGeom>
          <a:noFill/>
          <a:ln/>
        </p:spPr>
        <p:txBody>
          <a:bodyPr wrap="square" rtlCol="0" anchor="t"/>
          <a:lstStyle/>
          <a:p>
            <a:pPr indent="0" marL="0">
              <a:buNone/>
            </a:pPr>
            <a:r>
              <a:rPr lang="en-US" sz="900" dirty="0">
                <a:solidFill>
                  <a:srgbClr val="666666"/>
                </a:solidFill>
                <a:latin typeface="Calibri" pitchFamily="34" charset="0"/>
                <a:ea typeface="Calibri" pitchFamily="34" charset="-122"/>
                <a:cs typeface="Calibri" pitchFamily="34" charset="-120"/>
              </a:rPr>
              <a:t>Weeks 9-11</a:t>
            </a:r>
            <a:endParaRPr lang="en-US" sz="900" dirty="0"/>
          </a:p>
        </p:txBody>
      </p:sp>
      <p:sp>
        <p:nvSpPr>
          <p:cNvPr id="27" name="Text 25"/>
          <p:cNvSpPr/>
          <p:nvPr/>
        </p:nvSpPr>
        <p:spPr>
          <a:xfrm>
            <a:off x="3840480" y="4114800"/>
            <a:ext cx="4663440" cy="68580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Optimize immune function, address HPA axis dysregulation, and maintain long-term health.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Daily Schedule</a:t>
            </a:r>
            <a:endParaRPr lang="en-US" sz="2800" dirty="0"/>
          </a:p>
        </p:txBody>
      </p:sp>
      <p:sp>
        <p:nvSpPr>
          <p:cNvPr id="3" name="Shape 1"/>
          <p:cNvSpPr/>
          <p:nvPr/>
        </p:nvSpPr>
        <p:spPr>
          <a:xfrm>
            <a:off x="457200" y="914400"/>
            <a:ext cx="1965960" cy="320040"/>
          </a:xfrm>
          <a:prstGeom prst="rect">
            <a:avLst/>
          </a:prstGeom>
          <a:solidFill>
            <a:srgbClr val="FF8F00"/>
          </a:solidFill>
          <a:ln/>
        </p:spPr>
      </p:sp>
      <p:sp>
        <p:nvSpPr>
          <p:cNvPr id="4" name="Text 2"/>
          <p:cNvSpPr/>
          <p:nvPr/>
        </p:nvSpPr>
        <p:spPr>
          <a:xfrm>
            <a:off x="457200" y="914400"/>
            <a:ext cx="196596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MORNING</a:t>
            </a:r>
            <a:endParaRPr lang="en-US" sz="1100" dirty="0"/>
          </a:p>
        </p:txBody>
      </p:sp>
      <p:sp>
        <p:nvSpPr>
          <p:cNvPr id="5" name="Shape 3"/>
          <p:cNvSpPr/>
          <p:nvPr/>
        </p:nvSpPr>
        <p:spPr>
          <a:xfrm>
            <a:off x="457200" y="1234440"/>
            <a:ext cx="196596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Text 4"/>
          <p:cNvSpPr/>
          <p:nvPr/>
        </p:nvSpPr>
        <p:spPr>
          <a:xfrm>
            <a:off x="502920" y="1280160"/>
            <a:ext cx="1874520" cy="3383280"/>
          </a:xfrm>
          <a:prstGeom prst="rect">
            <a:avLst/>
          </a:prstGeom>
          <a:noFill/>
          <a:ln/>
        </p:spPr>
        <p:txBody>
          <a:bodyPr wrap="square" rtlCol="0" anchor="t"/>
          <a:lstStyle/>
          <a:p>
            <a:pPr marL="342900" indent="-342900">
              <a:buSzPct val="100000"/>
              <a:buChar char="•"/>
            </a:pPr>
            <a:r>
              <a:rPr lang="en-US" sz="800" dirty="0">
                <a:solidFill>
                  <a:srgbClr val="222222"/>
                </a:solidFill>
                <a:latin typeface="Calibri" pitchFamily="34" charset="0"/>
                <a:ea typeface="Calibri" pitchFamily="34" charset="-122"/>
                <a:cs typeface="Calibri" pitchFamily="34" charset="-120"/>
              </a:rPr>
              <a:t>Activated Charcoal — 1 capsule on empty stomach</a:t>
            </a:r>
            <a:endParaRPr lang="en-US" sz="800" dirty="0"/>
          </a:p>
          <a:p>
            <a:pPr marL="342900" indent="-342900">
              <a:buSzPct val="100000"/>
              <a:buChar char="•"/>
            </a:pPr>
            <a:r>
              <a:rPr lang="en-US" sz="800" dirty="0">
                <a:solidFill>
                  <a:srgbClr val="222222"/>
                </a:solidFill>
                <a:latin typeface="Calibri" pitchFamily="34" charset="0"/>
                <a:ea typeface="Calibri" pitchFamily="34" charset="-122"/>
                <a:cs typeface="Calibri" pitchFamily="34" charset="-120"/>
              </a:rPr>
              <a:t>L-glutamine — 5g in water</a:t>
            </a:r>
            <a:endParaRPr lang="en-US" sz="800" dirty="0"/>
          </a:p>
          <a:p>
            <a:pPr marL="342900" indent="-342900">
              <a:buSzPct val="100000"/>
              <a:buChar char="•"/>
            </a:pPr>
            <a:r>
              <a:rPr lang="en-US" sz="800" dirty="0">
                <a:solidFill>
                  <a:srgbClr val="222222"/>
                </a:solidFill>
                <a:latin typeface="Calibri" pitchFamily="34" charset="0"/>
                <a:ea typeface="Calibri" pitchFamily="34" charset="-122"/>
                <a:cs typeface="Calibri" pitchFamily="34" charset="-120"/>
              </a:rPr>
              <a:t>Copper Sebacate — 1 capsule</a:t>
            </a:r>
            <a:endParaRPr lang="en-US" sz="800" dirty="0"/>
          </a:p>
          <a:p>
            <a:pPr marL="342900" indent="-342900">
              <a:buSzPct val="100000"/>
              <a:buChar char="•"/>
            </a:pPr>
            <a:r>
              <a:rPr lang="en-US" sz="800" dirty="0">
                <a:solidFill>
                  <a:srgbClr val="222222"/>
                </a:solidFill>
                <a:latin typeface="Calibri" pitchFamily="34" charset="0"/>
                <a:ea typeface="Calibri" pitchFamily="34" charset="-122"/>
                <a:cs typeface="Calibri" pitchFamily="34" charset="-120"/>
              </a:rPr>
              <a:t>Gut Feeling — 1 scoop in water</a:t>
            </a:r>
            <a:endParaRPr lang="en-US" sz="800" dirty="0"/>
          </a:p>
        </p:txBody>
      </p:sp>
      <p:sp>
        <p:nvSpPr>
          <p:cNvPr id="7" name="Shape 5"/>
          <p:cNvSpPr/>
          <p:nvPr/>
        </p:nvSpPr>
        <p:spPr>
          <a:xfrm>
            <a:off x="2560320" y="914400"/>
            <a:ext cx="1965960" cy="320040"/>
          </a:xfrm>
          <a:prstGeom prst="rect">
            <a:avLst/>
          </a:prstGeom>
          <a:solidFill>
            <a:srgbClr val="0097A7"/>
          </a:solidFill>
          <a:ln/>
        </p:spPr>
      </p:sp>
      <p:sp>
        <p:nvSpPr>
          <p:cNvPr id="8" name="Text 6"/>
          <p:cNvSpPr/>
          <p:nvPr/>
        </p:nvSpPr>
        <p:spPr>
          <a:xfrm>
            <a:off x="2560320" y="914400"/>
            <a:ext cx="196596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MIDDAY</a:t>
            </a:r>
            <a:endParaRPr lang="en-US" sz="1100" dirty="0"/>
          </a:p>
        </p:txBody>
      </p:sp>
      <p:sp>
        <p:nvSpPr>
          <p:cNvPr id="9" name="Shape 7"/>
          <p:cNvSpPr/>
          <p:nvPr/>
        </p:nvSpPr>
        <p:spPr>
          <a:xfrm>
            <a:off x="2560320" y="1234440"/>
            <a:ext cx="196596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Text 8"/>
          <p:cNvSpPr/>
          <p:nvPr/>
        </p:nvSpPr>
        <p:spPr>
          <a:xfrm>
            <a:off x="2606040" y="1280160"/>
            <a:ext cx="1874520" cy="3383280"/>
          </a:xfrm>
          <a:prstGeom prst="rect">
            <a:avLst/>
          </a:prstGeom>
          <a:noFill/>
          <a:ln/>
        </p:spPr>
        <p:txBody>
          <a:bodyPr wrap="square" rtlCol="0" anchor="t"/>
          <a:lstStyle/>
          <a:p>
            <a:pPr marL="342900" indent="-342900">
              <a:buSzPct val="100000"/>
              <a:buChar char="•"/>
            </a:pPr>
            <a:r>
              <a:rPr lang="en-US" sz="800" dirty="0">
                <a:solidFill>
                  <a:srgbClr val="222222"/>
                </a:solidFill>
                <a:latin typeface="Calibri" pitchFamily="34" charset="0"/>
                <a:ea typeface="Calibri" pitchFamily="34" charset="-122"/>
                <a:cs typeface="Calibri" pitchFamily="34" charset="-120"/>
              </a:rPr>
              <a:t>BPC-157 — 250mcg SubQ</a:t>
            </a:r>
            <a:endParaRPr lang="en-US" sz="800" dirty="0"/>
          </a:p>
          <a:p>
            <a:pPr marL="342900" indent="-342900">
              <a:buSzPct val="100000"/>
              <a:buChar char="•"/>
            </a:pPr>
            <a:r>
              <a:rPr lang="en-US" sz="800" dirty="0">
                <a:solidFill>
                  <a:srgbClr val="222222"/>
                </a:solidFill>
                <a:latin typeface="Calibri" pitchFamily="34" charset="0"/>
                <a:ea typeface="Calibri" pitchFamily="34" charset="-122"/>
                <a:cs typeface="Calibri" pitchFamily="34" charset="-120"/>
              </a:rPr>
              <a:t>Probiotics — 100B CFU</a:t>
            </a:r>
            <a:endParaRPr lang="en-US" sz="800" dirty="0"/>
          </a:p>
          <a:p>
            <a:pPr marL="342900" indent="-342900">
              <a:buSzPct val="100000"/>
              <a:buChar char="•"/>
            </a:pPr>
            <a:r>
              <a:rPr lang="en-US" sz="800" dirty="0">
                <a:solidFill>
                  <a:srgbClr val="222222"/>
                </a:solidFill>
                <a:latin typeface="Calibri" pitchFamily="34" charset="0"/>
                <a:ea typeface="Calibri" pitchFamily="34" charset="-122"/>
                <a:cs typeface="Calibri" pitchFamily="34" charset="-120"/>
              </a:rPr>
              <a:t>Digestive Enzymes — with meals</a:t>
            </a:r>
            <a:endParaRPr lang="en-US" sz="800" dirty="0"/>
          </a:p>
        </p:txBody>
      </p:sp>
      <p:sp>
        <p:nvSpPr>
          <p:cNvPr id="11" name="Shape 9"/>
          <p:cNvSpPr/>
          <p:nvPr/>
        </p:nvSpPr>
        <p:spPr>
          <a:xfrm>
            <a:off x="4663440" y="914400"/>
            <a:ext cx="1965960" cy="320040"/>
          </a:xfrm>
          <a:prstGeom prst="rect">
            <a:avLst/>
          </a:prstGeom>
          <a:solidFill>
            <a:srgbClr val="5C6BC0"/>
          </a:solidFill>
          <a:ln/>
        </p:spPr>
      </p:sp>
      <p:sp>
        <p:nvSpPr>
          <p:cNvPr id="12" name="Text 10"/>
          <p:cNvSpPr/>
          <p:nvPr/>
        </p:nvSpPr>
        <p:spPr>
          <a:xfrm>
            <a:off x="4663440" y="914400"/>
            <a:ext cx="196596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EVENING</a:t>
            </a:r>
            <a:endParaRPr lang="en-US" sz="1100" dirty="0"/>
          </a:p>
        </p:txBody>
      </p:sp>
      <p:sp>
        <p:nvSpPr>
          <p:cNvPr id="13" name="Shape 11"/>
          <p:cNvSpPr/>
          <p:nvPr/>
        </p:nvSpPr>
        <p:spPr>
          <a:xfrm>
            <a:off x="4663440" y="1234440"/>
            <a:ext cx="196596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Text 12"/>
          <p:cNvSpPr/>
          <p:nvPr/>
        </p:nvSpPr>
        <p:spPr>
          <a:xfrm>
            <a:off x="4709160" y="1280160"/>
            <a:ext cx="1874520" cy="3383280"/>
          </a:xfrm>
          <a:prstGeom prst="rect">
            <a:avLst/>
          </a:prstGeom>
          <a:noFill/>
          <a:ln/>
        </p:spPr>
        <p:txBody>
          <a:bodyPr wrap="square" rtlCol="0" anchor="t"/>
          <a:lstStyle/>
          <a:p>
            <a:pPr marL="342900" indent="-342900">
              <a:buSzPct val="100000"/>
              <a:buChar char="•"/>
            </a:pPr>
            <a:r>
              <a:rPr lang="en-US" sz="800" dirty="0">
                <a:solidFill>
                  <a:srgbClr val="222222"/>
                </a:solidFill>
                <a:latin typeface="Calibri" pitchFamily="34" charset="0"/>
                <a:ea typeface="Calibri" pitchFamily="34" charset="-122"/>
                <a:cs typeface="Calibri" pitchFamily="34" charset="-120"/>
              </a:rPr>
              <a:t>KPV — 250mcg SubQ</a:t>
            </a:r>
            <a:endParaRPr lang="en-US" sz="800" dirty="0"/>
          </a:p>
          <a:p>
            <a:pPr marL="342900" indent="-342900">
              <a:buSzPct val="100000"/>
              <a:buChar char="•"/>
            </a:pPr>
            <a:r>
              <a:rPr lang="en-US" sz="800" dirty="0">
                <a:solidFill>
                  <a:srgbClr val="222222"/>
                </a:solidFill>
                <a:latin typeface="Calibri" pitchFamily="34" charset="0"/>
                <a:ea typeface="Calibri" pitchFamily="34" charset="-122"/>
                <a:cs typeface="Calibri" pitchFamily="34" charset="-120"/>
              </a:rPr>
              <a:t>Bone Broth — 1 cup</a:t>
            </a:r>
            <a:endParaRPr lang="en-US" sz="800" dirty="0"/>
          </a:p>
          <a:p>
            <a:pPr marL="342900" indent="-342900">
              <a:buSzPct val="100000"/>
              <a:buChar char="•"/>
            </a:pPr>
            <a:r>
              <a:rPr lang="en-US" sz="800" dirty="0">
                <a:solidFill>
                  <a:srgbClr val="222222"/>
                </a:solidFill>
                <a:latin typeface="Calibri" pitchFamily="34" charset="0"/>
                <a:ea typeface="Calibri" pitchFamily="34" charset="-122"/>
                <a:cs typeface="Calibri" pitchFamily="34" charset="-120"/>
              </a:rPr>
              <a:t>Lipo-B Injection — 1-2 mL IM</a:t>
            </a:r>
            <a:endParaRPr lang="en-US" sz="800" dirty="0"/>
          </a:p>
        </p:txBody>
      </p:sp>
      <p:sp>
        <p:nvSpPr>
          <p:cNvPr id="15" name="Shape 13"/>
          <p:cNvSpPr/>
          <p:nvPr/>
        </p:nvSpPr>
        <p:spPr>
          <a:xfrm>
            <a:off x="6766560" y="914400"/>
            <a:ext cx="1965960" cy="320040"/>
          </a:xfrm>
          <a:prstGeom prst="rect">
            <a:avLst/>
          </a:prstGeom>
          <a:solidFill>
            <a:srgbClr val="37474F"/>
          </a:solidFill>
          <a:ln/>
        </p:spPr>
      </p:sp>
      <p:sp>
        <p:nvSpPr>
          <p:cNvPr id="16" name="Text 14"/>
          <p:cNvSpPr/>
          <p:nvPr/>
        </p:nvSpPr>
        <p:spPr>
          <a:xfrm>
            <a:off x="6766560" y="914400"/>
            <a:ext cx="196596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BEDTIME</a:t>
            </a:r>
            <a:endParaRPr lang="en-US" sz="1100" dirty="0"/>
          </a:p>
        </p:txBody>
      </p:sp>
      <p:sp>
        <p:nvSpPr>
          <p:cNvPr id="17" name="Shape 15"/>
          <p:cNvSpPr/>
          <p:nvPr/>
        </p:nvSpPr>
        <p:spPr>
          <a:xfrm>
            <a:off x="6766560" y="1234440"/>
            <a:ext cx="1965960" cy="3474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8" name="Text 16"/>
          <p:cNvSpPr/>
          <p:nvPr/>
        </p:nvSpPr>
        <p:spPr>
          <a:xfrm>
            <a:off x="6812280" y="1280160"/>
            <a:ext cx="1874520" cy="3383280"/>
          </a:xfrm>
          <a:prstGeom prst="rect">
            <a:avLst/>
          </a:prstGeom>
          <a:noFill/>
          <a:ln/>
        </p:spPr>
        <p:txBody>
          <a:bodyPr wrap="square" rtlCol="0" anchor="t"/>
          <a:lstStyle/>
          <a:p>
            <a:pPr marL="342900" indent="-342900">
              <a:buSzPct val="100000"/>
              <a:buChar char="•"/>
            </a:pPr>
            <a:r>
              <a:rPr lang="en-US" sz="800" dirty="0">
                <a:solidFill>
                  <a:srgbClr val="222222"/>
                </a:solidFill>
                <a:latin typeface="Calibri" pitchFamily="34" charset="0"/>
                <a:ea typeface="Calibri" pitchFamily="34" charset="-122"/>
                <a:cs typeface="Calibri" pitchFamily="34" charset="-120"/>
              </a:rPr>
              <a:t>CBD/CBG/CBN — as per ECS protocol</a:t>
            </a:r>
            <a:endParaRPr lang="en-US" sz="800" dirty="0"/>
          </a:p>
          <a:p>
            <a:pPr marL="342900" indent="-342900">
              <a:buSzPct val="100000"/>
              <a:buChar char="•"/>
            </a:pPr>
            <a:r>
              <a:rPr lang="en-US" sz="800" dirty="0">
                <a:solidFill>
                  <a:srgbClr val="222222"/>
                </a:solidFill>
                <a:latin typeface="Calibri" pitchFamily="34" charset="0"/>
                <a:ea typeface="Calibri" pitchFamily="34" charset="-122"/>
                <a:cs typeface="Calibri" pitchFamily="34" charset="-120"/>
              </a:rPr>
              <a:t>Thymosin Alpha-1 — 1.6mg SubQ</a:t>
            </a:r>
            <a:endParaRPr lang="en-US" sz="800" dirty="0"/>
          </a:p>
          <a:p>
            <a:pPr marL="342900" indent="-342900">
              <a:buSzPct val="100000"/>
              <a:buChar char="•"/>
            </a:pPr>
            <a:r>
              <a:rPr lang="en-US" sz="800" dirty="0">
                <a:solidFill>
                  <a:srgbClr val="222222"/>
                </a:solidFill>
                <a:latin typeface="Calibri" pitchFamily="34" charset="0"/>
                <a:ea typeface="Calibri" pitchFamily="34" charset="-122"/>
                <a:cs typeface="Calibri" pitchFamily="34" charset="-120"/>
              </a:rPr>
              <a:t>Detox Bath — Follow Detox Bath Instructions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Therapeutics: Forgotten Formula Products</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200400"/>
          </a:xfrm>
          <a:prstGeom prst="rect">
            <a:avLst/>
          </a:prstGeom>
          <a:noFill/>
          <a:ln/>
        </p:spPr>
        <p:txBody>
          <a:bodyPr wrap="square" rtlCol="0" anchor="t"/>
          <a:lstStyle/>
          <a:p>
            <a:pPr marL="342900" indent="-342900">
              <a:buSzPct val="100000"/>
              <a:buChar char="•"/>
            </a:pPr>
            <a:r>
              <a:rPr lang="en-US" sz="1100" dirty="0">
                <a:solidFill>
                  <a:srgbClr val="222222"/>
                </a:solidFill>
                <a:latin typeface="Calibri" pitchFamily="34" charset="0"/>
                <a:ea typeface="Calibri" pitchFamily="34" charset="-122"/>
                <a:cs typeface="Calibri" pitchFamily="34" charset="-120"/>
              </a:rPr>
              <a:t>Copper Sebacate — 1 capsule (morning)</a:t>
            </a:r>
            <a:endParaRPr lang="en-US" sz="1100" dirty="0"/>
          </a:p>
          <a:p>
            <a:pPr marL="342900" indent="-342900">
              <a:buSzPct val="100000"/>
              <a:buChar char="•"/>
            </a:pPr>
            <a:r>
              <a:rPr lang="en-US" sz="1100" dirty="0">
                <a:solidFill>
                  <a:srgbClr val="222222"/>
                </a:solidFill>
                <a:latin typeface="Calibri" pitchFamily="34" charset="0"/>
                <a:ea typeface="Calibri" pitchFamily="34" charset="-122"/>
                <a:cs typeface="Calibri" pitchFamily="34" charset="-120"/>
              </a:rPr>
              <a:t>L-glutamine — 5g (morning)</a:t>
            </a:r>
            <a:endParaRPr lang="en-US" sz="1100" dirty="0"/>
          </a:p>
          <a:p>
            <a:pPr marL="342900" indent="-342900">
              <a:buSzPct val="100000"/>
              <a:buChar char="•"/>
            </a:pPr>
            <a:r>
              <a:rPr lang="en-US" sz="1100" dirty="0">
                <a:solidFill>
                  <a:srgbClr val="222222"/>
                </a:solidFill>
                <a:latin typeface="Calibri" pitchFamily="34" charset="0"/>
                <a:ea typeface="Calibri" pitchFamily="34" charset="-122"/>
                <a:cs typeface="Calibri" pitchFamily="34" charset="-120"/>
              </a:rPr>
              <a:t>Probiotics — 100B CFU (midday)</a:t>
            </a:r>
            <a:endParaRPr lang="en-US" sz="1100" dirty="0"/>
          </a:p>
          <a:p>
            <a:pPr marL="342900" indent="-342900">
              <a:buSzPct val="100000"/>
              <a:buChar char="•"/>
            </a:pPr>
            <a:r>
              <a:rPr lang="en-US" sz="1100" dirty="0">
                <a:solidFill>
                  <a:srgbClr val="222222"/>
                </a:solidFill>
                <a:latin typeface="Calibri" pitchFamily="34" charset="0"/>
                <a:ea typeface="Calibri" pitchFamily="34" charset="-122"/>
                <a:cs typeface="Calibri" pitchFamily="34" charset="-120"/>
              </a:rPr>
              <a:t>Digestive Enzymes — as directed (with meals)</a:t>
            </a:r>
            <a:endParaRPr lang="en-US" sz="1100" dirty="0"/>
          </a:p>
          <a:p>
            <a:pPr marL="342900" indent="-342900">
              <a:buSzPct val="100000"/>
              <a:buChar char="•"/>
            </a:pPr>
            <a:r>
              <a:rPr lang="en-US" sz="1100" dirty="0">
                <a:solidFill>
                  <a:srgbClr val="222222"/>
                </a:solidFill>
                <a:latin typeface="Calibri" pitchFamily="34" charset="0"/>
                <a:ea typeface="Calibri" pitchFamily="34" charset="-122"/>
                <a:cs typeface="Calibri" pitchFamily="34" charset="-120"/>
              </a:rPr>
              <a:t>CBD/CBG/CBN — as directed (bedtime)</a:t>
            </a:r>
            <a:endParaRPr lang="en-US" sz="1100" dirty="0"/>
          </a:p>
          <a:p>
            <a:pPr marL="342900" indent="-342900">
              <a:buSzPct val="100000"/>
              <a:buChar char="•"/>
            </a:pPr>
            <a:r>
              <a:rPr lang="en-US" sz="1100" dirty="0">
                <a:solidFill>
                  <a:srgbClr val="222222"/>
                </a:solidFill>
                <a:latin typeface="Calibri" pitchFamily="34" charset="0"/>
                <a:ea typeface="Calibri" pitchFamily="34" charset="-122"/>
                <a:cs typeface="Calibri" pitchFamily="34" charset="-120"/>
              </a:rPr>
              <a:t>Detox Bath — Epsom Salt Detox Bath</a:t>
            </a:r>
            <a:endParaRPr lang="en-US" sz="1100" dirty="0"/>
          </a:p>
        </p:txBody>
      </p:sp>
      <p:sp>
        <p:nvSpPr>
          <p:cNvPr id="5" name="Text 3">
            <a:hlinkClick r:id="rId1" tooltip=""/>
          </p:cNvPr>
          <p:cNvSpPr/>
          <p:nvPr/>
        </p:nvSpPr>
        <p:spPr>
          <a:xfrm>
            <a:off x="640080" y="4297680"/>
            <a:ext cx="7863840" cy="365760"/>
          </a:xfrm>
          <a:prstGeom prst="rect">
            <a:avLst/>
          </a:prstGeom>
          <a:noFill/>
          <a:ln/>
        </p:spPr>
        <p:txBody>
          <a:bodyPr wrap="square" rtlCol="0" anchor="ctr"/>
          <a:lstStyle/>
          <a:p>
            <a:pPr indent="0" marL="0">
              <a:buNone/>
            </a:pPr>
            <a:r>
              <a:rPr lang="en-US" sz="1000" u="sng" dirty="0">
                <a:solidFill>
                  <a:srgbClr val="D4A843"/>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Shop: https://www.forgottenformula.com/shop</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923"/>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00D4AA"/>
                </a:solidFill>
                <a:latin typeface="Georgia" pitchFamily="34" charset="0"/>
                <a:ea typeface="Georgia" pitchFamily="34" charset="-122"/>
                <a:cs typeface="Georgia" pitchFamily="34" charset="-120"/>
              </a:rPr>
              <a:t>Therapeutics: Injectable Peptide Protocol</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914400"/>
        </p:xfrm>
        <a:graphic>
          <a:graphicData uri="http://schemas.openxmlformats.org/drawingml/2006/table">
            <a:tbl>
              <a:tblPr/>
              <a:tblGrid>
                <a:gridCol w="1371600"/>
                <a:gridCol w="1645920"/>
                <a:gridCol w="1097280"/>
                <a:gridCol w="1097280"/>
                <a:gridCol w="914400"/>
                <a:gridCol w="2468880"/>
              </a:tblGrid>
              <a:tr h="0">
                <a:tc>
                  <a:txBody>
                    <a:bodyPr/>
                    <a:lstStyle/>
                    <a:p>
                      <a:pPr indent="0" marL="0">
                        <a:buNone/>
                      </a:pPr>
                      <a:r>
                        <a:rPr lang="en-US" sz="900" b="1" dirty="0">
                          <a:solidFill>
                            <a:srgbClr val="FFFFFF"/>
                          </a:solidFill>
                        </a:rPr>
                        <a:t>Peptide</a:t>
                      </a:r>
                      <a:endParaRPr lang="en-US" sz="9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B2A4A"/>
                    </a:solidFill>
                  </a:tcPr>
                </a:tc>
                <a:tc>
                  <a:txBody>
                    <a:bodyPr/>
                    <a:lstStyle/>
                    <a:p>
                      <a:pPr indent="0" marL="0">
                        <a:buNone/>
                      </a:pPr>
                      <a:r>
                        <a:rPr lang="en-US" sz="900" b="1" dirty="0">
                          <a:solidFill>
                            <a:srgbClr val="FFFFFF"/>
                          </a:solidFill>
                        </a:rPr>
                        <a:t>Vial/Recon</a:t>
                      </a:r>
                      <a:endParaRPr lang="en-US" sz="9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B2A4A"/>
                    </a:solidFill>
                  </a:tcPr>
                </a:tc>
                <a:tc>
                  <a:txBody>
                    <a:bodyPr/>
                    <a:lstStyle/>
                    <a:p>
                      <a:pPr indent="0" marL="0">
                        <a:buNone/>
                      </a:pPr>
                      <a:r>
                        <a:rPr lang="en-US" sz="900" b="1" dirty="0">
                          <a:solidFill>
                            <a:srgbClr val="FFFFFF"/>
                          </a:solidFill>
                        </a:rPr>
                        <a:t>Dose</a:t>
                      </a:r>
                      <a:endParaRPr lang="en-US" sz="9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B2A4A"/>
                    </a:solidFill>
                  </a:tcPr>
                </a:tc>
                <a:tc>
                  <a:txBody>
                    <a:bodyPr/>
                    <a:lstStyle/>
                    <a:p>
                      <a:pPr indent="0" marL="0">
                        <a:buNone/>
                      </a:pPr>
                      <a:r>
                        <a:rPr lang="en-US" sz="900" b="1" dirty="0">
                          <a:solidFill>
                            <a:srgbClr val="FFFFFF"/>
                          </a:solidFill>
                        </a:rPr>
                        <a:t>Frequency</a:t>
                      </a:r>
                      <a:endParaRPr lang="en-US" sz="9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B2A4A"/>
                    </a:solidFill>
                  </a:tcPr>
                </a:tc>
                <a:tc>
                  <a:txBody>
                    <a:bodyPr/>
                    <a:lstStyle/>
                    <a:p>
                      <a:pPr indent="0" marL="0">
                        <a:buNone/>
                      </a:pPr>
                      <a:r>
                        <a:rPr lang="en-US" sz="900" b="1" dirty="0">
                          <a:solidFill>
                            <a:srgbClr val="FFFFFF"/>
                          </a:solidFill>
                        </a:rPr>
                        <a:t>Duration</a:t>
                      </a:r>
                      <a:endParaRPr lang="en-US" sz="9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B2A4A"/>
                    </a:solidFill>
                  </a:tcPr>
                </a:tc>
                <a:tc>
                  <a:txBody>
                    <a:bodyPr/>
                    <a:lstStyle/>
                    <a:p>
                      <a:pPr indent="0" marL="0">
                        <a:buNone/>
                      </a:pPr>
                      <a:r>
                        <a:rPr lang="en-US" sz="900" b="1" dirty="0">
                          <a:solidFill>
                            <a:srgbClr val="FFFFFF"/>
                          </a:solidFill>
                        </a:rPr>
                        <a:t>Purpose</a:t>
                      </a:r>
                      <a:endParaRPr lang="en-US" sz="9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B2A4A"/>
                    </a:solidFill>
                  </a:tcPr>
                </a:tc>
              </a:tr>
              <a:tr h="0">
                <a:tc>
                  <a:txBody>
                    <a:bodyPr/>
                    <a:lstStyle/>
                    <a:p>
                      <a:pPr indent="0" marL="0">
                        <a:buNone/>
                      </a:pPr>
                      <a:r>
                        <a:rPr lang="en-US" sz="800" b="1" dirty="0">
                          <a:solidFill>
                            <a:srgbClr val="00D4AA"/>
                          </a:solidFill>
                        </a:rPr>
                        <a:t>BPC-157</a:t>
                      </a:r>
                      <a:endParaRPr lang="en-US" sz="8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c>
                  <a:txBody>
                    <a:bodyPr/>
                    <a:lstStyle/>
                    <a:p>
                      <a:pPr indent="0" marL="0">
                        <a:buNone/>
                      </a:pPr>
                      <a:r>
                        <a:rPr lang="en-US" sz="700" dirty="0">
                          <a:solidFill>
                            <a:srgbClr val="FFFFFF"/>
                          </a:solidFill>
                        </a:rPr>
                        <a:t>5mg</a:t>
                      </a:r>
                      <a:endParaRPr lang="en-US" sz="700" dirty="0"/>
                    </a:p>
                    <a:p>
                      <a:pPr indent="0" marL="0">
                        <a:buNone/>
                      </a:pPr>
                      <a:r>
                        <a:rPr lang="en-US" sz="700" dirty="0">
                          <a:solidFill>
                            <a:srgbClr val="FFFFFF"/>
                          </a:solidFill>
                        </a:rPr>
                        <a:t>1mL BAC water</a:t>
                      </a:r>
                      <a:endParaRPr lang="en-US" sz="7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c>
                  <a:txBody>
                    <a:bodyPr/>
                    <a:lstStyle/>
                    <a:p>
                      <a:pPr indent="0" marL="0">
                        <a:buNone/>
                      </a:pPr>
                      <a:r>
                        <a:rPr lang="en-US" sz="800" dirty="0">
                          <a:solidFill>
                            <a:srgbClr val="FFFFFF"/>
                          </a:solidFill>
                        </a:rPr>
                        <a:t>250mcg</a:t>
                      </a:r>
                      <a:endParaRPr lang="en-US" sz="8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c>
                  <a:txBody>
                    <a:bodyPr/>
                    <a:lstStyle/>
                    <a:p>
                      <a:pPr indent="0" marL="0">
                        <a:buNone/>
                      </a:pPr>
                      <a:r>
                        <a:rPr lang="en-US" sz="800" dirty="0">
                          <a:solidFill>
                            <a:srgbClr val="FFFFFF"/>
                          </a:solidFill>
                        </a:rPr>
                        <a:t>daily</a:t>
                      </a:r>
                      <a:endParaRPr lang="en-US" sz="8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c>
                  <a:txBody>
                    <a:bodyPr/>
                    <a:lstStyle/>
                    <a:p>
                      <a:pPr indent="0" marL="0">
                        <a:buNone/>
                      </a:pPr>
                      <a:r>
                        <a:rPr lang="en-US" sz="800" dirty="0">
                          <a:solidFill>
                            <a:srgbClr val="FFFFFF"/>
                          </a:solidFill>
                        </a:rPr>
                        <a:t>90 days</a:t>
                      </a:r>
                      <a:endParaRPr lang="en-US" sz="8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c>
                  <a:txBody>
                    <a:bodyPr/>
                    <a:lstStyle/>
                    <a:p>
                      <a:pPr indent="0" marL="0">
                        <a:buNone/>
                      </a:pPr>
                      <a:r>
                        <a:rPr lang="en-US" sz="700" dirty="0">
                          <a:solidFill>
                            <a:srgbClr val="AAAAAA"/>
                          </a:solidFill>
                        </a:rPr>
                        <a:t>Mucosal and systemic tissue repair</a:t>
                      </a:r>
                      <a:endParaRPr lang="en-US" sz="7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r>
              <a:tr h="0">
                <a:tc>
                  <a:txBody>
                    <a:bodyPr/>
                    <a:lstStyle/>
                    <a:p>
                      <a:pPr indent="0" marL="0">
                        <a:buNone/>
                      </a:pPr>
                      <a:r>
                        <a:rPr lang="en-US" sz="800" b="1" dirty="0">
                          <a:solidFill>
                            <a:srgbClr val="00D4AA"/>
                          </a:solidFill>
                        </a:rPr>
                        <a:t>KPV</a:t>
                      </a:r>
                      <a:endParaRPr lang="en-US" sz="8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c>
                  <a:txBody>
                    <a:bodyPr/>
                    <a:lstStyle/>
                    <a:p>
                      <a:pPr indent="0" marL="0">
                        <a:buNone/>
                      </a:pPr>
                      <a:r>
                        <a:rPr lang="en-US" sz="700" dirty="0">
                          <a:solidFill>
                            <a:srgbClr val="FFFFFF"/>
                          </a:solidFill>
                        </a:rPr>
                        <a:t>5mg</a:t>
                      </a:r>
                      <a:endParaRPr lang="en-US" sz="700" dirty="0"/>
                    </a:p>
                    <a:p>
                      <a:pPr indent="0" marL="0">
                        <a:buNone/>
                      </a:pPr>
                      <a:r>
                        <a:rPr lang="en-US" sz="700" dirty="0">
                          <a:solidFill>
                            <a:srgbClr val="FFFFFF"/>
                          </a:solidFill>
                        </a:rPr>
                        <a:t>1mL BAC water</a:t>
                      </a:r>
                      <a:endParaRPr lang="en-US" sz="7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c>
                  <a:txBody>
                    <a:bodyPr/>
                    <a:lstStyle/>
                    <a:p>
                      <a:pPr indent="0" marL="0">
                        <a:buNone/>
                      </a:pPr>
                      <a:r>
                        <a:rPr lang="en-US" sz="800" dirty="0">
                          <a:solidFill>
                            <a:srgbClr val="FFFFFF"/>
                          </a:solidFill>
                        </a:rPr>
                        <a:t>250mcg</a:t>
                      </a:r>
                      <a:endParaRPr lang="en-US" sz="8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c>
                  <a:txBody>
                    <a:bodyPr/>
                    <a:lstStyle/>
                    <a:p>
                      <a:pPr indent="0" marL="0">
                        <a:buNone/>
                      </a:pPr>
                      <a:r>
                        <a:rPr lang="en-US" sz="800" dirty="0">
                          <a:solidFill>
                            <a:srgbClr val="FFFFFF"/>
                          </a:solidFill>
                        </a:rPr>
                        <a:t>daily</a:t>
                      </a:r>
                      <a:endParaRPr lang="en-US" sz="8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c>
                  <a:txBody>
                    <a:bodyPr/>
                    <a:lstStyle/>
                    <a:p>
                      <a:pPr indent="0" marL="0">
                        <a:buNone/>
                      </a:pPr>
                      <a:r>
                        <a:rPr lang="en-US" sz="800" dirty="0">
                          <a:solidFill>
                            <a:srgbClr val="FFFFFF"/>
                          </a:solidFill>
                        </a:rPr>
                        <a:t>90 days</a:t>
                      </a:r>
                      <a:endParaRPr lang="en-US" sz="8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c>
                  <a:txBody>
                    <a:bodyPr/>
                    <a:lstStyle/>
                    <a:p>
                      <a:pPr indent="0" marL="0">
                        <a:buNone/>
                      </a:pPr>
                      <a:r>
                        <a:rPr lang="en-US" sz="700" dirty="0">
                          <a:solidFill>
                            <a:srgbClr val="AAAAAA"/>
                          </a:solidFill>
                        </a:rPr>
                        <a:t>NF-κB suppression</a:t>
                      </a:r>
                      <a:endParaRPr lang="en-US" sz="7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r>
              <a:tr h="0">
                <a:tc>
                  <a:txBody>
                    <a:bodyPr/>
                    <a:lstStyle/>
                    <a:p>
                      <a:pPr indent="0" marL="0">
                        <a:buNone/>
                      </a:pPr>
                      <a:r>
                        <a:rPr lang="en-US" sz="800" b="1" dirty="0">
                          <a:solidFill>
                            <a:srgbClr val="00D4AA"/>
                          </a:solidFill>
                        </a:rPr>
                        <a:t>Thymosin Alpha-1</a:t>
                      </a:r>
                      <a:endParaRPr lang="en-US" sz="8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c>
                  <a:txBody>
                    <a:bodyPr/>
                    <a:lstStyle/>
                    <a:p>
                      <a:pPr indent="0" marL="0">
                        <a:buNone/>
                      </a:pPr>
                      <a:r>
                        <a:rPr lang="en-US" sz="700" dirty="0">
                          <a:solidFill>
                            <a:srgbClr val="FFFFFF"/>
                          </a:solidFill>
                        </a:rPr>
                        <a:t>5mg</a:t>
                      </a:r>
                      <a:endParaRPr lang="en-US" sz="700" dirty="0"/>
                    </a:p>
                    <a:p>
                      <a:pPr indent="0" marL="0">
                        <a:buNone/>
                      </a:pPr>
                      <a:r>
                        <a:rPr lang="en-US" sz="700" dirty="0">
                          <a:solidFill>
                            <a:srgbClr val="FFFFFF"/>
                          </a:solidFill>
                        </a:rPr>
                        <a:t>1mL BAC water</a:t>
                      </a:r>
                      <a:endParaRPr lang="en-US" sz="7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c>
                  <a:txBody>
                    <a:bodyPr/>
                    <a:lstStyle/>
                    <a:p>
                      <a:pPr indent="0" marL="0">
                        <a:buNone/>
                      </a:pPr>
                      <a:r>
                        <a:rPr lang="en-US" sz="800" dirty="0">
                          <a:solidFill>
                            <a:srgbClr val="FFFFFF"/>
                          </a:solidFill>
                        </a:rPr>
                        <a:t>1.6mg</a:t>
                      </a:r>
                      <a:endParaRPr lang="en-US" sz="8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c>
                  <a:txBody>
                    <a:bodyPr/>
                    <a:lstStyle/>
                    <a:p>
                      <a:pPr indent="0" marL="0">
                        <a:buNone/>
                      </a:pPr>
                      <a:r>
                        <a:rPr lang="en-US" sz="800" dirty="0">
                          <a:solidFill>
                            <a:srgbClr val="FFFFFF"/>
                          </a:solidFill>
                        </a:rPr>
                        <a:t>2x weekly</a:t>
                      </a:r>
                      <a:endParaRPr lang="en-US" sz="8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c>
                  <a:txBody>
                    <a:bodyPr/>
                    <a:lstStyle/>
                    <a:p>
                      <a:pPr indent="0" marL="0">
                        <a:buNone/>
                      </a:pPr>
                      <a:r>
                        <a:rPr lang="en-US" sz="800" dirty="0">
                          <a:solidFill>
                            <a:srgbClr val="FFFFFF"/>
                          </a:solidFill>
                        </a:rPr>
                        <a:t>90 days</a:t>
                      </a:r>
                      <a:endParaRPr lang="en-US" sz="8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c>
                  <a:txBody>
                    <a:bodyPr/>
                    <a:lstStyle/>
                    <a:p>
                      <a:pPr indent="0" marL="0">
                        <a:buNone/>
                      </a:pPr>
                      <a:r>
                        <a:rPr lang="en-US" sz="700" dirty="0">
                          <a:solidFill>
                            <a:srgbClr val="AAAAAA"/>
                          </a:solidFill>
                        </a:rPr>
                        <a:t>Immune activation and anti-tumor immunity</a:t>
                      </a:r>
                      <a:endParaRPr lang="en-US" sz="700" dirty="0"/>
                    </a:p>
                  </a:txBody>
                  <a:tcPr marL="91440" marR="91440" marT="45720" marB="45720">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1A2A3A"/>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2E7D32"/>
                </a:solidFill>
                <a:latin typeface="Georgia" pitchFamily="34" charset="0"/>
                <a:ea typeface="Georgia" pitchFamily="34" charset="-122"/>
                <a:cs typeface="Georgia" pitchFamily="34" charset="-120"/>
              </a:rPr>
              <a:t>Therapeutics: Oral Peptides</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200" b="1" dirty="0">
                <a:solidFill>
                  <a:srgbClr val="1B2A4A"/>
                </a:solidFill>
                <a:latin typeface="Calibri" pitchFamily="34" charset="0"/>
                <a:ea typeface="Calibri" pitchFamily="34" charset="-122"/>
                <a:cs typeface="Calibri" pitchFamily="34" charset="-120"/>
              </a:rPr>
              <a:t>Gut Feeling</a:t>
            </a:r>
            <a:pPr indent="0" marL="0">
              <a:buNone/>
            </a:pPr>
            <a:r>
              <a:rPr lang="en-US" sz="1000" dirty="0">
                <a:solidFill>
                  <a:srgbClr val="666666"/>
                </a:solidFill>
                <a:latin typeface="Calibri" pitchFamily="34" charset="0"/>
                <a:ea typeface="Calibri" pitchFamily="34" charset="-122"/>
                <a:cs typeface="Calibri" pitchFamily="34" charset="-120"/>
              </a:rPr>
              <a:t> — 1 scoop | daily | 90 days</a:t>
            </a:r>
            <a:pPr indent="0" marL="0">
              <a:buNone/>
            </a:pPr>
            <a:endParaRPr lang="en-US" sz="1200" dirty="0"/>
          </a:p>
          <a:p>
            <a:pPr indent="0" marL="0">
              <a:buNone/>
            </a:pPr>
            <a:r>
              <a:rPr lang="en-US" sz="900" dirty="0">
                <a:solidFill>
                  <a:srgbClr val="222222"/>
                </a:solidFill>
                <a:latin typeface="Calibri" pitchFamily="34" charset="0"/>
                <a:ea typeface="Calibri" pitchFamily="34" charset="-122"/>
                <a:cs typeface="Calibri" pitchFamily="34" charset="-120"/>
              </a:rPr>
              <a:t>   Purpose: Gut healing and microbiome support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200" b="1" dirty="0">
                <a:solidFill>
                  <a:srgbClr val="6A1B9A"/>
                </a:solidFill>
                <a:latin typeface="Georgia" pitchFamily="34" charset="0"/>
                <a:ea typeface="Georgia" pitchFamily="34" charset="-122"/>
                <a:cs typeface="Georgia" pitchFamily="34" charset="-120"/>
              </a:rPr>
              <a:t>Therapeutics: Forgotten Formula Oral Bioregulators</a:t>
            </a:r>
            <a:endParaRPr lang="en-US" sz="22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960120"/>
            <a:ext cx="7863840" cy="274320"/>
          </a:xfrm>
          <a:prstGeom prst="rect">
            <a:avLst/>
          </a:prstGeom>
          <a:noFill/>
          <a:ln/>
        </p:spPr>
        <p:txBody>
          <a:bodyPr wrap="square" rtlCol="0" anchor="ctr"/>
          <a:lstStyle/>
          <a:p>
            <a:pPr indent="0" marL="0">
              <a:buNone/>
            </a:pPr>
            <a:r>
              <a:rPr lang="en-US" sz="1100" dirty="0">
                <a:solidFill>
                  <a:srgbClr val="666666"/>
                </a:solidFill>
                <a:latin typeface="Calibri" pitchFamily="34" charset="0"/>
                <a:ea typeface="Calibri" pitchFamily="34" charset="-122"/>
                <a:cs typeface="Calibri" pitchFamily="34" charset="-120"/>
              </a:rPr>
              <a:t>The following bioregulators run for the entire 90-day protocol:</a:t>
            </a:r>
            <a:endParaRPr lang="en-US" sz="1100" dirty="0"/>
          </a:p>
        </p:txBody>
      </p:sp>
      <p:sp>
        <p:nvSpPr>
          <p:cNvPr id="5" name="Text 3"/>
          <p:cNvSpPr/>
          <p:nvPr/>
        </p:nvSpPr>
        <p:spPr>
          <a:xfrm>
            <a:off x="640080" y="1371600"/>
            <a:ext cx="7863840" cy="3200400"/>
          </a:xfrm>
          <a:prstGeom prst="rect">
            <a:avLst/>
          </a:prstGeom>
          <a:noFill/>
          <a:ln/>
        </p:spPr>
        <p:txBody>
          <a:bodyPr wrap="square" rtlCol="0" anchor="t"/>
          <a:lstStyle/>
          <a:p>
            <a:pPr indent="0" marL="0">
              <a:buNone/>
            </a:pPr>
            <a:r>
              <a:rPr lang="en-US" sz="1200" b="1" dirty="0">
                <a:solidFill>
                  <a:srgbClr val="6A1B9A"/>
                </a:solidFill>
                <a:latin typeface="Calibri" pitchFamily="34" charset="0"/>
                <a:ea typeface="Calibri" pitchFamily="34" charset="-122"/>
                <a:cs typeface="Calibri" pitchFamily="34" charset="-120"/>
              </a:rPr>
              <a:t>Endoluten</a:t>
            </a:r>
            <a:pPr indent="0" marL="0">
              <a:buNone/>
            </a:pPr>
            <a:r>
              <a:rPr lang="en-US" sz="1000" dirty="0">
                <a:solidFill>
                  <a:srgbClr val="222222"/>
                </a:solidFill>
                <a:latin typeface="Calibri" pitchFamily="34" charset="0"/>
                <a:ea typeface="Calibri" pitchFamily="34" charset="-122"/>
                <a:cs typeface="Calibri" pitchFamily="34" charset="-120"/>
              </a:rPr>
              <a:t> — Target: Pineal Gland | 1-2 capsules | daily | 30 days</a:t>
            </a:r>
            <a:endParaRPr lang="en-US" sz="1200" dirty="0"/>
          </a:p>
          <a:p>
            <a:pPr indent="0" marL="0">
              <a:buNone/>
            </a:pPr>
            <a:r>
              <a:rPr lang="en-US" sz="1200" b="1" dirty="0">
                <a:solidFill>
                  <a:srgbClr val="6A1B9A"/>
                </a:solidFill>
                <a:latin typeface="Calibri" pitchFamily="34" charset="0"/>
                <a:ea typeface="Calibri" pitchFamily="34" charset="-122"/>
                <a:cs typeface="Calibri" pitchFamily="34" charset="-120"/>
              </a:rPr>
              <a:t>Ventfort</a:t>
            </a:r>
            <a:pPr indent="0" marL="0">
              <a:buNone/>
            </a:pPr>
            <a:r>
              <a:rPr lang="en-US" sz="1000" dirty="0">
                <a:solidFill>
                  <a:srgbClr val="222222"/>
                </a:solidFill>
                <a:latin typeface="Calibri" pitchFamily="34" charset="0"/>
                <a:ea typeface="Calibri" pitchFamily="34" charset="-122"/>
                <a:cs typeface="Calibri" pitchFamily="34" charset="-120"/>
              </a:rPr>
              <a:t> — Target: Blood Vessels | 1-2 capsules | daily | 30 days</a:t>
            </a:r>
            <a:endParaRPr lang="en-US" sz="1200" dirty="0"/>
          </a:p>
          <a:p>
            <a:pPr indent="0" marL="0">
              <a:buNone/>
            </a:pPr>
            <a:r>
              <a:rPr lang="en-US" sz="1200" b="1" dirty="0">
                <a:solidFill>
                  <a:srgbClr val="6A1B9A"/>
                </a:solidFill>
                <a:latin typeface="Calibri" pitchFamily="34" charset="0"/>
                <a:ea typeface="Calibri" pitchFamily="34" charset="-122"/>
                <a:cs typeface="Calibri" pitchFamily="34" charset="-120"/>
              </a:rPr>
              <a:t>Crystagen</a:t>
            </a:r>
            <a:pPr indent="0" marL="0">
              <a:buNone/>
            </a:pPr>
            <a:r>
              <a:rPr lang="en-US" sz="1000" dirty="0">
                <a:solidFill>
                  <a:srgbClr val="222222"/>
                </a:solidFill>
                <a:latin typeface="Calibri" pitchFamily="34" charset="0"/>
                <a:ea typeface="Calibri" pitchFamily="34" charset="-122"/>
                <a:cs typeface="Calibri" pitchFamily="34" charset="-120"/>
              </a:rPr>
              <a:t> — Target: Immune System | 1-2 capsules | daily | 30 days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Some of your Supplements Explained</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100" b="1" dirty="0">
                <a:solidFill>
                  <a:srgbClr val="00B4D8"/>
                </a:solidFill>
                <a:latin typeface="Calibri" pitchFamily="34" charset="0"/>
                <a:ea typeface="Calibri" pitchFamily="34" charset="-122"/>
                <a:cs typeface="Calibri" pitchFamily="34" charset="-120"/>
              </a:rPr>
              <a:t>Copper Sebacate</a:t>
            </a:r>
            <a:pPr indent="0" marL="0">
              <a:buNone/>
            </a:pPr>
            <a:r>
              <a:rPr lang="en-US" sz="1000" dirty="0">
                <a:solidFill>
                  <a:srgbClr val="222222"/>
                </a:solidFill>
                <a:latin typeface="Calibri" pitchFamily="34" charset="0"/>
                <a:ea typeface="Calibri" pitchFamily="34" charset="-122"/>
                <a:cs typeface="Calibri" pitchFamily="34" charset="-120"/>
              </a:rPr>
              <a:t> — 1 capsule (morning)</a:t>
            </a:r>
            <a:pPr indent="0" marL="0">
              <a:buNone/>
            </a:pPr>
            <a:endParaRPr lang="en-US" sz="1100" dirty="0"/>
          </a:p>
          <a:p>
            <a:pPr indent="0" marL="0">
              <a:buNone/>
            </a:pPr>
            <a:r>
              <a:rPr lang="en-US" sz="900" dirty="0">
                <a:solidFill>
                  <a:srgbClr val="666666"/>
                </a:solidFill>
                <a:latin typeface="Calibri" pitchFamily="34" charset="0"/>
                <a:ea typeface="Calibri" pitchFamily="34" charset="-122"/>
                <a:cs typeface="Calibri" pitchFamily="34" charset="-120"/>
              </a:rPr>
              <a:t>   Copper repletion</a:t>
            </a:r>
            <a:endParaRPr lang="en-US" sz="1100" dirty="0"/>
          </a:p>
          <a:p>
            <a:pPr indent="0" marL="0">
              <a:buNone/>
            </a:pPr>
            <a:r>
              <a:rPr lang="en-US" sz="1100" b="1" dirty="0">
                <a:solidFill>
                  <a:srgbClr val="00B4D8"/>
                </a:solidFill>
                <a:latin typeface="Calibri" pitchFamily="34" charset="0"/>
                <a:ea typeface="Calibri" pitchFamily="34" charset="-122"/>
                <a:cs typeface="Calibri" pitchFamily="34" charset="-120"/>
              </a:rPr>
              <a:t>L-glutamine</a:t>
            </a:r>
            <a:pPr indent="0" marL="0">
              <a:buNone/>
            </a:pPr>
            <a:r>
              <a:rPr lang="en-US" sz="1000" dirty="0">
                <a:solidFill>
                  <a:srgbClr val="222222"/>
                </a:solidFill>
                <a:latin typeface="Calibri" pitchFamily="34" charset="0"/>
                <a:ea typeface="Calibri" pitchFamily="34" charset="-122"/>
                <a:cs typeface="Calibri" pitchFamily="34" charset="-120"/>
              </a:rPr>
              <a:t> — 5g (morning)</a:t>
            </a:r>
            <a:pPr indent="0" marL="0">
              <a:buNone/>
            </a:pPr>
            <a:endParaRPr lang="en-US" sz="1100" dirty="0"/>
          </a:p>
          <a:p>
            <a:pPr indent="0" marL="0">
              <a:buNone/>
            </a:pPr>
            <a:r>
              <a:rPr lang="en-US" sz="900" dirty="0">
                <a:solidFill>
                  <a:srgbClr val="666666"/>
                </a:solidFill>
                <a:latin typeface="Calibri" pitchFamily="34" charset="0"/>
                <a:ea typeface="Calibri" pitchFamily="34" charset="-122"/>
                <a:cs typeface="Calibri" pitchFamily="34" charset="-120"/>
              </a:rPr>
              <a:t>   Gut lining support</a:t>
            </a:r>
            <a:endParaRPr lang="en-US" sz="1100" dirty="0"/>
          </a:p>
          <a:p>
            <a:pPr indent="0" marL="0">
              <a:buNone/>
            </a:pPr>
            <a:r>
              <a:rPr lang="en-US" sz="1100" b="1" dirty="0">
                <a:solidFill>
                  <a:srgbClr val="00B4D8"/>
                </a:solidFill>
                <a:latin typeface="Calibri" pitchFamily="34" charset="0"/>
                <a:ea typeface="Calibri" pitchFamily="34" charset="-122"/>
                <a:cs typeface="Calibri" pitchFamily="34" charset="-120"/>
              </a:rPr>
              <a:t>Probiotics</a:t>
            </a:r>
            <a:pPr indent="0" marL="0">
              <a:buNone/>
            </a:pPr>
            <a:r>
              <a:rPr lang="en-US" sz="1000" dirty="0">
                <a:solidFill>
                  <a:srgbClr val="222222"/>
                </a:solidFill>
                <a:latin typeface="Calibri" pitchFamily="34" charset="0"/>
                <a:ea typeface="Calibri" pitchFamily="34" charset="-122"/>
                <a:cs typeface="Calibri" pitchFamily="34" charset="-120"/>
              </a:rPr>
              <a:t> — 100B CFU (midday)</a:t>
            </a:r>
            <a:pPr indent="0" marL="0">
              <a:buNone/>
            </a:pPr>
            <a:endParaRPr lang="en-US" sz="1100" dirty="0"/>
          </a:p>
          <a:p>
            <a:pPr indent="0" marL="0">
              <a:buNone/>
            </a:pPr>
            <a:r>
              <a:rPr lang="en-US" sz="900" dirty="0">
                <a:solidFill>
                  <a:srgbClr val="666666"/>
                </a:solidFill>
                <a:latin typeface="Calibri" pitchFamily="34" charset="0"/>
                <a:ea typeface="Calibri" pitchFamily="34" charset="-122"/>
                <a:cs typeface="Calibri" pitchFamily="34" charset="-120"/>
              </a:rPr>
              <a:t>   Microbiome restoration</a:t>
            </a:r>
            <a:endParaRPr lang="en-US" sz="1100" dirty="0"/>
          </a:p>
          <a:p>
            <a:pPr indent="0" marL="0">
              <a:buNone/>
            </a:pPr>
            <a:r>
              <a:rPr lang="en-US" sz="1100" b="1" dirty="0">
                <a:solidFill>
                  <a:srgbClr val="00B4D8"/>
                </a:solidFill>
                <a:latin typeface="Calibri" pitchFamily="34" charset="0"/>
                <a:ea typeface="Calibri" pitchFamily="34" charset="-122"/>
                <a:cs typeface="Calibri" pitchFamily="34" charset="-120"/>
              </a:rPr>
              <a:t>Digestive Enzymes</a:t>
            </a:r>
            <a:pPr indent="0" marL="0">
              <a:buNone/>
            </a:pPr>
            <a:r>
              <a:rPr lang="en-US" sz="1000" dirty="0">
                <a:solidFill>
                  <a:srgbClr val="222222"/>
                </a:solidFill>
                <a:latin typeface="Calibri" pitchFamily="34" charset="0"/>
                <a:ea typeface="Calibri" pitchFamily="34" charset="-122"/>
                <a:cs typeface="Calibri" pitchFamily="34" charset="-120"/>
              </a:rPr>
              <a:t> — as directed (with meals)</a:t>
            </a:r>
            <a:pPr indent="0" marL="0">
              <a:buNone/>
            </a:pPr>
            <a:endParaRPr lang="en-US" sz="1100" dirty="0"/>
          </a:p>
          <a:p>
            <a:pPr indent="0" marL="0">
              <a:buNone/>
            </a:pPr>
            <a:r>
              <a:rPr lang="en-US" sz="900" dirty="0">
                <a:solidFill>
                  <a:srgbClr val="666666"/>
                </a:solidFill>
                <a:latin typeface="Calibri" pitchFamily="34" charset="0"/>
                <a:ea typeface="Calibri" pitchFamily="34" charset="-122"/>
                <a:cs typeface="Calibri" pitchFamily="34" charset="-120"/>
              </a:rPr>
              <a:t>   Digestive support</a:t>
            </a:r>
            <a:endParaRPr lang="en-US" sz="1100" dirty="0"/>
          </a:p>
          <a:p>
            <a:pPr indent="0" marL="0">
              <a:buNone/>
            </a:pPr>
            <a:r>
              <a:rPr lang="en-US" sz="1100" b="1" dirty="0">
                <a:solidFill>
                  <a:srgbClr val="00B4D8"/>
                </a:solidFill>
                <a:latin typeface="Calibri" pitchFamily="34" charset="0"/>
                <a:ea typeface="Calibri" pitchFamily="34" charset="-122"/>
                <a:cs typeface="Calibri" pitchFamily="34" charset="-120"/>
              </a:rPr>
              <a:t>CBD/CBG/CBN</a:t>
            </a:r>
            <a:pPr indent="0" marL="0">
              <a:buNone/>
            </a:pPr>
            <a:r>
              <a:rPr lang="en-US" sz="1000" dirty="0">
                <a:solidFill>
                  <a:srgbClr val="222222"/>
                </a:solidFill>
                <a:latin typeface="Calibri" pitchFamily="34" charset="0"/>
                <a:ea typeface="Calibri" pitchFamily="34" charset="-122"/>
                <a:cs typeface="Calibri" pitchFamily="34" charset="-120"/>
              </a:rPr>
              <a:t> — as directed (bedtime)</a:t>
            </a:r>
            <a:pPr indent="0" marL="0">
              <a:buNone/>
            </a:pPr>
            <a:endParaRPr lang="en-US" sz="1100" dirty="0"/>
          </a:p>
          <a:p>
            <a:pPr indent="0" marL="0">
              <a:buNone/>
            </a:pPr>
            <a:r>
              <a:rPr lang="en-US" sz="900" dirty="0">
                <a:solidFill>
                  <a:srgbClr val="666666"/>
                </a:solidFill>
                <a:latin typeface="Calibri" pitchFamily="34" charset="0"/>
                <a:ea typeface="Calibri" pitchFamily="34" charset="-122"/>
                <a:cs typeface="Calibri" pitchFamily="34" charset="-120"/>
              </a:rPr>
              <a:t>   ECS optimization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00838F"/>
                </a:solidFill>
                <a:latin typeface="Georgia" pitchFamily="34" charset="0"/>
                <a:ea typeface="Georgia" pitchFamily="34" charset="-122"/>
                <a:cs typeface="Georgia" pitchFamily="34" charset="-120"/>
              </a:rPr>
              <a:t>Therapeutics: IV &amp; IM Therapy Schedule</a:t>
            </a:r>
            <a:endParaRPr lang="en-US" sz="2400" dirty="0"/>
          </a:p>
        </p:txBody>
      </p:sp>
      <p:sp>
        <p:nvSpPr>
          <p:cNvPr id="3" name="Text 1"/>
          <p:cNvSpPr/>
          <p:nvPr/>
        </p:nvSpPr>
        <p:spPr>
          <a:xfrm>
            <a:off x="457200" y="914400"/>
            <a:ext cx="8229600" cy="274320"/>
          </a:xfrm>
          <a:prstGeom prst="rect">
            <a:avLst/>
          </a:prstGeom>
          <a:noFill/>
          <a:ln/>
        </p:spPr>
        <p:txBody>
          <a:bodyPr wrap="square" rtlCol="0" anchor="ctr"/>
          <a:lstStyle/>
          <a:p>
            <a:pPr indent="0" marL="0">
              <a:buNone/>
            </a:pPr>
            <a:r>
              <a:rPr lang="en-US" sz="1300" b="1" dirty="0">
                <a:solidFill>
                  <a:srgbClr val="00838F"/>
                </a:solidFill>
                <a:latin typeface="Calibri" pitchFamily="34" charset="0"/>
                <a:ea typeface="Calibri" pitchFamily="34" charset="-122"/>
                <a:cs typeface="Calibri" pitchFamily="34" charset="-120"/>
              </a:rPr>
              <a:t>IV Therapies:</a:t>
            </a:r>
            <a:endParaRPr lang="en-US" sz="1300" dirty="0"/>
          </a:p>
        </p:txBody>
      </p:sp>
      <p:sp>
        <p:nvSpPr>
          <p:cNvPr id="4" name="Shape 2"/>
          <p:cNvSpPr/>
          <p:nvPr/>
        </p:nvSpPr>
        <p:spPr>
          <a:xfrm>
            <a:off x="457200" y="123444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5" name="Text 3"/>
          <p:cNvSpPr/>
          <p:nvPr/>
        </p:nvSpPr>
        <p:spPr>
          <a:xfrm>
            <a:off x="640080" y="1234440"/>
            <a:ext cx="7863840" cy="50292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High Dose Vitamin C — Mon/Wed for 90 days | Immune support and oxidative stress reduction</a:t>
            </a:r>
            <a:endParaRPr lang="en-US" sz="1000" dirty="0"/>
          </a:p>
        </p:txBody>
      </p:sp>
      <p:sp>
        <p:nvSpPr>
          <p:cNvPr id="6" name="Shape 4"/>
          <p:cNvSpPr/>
          <p:nvPr/>
        </p:nvSpPr>
        <p:spPr>
          <a:xfrm>
            <a:off x="457200" y="182880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Text 5"/>
          <p:cNvSpPr/>
          <p:nvPr/>
        </p:nvSpPr>
        <p:spPr>
          <a:xfrm>
            <a:off x="640080" y="1828800"/>
            <a:ext cx="7863840" cy="50292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Myers' Cocktail — weekly for 90 days | Nutrient replenishment and energy support</a:t>
            </a:r>
            <a:endParaRPr lang="en-US" sz="1000" dirty="0"/>
          </a:p>
        </p:txBody>
      </p:sp>
      <p:sp>
        <p:nvSpPr>
          <p:cNvPr id="8" name="Shape 6"/>
          <p:cNvSpPr/>
          <p:nvPr/>
        </p:nvSpPr>
        <p:spPr>
          <a:xfrm>
            <a:off x="457200" y="242316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Text 7"/>
          <p:cNvSpPr/>
          <p:nvPr/>
        </p:nvSpPr>
        <p:spPr>
          <a:xfrm>
            <a:off x="640080" y="2423160"/>
            <a:ext cx="7863840" cy="50292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Ozonated Glycerin — Fri for 90 days | Oxidative therapy and immune stimulation</a:t>
            </a:r>
            <a:endParaRPr lang="en-US" sz="1000" dirty="0"/>
          </a:p>
        </p:txBody>
      </p:sp>
      <p:sp>
        <p:nvSpPr>
          <p:cNvPr id="10" name="Text 8"/>
          <p:cNvSpPr/>
          <p:nvPr/>
        </p:nvSpPr>
        <p:spPr>
          <a:xfrm>
            <a:off x="457200" y="3200400"/>
            <a:ext cx="8229600" cy="274320"/>
          </a:xfrm>
          <a:prstGeom prst="rect">
            <a:avLst/>
          </a:prstGeom>
          <a:noFill/>
          <a:ln/>
        </p:spPr>
        <p:txBody>
          <a:bodyPr wrap="square" rtlCol="0" anchor="ctr"/>
          <a:lstStyle/>
          <a:p>
            <a:pPr indent="0" marL="0">
              <a:buNone/>
            </a:pPr>
            <a:r>
              <a:rPr lang="en-US" sz="1300" b="1" dirty="0">
                <a:solidFill>
                  <a:srgbClr val="4527A0"/>
                </a:solidFill>
                <a:latin typeface="Calibri" pitchFamily="34" charset="0"/>
                <a:ea typeface="Calibri" pitchFamily="34" charset="-122"/>
                <a:cs typeface="Calibri" pitchFamily="34" charset="-120"/>
              </a:rPr>
              <a:t>IM Therapies:</a:t>
            </a:r>
            <a:endParaRPr lang="en-US" sz="1300" dirty="0"/>
          </a:p>
        </p:txBody>
      </p:sp>
      <p:sp>
        <p:nvSpPr>
          <p:cNvPr id="11" name="Shape 9"/>
          <p:cNvSpPr/>
          <p:nvPr/>
        </p:nvSpPr>
        <p:spPr>
          <a:xfrm>
            <a:off x="457200" y="3520440"/>
            <a:ext cx="82296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2" name="Text 10"/>
          <p:cNvSpPr/>
          <p:nvPr/>
        </p:nvSpPr>
        <p:spPr>
          <a:xfrm>
            <a:off x="640080" y="3520440"/>
            <a:ext cx="7863840" cy="50292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Lipo-B Injection — 1-2 mL | weekly | Enhanced fat metabolism and energy boost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EF6C00"/>
                </a:solidFill>
                <a:latin typeface="Georgia" pitchFamily="34" charset="0"/>
                <a:ea typeface="Georgia" pitchFamily="34" charset="-122"/>
                <a:cs typeface="Georgia" pitchFamily="34" charset="-120"/>
              </a:rPr>
              <a:t>Detox &amp; Pathogen Support</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200" b="1" dirty="0">
                <a:solidFill>
                  <a:srgbClr val="EF6C00"/>
                </a:solidFill>
                <a:latin typeface="Calibri" pitchFamily="34" charset="0"/>
                <a:ea typeface="Calibri" pitchFamily="34" charset="-122"/>
                <a:cs typeface="Calibri" pitchFamily="34" charset="-120"/>
              </a:rPr>
              <a:t>Detox Bath</a:t>
            </a:r>
            <a:pPr indent="0" marL="0">
              <a:buNone/>
            </a:pPr>
            <a:r>
              <a:rPr lang="en-US" sz="1000" dirty="0">
                <a:solidFill>
                  <a:srgbClr val="222222"/>
                </a:solidFill>
                <a:latin typeface="Calibri" pitchFamily="34" charset="0"/>
                <a:ea typeface="Calibri" pitchFamily="34" charset="-122"/>
                <a:cs typeface="Calibri" pitchFamily="34" charset="-120"/>
              </a:rPr>
              <a:t> — Epsom Salt Detox Bath | 3x weekly for 90 days</a:t>
            </a:r>
            <a:pPr indent="0" marL="0">
              <a:buNone/>
            </a:pPr>
            <a:endParaRPr lang="en-US" sz="1200" dirty="0"/>
          </a:p>
          <a:p>
            <a:pPr indent="0" marL="0">
              <a:buNone/>
            </a:pPr>
            <a:r>
              <a:rPr lang="en-US" sz="900" dirty="0">
                <a:solidFill>
                  <a:srgbClr val="666666"/>
                </a:solidFill>
                <a:latin typeface="Calibri" pitchFamily="34" charset="0"/>
                <a:ea typeface="Calibri" pitchFamily="34" charset="-122"/>
                <a:cs typeface="Calibri" pitchFamily="34" charset="-120"/>
              </a:rPr>
              <a:t>   Follow Detox Bath Instructions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880E4F"/>
                </a:solidFill>
                <a:latin typeface="Georgia" pitchFamily="34" charset="0"/>
                <a:ea typeface="Georgia" pitchFamily="34" charset="-122"/>
                <a:cs typeface="Georgia" pitchFamily="34" charset="-120"/>
              </a:rPr>
              <a:t>Parasite &amp; Antiviral Protocols</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200" b="1" dirty="0">
                <a:solidFill>
                  <a:srgbClr val="880E4F"/>
                </a:solidFill>
                <a:latin typeface="Calibri" pitchFamily="34" charset="0"/>
                <a:ea typeface="Calibri" pitchFamily="34" charset="-122"/>
                <a:cs typeface="Calibri" pitchFamily="34" charset="-120"/>
              </a:rPr>
              <a:t>Anti-parasitic Protocol</a:t>
            </a:r>
            <a:pPr indent="0" marL="0">
              <a:buNone/>
            </a:pPr>
            <a:r>
              <a:rPr lang="en-US" sz="1000" dirty="0">
                <a:solidFill>
                  <a:srgbClr val="222222"/>
                </a:solidFill>
                <a:latin typeface="Calibri" pitchFamily="34" charset="0"/>
                <a:ea typeface="Calibri" pitchFamily="34" charset="-122"/>
                <a:cs typeface="Calibri" pitchFamily="34" charset="-120"/>
              </a:rPr>
              <a:t> — as directed | daily for 21 days</a:t>
            </a:r>
            <a:pPr indent="0" marL="0">
              <a:buNone/>
            </a:pPr>
            <a:endParaRPr lang="en-US" sz="1200" dirty="0"/>
          </a:p>
          <a:p>
            <a:pPr indent="0" marL="0">
              <a:buNone/>
            </a:pPr>
            <a:r>
              <a:rPr lang="en-US" sz="900" dirty="0">
                <a:solidFill>
                  <a:srgbClr val="666666"/>
                </a:solidFill>
                <a:latin typeface="Calibri" pitchFamily="34" charset="0"/>
                <a:ea typeface="Calibri" pitchFamily="34" charset="-122"/>
                <a:cs typeface="Calibri" pitchFamily="34" charset="-120"/>
              </a:rPr>
              <a:t>   Purpose: Parasite burden reduction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Lifestyle &amp; Dietary Guidelines</a:t>
            </a:r>
            <a:endParaRPr lang="en-US" sz="2400" dirty="0"/>
          </a:p>
        </p:txBody>
      </p:sp>
      <p:sp>
        <p:nvSpPr>
          <p:cNvPr id="3" name="Shape 1"/>
          <p:cNvSpPr/>
          <p:nvPr/>
        </p:nvSpPr>
        <p:spPr>
          <a:xfrm>
            <a:off x="457200" y="914400"/>
            <a:ext cx="393192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914400"/>
            <a:ext cx="3566160" cy="274320"/>
          </a:xfrm>
          <a:prstGeom prst="rect">
            <a:avLst/>
          </a:prstGeom>
          <a:noFill/>
          <a:ln/>
        </p:spPr>
        <p:txBody>
          <a:bodyPr wrap="square"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Lifestyle</a:t>
            </a:r>
            <a:endParaRPr lang="en-US" sz="1200" dirty="0"/>
          </a:p>
        </p:txBody>
      </p:sp>
      <p:sp>
        <p:nvSpPr>
          <p:cNvPr id="5" name="Text 3"/>
          <p:cNvSpPr/>
          <p:nvPr/>
        </p:nvSpPr>
        <p:spPr>
          <a:xfrm>
            <a:off x="640080" y="1234440"/>
            <a:ext cx="3566160" cy="3383280"/>
          </a:xfrm>
          <a:prstGeom prst="rect">
            <a:avLst/>
          </a:prstGeom>
          <a:noFill/>
          <a:ln/>
        </p:spPr>
        <p:txBody>
          <a:bodyPr wrap="square" rtlCol="0" anchor="t"/>
          <a:lstStyle/>
          <a:p>
            <a:pPr marL="342900" indent="-342900">
              <a:buSzPct val="100000"/>
              <a:buChar char="•"/>
            </a:pPr>
            <a:r>
              <a:rPr lang="en-US" sz="900" dirty="0">
                <a:solidFill>
                  <a:srgbClr val="222222"/>
                </a:solidFill>
                <a:latin typeface="Calibri" pitchFamily="34" charset="0"/>
                <a:ea typeface="Calibri" pitchFamily="34" charset="-122"/>
                <a:cs typeface="Calibri" pitchFamily="34" charset="-120"/>
              </a:rPr>
              <a:t>Stress Management: Practice meditation and breathwork daily</a:t>
            </a:r>
            <a:endParaRPr lang="en-US" sz="900" dirty="0"/>
          </a:p>
          <a:p>
            <a:pPr marL="342900" indent="-342900">
              <a:buSzPct val="100000"/>
              <a:buChar char="•"/>
            </a:pPr>
            <a:r>
              <a:rPr lang="en-US" sz="900" dirty="0">
                <a:solidFill>
                  <a:srgbClr val="222222"/>
                </a:solidFill>
                <a:latin typeface="Calibri" pitchFamily="34" charset="0"/>
                <a:ea typeface="Calibri" pitchFamily="34" charset="-122"/>
                <a:cs typeface="Calibri" pitchFamily="34" charset="-120"/>
              </a:rPr>
              <a:t>Exercise: Engage in gentle yoga and walking</a:t>
            </a:r>
            <a:endParaRPr lang="en-US" sz="900" dirty="0"/>
          </a:p>
          <a:p>
            <a:pPr marL="342900" indent="-342900">
              <a:buSzPct val="100000"/>
              <a:buChar char="•"/>
            </a:pPr>
            <a:r>
              <a:rPr lang="en-US" sz="900" dirty="0">
                <a:solidFill>
                  <a:srgbClr val="222222"/>
                </a:solidFill>
                <a:latin typeface="Calibri" pitchFamily="34" charset="0"/>
                <a:ea typeface="Calibri" pitchFamily="34" charset="-122"/>
                <a:cs typeface="Calibri" pitchFamily="34" charset="-120"/>
              </a:rPr>
              <a:t>Sleep: Ensure 7-9 hours of quality sleep nightly</a:t>
            </a:r>
            <a:endParaRPr lang="en-US" sz="900" dirty="0"/>
          </a:p>
        </p:txBody>
      </p:sp>
      <p:sp>
        <p:nvSpPr>
          <p:cNvPr id="6" name="Shape 4"/>
          <p:cNvSpPr/>
          <p:nvPr/>
        </p:nvSpPr>
        <p:spPr>
          <a:xfrm>
            <a:off x="4663440" y="914400"/>
            <a:ext cx="402336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Text 5"/>
          <p:cNvSpPr/>
          <p:nvPr/>
        </p:nvSpPr>
        <p:spPr>
          <a:xfrm>
            <a:off x="4846320" y="914400"/>
            <a:ext cx="3657600" cy="274320"/>
          </a:xfrm>
          <a:prstGeom prst="rect">
            <a:avLst/>
          </a:prstGeom>
          <a:noFill/>
          <a:ln/>
        </p:spPr>
        <p:txBody>
          <a:bodyPr wrap="square"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Dietary Guidelines</a:t>
            </a:r>
            <a:endParaRPr lang="en-US" sz="1200" dirty="0"/>
          </a:p>
        </p:txBody>
      </p:sp>
      <p:sp>
        <p:nvSpPr>
          <p:cNvPr id="8" name="Text 6"/>
          <p:cNvSpPr/>
          <p:nvPr/>
        </p:nvSpPr>
        <p:spPr>
          <a:xfrm>
            <a:off x="4846320" y="1234440"/>
            <a:ext cx="3657600" cy="3383280"/>
          </a:xfrm>
          <a:prstGeom prst="rect">
            <a:avLst/>
          </a:prstGeom>
          <a:noFill/>
          <a:ln/>
        </p:spPr>
        <p:txBody>
          <a:bodyPr wrap="square" rtlCol="0" anchor="t"/>
          <a:lstStyle/>
          <a:p>
            <a:pPr marL="342900" indent="-342900">
              <a:buSzPct val="100000"/>
              <a:buChar char="•"/>
            </a:pPr>
            <a:r>
              <a:rPr lang="en-US" sz="900" dirty="0">
                <a:solidFill>
                  <a:srgbClr val="222222"/>
                </a:solidFill>
                <a:latin typeface="Calibri" pitchFamily="34" charset="0"/>
                <a:ea typeface="Calibri" pitchFamily="34" charset="-122"/>
                <a:cs typeface="Calibri" pitchFamily="34" charset="-120"/>
              </a:rPr>
              <a:t>Eliminate gluten, dairy, sugar, processed foods, and alcohol</a:t>
            </a:r>
            <a:endParaRPr lang="en-US" sz="900" dirty="0"/>
          </a:p>
          <a:p>
            <a:pPr marL="342900" indent="-342900">
              <a:buSzPct val="100000"/>
              <a:buChar char="•"/>
            </a:pPr>
            <a:r>
              <a:rPr lang="en-US" sz="900" dirty="0">
                <a:solidFill>
                  <a:srgbClr val="222222"/>
                </a:solidFill>
                <a:latin typeface="Calibri" pitchFamily="34" charset="0"/>
                <a:ea typeface="Calibri" pitchFamily="34" charset="-122"/>
                <a:cs typeface="Calibri" pitchFamily="34" charset="-120"/>
              </a:rPr>
              <a:t>Emphasize organic vegetables, lean proteins, and healthy fats</a:t>
            </a:r>
            <a:endParaRPr lang="en-US" sz="900" dirty="0"/>
          </a:p>
          <a:p>
            <a:pPr marL="342900" indent="-342900">
              <a:buSzPct val="100000"/>
              <a:buChar char="•"/>
            </a:pPr>
            <a:r>
              <a:rPr lang="en-US" sz="900" dirty="0">
                <a:solidFill>
                  <a:srgbClr val="222222"/>
                </a:solidFill>
                <a:latin typeface="Calibri" pitchFamily="34" charset="0"/>
                <a:ea typeface="Calibri" pitchFamily="34" charset="-122"/>
                <a:cs typeface="Calibri" pitchFamily="34" charset="-120"/>
              </a:rPr>
              <a:t>Include daily bone broth and fermented foods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Follow-Up Plan &amp; Lab Orders</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274320"/>
          </a:xfrm>
          <a:prstGeom prst="rect">
            <a:avLst/>
          </a:prstGeom>
          <a:noFill/>
          <a:ln/>
        </p:spPr>
        <p:txBody>
          <a:bodyPr wrap="square"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Follow-Up Schedule:</a:t>
            </a:r>
            <a:endParaRPr lang="en-US" sz="1200" dirty="0"/>
          </a:p>
        </p:txBody>
      </p:sp>
      <p:sp>
        <p:nvSpPr>
          <p:cNvPr id="5" name="Text 3"/>
          <p:cNvSpPr/>
          <p:nvPr/>
        </p:nvSpPr>
        <p:spPr>
          <a:xfrm>
            <a:off x="640080" y="1325880"/>
            <a:ext cx="7863840" cy="1371600"/>
          </a:xfrm>
          <a:prstGeom prst="rect">
            <a:avLst/>
          </a:prstGeom>
          <a:noFill/>
          <a:ln/>
        </p:spPr>
        <p:txBody>
          <a:bodyPr wrap="square" rtlCol="0" anchor="t"/>
          <a:lstStyle/>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Week 4: Review progress and adjust protocol as needed</a:t>
            </a:r>
            <a:endParaRPr lang="en-US" sz="1000" dirty="0"/>
          </a:p>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Week 8: Reassess lab markers and symptoms</a:t>
            </a:r>
            <a:endParaRPr lang="en-US" sz="1000" dirty="0"/>
          </a:p>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Week 12: Comprehensive evaluation and next steps planning</a:t>
            </a:r>
            <a:endParaRPr lang="en-US" sz="1000" dirty="0"/>
          </a:p>
        </p:txBody>
      </p:sp>
      <p:sp>
        <p:nvSpPr>
          <p:cNvPr id="6" name="Text 4"/>
          <p:cNvSpPr/>
          <p:nvPr/>
        </p:nvSpPr>
        <p:spPr>
          <a:xfrm>
            <a:off x="640080" y="2880360"/>
            <a:ext cx="7863840" cy="274320"/>
          </a:xfrm>
          <a:prstGeom prst="rect">
            <a:avLst/>
          </a:prstGeom>
          <a:noFill/>
          <a:ln/>
        </p:spPr>
        <p:txBody>
          <a:bodyPr wrap="square" rtlCol="0" anchor="ctr"/>
          <a:lstStyle/>
          <a:p>
            <a:pPr indent="0" marL="0">
              <a:buNone/>
            </a:pPr>
            <a:r>
              <a:rPr lang="en-US" sz="1200" b="1" dirty="0">
                <a:solidFill>
                  <a:srgbClr val="00B4D8"/>
                </a:solidFill>
                <a:latin typeface="Calibri" pitchFamily="34" charset="0"/>
                <a:ea typeface="Calibri" pitchFamily="34" charset="-122"/>
                <a:cs typeface="Calibri" pitchFamily="34" charset="-120"/>
              </a:rPr>
              <a:t>Required Labs:</a:t>
            </a:r>
            <a:endParaRPr lang="en-US" sz="1200" dirty="0"/>
          </a:p>
        </p:txBody>
      </p:sp>
      <p:sp>
        <p:nvSpPr>
          <p:cNvPr id="7" name="Text 5"/>
          <p:cNvSpPr/>
          <p:nvPr/>
        </p:nvSpPr>
        <p:spPr>
          <a:xfrm>
            <a:off x="640080" y="3200400"/>
            <a:ext cx="7863840" cy="1371600"/>
          </a:xfrm>
          <a:prstGeom prst="rect">
            <a:avLst/>
          </a:prstGeom>
          <a:noFill/>
          <a:ln/>
        </p:spPr>
        <p:txBody>
          <a:bodyPr wrap="square" rtlCol="0" anchor="t"/>
          <a:lstStyle/>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Comprehensive Metabolic Panel</a:t>
            </a:r>
            <a:endParaRPr lang="en-US" sz="1000" dirty="0"/>
          </a:p>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Liver function tests</a:t>
            </a:r>
            <a:endParaRPr lang="en-US" sz="1000" dirty="0"/>
          </a:p>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Lipid panel</a:t>
            </a:r>
            <a:endParaRPr lang="en-US" sz="1000" dirty="0"/>
          </a:p>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Heavy metal panel</a:t>
            </a:r>
            <a:endParaRPr lang="en-US" sz="1000" dirty="0"/>
          </a:p>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Mycotoxin urine panel</a:t>
            </a:r>
            <a:endParaRPr lang="en-US" sz="1000" dirty="0"/>
          </a:p>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Nutrient panel</a:t>
            </a:r>
            <a:endParaRPr lang="en-US" sz="1000" dirty="0"/>
          </a:p>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Hormone panel</a:t>
            </a:r>
            <a:endParaRPr lang="en-US" sz="1000" dirty="0"/>
          </a:p>
          <a:p>
            <a:pPr marL="342900" indent="-342900">
              <a:buSzPct val="100000"/>
              <a:buChar char="•"/>
            </a:pPr>
            <a:r>
              <a:rPr lang="en-US" sz="1000" dirty="0">
                <a:solidFill>
                  <a:srgbClr val="222222"/>
                </a:solidFill>
                <a:latin typeface="Calibri" pitchFamily="34" charset="0"/>
                <a:ea typeface="Calibri" pitchFamily="34" charset="-122"/>
                <a:cs typeface="Calibri" pitchFamily="34" charset="-120"/>
              </a:rPr>
              <a:t>Immune panel</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Recommended Reading</a:t>
            </a:r>
            <a:endParaRPr lang="en-US" sz="2800" dirty="0"/>
          </a:p>
        </p:txBody>
      </p:sp>
      <p:sp>
        <p:nvSpPr>
          <p:cNvPr id="3" name="Shape 1"/>
          <p:cNvSpPr/>
          <p:nvPr/>
        </p:nvSpPr>
        <p:spPr>
          <a:xfrm>
            <a:off x="457200" y="914400"/>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Shape 2"/>
          <p:cNvSpPr/>
          <p:nvPr/>
        </p:nvSpPr>
        <p:spPr>
          <a:xfrm>
            <a:off x="457200" y="914400"/>
            <a:ext cx="54864" cy="480060"/>
          </a:xfrm>
          <a:prstGeom prst="rect">
            <a:avLst/>
          </a:prstGeom>
          <a:solidFill>
            <a:srgbClr val="D4A843"/>
          </a:solidFill>
          <a:ln/>
        </p:spPr>
      </p:sp>
      <p:sp>
        <p:nvSpPr>
          <p:cNvPr id="5" name="Text 3"/>
          <p:cNvSpPr/>
          <p:nvPr/>
        </p:nvSpPr>
        <p:spPr>
          <a:xfrm>
            <a:off x="640080" y="914400"/>
            <a:ext cx="2743200" cy="240030"/>
          </a:xfrm>
          <a:prstGeom prst="rect">
            <a:avLst/>
          </a:prstGeom>
          <a:noFill/>
          <a:ln/>
        </p:spPr>
        <p:txBody>
          <a:bodyPr wrap="square" rtlCol="0" anchor="b"/>
          <a:lstStyle/>
          <a:p>
            <a:pPr indent="0" marL="0">
              <a:buNone/>
            </a:pPr>
            <a:r>
              <a:rPr lang="en-US" sz="1100" b="1" dirty="0">
                <a:solidFill>
                  <a:srgbClr val="1B2A4A"/>
                </a:solidFill>
                <a:latin typeface="Georgia" pitchFamily="34" charset="0"/>
                <a:ea typeface="Georgia" pitchFamily="34" charset="-122"/>
                <a:cs typeface="Georgia" pitchFamily="34" charset="-120"/>
              </a:rPr>
              <a:t>Rapid Virus Recovery</a:t>
            </a:r>
            <a:endParaRPr lang="en-US" sz="1100" dirty="0"/>
          </a:p>
        </p:txBody>
      </p:sp>
      <p:sp>
        <p:nvSpPr>
          <p:cNvPr id="6" name="Text 4"/>
          <p:cNvSpPr/>
          <p:nvPr/>
        </p:nvSpPr>
        <p:spPr>
          <a:xfrm>
            <a:off x="640080" y="1154430"/>
            <a:ext cx="2743200" cy="192024"/>
          </a:xfrm>
          <a:prstGeom prst="rect">
            <a:avLst/>
          </a:prstGeom>
          <a:noFill/>
          <a:ln/>
        </p:spPr>
        <p:txBody>
          <a:bodyPr wrap="square" rtlCol="0" anchor="t"/>
          <a:lstStyle/>
          <a:p>
            <a:pPr indent="0" marL="0">
              <a:buNone/>
            </a:pPr>
            <a:r>
              <a:rPr lang="en-US" sz="800" dirty="0">
                <a:solidFill>
                  <a:srgbClr val="D4A843"/>
                </a:solidFill>
                <a:latin typeface="Calibri" pitchFamily="34" charset="0"/>
                <a:ea typeface="Calibri" pitchFamily="34" charset="-122"/>
                <a:cs typeface="Calibri" pitchFamily="34" charset="-120"/>
              </a:rPr>
              <a:t>by Dr. Thomas Levy</a:t>
            </a:r>
            <a:endParaRPr lang="en-US" sz="800" dirty="0"/>
          </a:p>
        </p:txBody>
      </p:sp>
      <p:sp>
        <p:nvSpPr>
          <p:cNvPr id="7" name="Text 5"/>
          <p:cNvSpPr/>
          <p:nvPr/>
        </p:nvSpPr>
        <p:spPr>
          <a:xfrm>
            <a:off x="3474720" y="914400"/>
            <a:ext cx="5029200" cy="480060"/>
          </a:xfrm>
          <a:prstGeom prst="rect">
            <a:avLst/>
          </a:prstGeom>
          <a:noFill/>
          <a:ln/>
        </p:spPr>
        <p:txBody>
          <a:bodyPr wrap="square" rtlCol="0" anchor="ctr"/>
          <a:lstStyle/>
          <a:p>
            <a:pPr indent="0" marL="0">
              <a:buNone/>
            </a:pPr>
            <a:r>
              <a:rPr lang="en-US" sz="900" dirty="0">
                <a:solidFill>
                  <a:srgbClr val="222222"/>
                </a:solidFill>
                <a:latin typeface="Calibri" pitchFamily="34" charset="0"/>
                <a:ea typeface="Calibri" pitchFamily="34" charset="-122"/>
                <a:cs typeface="Calibri" pitchFamily="34" charset="-120"/>
              </a:rPr>
              <a:t>Essential reading on breaking up biofilm with nebulization and high-dose vitamin C therapy for viral recovery</a:t>
            </a:r>
            <a:endParaRPr lang="en-US" sz="900" dirty="0"/>
          </a:p>
        </p:txBody>
      </p:sp>
      <p:sp>
        <p:nvSpPr>
          <p:cNvPr id="8" name="Shape 6"/>
          <p:cNvSpPr/>
          <p:nvPr/>
        </p:nvSpPr>
        <p:spPr>
          <a:xfrm>
            <a:off x="457200" y="1467612"/>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Shape 7"/>
          <p:cNvSpPr/>
          <p:nvPr/>
        </p:nvSpPr>
        <p:spPr>
          <a:xfrm>
            <a:off x="457200" y="1467612"/>
            <a:ext cx="54864" cy="480060"/>
          </a:xfrm>
          <a:prstGeom prst="rect">
            <a:avLst/>
          </a:prstGeom>
          <a:solidFill>
            <a:srgbClr val="D4A843"/>
          </a:solidFill>
          <a:ln/>
        </p:spPr>
      </p:sp>
      <p:sp>
        <p:nvSpPr>
          <p:cNvPr id="10" name="Text 8"/>
          <p:cNvSpPr/>
          <p:nvPr/>
        </p:nvSpPr>
        <p:spPr>
          <a:xfrm>
            <a:off x="640080" y="1467612"/>
            <a:ext cx="2743200" cy="240030"/>
          </a:xfrm>
          <a:prstGeom prst="rect">
            <a:avLst/>
          </a:prstGeom>
          <a:noFill/>
          <a:ln/>
        </p:spPr>
        <p:txBody>
          <a:bodyPr wrap="square" rtlCol="0" anchor="b"/>
          <a:lstStyle/>
          <a:p>
            <a:pPr indent="0" marL="0">
              <a:buNone/>
            </a:pPr>
            <a:r>
              <a:rPr lang="en-US" sz="1100" b="1" dirty="0">
                <a:solidFill>
                  <a:srgbClr val="1B2A4A"/>
                </a:solidFill>
                <a:latin typeface="Georgia" pitchFamily="34" charset="0"/>
                <a:ea typeface="Georgia" pitchFamily="34" charset="-122"/>
                <a:cs typeface="Georgia" pitchFamily="34" charset="-120"/>
              </a:rPr>
              <a:t>Dental Dangers</a:t>
            </a:r>
            <a:endParaRPr lang="en-US" sz="1100" dirty="0"/>
          </a:p>
        </p:txBody>
      </p:sp>
      <p:sp>
        <p:nvSpPr>
          <p:cNvPr id="11" name="Text 9"/>
          <p:cNvSpPr/>
          <p:nvPr/>
        </p:nvSpPr>
        <p:spPr>
          <a:xfrm>
            <a:off x="640080" y="1707642"/>
            <a:ext cx="2743200" cy="192024"/>
          </a:xfrm>
          <a:prstGeom prst="rect">
            <a:avLst/>
          </a:prstGeom>
          <a:noFill/>
          <a:ln/>
        </p:spPr>
        <p:txBody>
          <a:bodyPr wrap="square" rtlCol="0" anchor="t"/>
          <a:lstStyle/>
          <a:p>
            <a:pPr indent="0" marL="0">
              <a:buNone/>
            </a:pPr>
            <a:r>
              <a:rPr lang="en-US" sz="800" dirty="0">
                <a:solidFill>
                  <a:srgbClr val="D4A843"/>
                </a:solidFill>
                <a:latin typeface="Calibri" pitchFamily="34" charset="0"/>
                <a:ea typeface="Calibri" pitchFamily="34" charset="-122"/>
                <a:cs typeface="Calibri" pitchFamily="34" charset="-120"/>
              </a:rPr>
              <a:t>by Dr. Bruce Shelton</a:t>
            </a:r>
            <a:endParaRPr lang="en-US" sz="800" dirty="0"/>
          </a:p>
        </p:txBody>
      </p:sp>
      <p:sp>
        <p:nvSpPr>
          <p:cNvPr id="12" name="Text 10"/>
          <p:cNvSpPr/>
          <p:nvPr/>
        </p:nvSpPr>
        <p:spPr>
          <a:xfrm>
            <a:off x="3474720" y="1467612"/>
            <a:ext cx="5029200" cy="480060"/>
          </a:xfrm>
          <a:prstGeom prst="rect">
            <a:avLst/>
          </a:prstGeom>
          <a:noFill/>
          <a:ln/>
        </p:spPr>
        <p:txBody>
          <a:bodyPr wrap="square" rtlCol="0" anchor="ctr"/>
          <a:lstStyle/>
          <a:p>
            <a:pPr indent="0" marL="0">
              <a:buNone/>
            </a:pPr>
            <a:r>
              <a:rPr lang="en-US" sz="900" dirty="0">
                <a:solidFill>
                  <a:srgbClr val="222222"/>
                </a:solidFill>
                <a:latin typeface="Calibri" pitchFamily="34" charset="0"/>
                <a:ea typeface="Calibri" pitchFamily="34" charset="-122"/>
                <a:cs typeface="Calibri" pitchFamily="34" charset="-120"/>
              </a:rPr>
              <a:t>Please read over Dental Dangers as amalgam issues and periodontal problems can significantly hurt longevity goals</a:t>
            </a:r>
            <a:endParaRPr lang="en-US" sz="900" dirty="0"/>
          </a:p>
        </p:txBody>
      </p:sp>
      <p:sp>
        <p:nvSpPr>
          <p:cNvPr id="13" name="Shape 11"/>
          <p:cNvSpPr/>
          <p:nvPr/>
        </p:nvSpPr>
        <p:spPr>
          <a:xfrm>
            <a:off x="457200" y="2020824"/>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Shape 12"/>
          <p:cNvSpPr/>
          <p:nvPr/>
        </p:nvSpPr>
        <p:spPr>
          <a:xfrm>
            <a:off x="457200" y="2020824"/>
            <a:ext cx="54864" cy="480060"/>
          </a:xfrm>
          <a:prstGeom prst="rect">
            <a:avLst/>
          </a:prstGeom>
          <a:solidFill>
            <a:srgbClr val="D4A843"/>
          </a:solidFill>
          <a:ln/>
        </p:spPr>
      </p:sp>
      <p:sp>
        <p:nvSpPr>
          <p:cNvPr id="15" name="Text 13"/>
          <p:cNvSpPr/>
          <p:nvPr/>
        </p:nvSpPr>
        <p:spPr>
          <a:xfrm>
            <a:off x="640080" y="2020824"/>
            <a:ext cx="2743200" cy="240030"/>
          </a:xfrm>
          <a:prstGeom prst="rect">
            <a:avLst/>
          </a:prstGeom>
          <a:noFill/>
          <a:ln/>
        </p:spPr>
        <p:txBody>
          <a:bodyPr wrap="square" rtlCol="0" anchor="b"/>
          <a:lstStyle/>
          <a:p>
            <a:pPr indent="0" marL="0">
              <a:buNone/>
            </a:pPr>
            <a:r>
              <a:rPr lang="en-US" sz="1100" b="1" dirty="0">
                <a:solidFill>
                  <a:srgbClr val="1B2A4A"/>
                </a:solidFill>
                <a:latin typeface="Georgia" pitchFamily="34" charset="0"/>
                <a:ea typeface="Georgia" pitchFamily="34" charset="-122"/>
                <a:cs typeface="Georgia" pitchFamily="34" charset="-120"/>
              </a:rPr>
              <a:t>A World Without Cancer</a:t>
            </a:r>
            <a:endParaRPr lang="en-US" sz="1100" dirty="0"/>
          </a:p>
        </p:txBody>
      </p:sp>
      <p:sp>
        <p:nvSpPr>
          <p:cNvPr id="16" name="Text 14"/>
          <p:cNvSpPr/>
          <p:nvPr/>
        </p:nvSpPr>
        <p:spPr>
          <a:xfrm>
            <a:off x="640080" y="2260854"/>
            <a:ext cx="2743200" cy="192024"/>
          </a:xfrm>
          <a:prstGeom prst="rect">
            <a:avLst/>
          </a:prstGeom>
          <a:noFill/>
          <a:ln/>
        </p:spPr>
        <p:txBody>
          <a:bodyPr wrap="square" rtlCol="0" anchor="t"/>
          <a:lstStyle/>
          <a:p>
            <a:pPr indent="0" marL="0">
              <a:buNone/>
            </a:pPr>
            <a:r>
              <a:rPr lang="en-US" sz="800" dirty="0">
                <a:solidFill>
                  <a:srgbClr val="D4A843"/>
                </a:solidFill>
                <a:latin typeface="Calibri" pitchFamily="34" charset="0"/>
                <a:ea typeface="Calibri" pitchFamily="34" charset="-122"/>
                <a:cs typeface="Calibri" pitchFamily="34" charset="-120"/>
              </a:rPr>
              <a:t>by G. Edward Griffin</a:t>
            </a:r>
            <a:endParaRPr lang="en-US" sz="800" dirty="0"/>
          </a:p>
        </p:txBody>
      </p:sp>
      <p:sp>
        <p:nvSpPr>
          <p:cNvPr id="17" name="Text 15"/>
          <p:cNvSpPr/>
          <p:nvPr/>
        </p:nvSpPr>
        <p:spPr>
          <a:xfrm>
            <a:off x="3474720" y="2020824"/>
            <a:ext cx="5029200" cy="480060"/>
          </a:xfrm>
          <a:prstGeom prst="rect">
            <a:avLst/>
          </a:prstGeom>
          <a:noFill/>
          <a:ln/>
        </p:spPr>
        <p:txBody>
          <a:bodyPr wrap="square" rtlCol="0" anchor="ctr"/>
          <a:lstStyle/>
          <a:p>
            <a:pPr indent="0" marL="0">
              <a:buNone/>
            </a:pPr>
            <a:r>
              <a:rPr lang="en-US" sz="900" dirty="0">
                <a:solidFill>
                  <a:srgbClr val="222222"/>
                </a:solidFill>
                <a:latin typeface="Calibri" pitchFamily="34" charset="0"/>
                <a:ea typeface="Calibri" pitchFamily="34" charset="-122"/>
                <a:cs typeface="Calibri" pitchFamily="34" charset="-120"/>
              </a:rPr>
              <a:t>The link between nitrilosides and cancer — the story of B17 Laetrile and why it matters for your protocol</a:t>
            </a:r>
            <a:endParaRPr lang="en-US" sz="900" dirty="0"/>
          </a:p>
        </p:txBody>
      </p:sp>
      <p:sp>
        <p:nvSpPr>
          <p:cNvPr id="18" name="Shape 16"/>
          <p:cNvSpPr/>
          <p:nvPr/>
        </p:nvSpPr>
        <p:spPr>
          <a:xfrm>
            <a:off x="457200" y="2574036"/>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9" name="Shape 17"/>
          <p:cNvSpPr/>
          <p:nvPr/>
        </p:nvSpPr>
        <p:spPr>
          <a:xfrm>
            <a:off x="457200" y="2574036"/>
            <a:ext cx="54864" cy="480060"/>
          </a:xfrm>
          <a:prstGeom prst="rect">
            <a:avLst/>
          </a:prstGeom>
          <a:solidFill>
            <a:srgbClr val="D4A843"/>
          </a:solidFill>
          <a:ln/>
        </p:spPr>
      </p:sp>
      <p:sp>
        <p:nvSpPr>
          <p:cNvPr id="20" name="Text 18"/>
          <p:cNvSpPr/>
          <p:nvPr/>
        </p:nvSpPr>
        <p:spPr>
          <a:xfrm>
            <a:off x="640080" y="2574036"/>
            <a:ext cx="2743200" cy="240030"/>
          </a:xfrm>
          <a:prstGeom prst="rect">
            <a:avLst/>
          </a:prstGeom>
          <a:noFill/>
          <a:ln/>
        </p:spPr>
        <p:txBody>
          <a:bodyPr wrap="square" rtlCol="0" anchor="b"/>
          <a:lstStyle/>
          <a:p>
            <a:pPr indent="0" marL="0">
              <a:buNone/>
            </a:pPr>
            <a:r>
              <a:rPr lang="en-US" sz="1100" b="1" dirty="0">
                <a:solidFill>
                  <a:srgbClr val="1B2A4A"/>
                </a:solidFill>
                <a:latin typeface="Georgia" pitchFamily="34" charset="0"/>
                <a:ea typeface="Georgia" pitchFamily="34" charset="-122"/>
                <a:cs typeface="Georgia" pitchFamily="34" charset="-120"/>
              </a:rPr>
              <a:t>The Iodine Crisis</a:t>
            </a:r>
            <a:endParaRPr lang="en-US" sz="1100" dirty="0"/>
          </a:p>
        </p:txBody>
      </p:sp>
      <p:sp>
        <p:nvSpPr>
          <p:cNvPr id="21" name="Text 19"/>
          <p:cNvSpPr/>
          <p:nvPr/>
        </p:nvSpPr>
        <p:spPr>
          <a:xfrm>
            <a:off x="640080" y="2814066"/>
            <a:ext cx="2743200" cy="192024"/>
          </a:xfrm>
          <a:prstGeom prst="rect">
            <a:avLst/>
          </a:prstGeom>
          <a:noFill/>
          <a:ln/>
        </p:spPr>
        <p:txBody>
          <a:bodyPr wrap="square" rtlCol="0" anchor="t"/>
          <a:lstStyle/>
          <a:p>
            <a:pPr indent="0" marL="0">
              <a:buNone/>
            </a:pPr>
            <a:r>
              <a:rPr lang="en-US" sz="800" dirty="0">
                <a:solidFill>
                  <a:srgbClr val="D4A843"/>
                </a:solidFill>
                <a:latin typeface="Calibri" pitchFamily="34" charset="0"/>
                <a:ea typeface="Calibri" pitchFamily="34" charset="-122"/>
                <a:cs typeface="Calibri" pitchFamily="34" charset="-120"/>
              </a:rPr>
              <a:t>by Lynne Farrow</a:t>
            </a:r>
            <a:endParaRPr lang="en-US" sz="800" dirty="0"/>
          </a:p>
        </p:txBody>
      </p:sp>
      <p:sp>
        <p:nvSpPr>
          <p:cNvPr id="22" name="Text 20"/>
          <p:cNvSpPr/>
          <p:nvPr/>
        </p:nvSpPr>
        <p:spPr>
          <a:xfrm>
            <a:off x="3474720" y="2574036"/>
            <a:ext cx="5029200" cy="480060"/>
          </a:xfrm>
          <a:prstGeom prst="rect">
            <a:avLst/>
          </a:prstGeom>
          <a:noFill/>
          <a:ln/>
        </p:spPr>
        <p:txBody>
          <a:bodyPr wrap="square" rtlCol="0" anchor="ctr"/>
          <a:lstStyle/>
          <a:p>
            <a:pPr indent="0" marL="0">
              <a:buNone/>
            </a:pPr>
            <a:r>
              <a:rPr lang="en-US" sz="900" dirty="0">
                <a:solidFill>
                  <a:srgbClr val="222222"/>
                </a:solidFill>
                <a:latin typeface="Calibri" pitchFamily="34" charset="0"/>
                <a:ea typeface="Calibri" pitchFamily="34" charset="-122"/>
                <a:cs typeface="Calibri" pitchFamily="34" charset="-120"/>
              </a:rPr>
              <a:t>Critical reading on the relationship between selenium, iodine, and cancer rise in the U.S.</a:t>
            </a:r>
            <a:endParaRPr lang="en-US" sz="900" dirty="0"/>
          </a:p>
        </p:txBody>
      </p:sp>
      <p:sp>
        <p:nvSpPr>
          <p:cNvPr id="23" name="Shape 21"/>
          <p:cNvSpPr/>
          <p:nvPr/>
        </p:nvSpPr>
        <p:spPr>
          <a:xfrm>
            <a:off x="457200" y="3127248"/>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4" name="Shape 22"/>
          <p:cNvSpPr/>
          <p:nvPr/>
        </p:nvSpPr>
        <p:spPr>
          <a:xfrm>
            <a:off x="457200" y="3127248"/>
            <a:ext cx="54864" cy="480060"/>
          </a:xfrm>
          <a:prstGeom prst="rect">
            <a:avLst/>
          </a:prstGeom>
          <a:solidFill>
            <a:srgbClr val="D4A843"/>
          </a:solidFill>
          <a:ln/>
        </p:spPr>
      </p:sp>
      <p:sp>
        <p:nvSpPr>
          <p:cNvPr id="25" name="Text 23"/>
          <p:cNvSpPr/>
          <p:nvPr/>
        </p:nvSpPr>
        <p:spPr>
          <a:xfrm>
            <a:off x="640080" y="3127248"/>
            <a:ext cx="2743200" cy="240030"/>
          </a:xfrm>
          <a:prstGeom prst="rect">
            <a:avLst/>
          </a:prstGeom>
          <a:noFill/>
          <a:ln/>
        </p:spPr>
        <p:txBody>
          <a:bodyPr wrap="square" rtlCol="0" anchor="b"/>
          <a:lstStyle/>
          <a:p>
            <a:pPr indent="0" marL="0">
              <a:buNone/>
            </a:pPr>
            <a:r>
              <a:rPr lang="en-US" sz="1100" b="1" dirty="0">
                <a:solidFill>
                  <a:srgbClr val="1B2A4A"/>
                </a:solidFill>
                <a:latin typeface="Georgia" pitchFamily="34" charset="0"/>
                <a:ea typeface="Georgia" pitchFamily="34" charset="-122"/>
                <a:cs typeface="Georgia" pitchFamily="34" charset="-120"/>
              </a:rPr>
              <a:t>A Cancer Therapy: Results of Fifty Cases</a:t>
            </a:r>
            <a:endParaRPr lang="en-US" sz="1100" dirty="0"/>
          </a:p>
        </p:txBody>
      </p:sp>
      <p:sp>
        <p:nvSpPr>
          <p:cNvPr id="26" name="Text 24"/>
          <p:cNvSpPr/>
          <p:nvPr/>
        </p:nvSpPr>
        <p:spPr>
          <a:xfrm>
            <a:off x="640080" y="3367278"/>
            <a:ext cx="2743200" cy="192024"/>
          </a:xfrm>
          <a:prstGeom prst="rect">
            <a:avLst/>
          </a:prstGeom>
          <a:noFill/>
          <a:ln/>
        </p:spPr>
        <p:txBody>
          <a:bodyPr wrap="square" rtlCol="0" anchor="t"/>
          <a:lstStyle/>
          <a:p>
            <a:pPr indent="0" marL="0">
              <a:buNone/>
            </a:pPr>
            <a:r>
              <a:rPr lang="en-US" sz="800" dirty="0">
                <a:solidFill>
                  <a:srgbClr val="D4A843"/>
                </a:solidFill>
                <a:latin typeface="Calibri" pitchFamily="34" charset="0"/>
                <a:ea typeface="Calibri" pitchFamily="34" charset="-122"/>
                <a:cs typeface="Calibri" pitchFamily="34" charset="-120"/>
              </a:rPr>
              <a:t>by Dr. Max Gerson</a:t>
            </a:r>
            <a:endParaRPr lang="en-US" sz="800" dirty="0"/>
          </a:p>
        </p:txBody>
      </p:sp>
      <p:sp>
        <p:nvSpPr>
          <p:cNvPr id="27" name="Text 25"/>
          <p:cNvSpPr/>
          <p:nvPr/>
        </p:nvSpPr>
        <p:spPr>
          <a:xfrm>
            <a:off x="3474720" y="3127248"/>
            <a:ext cx="5029200" cy="480060"/>
          </a:xfrm>
          <a:prstGeom prst="rect">
            <a:avLst/>
          </a:prstGeom>
          <a:noFill/>
          <a:ln/>
        </p:spPr>
        <p:txBody>
          <a:bodyPr wrap="square" rtlCol="0" anchor="ctr"/>
          <a:lstStyle/>
          <a:p>
            <a:pPr indent="0" marL="0">
              <a:buNone/>
            </a:pPr>
            <a:r>
              <a:rPr lang="en-US" sz="900" dirty="0">
                <a:solidFill>
                  <a:srgbClr val="222222"/>
                </a:solidFill>
                <a:latin typeface="Calibri" pitchFamily="34" charset="0"/>
                <a:ea typeface="Calibri" pitchFamily="34" charset="-122"/>
                <a:cs typeface="Calibri" pitchFamily="34" charset="-120"/>
              </a:rPr>
              <a:t>The original Gerson therapy clinical documentation — foundational for understanding dietary protocols in cancer care</a:t>
            </a:r>
            <a:endParaRPr lang="en-US" sz="900" dirty="0"/>
          </a:p>
        </p:txBody>
      </p:sp>
      <p:sp>
        <p:nvSpPr>
          <p:cNvPr id="28" name="Shape 26"/>
          <p:cNvSpPr/>
          <p:nvPr/>
        </p:nvSpPr>
        <p:spPr>
          <a:xfrm>
            <a:off x="457200" y="3680460"/>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9" name="Shape 27"/>
          <p:cNvSpPr/>
          <p:nvPr/>
        </p:nvSpPr>
        <p:spPr>
          <a:xfrm>
            <a:off x="457200" y="3680460"/>
            <a:ext cx="54864" cy="480060"/>
          </a:xfrm>
          <a:prstGeom prst="rect">
            <a:avLst/>
          </a:prstGeom>
          <a:solidFill>
            <a:srgbClr val="D4A843"/>
          </a:solidFill>
          <a:ln/>
        </p:spPr>
      </p:sp>
      <p:sp>
        <p:nvSpPr>
          <p:cNvPr id="30" name="Text 28"/>
          <p:cNvSpPr/>
          <p:nvPr/>
        </p:nvSpPr>
        <p:spPr>
          <a:xfrm>
            <a:off x="640080" y="3680460"/>
            <a:ext cx="2743200" cy="240030"/>
          </a:xfrm>
          <a:prstGeom prst="rect">
            <a:avLst/>
          </a:prstGeom>
          <a:noFill/>
          <a:ln/>
        </p:spPr>
        <p:txBody>
          <a:bodyPr wrap="square" rtlCol="0" anchor="b"/>
          <a:lstStyle/>
          <a:p>
            <a:pPr indent="0" marL="0">
              <a:buNone/>
            </a:pPr>
            <a:r>
              <a:rPr lang="en-US" sz="1100" b="1" dirty="0">
                <a:solidFill>
                  <a:srgbClr val="1B2A4A"/>
                </a:solidFill>
                <a:latin typeface="Georgia" pitchFamily="34" charset="0"/>
                <a:ea typeface="Georgia" pitchFamily="34" charset="-122"/>
                <a:cs typeface="Georgia" pitchFamily="34" charset="-120"/>
              </a:rPr>
              <a:t>The Metabolic Approach to Cancer</a:t>
            </a:r>
            <a:endParaRPr lang="en-US" sz="1100" dirty="0"/>
          </a:p>
        </p:txBody>
      </p:sp>
      <p:sp>
        <p:nvSpPr>
          <p:cNvPr id="31" name="Text 29"/>
          <p:cNvSpPr/>
          <p:nvPr/>
        </p:nvSpPr>
        <p:spPr>
          <a:xfrm>
            <a:off x="640080" y="3920490"/>
            <a:ext cx="2743200" cy="192024"/>
          </a:xfrm>
          <a:prstGeom prst="rect">
            <a:avLst/>
          </a:prstGeom>
          <a:noFill/>
          <a:ln/>
        </p:spPr>
        <p:txBody>
          <a:bodyPr wrap="square" rtlCol="0" anchor="t"/>
          <a:lstStyle/>
          <a:p>
            <a:pPr indent="0" marL="0">
              <a:buNone/>
            </a:pPr>
            <a:r>
              <a:rPr lang="en-US" sz="800" dirty="0">
                <a:solidFill>
                  <a:srgbClr val="D4A843"/>
                </a:solidFill>
                <a:latin typeface="Calibri" pitchFamily="34" charset="0"/>
                <a:ea typeface="Calibri" pitchFamily="34" charset="-122"/>
                <a:cs typeface="Calibri" pitchFamily="34" charset="-120"/>
              </a:rPr>
              <a:t>by Dr. Nasha Winters &amp; Jess Higgins Kelley</a:t>
            </a:r>
            <a:endParaRPr lang="en-US" sz="800" dirty="0"/>
          </a:p>
        </p:txBody>
      </p:sp>
      <p:sp>
        <p:nvSpPr>
          <p:cNvPr id="32" name="Text 30"/>
          <p:cNvSpPr/>
          <p:nvPr/>
        </p:nvSpPr>
        <p:spPr>
          <a:xfrm>
            <a:off x="3474720" y="3680460"/>
            <a:ext cx="5029200" cy="480060"/>
          </a:xfrm>
          <a:prstGeom prst="rect">
            <a:avLst/>
          </a:prstGeom>
          <a:noFill/>
          <a:ln/>
        </p:spPr>
        <p:txBody>
          <a:bodyPr wrap="square" rtlCol="0" anchor="ctr"/>
          <a:lstStyle/>
          <a:p>
            <a:pPr indent="0" marL="0">
              <a:buNone/>
            </a:pPr>
            <a:r>
              <a:rPr lang="en-US" sz="900" dirty="0">
                <a:solidFill>
                  <a:srgbClr val="222222"/>
                </a:solidFill>
                <a:latin typeface="Calibri" pitchFamily="34" charset="0"/>
                <a:ea typeface="Calibri" pitchFamily="34" charset="-122"/>
                <a:cs typeface="Calibri" pitchFamily="34" charset="-120"/>
              </a:rPr>
              <a:t>Integrative oncology nutrition and metabolic terrain assessment — essential for understanding cancer as a metabolic disease</a:t>
            </a:r>
            <a:endParaRPr lang="en-US" sz="900" dirty="0"/>
          </a:p>
        </p:txBody>
      </p:sp>
      <p:sp>
        <p:nvSpPr>
          <p:cNvPr id="33" name="Shape 31"/>
          <p:cNvSpPr/>
          <p:nvPr/>
        </p:nvSpPr>
        <p:spPr>
          <a:xfrm>
            <a:off x="457200" y="4233672"/>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34" name="Shape 32"/>
          <p:cNvSpPr/>
          <p:nvPr/>
        </p:nvSpPr>
        <p:spPr>
          <a:xfrm>
            <a:off x="457200" y="4233672"/>
            <a:ext cx="54864" cy="480060"/>
          </a:xfrm>
          <a:prstGeom prst="rect">
            <a:avLst/>
          </a:prstGeom>
          <a:solidFill>
            <a:srgbClr val="D4A843"/>
          </a:solidFill>
          <a:ln/>
        </p:spPr>
      </p:sp>
      <p:sp>
        <p:nvSpPr>
          <p:cNvPr id="35" name="Text 33"/>
          <p:cNvSpPr/>
          <p:nvPr/>
        </p:nvSpPr>
        <p:spPr>
          <a:xfrm>
            <a:off x="640080" y="4233672"/>
            <a:ext cx="2743200" cy="240030"/>
          </a:xfrm>
          <a:prstGeom prst="rect">
            <a:avLst/>
          </a:prstGeom>
          <a:noFill/>
          <a:ln/>
        </p:spPr>
        <p:txBody>
          <a:bodyPr wrap="square" rtlCol="0" anchor="b"/>
          <a:lstStyle/>
          <a:p>
            <a:pPr indent="0" marL="0">
              <a:buNone/>
            </a:pPr>
            <a:r>
              <a:rPr lang="en-US" sz="1100" b="1" dirty="0">
                <a:solidFill>
                  <a:srgbClr val="1B2A4A"/>
                </a:solidFill>
                <a:latin typeface="Georgia" pitchFamily="34" charset="0"/>
                <a:ea typeface="Georgia" pitchFamily="34" charset="-122"/>
                <a:cs typeface="Georgia" pitchFamily="34" charset="-120"/>
              </a:rPr>
              <a:t>One Minute Cure</a:t>
            </a:r>
            <a:endParaRPr lang="en-US" sz="1100" dirty="0"/>
          </a:p>
        </p:txBody>
      </p:sp>
      <p:sp>
        <p:nvSpPr>
          <p:cNvPr id="36" name="Text 34"/>
          <p:cNvSpPr/>
          <p:nvPr/>
        </p:nvSpPr>
        <p:spPr>
          <a:xfrm>
            <a:off x="640080" y="4473702"/>
            <a:ext cx="2743200" cy="192024"/>
          </a:xfrm>
          <a:prstGeom prst="rect">
            <a:avLst/>
          </a:prstGeom>
          <a:noFill/>
          <a:ln/>
        </p:spPr>
        <p:txBody>
          <a:bodyPr wrap="square" rtlCol="0" anchor="t"/>
          <a:lstStyle/>
          <a:p>
            <a:pPr indent="0" marL="0">
              <a:buNone/>
            </a:pPr>
            <a:r>
              <a:rPr lang="en-US" sz="800" dirty="0">
                <a:solidFill>
                  <a:srgbClr val="D4A843"/>
                </a:solidFill>
                <a:latin typeface="Calibri" pitchFamily="34" charset="0"/>
                <a:ea typeface="Calibri" pitchFamily="34" charset="-122"/>
                <a:cs typeface="Calibri" pitchFamily="34" charset="-120"/>
              </a:rPr>
              <a:t>by Madison Cavanaugh</a:t>
            </a:r>
            <a:endParaRPr lang="en-US" sz="800" dirty="0"/>
          </a:p>
        </p:txBody>
      </p:sp>
      <p:sp>
        <p:nvSpPr>
          <p:cNvPr id="37" name="Text 35"/>
          <p:cNvSpPr/>
          <p:nvPr/>
        </p:nvSpPr>
        <p:spPr>
          <a:xfrm>
            <a:off x="3474720" y="4233672"/>
            <a:ext cx="5029200" cy="480060"/>
          </a:xfrm>
          <a:prstGeom prst="rect">
            <a:avLst/>
          </a:prstGeom>
          <a:noFill/>
          <a:ln/>
        </p:spPr>
        <p:txBody>
          <a:bodyPr wrap="square" rtlCol="0" anchor="ctr"/>
          <a:lstStyle/>
          <a:p>
            <a:pPr indent="0" marL="0">
              <a:buNone/>
            </a:pPr>
            <a:r>
              <a:rPr lang="en-US" sz="900" dirty="0">
                <a:solidFill>
                  <a:srgbClr val="222222"/>
                </a:solidFill>
                <a:latin typeface="Calibri" pitchFamily="34" charset="0"/>
                <a:ea typeface="Calibri" pitchFamily="34" charset="-122"/>
                <a:cs typeface="Calibri" pitchFamily="34" charset="-120"/>
              </a:rPr>
              <a:t>Hydrogen peroxide therapy overview and its applications for supporting the body's natural healing processes</a:t>
            </a:r>
            <a:endParaRPr lang="en-US" sz="900" dirty="0"/>
          </a:p>
        </p:txBody>
      </p:sp>
      <p:sp>
        <p:nvSpPr>
          <p:cNvPr id="38" name="Shape 36"/>
          <p:cNvSpPr/>
          <p:nvPr/>
        </p:nvSpPr>
        <p:spPr>
          <a:xfrm>
            <a:off x="457200" y="4786884"/>
            <a:ext cx="8229600" cy="4800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39" name="Shape 37"/>
          <p:cNvSpPr/>
          <p:nvPr/>
        </p:nvSpPr>
        <p:spPr>
          <a:xfrm>
            <a:off x="457200" y="4786884"/>
            <a:ext cx="54864" cy="480060"/>
          </a:xfrm>
          <a:prstGeom prst="rect">
            <a:avLst/>
          </a:prstGeom>
          <a:solidFill>
            <a:srgbClr val="D4A843"/>
          </a:solidFill>
          <a:ln/>
        </p:spPr>
      </p:sp>
      <p:sp>
        <p:nvSpPr>
          <p:cNvPr id="40" name="Text 38"/>
          <p:cNvSpPr/>
          <p:nvPr/>
        </p:nvSpPr>
        <p:spPr>
          <a:xfrm>
            <a:off x="640080" y="4786884"/>
            <a:ext cx="2743200" cy="240030"/>
          </a:xfrm>
          <a:prstGeom prst="rect">
            <a:avLst/>
          </a:prstGeom>
          <a:noFill/>
          <a:ln/>
        </p:spPr>
        <p:txBody>
          <a:bodyPr wrap="square" rtlCol="0" anchor="b"/>
          <a:lstStyle/>
          <a:p>
            <a:pPr indent="0" marL="0">
              <a:buNone/>
            </a:pPr>
            <a:r>
              <a:rPr lang="en-US" sz="1100" b="1" dirty="0">
                <a:solidFill>
                  <a:srgbClr val="1B2A4A"/>
                </a:solidFill>
                <a:latin typeface="Georgia" pitchFamily="34" charset="0"/>
                <a:ea typeface="Georgia" pitchFamily="34" charset="-122"/>
                <a:cs typeface="Georgia" pitchFamily="34" charset="-120"/>
              </a:rPr>
              <a:t>Cymatics: A Study of Wave Phenomena</a:t>
            </a:r>
            <a:endParaRPr lang="en-US" sz="1100" dirty="0"/>
          </a:p>
        </p:txBody>
      </p:sp>
      <p:sp>
        <p:nvSpPr>
          <p:cNvPr id="41" name="Text 39"/>
          <p:cNvSpPr/>
          <p:nvPr/>
        </p:nvSpPr>
        <p:spPr>
          <a:xfrm>
            <a:off x="640080" y="5026914"/>
            <a:ext cx="2743200" cy="192024"/>
          </a:xfrm>
          <a:prstGeom prst="rect">
            <a:avLst/>
          </a:prstGeom>
          <a:noFill/>
          <a:ln/>
        </p:spPr>
        <p:txBody>
          <a:bodyPr wrap="square" rtlCol="0" anchor="t"/>
          <a:lstStyle/>
          <a:p>
            <a:pPr indent="0" marL="0">
              <a:buNone/>
            </a:pPr>
            <a:r>
              <a:rPr lang="en-US" sz="800" dirty="0">
                <a:solidFill>
                  <a:srgbClr val="D4A843"/>
                </a:solidFill>
                <a:latin typeface="Calibri" pitchFamily="34" charset="0"/>
                <a:ea typeface="Calibri" pitchFamily="34" charset="-122"/>
                <a:cs typeface="Calibri" pitchFamily="34" charset="-120"/>
              </a:rPr>
              <a:t>by Hans Jenny</a:t>
            </a:r>
            <a:endParaRPr lang="en-US" sz="800" dirty="0"/>
          </a:p>
        </p:txBody>
      </p:sp>
      <p:sp>
        <p:nvSpPr>
          <p:cNvPr id="42" name="Text 40"/>
          <p:cNvSpPr/>
          <p:nvPr/>
        </p:nvSpPr>
        <p:spPr>
          <a:xfrm>
            <a:off x="3474720" y="4786884"/>
            <a:ext cx="5029200" cy="480060"/>
          </a:xfrm>
          <a:prstGeom prst="rect">
            <a:avLst/>
          </a:prstGeom>
          <a:noFill/>
          <a:ln/>
        </p:spPr>
        <p:txBody>
          <a:bodyPr wrap="square" rtlCol="0" anchor="ctr"/>
          <a:lstStyle/>
          <a:p>
            <a:pPr indent="0" marL="0">
              <a:buNone/>
            </a:pPr>
            <a:r>
              <a:rPr lang="en-US" sz="900" dirty="0">
                <a:solidFill>
                  <a:srgbClr val="222222"/>
                </a:solidFill>
                <a:latin typeface="Calibri" pitchFamily="34" charset="0"/>
                <a:ea typeface="Calibri" pitchFamily="34" charset="-122"/>
                <a:cs typeface="Calibri" pitchFamily="34" charset="-120"/>
              </a:rPr>
              <a:t>Foundation text for frequency-based healing modalities — understanding how sound and vibration affect cellular health</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Research Backing Our Protocols</a:t>
            </a:r>
            <a:endParaRPr lang="en-US" sz="2400" dirty="0"/>
          </a:p>
        </p:txBody>
      </p:sp>
      <p:sp>
        <p:nvSpPr>
          <p:cNvPr id="3" name="Shape 1"/>
          <p:cNvSpPr/>
          <p:nvPr/>
        </p:nvSpPr>
        <p:spPr>
          <a:xfrm>
            <a:off x="457200" y="914400"/>
            <a:ext cx="8229600" cy="38404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1005840"/>
            <a:ext cx="7863840" cy="3657600"/>
          </a:xfrm>
          <a:prstGeom prst="rect">
            <a:avLst/>
          </a:prstGeom>
          <a:noFill/>
          <a:ln/>
        </p:spPr>
        <p:txBody>
          <a:bodyPr wrap="square" rtlCol="0" anchor="t"/>
          <a:lstStyle/>
          <a:p>
            <a:pPr indent="0" marL="0">
              <a:buNone/>
            </a:pPr>
            <a:r>
              <a:rPr lang="en-US" sz="1000" b="1" dirty="0">
                <a:solidFill>
                  <a:srgbClr val="00B4D8"/>
                </a:solidFill>
                <a:latin typeface="Calibri" pitchFamily="34" charset="0"/>
                <a:ea typeface="Calibri" pitchFamily="34" charset="-122"/>
                <a:cs typeface="Calibri" pitchFamily="34" charset="-120"/>
              </a:rPr>
              <a:t>Moringa Health Benefits</a:t>
            </a:r>
            <a:pPr indent="0" marL="0">
              <a:buNone/>
            </a:pPr>
            <a:r>
              <a:rPr lang="en-US" sz="900" dirty="0">
                <a:solidFill>
                  <a:srgbClr val="666666"/>
                </a:solidFill>
                <a:latin typeface="Calibri" pitchFamily="34" charset="0"/>
                <a:ea typeface="Calibri" pitchFamily="34" charset="-122"/>
                <a:cs typeface="Calibri" pitchFamily="34" charset="-120"/>
              </a:rPr>
              <a:t> — Comprehensive overview of moringa's anti-inflammatory, antioxidant, and immune-supporting properties</a:t>
            </a:r>
            <a:pPr indent="0" marL="0">
              <a:buNone/>
            </a:pPr>
            <a:endParaRPr lang="en-US" sz="1000" dirty="0"/>
          </a:p>
          <a:p>
            <a:pPr indent="0" marL="0">
              <a:buNone/>
            </a:pPr>
            <a:r>
              <a:rPr lang="en-US" sz="800" dirty="0">
                <a:solidFill>
                  <a:srgbClr val="D4A843"/>
                </a:solidFill>
                <a:latin typeface="Calibri" pitchFamily="34" charset="0"/>
                <a:ea typeface="Calibri" pitchFamily="34" charset="-122"/>
                <a:cs typeface="Calibri" pitchFamily="34" charset="-120"/>
              </a:rPr>
              <a:t>https://ensosuperfoods.com/blogs/supergreens/moringa-health-benefits-for-women</a:t>
            </a:r>
            <a:endParaRPr lang="en-US" sz="1000" dirty="0"/>
          </a:p>
          <a:p>
            <a:pPr indent="0" marL="0">
              <a:buNone/>
            </a:pPr>
            <a:r>
              <a:rPr lang="en-US" sz="1000" b="1" dirty="0">
                <a:solidFill>
                  <a:srgbClr val="00B4D8"/>
                </a:solidFill>
                <a:latin typeface="Calibri" pitchFamily="34" charset="0"/>
                <a:ea typeface="Calibri" pitchFamily="34" charset="-122"/>
                <a:cs typeface="Calibri" pitchFamily="34" charset="-120"/>
              </a:rPr>
              <a:t>Chlorella Benefits</a:t>
            </a:r>
            <a:pPr indent="0" marL="0">
              <a:buNone/>
            </a:pPr>
            <a:r>
              <a:rPr lang="en-US" sz="900" dirty="0">
                <a:solidFill>
                  <a:srgbClr val="666666"/>
                </a:solidFill>
                <a:latin typeface="Calibri" pitchFamily="34" charset="0"/>
                <a:ea typeface="Calibri" pitchFamily="34" charset="-122"/>
                <a:cs typeface="Calibri" pitchFamily="34" charset="-120"/>
              </a:rPr>
              <a:t> — Heavy metal detox, immune support, and nutrient density — why chlorella is in your protocol</a:t>
            </a:r>
            <a:pPr indent="0" marL="0">
              <a:buNone/>
            </a:pPr>
            <a:endParaRPr lang="en-US" sz="1000" dirty="0"/>
          </a:p>
          <a:p>
            <a:pPr indent="0" marL="0">
              <a:buNone/>
            </a:pPr>
            <a:r>
              <a:rPr lang="en-US" sz="800" dirty="0">
                <a:solidFill>
                  <a:srgbClr val="D4A843"/>
                </a:solidFill>
                <a:latin typeface="Calibri" pitchFamily="34" charset="0"/>
                <a:ea typeface="Calibri" pitchFamily="34" charset="-122"/>
                <a:cs typeface="Calibri" pitchFamily="34" charset="-120"/>
              </a:rPr>
              <a:t>https://www.healthline.com/nutrition/benefits-of-chlorella</a:t>
            </a:r>
            <a:endParaRPr lang="en-US" sz="1000" dirty="0"/>
          </a:p>
          <a:p>
            <a:pPr indent="0" marL="0">
              <a:buNone/>
            </a:pPr>
            <a:r>
              <a:rPr lang="en-US" sz="1000" b="1" dirty="0">
                <a:solidFill>
                  <a:srgbClr val="00B4D8"/>
                </a:solidFill>
                <a:latin typeface="Calibri" pitchFamily="34" charset="0"/>
                <a:ea typeface="Calibri" pitchFamily="34" charset="-122"/>
                <a:cs typeface="Calibri" pitchFamily="34" charset="-120"/>
              </a:rPr>
              <a:t>Marine Phytoplankton Benefits</a:t>
            </a:r>
            <a:pPr indent="0" marL="0">
              <a:buNone/>
            </a:pPr>
            <a:r>
              <a:rPr lang="en-US" sz="900" dirty="0">
                <a:solidFill>
                  <a:srgbClr val="666666"/>
                </a:solidFill>
                <a:latin typeface="Calibri" pitchFamily="34" charset="0"/>
                <a:ea typeface="Calibri" pitchFamily="34" charset="-122"/>
                <a:cs typeface="Calibri" pitchFamily="34" charset="-120"/>
              </a:rPr>
              <a:t> — How marine phytoplankton provides bioavailable nutrition at the cellular level</a:t>
            </a:r>
            <a:pPr indent="0" marL="0">
              <a:buNone/>
            </a:pPr>
            <a:endParaRPr lang="en-US" sz="1000" dirty="0"/>
          </a:p>
          <a:p>
            <a:pPr indent="0" marL="0">
              <a:buNone/>
            </a:pPr>
            <a:r>
              <a:rPr lang="en-US" sz="800" dirty="0">
                <a:solidFill>
                  <a:srgbClr val="D4A843"/>
                </a:solidFill>
                <a:latin typeface="Calibri" pitchFamily="34" charset="0"/>
                <a:ea typeface="Calibri" pitchFamily="34" charset="-122"/>
                <a:cs typeface="Calibri" pitchFamily="34" charset="-120"/>
              </a:rPr>
              <a:t>https://flexhealthandwellness.com/blogs/blog/marine-phytoplankton-improves-human-health</a:t>
            </a:r>
            <a:endParaRPr lang="en-US" sz="1000" dirty="0"/>
          </a:p>
          <a:p>
            <a:pPr indent="0" marL="0">
              <a:buNone/>
            </a:pPr>
            <a:r>
              <a:rPr lang="en-US" sz="1000" b="1" dirty="0">
                <a:solidFill>
                  <a:srgbClr val="00B4D8"/>
                </a:solidFill>
                <a:latin typeface="Calibri" pitchFamily="34" charset="0"/>
                <a:ea typeface="Calibri" pitchFamily="34" charset="-122"/>
                <a:cs typeface="Calibri" pitchFamily="34" charset="-120"/>
              </a:rPr>
              <a:t>Sirtuins and Atherosclerosis Reduction</a:t>
            </a:r>
            <a:pPr indent="0" marL="0">
              <a:buNone/>
            </a:pPr>
            <a:r>
              <a:rPr lang="en-US" sz="900" dirty="0">
                <a:solidFill>
                  <a:srgbClr val="666666"/>
                </a:solidFill>
                <a:latin typeface="Calibri" pitchFamily="34" charset="0"/>
                <a:ea typeface="Calibri" pitchFamily="34" charset="-122"/>
                <a:cs typeface="Calibri" pitchFamily="34" charset="-120"/>
              </a:rPr>
              <a:t> — Peer-reviewed research on how sirtuin activation reduces atherosclerosis — the science behind our NAD+ protocols</a:t>
            </a:r>
            <a:pPr indent="0" marL="0">
              <a:buNone/>
            </a:pPr>
            <a:endParaRPr lang="en-US" sz="1000" dirty="0"/>
          </a:p>
          <a:p>
            <a:pPr indent="0" marL="0">
              <a:buNone/>
            </a:pPr>
            <a:r>
              <a:rPr lang="en-US" sz="800" dirty="0">
                <a:solidFill>
                  <a:srgbClr val="D4A843"/>
                </a:solidFill>
                <a:latin typeface="Calibri" pitchFamily="34" charset="0"/>
                <a:ea typeface="Calibri" pitchFamily="34" charset="-122"/>
                <a:cs typeface="Calibri" pitchFamily="34" charset="-120"/>
              </a:rPr>
              <a:t>https://www.ahajournals.org/doi/10.1161/CIRCRESAHA.118.312498</a:t>
            </a:r>
            <a:endParaRPr lang="en-US" sz="1000" dirty="0"/>
          </a:p>
          <a:p>
            <a:pPr indent="0" marL="0">
              <a:buNone/>
            </a:pPr>
            <a:r>
              <a:rPr lang="en-US" sz="1000" b="1" dirty="0">
                <a:solidFill>
                  <a:srgbClr val="00B4D8"/>
                </a:solidFill>
                <a:latin typeface="Calibri" pitchFamily="34" charset="0"/>
                <a:ea typeface="Calibri" pitchFamily="34" charset="-122"/>
                <a:cs typeface="Calibri" pitchFamily="34" charset="-120"/>
              </a:rPr>
              <a:t>Fenbendazole and Cancer: Research Overview</a:t>
            </a:r>
            <a:pPr indent="0" marL="0">
              <a:buNone/>
            </a:pPr>
            <a:r>
              <a:rPr lang="en-US" sz="900" dirty="0">
                <a:solidFill>
                  <a:srgbClr val="666666"/>
                </a:solidFill>
                <a:latin typeface="Calibri" pitchFamily="34" charset="0"/>
                <a:ea typeface="Calibri" pitchFamily="34" charset="-122"/>
                <a:cs typeface="Calibri" pitchFamily="34" charset="-120"/>
              </a:rPr>
              <a:t> — Anti-parasitic compounds showing documented anti-tumor properties in preclinical studies</a:t>
            </a:r>
            <a:pPr indent="0" marL="0">
              <a:buNone/>
            </a:pPr>
            <a:endParaRPr lang="en-US" sz="1000" dirty="0"/>
          </a:p>
          <a:p>
            <a:pPr indent="0" marL="0">
              <a:buNone/>
            </a:pPr>
            <a:r>
              <a:rPr lang="en-US" sz="800" dirty="0">
                <a:solidFill>
                  <a:srgbClr val="D4A843"/>
                </a:solidFill>
                <a:latin typeface="Calibri" pitchFamily="34" charset="0"/>
                <a:ea typeface="Calibri" pitchFamily="34" charset="-122"/>
                <a:cs typeface="Calibri" pitchFamily="34" charset="-120"/>
              </a:rPr>
              <a:t>https://www.ncbi.nlm.nih.gov/pmc/articles/PMC7523519/</a:t>
            </a:r>
            <a:endParaRPr lang="en-US" sz="1000" dirty="0"/>
          </a:p>
          <a:p>
            <a:pPr indent="0" marL="0">
              <a:buNone/>
            </a:pPr>
            <a:r>
              <a:rPr lang="en-US" sz="1000" b="1" dirty="0">
                <a:solidFill>
                  <a:srgbClr val="00B4D8"/>
                </a:solidFill>
                <a:latin typeface="Calibri" pitchFamily="34" charset="0"/>
                <a:ea typeface="Calibri" pitchFamily="34" charset="-122"/>
                <a:cs typeface="Calibri" pitchFamily="34" charset="-120"/>
              </a:rPr>
              <a:t>High-Dose Vitamin C in Cancer Treatment</a:t>
            </a:r>
            <a:pPr indent="0" marL="0">
              <a:buNone/>
            </a:pPr>
            <a:r>
              <a:rPr lang="en-US" sz="900" dirty="0">
                <a:solidFill>
                  <a:srgbClr val="666666"/>
                </a:solidFill>
                <a:latin typeface="Calibri" pitchFamily="34" charset="0"/>
                <a:ea typeface="Calibri" pitchFamily="34" charset="-122"/>
                <a:cs typeface="Calibri" pitchFamily="34" charset="-120"/>
              </a:rPr>
              <a:t> — Peer-reviewed evidence for IV vitamin C as adjunctive cancer therapy</a:t>
            </a:r>
            <a:pPr indent="0" marL="0">
              <a:buNone/>
            </a:pPr>
            <a:endParaRPr lang="en-US" sz="1000" dirty="0"/>
          </a:p>
          <a:p>
            <a:pPr indent="0" marL="0">
              <a:buNone/>
            </a:pPr>
            <a:r>
              <a:rPr lang="en-US" sz="800" dirty="0">
                <a:solidFill>
                  <a:srgbClr val="D4A843"/>
                </a:solidFill>
                <a:latin typeface="Calibri" pitchFamily="34" charset="0"/>
                <a:ea typeface="Calibri" pitchFamily="34" charset="-122"/>
                <a:cs typeface="Calibri" pitchFamily="34" charset="-120"/>
              </a:rPr>
              <a:t>https://www.ncbi.nlm.nih.gov/pmc/articles/PMC5927785/</a:t>
            </a:r>
            <a:endParaRPr lang="en-US" sz="1000" dirty="0"/>
          </a:p>
          <a:p>
            <a:pPr indent="0" marL="0">
              <a:buNone/>
            </a:pPr>
            <a:r>
              <a:rPr lang="en-US" sz="1000" b="1" dirty="0">
                <a:solidFill>
                  <a:srgbClr val="00B4D8"/>
                </a:solidFill>
                <a:latin typeface="Calibri" pitchFamily="34" charset="0"/>
                <a:ea typeface="Calibri" pitchFamily="34" charset="-122"/>
                <a:cs typeface="Calibri" pitchFamily="34" charset="-120"/>
              </a:rPr>
              <a:t>Mercury Toxicity from Dental Amalgam</a:t>
            </a:r>
            <a:pPr indent="0" marL="0">
              <a:buNone/>
            </a:pPr>
            <a:r>
              <a:rPr lang="en-US" sz="900" dirty="0">
                <a:solidFill>
                  <a:srgbClr val="666666"/>
                </a:solidFill>
                <a:latin typeface="Calibri" pitchFamily="34" charset="0"/>
                <a:ea typeface="Calibri" pitchFamily="34" charset="-122"/>
                <a:cs typeface="Calibri" pitchFamily="34" charset="-120"/>
              </a:rPr>
              <a:t> — Scientific evidence linking mercury amalgam fillings to systemic toxicity and chronic health conditions</a:t>
            </a:r>
            <a:pPr indent="0" marL="0">
              <a:buNone/>
            </a:pPr>
            <a:endParaRPr lang="en-US" sz="1000" dirty="0"/>
          </a:p>
          <a:p>
            <a:pPr indent="0" marL="0">
              <a:buNone/>
            </a:pPr>
            <a:r>
              <a:rPr lang="en-US" sz="800" dirty="0">
                <a:solidFill>
                  <a:srgbClr val="D4A843"/>
                </a:solidFill>
                <a:latin typeface="Calibri" pitchFamily="34" charset="0"/>
                <a:ea typeface="Calibri" pitchFamily="34" charset="-122"/>
                <a:cs typeface="Calibri" pitchFamily="34" charset="-120"/>
              </a:rPr>
              <a:t>https://www.ncbi.nlm.nih.gov/pmc/articles/PMC3388771/</a:t>
            </a:r>
            <a:endParaRPr lang="en-US" sz="1000" dirty="0"/>
          </a:p>
          <a:p>
            <a:pPr indent="0" marL="0">
              <a:buNone/>
            </a:pPr>
            <a:r>
              <a:rPr lang="en-US" sz="1000" b="1" dirty="0">
                <a:solidFill>
                  <a:srgbClr val="00B4D8"/>
                </a:solidFill>
                <a:latin typeface="Calibri" pitchFamily="34" charset="0"/>
                <a:ea typeface="Calibri" pitchFamily="34" charset="-122"/>
                <a:cs typeface="Calibri" pitchFamily="34" charset="-120"/>
              </a:rPr>
              <a:t>Endocannabinoid System and Immune Regulation</a:t>
            </a:r>
            <a:pPr indent="0" marL="0">
              <a:buNone/>
            </a:pPr>
            <a:r>
              <a:rPr lang="en-US" sz="900" dirty="0">
                <a:solidFill>
                  <a:srgbClr val="666666"/>
                </a:solidFill>
                <a:latin typeface="Calibri" pitchFamily="34" charset="0"/>
                <a:ea typeface="Calibri" pitchFamily="34" charset="-122"/>
                <a:cs typeface="Calibri" pitchFamily="34" charset="-120"/>
              </a:rPr>
              <a:t> — How the ECS modulates immune response — the science behind our CBD/CBG protocols</a:t>
            </a:r>
            <a:pPr indent="0" marL="0">
              <a:buNone/>
            </a:pPr>
            <a:endParaRPr lang="en-US" sz="1000" dirty="0"/>
          </a:p>
          <a:p>
            <a:pPr indent="0" marL="0">
              <a:buNone/>
            </a:pPr>
            <a:r>
              <a:rPr lang="en-US" sz="800" dirty="0">
                <a:solidFill>
                  <a:srgbClr val="D4A843"/>
                </a:solidFill>
                <a:latin typeface="Calibri" pitchFamily="34" charset="0"/>
                <a:ea typeface="Calibri" pitchFamily="34" charset="-122"/>
                <a:cs typeface="Calibri" pitchFamily="34" charset="-120"/>
              </a:rPr>
              <a:t>https://www.ncbi.nlm.nih.gov/pmc/articles/PMC7023045/</a:t>
            </a:r>
            <a:endParaRPr lang="en-US" sz="1000" dirty="0"/>
          </a:p>
          <a:p>
            <a:pPr indent="0" marL="0">
              <a:buNone/>
            </a:pPr>
            <a:r>
              <a:rPr lang="en-US" sz="1000" b="1" dirty="0">
                <a:solidFill>
                  <a:srgbClr val="00B4D8"/>
                </a:solidFill>
                <a:latin typeface="Calibri" pitchFamily="34" charset="0"/>
                <a:ea typeface="Calibri" pitchFamily="34" charset="-122"/>
                <a:cs typeface="Calibri" pitchFamily="34" charset="-120"/>
              </a:rPr>
              <a:t>Iodine Deficiency and Thyroid/Cancer Connection</a:t>
            </a:r>
            <a:pPr indent="0" marL="0">
              <a:buNone/>
            </a:pPr>
            <a:r>
              <a:rPr lang="en-US" sz="900" dirty="0">
                <a:solidFill>
                  <a:srgbClr val="666666"/>
                </a:solidFill>
                <a:latin typeface="Calibri" pitchFamily="34" charset="0"/>
                <a:ea typeface="Calibri" pitchFamily="34" charset="-122"/>
                <a:cs typeface="Calibri" pitchFamily="34" charset="-120"/>
              </a:rPr>
              <a:t> — Relationship between iodine deficiency, thyroid dysfunction, and cancer risk</a:t>
            </a:r>
            <a:pPr indent="0" marL="0">
              <a:buNone/>
            </a:pPr>
            <a:endParaRPr lang="en-US" sz="1000" dirty="0"/>
          </a:p>
          <a:p>
            <a:pPr indent="0" marL="0">
              <a:buNone/>
            </a:pPr>
            <a:r>
              <a:rPr lang="en-US" sz="800" dirty="0">
                <a:solidFill>
                  <a:srgbClr val="D4A843"/>
                </a:solidFill>
                <a:latin typeface="Calibri" pitchFamily="34" charset="0"/>
                <a:ea typeface="Calibri" pitchFamily="34" charset="-122"/>
                <a:cs typeface="Calibri" pitchFamily="34" charset="-120"/>
              </a:rPr>
              <a:t>https://www.ncbi.nlm.nih.gov/pmc/articles/PMC3752513/</a:t>
            </a:r>
            <a:endParaRPr lang="en-US" sz="1000" dirty="0"/>
          </a:p>
          <a:p>
            <a:pPr indent="0" marL="0">
              <a:buNone/>
            </a:pPr>
            <a:r>
              <a:rPr lang="en-US" sz="1000" b="1" dirty="0">
                <a:solidFill>
                  <a:srgbClr val="00B4D8"/>
                </a:solidFill>
                <a:latin typeface="Calibri" pitchFamily="34" charset="0"/>
                <a:ea typeface="Calibri" pitchFamily="34" charset="-122"/>
                <a:cs typeface="Calibri" pitchFamily="34" charset="-120"/>
              </a:rPr>
              <a:t>Gut Microbiome and Systemic Health</a:t>
            </a:r>
            <a:pPr indent="0" marL="0">
              <a:buNone/>
            </a:pPr>
            <a:r>
              <a:rPr lang="en-US" sz="900" dirty="0">
                <a:solidFill>
                  <a:srgbClr val="666666"/>
                </a:solidFill>
                <a:latin typeface="Calibri" pitchFamily="34" charset="0"/>
                <a:ea typeface="Calibri" pitchFamily="34" charset="-122"/>
                <a:cs typeface="Calibri" pitchFamily="34" charset="-120"/>
              </a:rPr>
              <a:t> — How gut dysbiosis drives systemic inflammation and chronic disease</a:t>
            </a:r>
            <a:pPr indent="0" marL="0">
              <a:buNone/>
            </a:pPr>
            <a:endParaRPr lang="en-US" sz="1000" dirty="0"/>
          </a:p>
          <a:p>
            <a:pPr indent="0" marL="0">
              <a:buNone/>
            </a:pPr>
            <a:r>
              <a:rPr lang="en-US" sz="800" dirty="0">
                <a:solidFill>
                  <a:srgbClr val="D4A843"/>
                </a:solidFill>
                <a:latin typeface="Calibri" pitchFamily="34" charset="0"/>
                <a:ea typeface="Calibri" pitchFamily="34" charset="-122"/>
                <a:cs typeface="Calibri" pitchFamily="34" charset="-120"/>
              </a:rPr>
              <a:t>https://www.ncbi.nlm.nih.gov/pmc/articles/PMC7510518/</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4F7"/>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Additional Research and Google Drive Links</a:t>
            </a:r>
            <a:endParaRPr lang="en-US" sz="2200" dirty="0"/>
          </a:p>
        </p:txBody>
      </p:sp>
      <p:sp>
        <p:nvSpPr>
          <p:cNvPr id="3" name="Shape 1"/>
          <p:cNvSpPr/>
          <p:nvPr/>
        </p:nvSpPr>
        <p:spPr>
          <a:xfrm>
            <a:off x="457200" y="914400"/>
            <a:ext cx="8229600" cy="27432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4" name="Text 2"/>
          <p:cNvSpPr/>
          <p:nvPr/>
        </p:nvSpPr>
        <p:spPr>
          <a:xfrm>
            <a:off x="640080" y="960120"/>
            <a:ext cx="7863840" cy="274320"/>
          </a:xfrm>
          <a:prstGeom prst="rect">
            <a:avLst/>
          </a:prstGeom>
          <a:noFill/>
          <a:ln/>
        </p:spPr>
        <p:txBody>
          <a:bodyPr wrap="square" rtlCol="0" anchor="ctr"/>
          <a:lstStyle/>
          <a:p>
            <a:pPr indent="0" marL="0">
              <a:buNone/>
            </a:pPr>
            <a:r>
              <a:rPr lang="en-US" sz="1100" dirty="0">
                <a:solidFill>
                  <a:srgbClr val="666666"/>
                </a:solidFill>
                <a:latin typeface="Calibri" pitchFamily="34" charset="0"/>
                <a:ea typeface="Calibri" pitchFamily="34" charset="-122"/>
                <a:cs typeface="Calibri" pitchFamily="34" charset="-120"/>
              </a:rPr>
              <a:t>Links to Daily Schedule, Library and Research, Detox Baths, and 5 Day fasting instructions</a:t>
            </a:r>
            <a:endParaRPr lang="en-US" sz="1100" dirty="0"/>
          </a:p>
        </p:txBody>
      </p:sp>
      <p:sp>
        <p:nvSpPr>
          <p:cNvPr id="5" name="Text 3"/>
          <p:cNvSpPr/>
          <p:nvPr/>
        </p:nvSpPr>
        <p:spPr>
          <a:xfrm>
            <a:off x="640080" y="1280160"/>
            <a:ext cx="7863840" cy="2286000"/>
          </a:xfrm>
          <a:prstGeom prst="rect">
            <a:avLst/>
          </a:prstGeom>
          <a:noFill/>
          <a:ln/>
        </p:spPr>
        <p:txBody>
          <a:bodyPr wrap="square" rtlCol="0" anchor="t"/>
          <a:lstStyle/>
          <a:p>
            <a:pPr indent="0" marL="0">
              <a:buNone/>
            </a:pPr>
            <a:r>
              <a:rPr lang="en-US" sz="1000" b="1" dirty="0">
                <a:solidFill>
                  <a:srgbClr val="1B2A4A"/>
                </a:solidFill>
                <a:latin typeface="Calibri" pitchFamily="34" charset="0"/>
                <a:ea typeface="Calibri" pitchFamily="34" charset="-122"/>
                <a:cs typeface="Calibri" pitchFamily="34" charset="-120"/>
              </a:rPr>
              <a:t>FF Research Document Library</a:t>
            </a:r>
            <a:pPr indent="0" marL="0">
              <a:buNone/>
            </a:pPr>
            <a:r>
              <a:rPr lang="en-US" sz="900" dirty="0">
                <a:solidFill>
                  <a:srgbClr val="666666"/>
                </a:solidFill>
                <a:latin typeface="Calibri" pitchFamily="34" charset="0"/>
                <a:ea typeface="Calibri" pitchFamily="34" charset="-122"/>
                <a:cs typeface="Calibri" pitchFamily="34" charset="-120"/>
              </a:rPr>
              <a:t> — Complete research library — peer-reviewed papers, clinical protocols, and educational materials</a:t>
            </a:r>
            <a:pPr indent="0" marL="0">
              <a:buNone/>
            </a:pPr>
            <a:endParaRPr lang="en-US" sz="1000" dirty="0"/>
          </a:p>
          <a:p>
            <a:pPr indent="0" marL="0">
              <a:buNone/>
            </a:pPr>
            <a:r>
              <a:rPr lang="en-US" sz="800" dirty="0">
                <a:solidFill>
                  <a:srgbClr val="00B4D8"/>
                </a:solidFill>
                <a:latin typeface="Calibri" pitchFamily="34" charset="0"/>
                <a:ea typeface="Calibri" pitchFamily="34" charset="-122"/>
                <a:cs typeface="Calibri" pitchFamily="34" charset="-120"/>
              </a:rPr>
              <a:t>https://drive.google.com/drive/folders/1HfK-h2NemdU2ew9L9ZwJCXUMLTI8Q-Rn?usp=drive_link</a:t>
            </a:r>
            <a:endParaRPr lang="en-US" sz="1000" dirty="0"/>
          </a:p>
          <a:p>
            <a:pPr indent="0" marL="0">
              <a:buNone/>
            </a:pPr>
            <a:r>
              <a:rPr lang="en-US" sz="1000" b="1" dirty="0">
                <a:solidFill>
                  <a:srgbClr val="1B2A4A"/>
                </a:solidFill>
                <a:latin typeface="Calibri" pitchFamily="34" charset="0"/>
                <a:ea typeface="Calibri" pitchFamily="34" charset="-122"/>
                <a:cs typeface="Calibri" pitchFamily="34" charset="-120"/>
              </a:rPr>
              <a:t>FF Main Library</a:t>
            </a:r>
            <a:pPr indent="0" marL="0">
              <a:buNone/>
            </a:pPr>
            <a:r>
              <a:rPr lang="en-US" sz="900" dirty="0">
                <a:solidFill>
                  <a:srgbClr val="666666"/>
                </a:solidFill>
                <a:latin typeface="Calibri" pitchFamily="34" charset="0"/>
                <a:ea typeface="Calibri" pitchFamily="34" charset="-122"/>
                <a:cs typeface="Calibri" pitchFamily="34" charset="-120"/>
              </a:rPr>
              <a:t> — Daily Schedule templates, Detox Bath protocols, Liver Cleanse guide, and educational resources</a:t>
            </a:r>
            <a:pPr indent="0" marL="0">
              <a:buNone/>
            </a:pPr>
            <a:endParaRPr lang="en-US" sz="1000" dirty="0"/>
          </a:p>
          <a:p>
            <a:pPr indent="0" marL="0">
              <a:buNone/>
            </a:pPr>
            <a:r>
              <a:rPr lang="en-US" sz="800" dirty="0">
                <a:solidFill>
                  <a:srgbClr val="00B4D8"/>
                </a:solidFill>
                <a:latin typeface="Calibri" pitchFamily="34" charset="0"/>
                <a:ea typeface="Calibri" pitchFamily="34" charset="-122"/>
                <a:cs typeface="Calibri" pitchFamily="34" charset="-120"/>
              </a:rPr>
              <a:t>https://drive.google.com/drive/folders/1s6EdFtZ7dZY7utr8J843CFxyAjuuwHPX?usp=drive_link</a:t>
            </a:r>
            <a:endParaRPr lang="en-US" sz="1000" dirty="0"/>
          </a:p>
          <a:p>
            <a:pPr indent="0" marL="0">
              <a:buNone/>
            </a:pPr>
            <a:r>
              <a:rPr lang="en-US" sz="1000" b="1" dirty="0">
                <a:solidFill>
                  <a:srgbClr val="1B2A4A"/>
                </a:solidFill>
                <a:latin typeface="Calibri" pitchFamily="34" charset="0"/>
                <a:ea typeface="Calibri" pitchFamily="34" charset="-122"/>
                <a:cs typeface="Calibri" pitchFamily="34" charset="-120"/>
              </a:rPr>
              <a:t>5 Day Fast Protocol</a:t>
            </a:r>
            <a:pPr indent="0" marL="0">
              <a:buNone/>
            </a:pPr>
            <a:r>
              <a:rPr lang="en-US" sz="900" dirty="0">
                <a:solidFill>
                  <a:srgbClr val="666666"/>
                </a:solidFill>
                <a:latin typeface="Calibri" pitchFamily="34" charset="0"/>
                <a:ea typeface="Calibri" pitchFamily="34" charset="-122"/>
                <a:cs typeface="Calibri" pitchFamily="34" charset="-120"/>
              </a:rPr>
              <a:t> — Guided 5-day fasting protocol for deep cellular repair, autophagy, and immune reset</a:t>
            </a:r>
            <a:pPr indent="0" marL="0">
              <a:buNone/>
            </a:pPr>
            <a:endParaRPr lang="en-US" sz="1000" dirty="0"/>
          </a:p>
          <a:p>
            <a:pPr indent="0" marL="0">
              <a:buNone/>
            </a:pPr>
            <a:r>
              <a:rPr lang="en-US" sz="800" dirty="0">
                <a:solidFill>
                  <a:srgbClr val="00B4D8"/>
                </a:solidFill>
                <a:latin typeface="Calibri" pitchFamily="34" charset="0"/>
                <a:ea typeface="Calibri" pitchFamily="34" charset="-122"/>
                <a:cs typeface="Calibri" pitchFamily="34" charset="-120"/>
              </a:rPr>
              <a:t>https://docs.google.com/document/d/1NqvmXbq4fh3j6AqAVKnCtnaD8vuTjXv3feV43KJdJGg/edit?usp=sharing</a:t>
            </a:r>
            <a:endParaRPr lang="en-US" sz="1000" dirty="0"/>
          </a:p>
          <a:p>
            <a:pPr indent="0" marL="0">
              <a:buNone/>
            </a:pPr>
            <a:r>
              <a:rPr lang="en-US" sz="1000" b="1" dirty="0">
                <a:solidFill>
                  <a:srgbClr val="1B2A4A"/>
                </a:solidFill>
                <a:latin typeface="Calibri" pitchFamily="34" charset="0"/>
                <a:ea typeface="Calibri" pitchFamily="34" charset="-122"/>
                <a:cs typeface="Calibri" pitchFamily="34" charset="-120"/>
              </a:rPr>
              <a:t>Daily Schedule &amp; Routine Guide</a:t>
            </a:r>
            <a:pPr indent="0" marL="0">
              <a:buNone/>
            </a:pPr>
            <a:r>
              <a:rPr lang="en-US" sz="900" dirty="0">
                <a:solidFill>
                  <a:srgbClr val="666666"/>
                </a:solidFill>
                <a:latin typeface="Calibri" pitchFamily="34" charset="0"/>
                <a:ea typeface="Calibri" pitchFamily="34" charset="-122"/>
                <a:cs typeface="Calibri" pitchFamily="34" charset="-120"/>
              </a:rPr>
              <a:t> — Master daily routine template — Gallbladder/Liver Cleanse instructions and Detox Bath protocol included</a:t>
            </a:r>
            <a:pPr indent="0" marL="0">
              <a:buNone/>
            </a:pPr>
            <a:endParaRPr lang="en-US" sz="1000" dirty="0"/>
          </a:p>
          <a:p>
            <a:pPr indent="0" marL="0">
              <a:buNone/>
            </a:pPr>
            <a:r>
              <a:rPr lang="en-US" sz="800" dirty="0">
                <a:solidFill>
                  <a:srgbClr val="00B4D8"/>
                </a:solidFill>
                <a:latin typeface="Calibri" pitchFamily="34" charset="0"/>
                <a:ea typeface="Calibri" pitchFamily="34" charset="-122"/>
                <a:cs typeface="Calibri" pitchFamily="34" charset="-120"/>
              </a:rPr>
              <a:t>https://docs.google.com/document/d/1K_36WNxm-dAwDHKqz8juGMHJHzRRzBp2OSwiMA1Wx-Q/edit?usp=sharing</a:t>
            </a:r>
            <a:endParaRPr lang="en-US" sz="1000" dirty="0"/>
          </a:p>
          <a:p>
            <a:pPr indent="0" marL="0">
              <a:buNone/>
            </a:pPr>
            <a:r>
              <a:rPr lang="en-US" sz="1000" b="1" dirty="0">
                <a:solidFill>
                  <a:srgbClr val="1B2A4A"/>
                </a:solidFill>
                <a:latin typeface="Calibri" pitchFamily="34" charset="0"/>
                <a:ea typeface="Calibri" pitchFamily="34" charset="-122"/>
                <a:cs typeface="Calibri" pitchFamily="34" charset="-120"/>
              </a:rPr>
              <a:t>FF Detox Bath Protocol</a:t>
            </a:r>
            <a:pPr indent="0" marL="0">
              <a:buNone/>
            </a:pPr>
            <a:r>
              <a:rPr lang="en-US" sz="900" dirty="0">
                <a:solidFill>
                  <a:srgbClr val="666666"/>
                </a:solidFill>
                <a:latin typeface="Calibri" pitchFamily="34" charset="0"/>
                <a:ea typeface="Calibri" pitchFamily="34" charset="-122"/>
                <a:cs typeface="Calibri" pitchFamily="34" charset="-120"/>
              </a:rPr>
              <a:t> — Baking soda, bentonite clay, epsom salt, lavender — complete detox bath instructions</a:t>
            </a:r>
            <a:pPr indent="0" marL="0">
              <a:buNone/>
            </a:pPr>
            <a:endParaRPr lang="en-US" sz="1000" dirty="0"/>
          </a:p>
          <a:p>
            <a:pPr indent="0" marL="0">
              <a:buNone/>
            </a:pPr>
            <a:r>
              <a:rPr lang="en-US" sz="800" dirty="0">
                <a:solidFill>
                  <a:srgbClr val="00B4D8"/>
                </a:solidFill>
                <a:latin typeface="Calibri" pitchFamily="34" charset="0"/>
                <a:ea typeface="Calibri" pitchFamily="34" charset="-122"/>
                <a:cs typeface="Calibri" pitchFamily="34" charset="-120"/>
              </a:rPr>
              <a:t>https://docs.google.com/document/d/1K_36WNxm-dAwDHKqz8juGMHJHzRRzBp2OSwiMA1Wx-Q/edit?usp=sharing</a:t>
            </a:r>
            <a:endParaRPr lang="en-US" sz="1000" dirty="0"/>
          </a:p>
          <a:p>
            <a:pPr indent="0" marL="0">
              <a:buNone/>
            </a:pPr>
            <a:r>
              <a:rPr lang="en-US" sz="1000" b="1" dirty="0">
                <a:solidFill>
                  <a:srgbClr val="1B2A4A"/>
                </a:solidFill>
                <a:latin typeface="Calibri" pitchFamily="34" charset="0"/>
                <a:ea typeface="Calibri" pitchFamily="34" charset="-122"/>
                <a:cs typeface="Calibri" pitchFamily="34" charset="-120"/>
              </a:rPr>
              <a:t>Liver &amp; Gallbladder Cleanse Guide</a:t>
            </a:r>
            <a:pPr indent="0" marL="0">
              <a:buNone/>
            </a:pPr>
            <a:r>
              <a:rPr lang="en-US" sz="900" dirty="0">
                <a:solidFill>
                  <a:srgbClr val="666666"/>
                </a:solidFill>
                <a:latin typeface="Calibri" pitchFamily="34" charset="0"/>
                <a:ea typeface="Calibri" pitchFamily="34" charset="-122"/>
                <a:cs typeface="Calibri" pitchFamily="34" charset="-120"/>
              </a:rPr>
              <a:t> — Step-by-step liver flush protocol with olive oil and grapefruit</a:t>
            </a:r>
            <a:pPr indent="0" marL="0">
              <a:buNone/>
            </a:pPr>
            <a:endParaRPr lang="en-US" sz="1000" dirty="0"/>
          </a:p>
          <a:p>
            <a:pPr indent="0" marL="0">
              <a:buNone/>
            </a:pPr>
            <a:r>
              <a:rPr lang="en-US" sz="800" dirty="0">
                <a:solidFill>
                  <a:srgbClr val="00B4D8"/>
                </a:solidFill>
                <a:latin typeface="Calibri" pitchFamily="34" charset="0"/>
                <a:ea typeface="Calibri" pitchFamily="34" charset="-122"/>
                <a:cs typeface="Calibri" pitchFamily="34" charset="-120"/>
              </a:rPr>
              <a:t>https://docs.google.com/document/d/1K_36WNxm-dAwDHKqz8juGMHJHzRRzBp2OSwiMA1Wx-Q/edit?usp=sharing</a:t>
            </a:r>
            <a:endParaRPr lang="en-US" sz="1000" dirty="0"/>
          </a:p>
        </p:txBody>
      </p:sp>
      <p:sp>
        <p:nvSpPr>
          <p:cNvPr id="6" name="Shape 4"/>
          <p:cNvSpPr/>
          <p:nvPr/>
        </p:nvSpPr>
        <p:spPr>
          <a:xfrm>
            <a:off x="457200" y="3840480"/>
            <a:ext cx="8229600" cy="10058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Text 5"/>
          <p:cNvSpPr/>
          <p:nvPr/>
        </p:nvSpPr>
        <p:spPr>
          <a:xfrm>
            <a:off x="640080" y="3886200"/>
            <a:ext cx="7863840" cy="914400"/>
          </a:xfrm>
          <a:prstGeom prst="rect">
            <a:avLst/>
          </a:prstGeom>
          <a:noFill/>
          <a:ln/>
        </p:spPr>
        <p:txBody>
          <a:bodyPr wrap="square" rtlCol="0" anchor="t"/>
          <a:lstStyle/>
          <a:p>
            <a:pPr indent="0" marL="0">
              <a:buNone/>
            </a:pPr>
            <a:r>
              <a:rPr lang="en-US" sz="1000" b="1" dirty="0">
                <a:solidFill>
                  <a:srgbClr val="1B2A4A"/>
                </a:solidFill>
                <a:latin typeface="Calibri" pitchFamily="34" charset="0"/>
                <a:ea typeface="Calibri" pitchFamily="34" charset="-122"/>
                <a:cs typeface="Calibri" pitchFamily="34" charset="-120"/>
              </a:rPr>
              <a:t>Jason Stephenson — Sleep Talk Downs</a:t>
            </a:r>
            <a:pPr indent="0" marL="0">
              <a:buNone/>
            </a:pPr>
            <a:r>
              <a:rPr lang="en-US" sz="900" dirty="0">
                <a:solidFill>
                  <a:srgbClr val="666666"/>
                </a:solidFill>
                <a:latin typeface="Calibri" pitchFamily="34" charset="0"/>
                <a:ea typeface="Calibri" pitchFamily="34" charset="-122"/>
                <a:cs typeface="Calibri" pitchFamily="34" charset="-120"/>
              </a:rPr>
              <a:t> — Guided sleep meditations and talk-downs for restful, restorative sleep — essential for healing</a:t>
            </a:r>
            <a:pPr indent="0" marL="0">
              <a:buNone/>
            </a:pPr>
            <a:endParaRPr lang="en-US" sz="1000" dirty="0"/>
          </a:p>
          <a:p>
            <a:pPr indent="0" marL="0">
              <a:buNone/>
            </a:pPr>
            <a:r>
              <a:rPr lang="en-US" sz="800" dirty="0">
                <a:solidFill>
                  <a:srgbClr val="00B4D8"/>
                </a:solidFill>
                <a:latin typeface="Calibri" pitchFamily="34" charset="0"/>
                <a:ea typeface="Calibri" pitchFamily="34" charset="-122"/>
                <a:cs typeface="Calibri" pitchFamily="34" charset="-120"/>
              </a:rPr>
              <a:t>https://www.youtube.com/@jasonstephensonmeditation</a:t>
            </a:r>
            <a:endParaRPr lang="en-US" sz="1000" dirty="0"/>
          </a:p>
          <a:p>
            <a:pPr indent="0" marL="0">
              <a:buNone/>
            </a:pPr>
            <a:r>
              <a:rPr lang="en-US" sz="1000" b="1" dirty="0">
                <a:solidFill>
                  <a:srgbClr val="1B2A4A"/>
                </a:solidFill>
                <a:latin typeface="Calibri" pitchFamily="34" charset="0"/>
                <a:ea typeface="Calibri" pitchFamily="34" charset="-122"/>
                <a:cs typeface="Calibri" pitchFamily="34" charset="-120"/>
              </a:rPr>
              <a:t>PowerThoughts Meditation Club — Healing Frequencies</a:t>
            </a:r>
            <a:pPr indent="0" marL="0">
              <a:buNone/>
            </a:pPr>
            <a:r>
              <a:rPr lang="en-US" sz="900" dirty="0">
                <a:solidFill>
                  <a:srgbClr val="666666"/>
                </a:solidFill>
                <a:latin typeface="Calibri" pitchFamily="34" charset="0"/>
                <a:ea typeface="Calibri" pitchFamily="34" charset="-122"/>
                <a:cs typeface="Calibri" pitchFamily="34" charset="-120"/>
              </a:rPr>
              <a:t> — Frequency healing work, binaural beats, and solfeggio frequencies for cellular regeneration</a:t>
            </a:r>
            <a:pPr indent="0" marL="0">
              <a:buNone/>
            </a:pPr>
            <a:endParaRPr lang="en-US" sz="1000" dirty="0"/>
          </a:p>
          <a:p>
            <a:pPr indent="0" marL="0">
              <a:buNone/>
            </a:pPr>
            <a:r>
              <a:rPr lang="en-US" sz="800" dirty="0">
                <a:solidFill>
                  <a:srgbClr val="00B4D8"/>
                </a:solidFill>
                <a:latin typeface="Calibri" pitchFamily="34" charset="0"/>
                <a:ea typeface="Calibri" pitchFamily="34" charset="-122"/>
                <a:cs typeface="Calibri" pitchFamily="34" charset="-120"/>
              </a:rPr>
              <a:t>https://www.youtube.com/@PowerThoughtsclub</a:t>
            </a:r>
            <a:endParaRPr lang="en-US" sz="1000" dirty="0"/>
          </a:p>
          <a:p>
            <a:pPr indent="0" marL="0">
              <a:buNone/>
            </a:pPr>
            <a:r>
              <a:rPr lang="en-US" sz="1000" b="1" dirty="0">
                <a:solidFill>
                  <a:srgbClr val="1B2A4A"/>
                </a:solidFill>
                <a:latin typeface="Calibri" pitchFamily="34" charset="0"/>
                <a:ea typeface="Calibri" pitchFamily="34" charset="-122"/>
                <a:cs typeface="Calibri" pitchFamily="34" charset="-120"/>
              </a:rPr>
              <a:t>Dr. Rachel Knox — The Endocannabinoid System (TED Talk)</a:t>
            </a:r>
            <a:pPr indent="0" marL="0">
              <a:buNone/>
            </a:pPr>
            <a:r>
              <a:rPr lang="en-US" sz="900" dirty="0">
                <a:solidFill>
                  <a:srgbClr val="666666"/>
                </a:solidFill>
                <a:latin typeface="Calibri" pitchFamily="34" charset="0"/>
                <a:ea typeface="Calibri" pitchFamily="34" charset="-122"/>
                <a:cs typeface="Calibri" pitchFamily="34" charset="-120"/>
              </a:rPr>
              <a:t> — Understanding the ECS — the master regulatory system your body uses for homeostasis</a:t>
            </a:r>
            <a:pPr indent="0" marL="0">
              <a:buNone/>
            </a:pPr>
            <a:endParaRPr lang="en-US" sz="1000" dirty="0"/>
          </a:p>
          <a:p>
            <a:pPr indent="0" marL="0">
              <a:buNone/>
            </a:pPr>
            <a:r>
              <a:rPr lang="en-US" sz="800" dirty="0">
                <a:solidFill>
                  <a:srgbClr val="00B4D8"/>
                </a:solidFill>
                <a:latin typeface="Calibri" pitchFamily="34" charset="0"/>
                <a:ea typeface="Calibri" pitchFamily="34" charset="-122"/>
                <a:cs typeface="Calibri" pitchFamily="34" charset="-120"/>
              </a:rPr>
              <a:t>https://www.youtube.com/watch?v=lWGirZAhDGM</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923"/>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D4A843"/>
                </a:solidFill>
                <a:latin typeface="Georgia" pitchFamily="34" charset="0"/>
                <a:ea typeface="Georgia" pitchFamily="34" charset="-122"/>
                <a:cs typeface="Georgia" pitchFamily="34" charset="-120"/>
              </a:rPr>
              <a:t>My Commitment to You</a:t>
            </a:r>
            <a:endParaRPr lang="en-US" sz="2800" dirty="0"/>
          </a:p>
        </p:txBody>
      </p:sp>
      <p:sp>
        <p:nvSpPr>
          <p:cNvPr id="3" name="Text 1"/>
          <p:cNvSpPr/>
          <p:nvPr/>
        </p:nvSpPr>
        <p:spPr>
          <a:xfrm>
            <a:off x="640080" y="914400"/>
            <a:ext cx="7863840" cy="2926080"/>
          </a:xfrm>
          <a:prstGeom prst="rect">
            <a:avLst/>
          </a:prstGeom>
          <a:noFill/>
          <a:ln/>
        </p:spPr>
        <p:txBody>
          <a:bodyPr wrap="square" rtlCol="0" anchor="t"/>
          <a:lstStyle/>
          <a:p>
            <a:pPr indent="0" marL="0">
              <a:buNone/>
            </a:pPr>
            <a:r>
              <a:rPr lang="en-US" sz="1100" dirty="0">
                <a:solidFill>
                  <a:srgbClr val="FFFFFF"/>
                </a:solidFill>
                <a:latin typeface="Calibri" pitchFamily="34" charset="0"/>
                <a:ea typeface="Calibri" pitchFamily="34" charset="-122"/>
                <a:cs typeface="Calibri" pitchFamily="34" charset="-120"/>
              </a:rPr>
              <a:t>I will do everything in my power and knowledge to focus on the root of all problems. Most doctors focus only on the symptoms, not the underlying cause of the disease or issue. We will not give up on you, but you need to work with us on every step of this protocol.</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Don't lose hope and don't give up! There is no single pill or capsule that will fix this. Only a commitment to follow the steps laid herein — if you choose to do so, the ECS, the gut, and your body will take care of itself. Homeostasis is about balance in the body.</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We have provided the educational tools and research to help guide you through your journey. Please utilize these resources. These are extremely specific formulations that only a handful of folks know how to do — it's my lifelong work.</a:t>
            </a:r>
            <a:endParaRPr lang="en-US" sz="1100" dirty="0"/>
          </a:p>
          <a:p>
            <a:pPr indent="0" marL="0">
              <a:buNone/>
            </a:pPr>
            <a:endParaRPr lang="en-US" sz="1100" dirty="0"/>
          </a:p>
          <a:p>
            <a:pPr indent="0" marL="0">
              <a:buNone/>
            </a:pPr>
            <a:r>
              <a:rPr lang="en-US" sz="1200" i="1" dirty="0">
                <a:solidFill>
                  <a:srgbClr val="00B4D8"/>
                </a:solidFill>
                <a:latin typeface="Calibri" pitchFamily="34" charset="0"/>
                <a:ea typeface="Calibri" pitchFamily="34" charset="-122"/>
                <a:cs typeface="Calibri" pitchFamily="34" charset="-120"/>
              </a:rPr>
              <a:t>Hope is coming and a solution is in route. There is no doubt in my mind about the efficacy of our formulations and our 5 steps to health and wellness.</a:t>
            </a:r>
            <a:endParaRPr lang="en-US" sz="1100" dirty="0"/>
          </a:p>
          <a:p>
            <a:pPr indent="0" marL="0">
              <a:buNone/>
            </a:pP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Thank you for giving us this opportunity. We are looking forward to healing you.</a:t>
            </a:r>
            <a:endParaRPr lang="en-US" sz="1100" dirty="0"/>
          </a:p>
        </p:txBody>
      </p:sp>
      <p:sp>
        <p:nvSpPr>
          <p:cNvPr id="4" name="Text 2"/>
          <p:cNvSpPr/>
          <p:nvPr/>
        </p:nvSpPr>
        <p:spPr>
          <a:xfrm>
            <a:off x="0" y="4023360"/>
            <a:ext cx="9144000" cy="36576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Michael Blake</a:t>
            </a:r>
            <a:endParaRPr lang="en-US" sz="1600" dirty="0"/>
          </a:p>
        </p:txBody>
      </p:sp>
      <p:sp>
        <p:nvSpPr>
          <p:cNvPr id="5" name="Text 3"/>
          <p:cNvSpPr/>
          <p:nvPr/>
        </p:nvSpPr>
        <p:spPr>
          <a:xfrm>
            <a:off x="0" y="4389120"/>
            <a:ext cx="9144000" cy="274320"/>
          </a:xfrm>
          <a:prstGeom prst="rect">
            <a:avLst/>
          </a:prstGeom>
          <a:noFill/>
          <a:ln/>
        </p:spPr>
        <p:txBody>
          <a:bodyPr wrap="square" rtlCol="0" anchor="ctr"/>
          <a:lstStyle/>
          <a:p>
            <a:pPr algn="ctr" indent="0" marL="0">
              <a:buNone/>
            </a:pPr>
            <a:r>
              <a:rPr lang="en-US" sz="1200" dirty="0">
                <a:solidFill>
                  <a:srgbClr val="00B4D8"/>
                </a:solidFill>
                <a:latin typeface="Calibri" pitchFamily="34" charset="0"/>
                <a:ea typeface="Calibri" pitchFamily="34" charset="-122"/>
                <a:cs typeface="Calibri" pitchFamily="34" charset="-120"/>
              </a:rPr>
              <a:t>FF Founder and Medical Trustee</a:t>
            </a:r>
            <a:endParaRPr lang="en-US" sz="1200" dirty="0"/>
          </a:p>
        </p:txBody>
      </p:sp>
      <p:sp>
        <p:nvSpPr>
          <p:cNvPr id="6" name="Text 4"/>
          <p:cNvSpPr/>
          <p:nvPr/>
        </p:nvSpPr>
        <p:spPr>
          <a:xfrm>
            <a:off x="914400" y="4663440"/>
            <a:ext cx="7315200" cy="365760"/>
          </a:xfrm>
          <a:prstGeom prst="rect">
            <a:avLst/>
          </a:prstGeom>
          <a:noFill/>
          <a:ln/>
        </p:spPr>
        <p:txBody>
          <a:bodyPr wrap="square" rtlCol="0" anchor="ctr"/>
          <a:lstStyle/>
          <a:p>
            <a:pPr algn="ctr" indent="0" marL="0">
              <a:buNone/>
            </a:pPr>
            <a:r>
              <a:rPr lang="en-US" sz="900" i="1" dirty="0">
                <a:solidFill>
                  <a:srgbClr val="777777"/>
                </a:solidFill>
                <a:latin typeface="Calibri" pitchFamily="34" charset="0"/>
                <a:ea typeface="Calibri" pitchFamily="34" charset="-122"/>
                <a:cs typeface="Calibri" pitchFamily="34" charset="-120"/>
              </a:rPr>
              <a:t>"Before you heal someone, ask him if he's willing to give up the things that make him sick"</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Kathryn Smith — Member Protocol 2026</dc:title>
  <dc:subject>PptxGenJS Presentation</dc:subject>
  <dc:creator>Forgotten Formula PMA — DR. FORMULA</dc:creator>
  <cp:lastModifiedBy>Forgotten Formula PMA — DR. FORMULA</cp:lastModifiedBy>
  <cp:revision>1</cp:revision>
  <dcterms:created xsi:type="dcterms:W3CDTF">2026-03-16T20:02:17Z</dcterms:created>
  <dcterms:modified xsi:type="dcterms:W3CDTF">2026-03-16T20:02:17Z</dcterms:modified>
</cp:coreProperties>
</file>