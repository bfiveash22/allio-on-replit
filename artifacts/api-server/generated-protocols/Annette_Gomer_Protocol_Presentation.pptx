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forgottenformula.com/shop"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E1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9A54E"/>
          </a:solidFill>
          <a:ln/>
        </p:spPr>
      </p:sp>
      <p:sp>
        <p:nvSpPr>
          <p:cNvPr id="3" name="Shape 1"/>
          <p:cNvSpPr/>
          <p:nvPr/>
        </p:nvSpPr>
        <p:spPr>
          <a:xfrm>
            <a:off x="0" y="5088636"/>
            <a:ext cx="9144000" cy="54864"/>
          </a:xfrm>
          <a:prstGeom prst="rect">
            <a:avLst/>
          </a:prstGeom>
          <a:solidFill>
            <a:srgbClr val="C9A54E"/>
          </a:solidFill>
          <a:ln/>
        </p:spPr>
      </p:sp>
      <p:sp>
        <p:nvSpPr>
          <p:cNvPr id="4" name="Text 2"/>
          <p:cNvSpPr/>
          <p:nvPr/>
        </p:nvSpPr>
        <p:spPr>
          <a:xfrm>
            <a:off x="0" y="914400"/>
            <a:ext cx="9144000" cy="731520"/>
          </a:xfrm>
          <a:prstGeom prst="rect">
            <a:avLst/>
          </a:prstGeom>
          <a:noFill/>
          <a:ln/>
        </p:spPr>
        <p:txBody>
          <a:bodyPr wrap="square" rtlCol="0" anchor="ctr"/>
          <a:lstStyle/>
          <a:p>
            <a:pPr algn="ctr" indent="0" marL="0">
              <a:buNone/>
            </a:pPr>
            <a:r>
              <a:rPr lang="en-US" sz="3600" b="1" dirty="0">
                <a:solidFill>
                  <a:srgbClr val="FFFFFF"/>
                </a:solidFill>
                <a:latin typeface="Playfair Display" pitchFamily="34" charset="0"/>
                <a:ea typeface="Playfair Display" pitchFamily="34" charset="-122"/>
                <a:cs typeface="Playfair Display" pitchFamily="34" charset="-120"/>
              </a:rPr>
              <a:t>FORGOTTEN FORMULA</a:t>
            </a:r>
            <a:endParaRPr lang="en-US" sz="3600" dirty="0"/>
          </a:p>
        </p:txBody>
      </p:sp>
      <p:sp>
        <p:nvSpPr>
          <p:cNvPr id="5" name="Text 3"/>
          <p:cNvSpPr/>
          <p:nvPr/>
        </p:nvSpPr>
        <p:spPr>
          <a:xfrm>
            <a:off x="0" y="1554480"/>
            <a:ext cx="9144000" cy="457200"/>
          </a:xfrm>
          <a:prstGeom prst="rect">
            <a:avLst/>
          </a:prstGeom>
          <a:noFill/>
          <a:ln/>
        </p:spPr>
        <p:txBody>
          <a:bodyPr wrap="square" rtlCol="0" anchor="ctr"/>
          <a:lstStyle/>
          <a:p>
            <a:pPr algn="ctr" indent="0" marL="0">
              <a:buNone/>
            </a:pPr>
            <a:r>
              <a:rPr lang="en-US" sz="1400" dirty="0">
                <a:solidFill>
                  <a:srgbClr val="C9A54E"/>
                </a:solidFill>
                <a:latin typeface="Source Sans 3" pitchFamily="34" charset="0"/>
                <a:ea typeface="Source Sans 3" pitchFamily="34" charset="-122"/>
                <a:cs typeface="Source Sans 3" pitchFamily="34" charset="-120"/>
              </a:rPr>
              <a:t>PRIVATE MEMBER ASSOCIATION</a:t>
            </a:r>
            <a:endParaRPr lang="en-US" sz="1400" dirty="0"/>
          </a:p>
        </p:txBody>
      </p:sp>
      <p:sp>
        <p:nvSpPr>
          <p:cNvPr id="6" name="Shape 4"/>
          <p:cNvSpPr/>
          <p:nvPr/>
        </p:nvSpPr>
        <p:spPr>
          <a:xfrm>
            <a:off x="3200400" y="2194560"/>
            <a:ext cx="2743200" cy="0"/>
          </a:xfrm>
          <a:prstGeom prst="line">
            <a:avLst/>
          </a:prstGeom>
          <a:noFill/>
          <a:ln w="25400">
            <a:solidFill>
              <a:srgbClr val="C9A54E"/>
            </a:solidFill>
            <a:prstDash val="solid"/>
          </a:ln>
        </p:spPr>
      </p:sp>
      <p:sp>
        <p:nvSpPr>
          <p:cNvPr id="7" name="Text 5"/>
          <p:cNvSpPr/>
          <p:nvPr/>
        </p:nvSpPr>
        <p:spPr>
          <a:xfrm>
            <a:off x="0" y="2468880"/>
            <a:ext cx="9144000" cy="640080"/>
          </a:xfrm>
          <a:prstGeom prst="rect">
            <a:avLst/>
          </a:prstGeom>
          <a:noFill/>
          <a:ln/>
        </p:spPr>
        <p:txBody>
          <a:bodyPr wrap="square" rtlCol="0" anchor="ctr"/>
          <a:lstStyle/>
          <a:p>
            <a:pPr algn="ctr" indent="0" marL="0">
              <a:buNone/>
            </a:pPr>
            <a:r>
              <a:rPr lang="en-US" sz="2800" dirty="0">
                <a:solidFill>
                  <a:srgbClr val="C9A54E"/>
                </a:solidFill>
                <a:latin typeface="Playfair Display" pitchFamily="34" charset="0"/>
                <a:ea typeface="Playfair Display" pitchFamily="34" charset="-122"/>
                <a:cs typeface="Playfair Display" pitchFamily="34" charset="-120"/>
              </a:rPr>
              <a:t>Member Protocol  2026</a:t>
            </a:r>
            <a:endParaRPr lang="en-US" sz="2800" dirty="0"/>
          </a:p>
        </p:txBody>
      </p:sp>
      <p:sp>
        <p:nvSpPr>
          <p:cNvPr id="8" name="Text 6"/>
          <p:cNvSpPr/>
          <p:nvPr/>
        </p:nvSpPr>
        <p:spPr>
          <a:xfrm>
            <a:off x="0" y="3108960"/>
            <a:ext cx="9144000" cy="457200"/>
          </a:xfrm>
          <a:prstGeom prst="rect">
            <a:avLst/>
          </a:prstGeom>
          <a:noFill/>
          <a:ln/>
        </p:spPr>
        <p:txBody>
          <a:bodyPr wrap="square" rtlCol="0" anchor="ctr"/>
          <a:lstStyle/>
          <a:p>
            <a:pPr algn="ctr" indent="0" marL="0">
              <a:buNone/>
            </a:pPr>
            <a:r>
              <a:rPr lang="en-US" sz="2000" dirty="0">
                <a:solidFill>
                  <a:srgbClr val="C8CFE0"/>
                </a:solidFill>
                <a:latin typeface="Source Sans 3" pitchFamily="34" charset="0"/>
                <a:ea typeface="Source Sans 3" pitchFamily="34" charset="-122"/>
                <a:cs typeface="Source Sans 3" pitchFamily="34" charset="-120"/>
              </a:rPr>
              <a:t>Annette Gomer</a:t>
            </a:r>
            <a:endParaRPr lang="en-US" sz="2000" dirty="0"/>
          </a:p>
        </p:txBody>
      </p:sp>
      <p:sp>
        <p:nvSpPr>
          <p:cNvPr id="9" name="Text 7"/>
          <p:cNvSpPr/>
          <p:nvPr/>
        </p:nvSpPr>
        <p:spPr>
          <a:xfrm>
            <a:off x="0" y="3566160"/>
            <a:ext cx="9144000" cy="365760"/>
          </a:xfrm>
          <a:prstGeom prst="rect">
            <a:avLst/>
          </a:prstGeom>
          <a:noFill/>
          <a:ln/>
        </p:spPr>
        <p:txBody>
          <a:bodyPr wrap="square" rtlCol="0" anchor="ctr"/>
          <a:lstStyle/>
          <a:p>
            <a:pPr algn="ctr" indent="0" marL="0">
              <a:buNone/>
            </a:pPr>
            <a:r>
              <a:rPr lang="en-US" sz="1100" dirty="0">
                <a:solidFill>
                  <a:srgbClr val="8A95B0"/>
                </a:solidFill>
                <a:latin typeface="Source Sans 3" pitchFamily="34" charset="0"/>
                <a:ea typeface="Source Sans 3" pitchFamily="34" charset="-122"/>
                <a:cs typeface="Source Sans 3" pitchFamily="34" charset="-120"/>
              </a:rPr>
              <a:t>Prepared by: FF Trustee Michael Blake</a:t>
            </a:r>
            <a:endParaRPr lang="en-US" sz="1100" dirty="0"/>
          </a:p>
        </p:txBody>
      </p:sp>
      <p:sp>
        <p:nvSpPr>
          <p:cNvPr id="10" name="Shape 8"/>
          <p:cNvSpPr/>
          <p:nvPr/>
        </p:nvSpPr>
        <p:spPr>
          <a:xfrm>
            <a:off x="2926080" y="3931920"/>
            <a:ext cx="3291840" cy="320040"/>
          </a:xfrm>
          <a:prstGeom prst="rect">
            <a:avLst/>
          </a:prstGeom>
          <a:solidFill>
            <a:srgbClr val="1A0A0A"/>
          </a:solidFill>
          <a:ln/>
        </p:spPr>
      </p:sp>
      <p:sp>
        <p:nvSpPr>
          <p:cNvPr id="11" name="Text 9"/>
          <p:cNvSpPr/>
          <p:nvPr/>
        </p:nvSpPr>
        <p:spPr>
          <a:xfrm>
            <a:off x="2926080" y="3931920"/>
            <a:ext cx="3291840" cy="320040"/>
          </a:xfrm>
          <a:prstGeom prst="rect">
            <a:avLst/>
          </a:prstGeom>
          <a:noFill/>
          <a:ln/>
        </p:spPr>
        <p:txBody>
          <a:bodyPr wrap="square" rtlCol="0" anchor="ctr"/>
          <a:lstStyle/>
          <a:p>
            <a:pPr algn="ctr" indent="0" marL="0">
              <a:buNone/>
            </a:pPr>
            <a:r>
              <a:rPr lang="en-US" sz="1000" dirty="0">
                <a:solidFill>
                  <a:srgbClr val="FF4444"/>
                </a:solidFill>
                <a:latin typeface="Source Sans 3" pitchFamily="34" charset="0"/>
                <a:ea typeface="Source Sans 3" pitchFamily="34" charset="-122"/>
                <a:cs typeface="Source Sans 3" pitchFamily="34" charset="-120"/>
              </a:rPr>
              <a:t>CANCER-SPECIFIC PROTOCOL</a:t>
            </a:r>
            <a:endParaRPr lang="en-US" sz="1000" dirty="0"/>
          </a:p>
        </p:txBody>
      </p:sp>
      <p:sp>
        <p:nvSpPr>
          <p:cNvPr id="12" name="Text 10"/>
          <p:cNvSpPr/>
          <p:nvPr/>
        </p:nvSpPr>
        <p:spPr>
          <a:xfrm>
            <a:off x="1371600" y="4389120"/>
            <a:ext cx="6400800" cy="548640"/>
          </a:xfrm>
          <a:prstGeom prst="rect">
            <a:avLst/>
          </a:prstGeom>
          <a:noFill/>
          <a:ln/>
        </p:spPr>
        <p:txBody>
          <a:bodyPr wrap="square" rtlCol="0" anchor="ctr"/>
          <a:lstStyle/>
          <a:p>
            <a:pPr algn="ctr" indent="0" marL="0">
              <a:buNone/>
            </a:pPr>
            <a:r>
              <a:rPr lang="en-US" sz="900" i="1" dirty="0">
                <a:solidFill>
                  <a:srgbClr val="8A95B0"/>
                </a:solidFill>
                <a:latin typeface="Source Sans 3" pitchFamily="34" charset="0"/>
                <a:ea typeface="Source Sans 3" pitchFamily="34" charset="-122"/>
                <a:cs typeface="Source Sans 3" pitchFamily="34" charset="-120"/>
              </a:rPr>
              <a:t>"Before you heal someone, ask him if he's willing to give up the things that make him sick"</a:t>
            </a:r>
            <a:endParaRPr lang="en-US" sz="900" dirty="0"/>
          </a:p>
          <a:p>
            <a:pPr algn="ctr" indent="0" marL="0">
              <a:buNone/>
            </a:pPr>
            <a:r>
              <a:rPr lang="en-US" sz="900" dirty="0">
                <a:solidFill>
                  <a:srgbClr val="C9A54E"/>
                </a:solidFill>
                <a:latin typeface="Source Sans 3" pitchFamily="34" charset="0"/>
                <a:ea typeface="Source Sans 3" pitchFamily="34" charset="-122"/>
                <a:cs typeface="Source Sans 3" pitchFamily="34" charset="-120"/>
              </a:rPr>
              <a:t>— Hippocrates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8EDF5"/>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A2440"/>
                </a:solidFill>
                <a:latin typeface="Playfair Display" pitchFamily="34" charset="0"/>
                <a:ea typeface="Playfair Display" pitchFamily="34" charset="-122"/>
                <a:cs typeface="Playfair Display" pitchFamily="34" charset="-120"/>
              </a:rPr>
              <a:t>Presentation Summary</a:t>
            </a:r>
            <a:endParaRPr lang="en-US" sz="2800" dirty="0"/>
          </a:p>
        </p:txBody>
      </p:sp>
      <p:sp>
        <p:nvSpPr>
          <p:cNvPr id="3" name="Shape 1"/>
          <p:cNvSpPr/>
          <p:nvPr/>
        </p:nvSpPr>
        <p:spPr>
          <a:xfrm>
            <a:off x="457200" y="868680"/>
            <a:ext cx="8229600" cy="393192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4" name="Text 2"/>
          <p:cNvSpPr/>
          <p:nvPr/>
        </p:nvSpPr>
        <p:spPr>
          <a:xfrm>
            <a:off x="731520" y="1005840"/>
            <a:ext cx="7680960" cy="2286000"/>
          </a:xfrm>
          <a:prstGeom prst="rect">
            <a:avLst/>
          </a:prstGeom>
          <a:noFill/>
          <a:ln/>
        </p:spPr>
        <p:txBody>
          <a:bodyPr wrap="square" rtlCol="0" anchor="t"/>
          <a:lstStyle/>
          <a:p>
            <a:pPr indent="0" marL="0">
              <a:buNone/>
            </a:pPr>
            <a:r>
              <a:rPr lang="en-US" sz="1300" dirty="0">
                <a:solidFill>
                  <a:srgbClr val="1A2440"/>
                </a:solidFill>
                <a:latin typeface="Source Sans 3" pitchFamily="34" charset="0"/>
                <a:ea typeface="Source Sans 3" pitchFamily="34" charset="-122"/>
                <a:cs typeface="Source Sans 3" pitchFamily="34" charset="-120"/>
              </a:rPr>
              <a:t>Comprehensive 90-day healing protocol designed to halt metastatic adenocarcinoma, deeply rebalance Annette’s immune and thyroid axes (dual Graves/Hashimoto), and correct severe micronutrient and mitochondrial depletion, with targeted anti-cancer, anti-inflammatory, and gut-immune interventions. Aggressive IV, IM, peptide, ECS, and detoxification modalities will be layered with mitochondrial/sirtuin support, microbiome restoration, and careful thyroid monitoring throughout for safety and optimal outcomes.</a:t>
            </a:r>
            <a:endParaRPr lang="en-US" sz="1300" dirty="0"/>
          </a:p>
        </p:txBody>
      </p:sp>
      <p:sp>
        <p:nvSpPr>
          <p:cNvPr id="5" name="Text 3"/>
          <p:cNvSpPr/>
          <p:nvPr/>
        </p:nvSpPr>
        <p:spPr>
          <a:xfrm>
            <a:off x="731520" y="3200400"/>
            <a:ext cx="7680960" cy="1371600"/>
          </a:xfrm>
          <a:prstGeom prst="rect">
            <a:avLst/>
          </a:prstGeom>
          <a:noFill/>
          <a:ln/>
        </p:spPr>
        <p:txBody>
          <a:bodyPr wrap="square" rtlCol="0" anchor="t"/>
          <a:lstStyle/>
          <a:p>
            <a:pPr marL="342900" indent="-342900">
              <a:buSzPct val="100000"/>
              <a:buChar char="•"/>
            </a:pPr>
            <a:r>
              <a:rPr lang="en-US" sz="1200" dirty="0">
                <a:solidFill>
                  <a:srgbClr val="1A2440"/>
                </a:solidFill>
                <a:latin typeface="Source Sans 3" pitchFamily="34" charset="0"/>
                <a:ea typeface="Source Sans 3" pitchFamily="34" charset="-122"/>
                <a:cs typeface="Source Sans 3" pitchFamily="34" charset="-120"/>
              </a:rPr>
              <a:t>Addresses toxin exposure, gut health, and nutrient deficiencies</a:t>
            </a:r>
            <a:endParaRPr lang="en-US" sz="1200" dirty="0"/>
          </a:p>
          <a:p>
            <a:pPr marL="342900" indent="-342900">
              <a:buSzPct val="100000"/>
              <a:buChar char="•"/>
            </a:pPr>
            <a:r>
              <a:rPr lang="en-US" sz="1200" dirty="0">
                <a:solidFill>
                  <a:srgbClr val="1A2440"/>
                </a:solidFill>
                <a:latin typeface="Source Sans 3" pitchFamily="34" charset="0"/>
                <a:ea typeface="Source Sans 3" pitchFamily="34" charset="-122"/>
                <a:cs typeface="Source Sans 3" pitchFamily="34" charset="-120"/>
              </a:rPr>
              <a:t>5 Stages of Wellness to achieve balance</a:t>
            </a:r>
            <a:endParaRPr lang="en-US" sz="1200" dirty="0"/>
          </a:p>
          <a:p>
            <a:pPr marL="342900" indent="-342900">
              <a:buSzPct val="100000"/>
              <a:buChar char="•"/>
            </a:pPr>
            <a:r>
              <a:rPr lang="en-US" sz="1200" dirty="0">
                <a:solidFill>
                  <a:srgbClr val="1A2440"/>
                </a:solidFill>
                <a:latin typeface="Source Sans 3" pitchFamily="34" charset="0"/>
                <a:ea typeface="Source Sans 3" pitchFamily="34" charset="-122"/>
                <a:cs typeface="Source Sans 3" pitchFamily="34" charset="-120"/>
              </a:rPr>
              <a:t>Emphasizes holistic approach focusing on inflammation, viral load, parasite load, and metabolic functionality</a:t>
            </a:r>
            <a:endParaRPr lang="en-US" sz="1200" dirty="0"/>
          </a:p>
        </p:txBody>
      </p:sp>
      <p:sp>
        <p:nvSpPr>
          <p:cNvPr id="6" name="Text 4"/>
          <p:cNvSpPr/>
          <p:nvPr/>
        </p:nvSpPr>
        <p:spPr>
          <a:xfrm>
            <a:off x="914400" y="4572000"/>
            <a:ext cx="7315200" cy="457200"/>
          </a:xfrm>
          <a:prstGeom prst="rect">
            <a:avLst/>
          </a:prstGeom>
          <a:noFill/>
          <a:ln/>
        </p:spPr>
        <p:txBody>
          <a:bodyPr wrap="square" rtlCol="0" anchor="ctr"/>
          <a:lstStyle/>
          <a:p>
            <a:pPr algn="ctr" indent="0" marL="0">
              <a:buNone/>
            </a:pPr>
            <a:r>
              <a:rPr lang="en-US" sz="1000" i="1" dirty="0">
                <a:solidFill>
                  <a:srgbClr val="C9A54E"/>
                </a:solidFill>
                <a:latin typeface="Source Sans 3" pitchFamily="34" charset="0"/>
                <a:ea typeface="Source Sans 3" pitchFamily="34" charset="-122"/>
                <a:cs typeface="Source Sans 3" pitchFamily="34" charset="-120"/>
              </a:rPr>
              <a:t>"The natural healing force within each of us is the greatest force in getting well"</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8EDF5"/>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A2440"/>
                </a:solidFill>
                <a:latin typeface="Playfair Display" pitchFamily="34" charset="0"/>
                <a:ea typeface="Playfair Display" pitchFamily="34" charset="-122"/>
                <a:cs typeface="Playfair Display" pitchFamily="34" charset="-120"/>
              </a:rPr>
              <a:t>Member Information</a:t>
            </a:r>
            <a:endParaRPr lang="en-US" sz="2800" dirty="0"/>
          </a:p>
        </p:txBody>
      </p:sp>
      <p:sp>
        <p:nvSpPr>
          <p:cNvPr id="3" name="Shape 1"/>
          <p:cNvSpPr/>
          <p:nvPr/>
        </p:nvSpPr>
        <p:spPr>
          <a:xfrm>
            <a:off x="457200" y="868680"/>
            <a:ext cx="3840480" cy="201168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4" name="Text 2"/>
          <p:cNvSpPr/>
          <p:nvPr/>
        </p:nvSpPr>
        <p:spPr>
          <a:xfrm>
            <a:off x="640080" y="1005840"/>
            <a:ext cx="3474720" cy="1828800"/>
          </a:xfrm>
          <a:prstGeom prst="rect">
            <a:avLst/>
          </a:prstGeom>
          <a:noFill/>
          <a:ln/>
        </p:spPr>
        <p:txBody>
          <a:bodyPr wrap="square" rtlCol="0" anchor="t"/>
          <a:lstStyle/>
          <a:p>
            <a:pPr indent="0" marL="0">
              <a:buNone/>
            </a:pPr>
            <a:r>
              <a:rPr lang="en-US" sz="1100" b="1" dirty="0">
                <a:solidFill>
                  <a:srgbClr val="C9A54E"/>
                </a:solidFill>
                <a:latin typeface="Source Sans 3" pitchFamily="34" charset="0"/>
                <a:ea typeface="Source Sans 3" pitchFamily="34" charset="-122"/>
                <a:cs typeface="Source Sans 3" pitchFamily="34" charset="-120"/>
              </a:rPr>
              <a:t>Name: </a:t>
            </a:r>
            <a:pPr indent="0" marL="0">
              <a:buNone/>
            </a:pPr>
            <a:r>
              <a:rPr lang="en-US" sz="1100" dirty="0">
                <a:solidFill>
                  <a:srgbClr val="1A2440"/>
                </a:solidFill>
                <a:latin typeface="Source Sans 3" pitchFamily="34" charset="0"/>
                <a:ea typeface="Source Sans 3" pitchFamily="34" charset="-122"/>
                <a:cs typeface="Source Sans 3" pitchFamily="34" charset="-120"/>
              </a:rPr>
              <a:t>Annette Gomer</a:t>
            </a:r>
            <a:endParaRPr lang="en-US" sz="1100" dirty="0"/>
          </a:p>
          <a:p>
            <a:pPr indent="0" marL="0">
              <a:buNone/>
            </a:pPr>
            <a:r>
              <a:rPr lang="en-US" sz="1100" b="1" dirty="0">
                <a:solidFill>
                  <a:srgbClr val="C9A54E"/>
                </a:solidFill>
                <a:latin typeface="Source Sans 3" pitchFamily="34" charset="0"/>
                <a:ea typeface="Source Sans 3" pitchFamily="34" charset="-122"/>
                <a:cs typeface="Source Sans 3" pitchFamily="34" charset="-120"/>
              </a:rPr>
              <a:t>Age: </a:t>
            </a:r>
            <a:pPr indent="0" marL="0">
              <a:buNone/>
            </a:pPr>
            <a:r>
              <a:rPr lang="en-US" sz="1100" dirty="0">
                <a:solidFill>
                  <a:srgbClr val="1A2440"/>
                </a:solidFill>
                <a:latin typeface="Source Sans 3" pitchFamily="34" charset="0"/>
                <a:ea typeface="Source Sans 3" pitchFamily="34" charset="-122"/>
                <a:cs typeface="Source Sans 3" pitchFamily="34" charset="-120"/>
              </a:rPr>
              <a:t>75</a:t>
            </a:r>
            <a:endParaRPr lang="en-US" sz="1100" dirty="0"/>
          </a:p>
          <a:p>
            <a:pPr indent="0" marL="0">
              <a:buNone/>
            </a:pPr>
            <a:r>
              <a:rPr lang="en-US" sz="1100" b="1" dirty="0">
                <a:solidFill>
                  <a:srgbClr val="C9A54E"/>
                </a:solidFill>
                <a:latin typeface="Source Sans 3" pitchFamily="34" charset="0"/>
                <a:ea typeface="Source Sans 3" pitchFamily="34" charset="-122"/>
                <a:cs typeface="Source Sans 3" pitchFamily="34" charset="-120"/>
              </a:rPr>
              <a:t>Gender: </a:t>
            </a:r>
            <a:pPr indent="0" marL="0">
              <a:buNone/>
            </a:pPr>
            <a:r>
              <a:rPr lang="en-US" sz="1100" dirty="0">
                <a:solidFill>
                  <a:srgbClr val="1A2440"/>
                </a:solidFill>
                <a:latin typeface="Source Sans 3" pitchFamily="34" charset="0"/>
                <a:ea typeface="Source Sans 3" pitchFamily="34" charset="-122"/>
                <a:cs typeface="Source Sans 3" pitchFamily="34" charset="-120"/>
              </a:rPr>
              <a:t>female</a:t>
            </a:r>
            <a:endParaRPr lang="en-US" sz="1100" dirty="0"/>
          </a:p>
          <a:p>
            <a:pPr indent="0" marL="0">
              <a:buNone/>
            </a:pPr>
            <a:r>
              <a:rPr lang="en-US" sz="1100" b="1" dirty="0">
                <a:solidFill>
                  <a:srgbClr val="C9A54E"/>
                </a:solidFill>
                <a:latin typeface="Source Sans 3" pitchFamily="34" charset="0"/>
                <a:ea typeface="Source Sans 3" pitchFamily="34" charset="-122"/>
                <a:cs typeface="Source Sans 3" pitchFamily="34" charset="-120"/>
              </a:rPr>
              <a:t>Location: </a:t>
            </a:r>
            <a:pPr indent="0" marL="0">
              <a:buNone/>
            </a:pPr>
            <a:r>
              <a:rPr lang="en-US" sz="1100" dirty="0">
                <a:solidFill>
                  <a:srgbClr val="1A2440"/>
                </a:solidFill>
                <a:latin typeface="Source Sans 3" pitchFamily="34" charset="0"/>
                <a:ea typeface="Source Sans 3" pitchFamily="34" charset="-122"/>
                <a:cs typeface="Source Sans 3" pitchFamily="34" charset="-120"/>
              </a:rPr>
              <a:t>United States</a:t>
            </a:r>
            <a:endParaRPr lang="en-US" sz="1100" dirty="0"/>
          </a:p>
          <a:p>
            <a:pPr indent="0" marL="0">
              <a:buNone/>
            </a:pPr>
            <a:r>
              <a:rPr lang="en-US" sz="1100" b="1" dirty="0">
                <a:solidFill>
                  <a:srgbClr val="C9A54E"/>
                </a:solidFill>
                <a:latin typeface="Source Sans 3" pitchFamily="34" charset="0"/>
                <a:ea typeface="Source Sans 3" pitchFamily="34" charset="-122"/>
                <a:cs typeface="Source Sans 3" pitchFamily="34" charset="-120"/>
              </a:rPr>
              <a:t>Protocol Duration: </a:t>
            </a:r>
            <a:pPr indent="0" marL="0">
              <a:buNone/>
            </a:pPr>
            <a:r>
              <a:rPr lang="en-US" sz="1100" dirty="0">
                <a:solidFill>
                  <a:srgbClr val="1A2440"/>
                </a:solidFill>
                <a:latin typeface="Source Sans 3" pitchFamily="34" charset="0"/>
                <a:ea typeface="Source Sans 3" pitchFamily="34" charset="-122"/>
                <a:cs typeface="Source Sans 3" pitchFamily="34" charset="-120"/>
              </a:rPr>
              <a:t>90 days</a:t>
            </a:r>
            <a:endParaRPr lang="en-US" sz="1100" dirty="0"/>
          </a:p>
        </p:txBody>
      </p:sp>
      <p:sp>
        <p:nvSpPr>
          <p:cNvPr id="5" name="Shape 3"/>
          <p:cNvSpPr/>
          <p:nvPr/>
        </p:nvSpPr>
        <p:spPr>
          <a:xfrm>
            <a:off x="4572000" y="868680"/>
            <a:ext cx="4114800" cy="201168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6" name="Text 4"/>
          <p:cNvSpPr/>
          <p:nvPr/>
        </p:nvSpPr>
        <p:spPr>
          <a:xfrm>
            <a:off x="4754880" y="914400"/>
            <a:ext cx="3749040" cy="274320"/>
          </a:xfrm>
          <a:prstGeom prst="rect">
            <a:avLst/>
          </a:prstGeom>
          <a:noFill/>
          <a:ln/>
        </p:spPr>
        <p:txBody>
          <a:bodyPr wrap="square" rtlCol="0" anchor="ctr"/>
          <a:lstStyle/>
          <a:p>
            <a:pPr indent="0" marL="0">
              <a:buNone/>
            </a:pPr>
            <a:r>
              <a:rPr lang="en-US" sz="1100" b="1" dirty="0">
                <a:solidFill>
                  <a:srgbClr val="C9A54E"/>
                </a:solidFill>
                <a:latin typeface="Source Sans 3" pitchFamily="34" charset="0"/>
                <a:ea typeface="Source Sans 3" pitchFamily="34" charset="-122"/>
                <a:cs typeface="Source Sans 3" pitchFamily="34" charset="-120"/>
              </a:rPr>
              <a:t>Current Assessments:</a:t>
            </a:r>
            <a:endParaRPr lang="en-US" sz="1100" dirty="0"/>
          </a:p>
        </p:txBody>
      </p:sp>
      <p:sp>
        <p:nvSpPr>
          <p:cNvPr id="7" name="Text 5"/>
          <p:cNvSpPr/>
          <p:nvPr/>
        </p:nvSpPr>
        <p:spPr>
          <a:xfrm>
            <a:off x="4754880" y="1188720"/>
            <a:ext cx="3749040" cy="822960"/>
          </a:xfrm>
          <a:prstGeom prst="rect">
            <a:avLst/>
          </a:prstGeom>
          <a:noFill/>
          <a:ln/>
        </p:spPr>
        <p:txBody>
          <a:bodyPr wrap="square" rtlCol="0" anchor="t"/>
          <a:lstStyle/>
          <a:p>
            <a:pPr marL="342900" indent="-342900">
              <a:buSzPct val="100000"/>
              <a:buChar char="•"/>
            </a:pPr>
            <a:r>
              <a:rPr lang="en-US" sz="1000" dirty="0">
                <a:solidFill>
                  <a:srgbClr val="1A2440"/>
                </a:solidFill>
                <a:latin typeface="Source Sans 3" pitchFamily="34" charset="0"/>
                <a:ea typeface="Source Sans 3" pitchFamily="34" charset="-122"/>
                <a:cs typeface="Source Sans 3" pitchFamily="34" charset="-120"/>
              </a:rPr>
              <a:t>Metastatic adenocarcinoma</a:t>
            </a:r>
            <a:endParaRPr lang="en-US" sz="1000" dirty="0"/>
          </a:p>
          <a:p>
            <a:pPr marL="342900" indent="-342900">
              <a:buSzPct val="100000"/>
              <a:buChar char="•"/>
            </a:pPr>
            <a:r>
              <a:rPr lang="en-US" sz="1000" dirty="0">
                <a:solidFill>
                  <a:srgbClr val="1A2440"/>
                </a:solidFill>
                <a:latin typeface="Source Sans 3" pitchFamily="34" charset="0"/>
                <a:ea typeface="Source Sans 3" pitchFamily="34" charset="-122"/>
                <a:cs typeface="Source Sans 3" pitchFamily="34" charset="-120"/>
              </a:rPr>
              <a:t>Graves' disease</a:t>
            </a:r>
            <a:endParaRPr lang="en-US" sz="1000" dirty="0"/>
          </a:p>
          <a:p>
            <a:pPr marL="342900" indent="-342900">
              <a:buSzPct val="100000"/>
              <a:buChar char="•"/>
            </a:pPr>
            <a:r>
              <a:rPr lang="en-US" sz="1000" dirty="0">
                <a:solidFill>
                  <a:srgbClr val="1A2440"/>
                </a:solidFill>
                <a:latin typeface="Source Sans 3" pitchFamily="34" charset="0"/>
                <a:ea typeface="Source Sans 3" pitchFamily="34" charset="-122"/>
                <a:cs typeface="Source Sans 3" pitchFamily="34" charset="-120"/>
              </a:rPr>
              <a:t>Hashimoto's thyroiditis</a:t>
            </a:r>
            <a:endParaRPr lang="en-US" sz="1000" dirty="0"/>
          </a:p>
          <a:p>
            <a:pPr marL="342900" indent="-342900">
              <a:buSzPct val="100000"/>
              <a:buChar char="•"/>
            </a:pPr>
            <a:r>
              <a:rPr lang="en-US" sz="1000" dirty="0">
                <a:solidFill>
                  <a:srgbClr val="1A2440"/>
                </a:solidFill>
                <a:latin typeface="Source Sans 3" pitchFamily="34" charset="0"/>
                <a:ea typeface="Source Sans 3" pitchFamily="34" charset="-122"/>
                <a:cs typeface="Source Sans 3" pitchFamily="34" charset="-120"/>
              </a:rPr>
              <a:t>Chronic autoimmune thyroid disorder</a:t>
            </a:r>
            <a:endParaRPr lang="en-US" sz="1000" dirty="0"/>
          </a:p>
        </p:txBody>
      </p:sp>
      <p:sp>
        <p:nvSpPr>
          <p:cNvPr id="8" name="Text 6"/>
          <p:cNvSpPr/>
          <p:nvPr/>
        </p:nvSpPr>
        <p:spPr>
          <a:xfrm>
            <a:off x="4754880" y="2011680"/>
            <a:ext cx="3749040" cy="274320"/>
          </a:xfrm>
          <a:prstGeom prst="rect">
            <a:avLst/>
          </a:prstGeom>
          <a:noFill/>
          <a:ln/>
        </p:spPr>
        <p:txBody>
          <a:bodyPr wrap="square" rtlCol="0" anchor="ctr"/>
          <a:lstStyle/>
          <a:p>
            <a:pPr indent="0" marL="0">
              <a:buNone/>
            </a:pPr>
            <a:r>
              <a:rPr lang="en-US" sz="1100" b="1" dirty="0">
                <a:solidFill>
                  <a:srgbClr val="C9A54E"/>
                </a:solidFill>
                <a:latin typeface="Source Sans 3" pitchFamily="34" charset="0"/>
                <a:ea typeface="Source Sans 3" pitchFamily="34" charset="-122"/>
                <a:cs typeface="Source Sans 3" pitchFamily="34" charset="-120"/>
              </a:rPr>
              <a:t>Symptoms:</a:t>
            </a:r>
            <a:endParaRPr lang="en-US" sz="1100" dirty="0"/>
          </a:p>
        </p:txBody>
      </p:sp>
      <p:sp>
        <p:nvSpPr>
          <p:cNvPr id="9" name="Text 7"/>
          <p:cNvSpPr/>
          <p:nvPr/>
        </p:nvSpPr>
        <p:spPr>
          <a:xfrm>
            <a:off x="4754880" y="2286000"/>
            <a:ext cx="3749040" cy="548640"/>
          </a:xfrm>
          <a:prstGeom prst="rect">
            <a:avLst/>
          </a:prstGeom>
          <a:noFill/>
          <a:ln/>
        </p:spPr>
        <p:txBody>
          <a:bodyPr wrap="square" rtlCol="0" anchor="t"/>
          <a:lstStyle/>
          <a:p>
            <a:pPr marL="342900" indent="-342900">
              <a:buSzPct val="100000"/>
              <a:buChar char="•"/>
            </a:pPr>
            <a:r>
              <a:rPr lang="en-US" sz="1000" dirty="0">
                <a:solidFill>
                  <a:srgbClr val="1A2440"/>
                </a:solidFill>
                <a:latin typeface="Source Sans 3" pitchFamily="34" charset="0"/>
                <a:ea typeface="Source Sans 3" pitchFamily="34" charset="-122"/>
                <a:cs typeface="Source Sans 3" pitchFamily="34" charset="-120"/>
              </a:rPr>
              <a:t>Metastatic adenocarcinoma — active cancer requiring comprehensive protocol</a:t>
            </a:r>
            <a:endParaRPr lang="en-US" sz="1000" dirty="0"/>
          </a:p>
          <a:p>
            <a:pPr marL="342900" indent="-342900">
              <a:buSzPct val="100000"/>
              <a:buChar char="•"/>
            </a:pPr>
            <a:r>
              <a:rPr lang="en-US" sz="1000" dirty="0">
                <a:solidFill>
                  <a:srgbClr val="1A2440"/>
                </a:solidFill>
                <a:latin typeface="Source Sans 3" pitchFamily="34" charset="0"/>
                <a:ea typeface="Source Sans 3" pitchFamily="34" charset="-122"/>
                <a:cs typeface="Source Sans 3" pitchFamily="34" charset="-120"/>
              </a:rPr>
              <a:t>Graves' disease — hyperthyroid autoimmune condition</a:t>
            </a:r>
            <a:endParaRPr lang="en-US" sz="1000" dirty="0"/>
          </a:p>
          <a:p>
            <a:pPr marL="342900" indent="-342900">
              <a:buSzPct val="100000"/>
              <a:buChar char="•"/>
            </a:pPr>
            <a:r>
              <a:rPr lang="en-US" sz="1000" dirty="0">
                <a:solidFill>
                  <a:srgbClr val="1A2440"/>
                </a:solidFill>
                <a:latin typeface="Source Sans 3" pitchFamily="34" charset="0"/>
                <a:ea typeface="Source Sans 3" pitchFamily="34" charset="-122"/>
                <a:cs typeface="Source Sans 3" pitchFamily="34" charset="-120"/>
              </a:rPr>
              <a:t>Hashimoto's thyroiditis — concurrent autoimmune thyroid destruction</a:t>
            </a:r>
            <a:endParaRPr lang="en-US" sz="1000" dirty="0"/>
          </a:p>
          <a:p>
            <a:pPr marL="342900" indent="-342900">
              <a:buSzPct val="100000"/>
              <a:buChar char="•"/>
            </a:pPr>
            <a:r>
              <a:rPr lang="en-US" sz="1000" dirty="0">
                <a:solidFill>
                  <a:srgbClr val="1A2440"/>
                </a:solidFill>
                <a:latin typeface="Source Sans 3" pitchFamily="34" charset="0"/>
                <a:ea typeface="Source Sans 3" pitchFamily="34" charset="-122"/>
                <a:cs typeface="Source Sans 3" pitchFamily="34" charset="-120"/>
              </a:rPr>
              <a:t>Dual autoimmune thyroid disorder — paradoxical Graves/Hashimoto coexistence</a:t>
            </a:r>
            <a:endParaRPr lang="en-US" sz="1000" dirty="0"/>
          </a:p>
          <a:p>
            <a:pPr marL="342900" indent="-342900">
              <a:buSzPct val="100000"/>
              <a:buChar char="•"/>
            </a:pPr>
            <a:r>
              <a:rPr lang="en-US" sz="1000" dirty="0">
                <a:solidFill>
                  <a:srgbClr val="1A2440"/>
                </a:solidFill>
                <a:latin typeface="Source Sans 3" pitchFamily="34" charset="0"/>
                <a:ea typeface="Source Sans 3" pitchFamily="34" charset="-122"/>
                <a:cs typeface="Source Sans 3" pitchFamily="34" charset="-120"/>
              </a:rPr>
              <a:t>Fatigue and declining energy</a:t>
            </a:r>
            <a:endParaRPr lang="en-US" sz="1000" dirty="0"/>
          </a:p>
        </p:txBody>
      </p:sp>
      <p:sp>
        <p:nvSpPr>
          <p:cNvPr id="10" name="Shape 8"/>
          <p:cNvSpPr/>
          <p:nvPr/>
        </p:nvSpPr>
        <p:spPr>
          <a:xfrm>
            <a:off x="457200" y="3063240"/>
            <a:ext cx="8229600" cy="182880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11" name="Text 9"/>
          <p:cNvSpPr/>
          <p:nvPr/>
        </p:nvSpPr>
        <p:spPr>
          <a:xfrm>
            <a:off x="640080" y="3108960"/>
            <a:ext cx="7863840" cy="274320"/>
          </a:xfrm>
          <a:prstGeom prst="rect">
            <a:avLst/>
          </a:prstGeom>
          <a:noFill/>
          <a:ln/>
        </p:spPr>
        <p:txBody>
          <a:bodyPr wrap="square" rtlCol="0" anchor="ctr"/>
          <a:lstStyle/>
          <a:p>
            <a:pPr indent="0" marL="0">
              <a:buNone/>
            </a:pPr>
            <a:r>
              <a:rPr lang="en-US" sz="1200" b="1" dirty="0">
                <a:solidFill>
                  <a:srgbClr val="C9A54E"/>
                </a:solidFill>
                <a:latin typeface="Playfair Display" pitchFamily="34" charset="0"/>
                <a:ea typeface="Playfair Display" pitchFamily="34" charset="-122"/>
                <a:cs typeface="Playfair Display" pitchFamily="34" charset="-120"/>
              </a:rPr>
              <a:t>Recommended Starter Books:</a:t>
            </a:r>
            <a:endParaRPr lang="en-US" sz="1200" dirty="0"/>
          </a:p>
        </p:txBody>
      </p:sp>
      <p:sp>
        <p:nvSpPr>
          <p:cNvPr id="12" name="Text 10"/>
          <p:cNvSpPr/>
          <p:nvPr/>
        </p:nvSpPr>
        <p:spPr>
          <a:xfrm>
            <a:off x="640080" y="3429000"/>
            <a:ext cx="7863840" cy="1371600"/>
          </a:xfrm>
          <a:prstGeom prst="rect">
            <a:avLst/>
          </a:prstGeom>
          <a:noFill/>
          <a:ln/>
        </p:spPr>
        <p:txBody>
          <a:bodyPr wrap="square" rtlCol="0" anchor="t"/>
          <a:lstStyle/>
          <a:p>
            <a:pPr indent="0" marL="0">
              <a:buNone/>
            </a:pPr>
            <a:r>
              <a:rPr lang="en-US" sz="1000" b="1" dirty="0">
                <a:solidFill>
                  <a:srgbClr val="1A2440"/>
                </a:solidFill>
                <a:latin typeface="Source Sans 3" pitchFamily="34" charset="0"/>
                <a:ea typeface="Source Sans 3" pitchFamily="34" charset="-122"/>
                <a:cs typeface="Source Sans 3" pitchFamily="34" charset="-120"/>
              </a:rPr>
              <a:t>Rapid Virus Recovery</a:t>
            </a:r>
            <a:pPr indent="0" marL="0">
              <a:buNone/>
            </a:pPr>
            <a:r>
              <a:rPr lang="en-US" sz="900" dirty="0">
                <a:solidFill>
                  <a:srgbClr val="5A6B8A"/>
                </a:solidFill>
                <a:latin typeface="Source Sans 3" pitchFamily="34" charset="0"/>
                <a:ea typeface="Source Sans 3" pitchFamily="34" charset="-122"/>
                <a:cs typeface="Source Sans 3" pitchFamily="34" charset="-120"/>
              </a:rPr>
              <a:t> — Essential reading on breaking up biofilm with nebulization and high-dose vitamin C therapy for viral recovery</a:t>
            </a:r>
            <a:endParaRPr lang="en-US" sz="1000" dirty="0"/>
          </a:p>
          <a:p>
            <a:pPr indent="0" marL="0">
              <a:buNone/>
            </a:pPr>
            <a:r>
              <a:rPr lang="en-US" sz="1000" b="1" dirty="0">
                <a:solidFill>
                  <a:srgbClr val="1A2440"/>
                </a:solidFill>
                <a:latin typeface="Source Sans 3" pitchFamily="34" charset="0"/>
                <a:ea typeface="Source Sans 3" pitchFamily="34" charset="-122"/>
                <a:cs typeface="Source Sans 3" pitchFamily="34" charset="-120"/>
              </a:rPr>
              <a:t>A World Without Cancer</a:t>
            </a:r>
            <a:pPr indent="0" marL="0">
              <a:buNone/>
            </a:pPr>
            <a:r>
              <a:rPr lang="en-US" sz="900" dirty="0">
                <a:solidFill>
                  <a:srgbClr val="5A6B8A"/>
                </a:solidFill>
                <a:latin typeface="Source Sans 3" pitchFamily="34" charset="0"/>
                <a:ea typeface="Source Sans 3" pitchFamily="34" charset="-122"/>
                <a:cs typeface="Source Sans 3" pitchFamily="34" charset="-120"/>
              </a:rPr>
              <a:t> — The link between nitrilosides and cancer — the story of B17 Laetrile and why it matters for your protocol</a:t>
            </a:r>
            <a:endParaRPr lang="en-US" sz="1000" dirty="0"/>
          </a:p>
          <a:p>
            <a:pPr indent="0" marL="0">
              <a:buNone/>
            </a:pPr>
            <a:r>
              <a:rPr lang="en-US" sz="1000" b="1" dirty="0">
                <a:solidFill>
                  <a:srgbClr val="1A2440"/>
                </a:solidFill>
                <a:latin typeface="Source Sans 3" pitchFamily="34" charset="0"/>
                <a:ea typeface="Source Sans 3" pitchFamily="34" charset="-122"/>
                <a:cs typeface="Source Sans 3" pitchFamily="34" charset="-120"/>
              </a:rPr>
              <a:t>The Iodine Crisis</a:t>
            </a:r>
            <a:pPr indent="0" marL="0">
              <a:buNone/>
            </a:pPr>
            <a:r>
              <a:rPr lang="en-US" sz="900" dirty="0">
                <a:solidFill>
                  <a:srgbClr val="5A6B8A"/>
                </a:solidFill>
                <a:latin typeface="Source Sans 3" pitchFamily="34" charset="0"/>
                <a:ea typeface="Source Sans 3" pitchFamily="34" charset="-122"/>
                <a:cs typeface="Source Sans 3" pitchFamily="34" charset="-120"/>
              </a:rPr>
              <a:t> — Critical reading on the relationship between selenium, iodine, and cancer rise in the U.S.</a:t>
            </a:r>
            <a:endParaRPr lang="en-US" sz="1000" dirty="0"/>
          </a:p>
          <a:p>
            <a:pPr indent="0" marL="0">
              <a:buNone/>
            </a:pPr>
            <a:r>
              <a:rPr lang="en-US" sz="1000" b="1" dirty="0">
                <a:solidFill>
                  <a:srgbClr val="1A2440"/>
                </a:solidFill>
                <a:latin typeface="Source Sans 3" pitchFamily="34" charset="0"/>
                <a:ea typeface="Source Sans 3" pitchFamily="34" charset="-122"/>
                <a:cs typeface="Source Sans 3" pitchFamily="34" charset="-120"/>
              </a:rPr>
              <a:t>A Cancer Therapy: Results of Fifty Cases</a:t>
            </a:r>
            <a:pPr indent="0" marL="0">
              <a:buNone/>
            </a:pPr>
            <a:r>
              <a:rPr lang="en-US" sz="900" dirty="0">
                <a:solidFill>
                  <a:srgbClr val="5A6B8A"/>
                </a:solidFill>
                <a:latin typeface="Source Sans 3" pitchFamily="34" charset="0"/>
                <a:ea typeface="Source Sans 3" pitchFamily="34" charset="-122"/>
                <a:cs typeface="Source Sans 3" pitchFamily="34" charset="-120"/>
              </a:rPr>
              <a:t> — The original Gerson therapy clinical documentation — foundational for understanding dietary protocols in cancer care</a:t>
            </a:r>
            <a:endParaRPr lang="en-US" sz="1000" dirty="0"/>
          </a:p>
          <a:p>
            <a:pPr indent="0" marL="0">
              <a:buNone/>
            </a:pPr>
            <a:r>
              <a:rPr lang="en-US" sz="1000" b="1" dirty="0">
                <a:solidFill>
                  <a:srgbClr val="1A2440"/>
                </a:solidFill>
                <a:latin typeface="Source Sans 3" pitchFamily="34" charset="0"/>
                <a:ea typeface="Source Sans 3" pitchFamily="34" charset="-122"/>
                <a:cs typeface="Source Sans 3" pitchFamily="34" charset="-120"/>
              </a:rPr>
              <a:t>The Metabolic Approach to Cancer</a:t>
            </a:r>
            <a:pPr indent="0" marL="0">
              <a:buNone/>
            </a:pPr>
            <a:r>
              <a:rPr lang="en-US" sz="900" dirty="0">
                <a:solidFill>
                  <a:srgbClr val="5A6B8A"/>
                </a:solidFill>
                <a:latin typeface="Source Sans 3" pitchFamily="34" charset="0"/>
                <a:ea typeface="Source Sans 3" pitchFamily="34" charset="-122"/>
                <a:cs typeface="Source Sans 3" pitchFamily="34" charset="-120"/>
              </a:rPr>
              <a:t> — Integrative oncology nutrition and metabolic terrain assessment — essential for understanding cancer as a metabolic disease</a:t>
            </a:r>
            <a:endParaRPr lang="en-US" sz="1000" dirty="0"/>
          </a:p>
          <a:p>
            <a:pPr indent="0" marL="0">
              <a:buNone/>
            </a:pPr>
            <a:r>
              <a:rPr lang="en-US" sz="1000" b="1" dirty="0">
                <a:solidFill>
                  <a:srgbClr val="1A2440"/>
                </a:solidFill>
                <a:latin typeface="Source Sans 3" pitchFamily="34" charset="0"/>
                <a:ea typeface="Source Sans 3" pitchFamily="34" charset="-122"/>
                <a:cs typeface="Source Sans 3" pitchFamily="34" charset="-120"/>
              </a:rPr>
              <a:t>One Minute Restore</a:t>
            </a:r>
            <a:pPr indent="0" marL="0">
              <a:buNone/>
            </a:pPr>
            <a:r>
              <a:rPr lang="en-US" sz="900" dirty="0">
                <a:solidFill>
                  <a:srgbClr val="5A6B8A"/>
                </a:solidFill>
                <a:latin typeface="Source Sans 3" pitchFamily="34" charset="0"/>
                <a:ea typeface="Source Sans 3" pitchFamily="34" charset="-122"/>
                <a:cs typeface="Source Sans 3" pitchFamily="34" charset="-120"/>
              </a:rPr>
              <a:t> — Hydrogen peroxide therapy overview and its applications for supporting the body's natural healing processes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EDF5"/>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A2440"/>
                </a:solidFill>
                <a:latin typeface="Playfair Display" pitchFamily="34" charset="0"/>
                <a:ea typeface="Playfair Display" pitchFamily="34" charset="-122"/>
                <a:cs typeface="Playfair Display" pitchFamily="34" charset="-120"/>
              </a:rPr>
              <a:t>Member Timeline</a:t>
            </a:r>
            <a:endParaRPr lang="en-US" sz="2800" dirty="0"/>
          </a:p>
        </p:txBody>
      </p:sp>
      <p:sp>
        <p:nvSpPr>
          <p:cNvPr id="3" name="Shape 1"/>
          <p:cNvSpPr/>
          <p:nvPr/>
        </p:nvSpPr>
        <p:spPr>
          <a:xfrm>
            <a:off x="457200" y="868680"/>
            <a:ext cx="8229600" cy="393192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4" name="Text 2"/>
          <p:cNvSpPr/>
          <p:nvPr/>
        </p:nvSpPr>
        <p:spPr>
          <a:xfrm>
            <a:off x="640080" y="1005840"/>
            <a:ext cx="7863840" cy="3657600"/>
          </a:xfrm>
          <a:prstGeom prst="rect">
            <a:avLst/>
          </a:prstGeom>
          <a:noFill/>
          <a:ln/>
        </p:spPr>
        <p:txBody>
          <a:bodyPr wrap="square" rtlCol="0" anchor="t"/>
          <a:lstStyle/>
          <a:p>
            <a:pPr indent="0" marL="0">
              <a:buNone/>
            </a:pPr>
            <a:r>
              <a:rPr lang="en-US" sz="1100" b="1" dirty="0">
                <a:solidFill>
                  <a:srgbClr val="C9A54E"/>
                </a:solidFill>
                <a:latin typeface="Source Sans 3" pitchFamily="34" charset="0"/>
                <a:ea typeface="Source Sans 3" pitchFamily="34" charset="-122"/>
                <a:cs typeface="Source Sans 3" pitchFamily="34" charset="-120"/>
              </a:rPr>
              <a:t>Unknown</a:t>
            </a:r>
            <a:pPr indent="0" marL="0">
              <a:buNone/>
            </a:pPr>
            <a:r>
              <a:rPr lang="en-US" sz="1100" dirty="0">
                <a:solidFill>
                  <a:srgbClr val="1A2440"/>
                </a:solidFill>
                <a:latin typeface="Source Sans 3" pitchFamily="34" charset="0"/>
                <a:ea typeface="Source Sans 3" pitchFamily="34" charset="-122"/>
                <a:cs typeface="Source Sans 3" pitchFamily="34" charset="-120"/>
              </a:rPr>
              <a:t> — Hashimoto's thyroiditis assessed</a:t>
            </a:r>
            <a:pPr indent="0" marL="0">
              <a:buNone/>
            </a:pPr>
            <a:r>
              <a:rPr lang="en-US" sz="900" dirty="0">
                <a:solidFill>
                  <a:srgbClr val="5A6B8A"/>
                </a:solidFill>
                <a:latin typeface="Source Sans 3" pitchFamily="34" charset="0"/>
                <a:ea typeface="Source Sans 3" pitchFamily="34" charset="-122"/>
                <a:cs typeface="Source Sans 3" pitchFamily="34" charset="-120"/>
              </a:rPr>
              <a:t> (Autoimmune thyroid destruction — indicates systemic immune dysregulation)</a:t>
            </a:r>
            <a:endParaRPr lang="en-US" sz="1100" dirty="0"/>
          </a:p>
          <a:p>
            <a:pPr indent="0" marL="0">
              <a:buNone/>
            </a:pPr>
            <a:r>
              <a:rPr lang="en-US" sz="1100" b="1" dirty="0">
                <a:solidFill>
                  <a:srgbClr val="C9A54E"/>
                </a:solidFill>
                <a:latin typeface="Source Sans 3" pitchFamily="34" charset="0"/>
                <a:ea typeface="Source Sans 3" pitchFamily="34" charset="-122"/>
                <a:cs typeface="Source Sans 3" pitchFamily="34" charset="-120"/>
              </a:rPr>
              <a:t>Unknown</a:t>
            </a:r>
            <a:pPr indent="0" marL="0">
              <a:buNone/>
            </a:pPr>
            <a:r>
              <a:rPr lang="en-US" sz="1100" dirty="0">
                <a:solidFill>
                  <a:srgbClr val="1A2440"/>
                </a:solidFill>
                <a:latin typeface="Source Sans 3" pitchFamily="34" charset="0"/>
                <a:ea typeface="Source Sans 3" pitchFamily="34" charset="-122"/>
                <a:cs typeface="Source Sans 3" pitchFamily="34" charset="-120"/>
              </a:rPr>
              <a:t> — Graves' disease assessed</a:t>
            </a:r>
            <a:pPr indent="0" marL="0">
              <a:buNone/>
            </a:pPr>
            <a:r>
              <a:rPr lang="en-US" sz="900" dirty="0">
                <a:solidFill>
                  <a:srgbClr val="5A6B8A"/>
                </a:solidFill>
                <a:latin typeface="Source Sans 3" pitchFamily="34" charset="0"/>
                <a:ea typeface="Source Sans 3" pitchFamily="34" charset="-122"/>
                <a:cs typeface="Source Sans 3" pitchFamily="34" charset="-120"/>
              </a:rPr>
              <a:t> (Second autoimmune thyroid condition — rare dual presentation indicates deep immune confusion)</a:t>
            </a:r>
            <a:endParaRPr lang="en-US" sz="1100" dirty="0"/>
          </a:p>
          <a:p>
            <a:pPr indent="0" marL="0">
              <a:buNone/>
            </a:pPr>
            <a:r>
              <a:rPr lang="en-US" sz="1100" b="1" dirty="0">
                <a:solidFill>
                  <a:srgbClr val="C9A54E"/>
                </a:solidFill>
                <a:latin typeface="Source Sans 3" pitchFamily="34" charset="0"/>
                <a:ea typeface="Source Sans 3" pitchFamily="34" charset="-122"/>
                <a:cs typeface="Source Sans 3" pitchFamily="34" charset="-120"/>
              </a:rPr>
              <a:t>70s</a:t>
            </a:r>
            <a:pPr indent="0" marL="0">
              <a:buNone/>
            </a:pPr>
            <a:r>
              <a:rPr lang="en-US" sz="1100" dirty="0">
                <a:solidFill>
                  <a:srgbClr val="1A2440"/>
                </a:solidFill>
                <a:latin typeface="Source Sans 3" pitchFamily="34" charset="0"/>
                <a:ea typeface="Source Sans 3" pitchFamily="34" charset="-122"/>
                <a:cs typeface="Source Sans 3" pitchFamily="34" charset="-120"/>
              </a:rPr>
              <a:t> — Metastatic adenocarcinoma assessed</a:t>
            </a:r>
            <a:pPr indent="0" marL="0">
              <a:buNone/>
            </a:pPr>
            <a:r>
              <a:rPr lang="en-US" sz="900" dirty="0">
                <a:solidFill>
                  <a:srgbClr val="5A6B8A"/>
                </a:solidFill>
                <a:latin typeface="Source Sans 3" pitchFamily="34" charset="0"/>
                <a:ea typeface="Source Sans 3" pitchFamily="34" charset="-122"/>
                <a:cs typeface="Source Sans 3" pitchFamily="34" charset="-120"/>
              </a:rPr>
              <a:t> (Cancer developed in context of chronic autoimmune dysfunction and immune suppression)</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8EDF5"/>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A2440"/>
                </a:solidFill>
                <a:latin typeface="Playfair Display" pitchFamily="34" charset="0"/>
                <a:ea typeface="Playfair Display" pitchFamily="34" charset="-122"/>
                <a:cs typeface="Playfair Display" pitchFamily="34" charset="-120"/>
              </a:rPr>
              <a:t>Trustee's Analysis</a:t>
            </a:r>
            <a:endParaRPr lang="en-US" sz="2800" dirty="0"/>
          </a:p>
        </p:txBody>
      </p:sp>
      <p:sp>
        <p:nvSpPr>
          <p:cNvPr id="3" name="Shape 1"/>
          <p:cNvSpPr/>
          <p:nvPr/>
        </p:nvSpPr>
        <p:spPr>
          <a:xfrm>
            <a:off x="457200" y="868680"/>
            <a:ext cx="8229600" cy="393192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4" name="Text 2"/>
          <p:cNvSpPr/>
          <p:nvPr/>
        </p:nvSpPr>
        <p:spPr>
          <a:xfrm>
            <a:off x="640080" y="1005840"/>
            <a:ext cx="7863840" cy="3657600"/>
          </a:xfrm>
          <a:prstGeom prst="rect">
            <a:avLst/>
          </a:prstGeom>
          <a:noFill/>
          <a:ln/>
        </p:spPr>
        <p:txBody>
          <a:bodyPr wrap="square" rtlCol="0" anchor="t"/>
          <a:lstStyle/>
          <a:p>
            <a:pPr indent="0" marL="0">
              <a:buNone/>
            </a:pPr>
            <a:r>
              <a:rPr lang="en-US" sz="1200" dirty="0">
                <a:solidFill>
                  <a:srgbClr val="1A2440"/>
                </a:solidFill>
                <a:latin typeface="Source Sans 3" pitchFamily="34" charset="0"/>
                <a:ea typeface="Source Sans 3" pitchFamily="34" charset="-122"/>
                <a:cs typeface="Source Sans 3" pitchFamily="34" charset="-120"/>
              </a:rPr>
              <a:t>Comprehensive 90-day healing protocol designed to halt metastatic adenocarcinoma, deeply rebalance Annette’s immune and thyroid axes (dual Graves/Hashimoto), and correct severe micronutrient and mitochondrial depletion, with targeted anti-cancer, anti-inflammatory, and gut-immune interventions. Aggressive IV, IM, peptide, ECS, and detoxification modalities will be layered with mitochondrial/sirtuin support, microbiome restoration, and careful thyroid monitoring throughout for safety and optimal outcomes.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8EDF5"/>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A2440"/>
                </a:solidFill>
                <a:latin typeface="Playfair Display" pitchFamily="34" charset="0"/>
                <a:ea typeface="Playfair Display" pitchFamily="34" charset="-122"/>
                <a:cs typeface="Playfair Display" pitchFamily="34" charset="-120"/>
              </a:rPr>
              <a:t>Root Cause Analysis</a:t>
            </a:r>
            <a:endParaRPr lang="en-US" sz="2800" dirty="0"/>
          </a:p>
        </p:txBody>
      </p:sp>
      <p:sp>
        <p:nvSpPr>
          <p:cNvPr id="3" name="Shape 1"/>
          <p:cNvSpPr/>
          <p:nvPr/>
        </p:nvSpPr>
        <p:spPr>
          <a:xfrm>
            <a:off x="457200" y="914400"/>
            <a:ext cx="8229600" cy="73152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4" name="Shape 2"/>
          <p:cNvSpPr/>
          <p:nvPr/>
        </p:nvSpPr>
        <p:spPr>
          <a:xfrm>
            <a:off x="457200" y="914400"/>
            <a:ext cx="73152" cy="731520"/>
          </a:xfrm>
          <a:prstGeom prst="rect">
            <a:avLst/>
          </a:prstGeom>
          <a:solidFill>
            <a:srgbClr val="C62828"/>
          </a:solidFill>
          <a:ln/>
        </p:spPr>
      </p:sp>
      <p:sp>
        <p:nvSpPr>
          <p:cNvPr id="5" name="Text 3"/>
          <p:cNvSpPr/>
          <p:nvPr/>
        </p:nvSpPr>
        <p:spPr>
          <a:xfrm>
            <a:off x="640080" y="914400"/>
            <a:ext cx="2743200" cy="365760"/>
          </a:xfrm>
          <a:prstGeom prst="rect">
            <a:avLst/>
          </a:prstGeom>
          <a:noFill/>
          <a:ln/>
        </p:spPr>
        <p:txBody>
          <a:bodyPr wrap="square" rtlCol="0" anchor="ctr"/>
          <a:lstStyle/>
          <a:p>
            <a:pPr indent="0" marL="0">
              <a:buNone/>
            </a:pPr>
            <a:r>
              <a:rPr lang="en-US" sz="1200" b="1" dirty="0">
                <a:solidFill>
                  <a:srgbClr val="1A2440"/>
                </a:solidFill>
                <a:latin typeface="Playfair Display" pitchFamily="34" charset="0"/>
                <a:ea typeface="Playfair Display" pitchFamily="34" charset="-122"/>
                <a:cs typeface="Playfair Display" pitchFamily="34" charset="-120"/>
              </a:rPr>
              <a:t>1. Chronic autoimmune dysregulation</a:t>
            </a:r>
            <a:endParaRPr lang="en-US" sz="1200" dirty="0"/>
          </a:p>
        </p:txBody>
      </p:sp>
      <p:sp>
        <p:nvSpPr>
          <p:cNvPr id="6" name="Text 4"/>
          <p:cNvSpPr/>
          <p:nvPr/>
        </p:nvSpPr>
        <p:spPr>
          <a:xfrm>
            <a:off x="640080" y="1243584"/>
            <a:ext cx="1828800" cy="292608"/>
          </a:xfrm>
          <a:prstGeom prst="rect">
            <a:avLst/>
          </a:prstGeom>
          <a:noFill/>
          <a:ln/>
        </p:spPr>
        <p:txBody>
          <a:bodyPr wrap="square" rtlCol="0" anchor="t"/>
          <a:lstStyle/>
          <a:p>
            <a:pPr indent="0" marL="0">
              <a:buNone/>
            </a:pPr>
            <a:r>
              <a:rPr lang="en-US" sz="800" dirty="0">
                <a:solidFill>
                  <a:srgbClr val="C62828"/>
                </a:solidFill>
                <a:latin typeface="Source Sans 3" pitchFamily="34" charset="0"/>
                <a:ea typeface="Source Sans 3" pitchFamily="34" charset="-122"/>
                <a:cs typeface="Source Sans 3" pitchFamily="34" charset="-120"/>
              </a:rPr>
              <a:t>PRIMARY</a:t>
            </a:r>
            <a:endParaRPr lang="en-US" sz="800" dirty="0"/>
          </a:p>
        </p:txBody>
      </p:sp>
      <p:sp>
        <p:nvSpPr>
          <p:cNvPr id="7" name="Text 5"/>
          <p:cNvSpPr/>
          <p:nvPr/>
        </p:nvSpPr>
        <p:spPr>
          <a:xfrm>
            <a:off x="3200400" y="914400"/>
            <a:ext cx="5303520" cy="731520"/>
          </a:xfrm>
          <a:prstGeom prst="rect">
            <a:avLst/>
          </a:prstGeom>
          <a:noFill/>
          <a:ln/>
        </p:spPr>
        <p:txBody>
          <a:bodyPr wrap="square" rtlCol="0" anchor="ctr"/>
          <a:lstStyle/>
          <a:p>
            <a:pPr indent="0" marL="0">
              <a:buNone/>
            </a:pPr>
            <a:r>
              <a:rPr lang="en-US" sz="1000" dirty="0">
                <a:solidFill>
                  <a:srgbClr val="1A2440"/>
                </a:solidFill>
                <a:latin typeface="Source Sans 3" pitchFamily="34" charset="0"/>
                <a:ea typeface="Source Sans 3" pitchFamily="34" charset="-122"/>
                <a:cs typeface="Source Sans 3" pitchFamily="34" charset="-120"/>
              </a:rPr>
              <a:t>Dual Graves/Hashimoto coexistence with profound loss of immune tolerance led to immune suppression and enabled cancer development.</a:t>
            </a:r>
            <a:endParaRPr lang="en-US" sz="1000" dirty="0"/>
          </a:p>
        </p:txBody>
      </p:sp>
      <p:sp>
        <p:nvSpPr>
          <p:cNvPr id="8" name="Shape 6"/>
          <p:cNvSpPr/>
          <p:nvPr/>
        </p:nvSpPr>
        <p:spPr>
          <a:xfrm>
            <a:off x="457200" y="1737360"/>
            <a:ext cx="8229600" cy="73152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9" name="Shape 7"/>
          <p:cNvSpPr/>
          <p:nvPr/>
        </p:nvSpPr>
        <p:spPr>
          <a:xfrm>
            <a:off x="457200" y="1737360"/>
            <a:ext cx="73152" cy="731520"/>
          </a:xfrm>
          <a:prstGeom prst="rect">
            <a:avLst/>
          </a:prstGeom>
          <a:solidFill>
            <a:srgbClr val="C9A54E"/>
          </a:solidFill>
          <a:ln/>
        </p:spPr>
      </p:sp>
      <p:sp>
        <p:nvSpPr>
          <p:cNvPr id="10" name="Text 8"/>
          <p:cNvSpPr/>
          <p:nvPr/>
        </p:nvSpPr>
        <p:spPr>
          <a:xfrm>
            <a:off x="640080" y="1737360"/>
            <a:ext cx="2743200" cy="365760"/>
          </a:xfrm>
          <a:prstGeom prst="rect">
            <a:avLst/>
          </a:prstGeom>
          <a:noFill/>
          <a:ln/>
        </p:spPr>
        <p:txBody>
          <a:bodyPr wrap="square" rtlCol="0" anchor="ctr"/>
          <a:lstStyle/>
          <a:p>
            <a:pPr indent="0" marL="0">
              <a:buNone/>
            </a:pPr>
            <a:r>
              <a:rPr lang="en-US" sz="1200" b="1" dirty="0">
                <a:solidFill>
                  <a:srgbClr val="1A2440"/>
                </a:solidFill>
                <a:latin typeface="Playfair Display" pitchFamily="34" charset="0"/>
                <a:ea typeface="Playfair Display" pitchFamily="34" charset="-122"/>
                <a:cs typeface="Playfair Display" pitchFamily="34" charset="-120"/>
              </a:rPr>
              <a:t>2. Mineral and nutrient depletion</a:t>
            </a:r>
            <a:endParaRPr lang="en-US" sz="1200" dirty="0"/>
          </a:p>
        </p:txBody>
      </p:sp>
      <p:sp>
        <p:nvSpPr>
          <p:cNvPr id="11" name="Text 9"/>
          <p:cNvSpPr/>
          <p:nvPr/>
        </p:nvSpPr>
        <p:spPr>
          <a:xfrm>
            <a:off x="640080" y="2066544"/>
            <a:ext cx="1828800" cy="292608"/>
          </a:xfrm>
          <a:prstGeom prst="rect">
            <a:avLst/>
          </a:prstGeom>
          <a:noFill/>
          <a:ln/>
        </p:spPr>
        <p:txBody>
          <a:bodyPr wrap="square" rtlCol="0" anchor="t"/>
          <a:lstStyle/>
          <a:p>
            <a:pPr indent="0" marL="0">
              <a:buNone/>
            </a:pPr>
            <a:r>
              <a:rPr lang="en-US" sz="800" dirty="0">
                <a:solidFill>
                  <a:srgbClr val="C9A54E"/>
                </a:solidFill>
                <a:latin typeface="Source Sans 3" pitchFamily="34" charset="0"/>
                <a:ea typeface="Source Sans 3" pitchFamily="34" charset="-122"/>
                <a:cs typeface="Source Sans 3" pitchFamily="34" charset="-120"/>
              </a:rPr>
              <a:t>SECONDARY</a:t>
            </a:r>
            <a:endParaRPr lang="en-US" sz="800" dirty="0"/>
          </a:p>
        </p:txBody>
      </p:sp>
      <p:sp>
        <p:nvSpPr>
          <p:cNvPr id="12" name="Text 10"/>
          <p:cNvSpPr/>
          <p:nvPr/>
        </p:nvSpPr>
        <p:spPr>
          <a:xfrm>
            <a:off x="3200400" y="1737360"/>
            <a:ext cx="5303520" cy="731520"/>
          </a:xfrm>
          <a:prstGeom prst="rect">
            <a:avLst/>
          </a:prstGeom>
          <a:noFill/>
          <a:ln/>
        </p:spPr>
        <p:txBody>
          <a:bodyPr wrap="square" rtlCol="0" anchor="ctr"/>
          <a:lstStyle/>
          <a:p>
            <a:pPr indent="0" marL="0">
              <a:buNone/>
            </a:pPr>
            <a:r>
              <a:rPr lang="en-US" sz="1000" dirty="0">
                <a:solidFill>
                  <a:srgbClr val="1A2440"/>
                </a:solidFill>
                <a:latin typeface="Source Sans 3" pitchFamily="34" charset="0"/>
                <a:ea typeface="Source Sans 3" pitchFamily="34" charset="-122"/>
                <a:cs typeface="Source Sans 3" pitchFamily="34" charset="-120"/>
              </a:rPr>
              <a:t>Years of thyroid autoimmunity depleted selenium, iodide, zinc, vitamin D, B-vitamins, enabling cancer progression and energy decline.</a:t>
            </a:r>
            <a:endParaRPr lang="en-US" sz="1000" dirty="0"/>
          </a:p>
        </p:txBody>
      </p:sp>
      <p:sp>
        <p:nvSpPr>
          <p:cNvPr id="13" name="Shape 11"/>
          <p:cNvSpPr/>
          <p:nvPr/>
        </p:nvSpPr>
        <p:spPr>
          <a:xfrm>
            <a:off x="457200" y="2560320"/>
            <a:ext cx="8229600" cy="73152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14" name="Shape 12"/>
          <p:cNvSpPr/>
          <p:nvPr/>
        </p:nvSpPr>
        <p:spPr>
          <a:xfrm>
            <a:off x="457200" y="2560320"/>
            <a:ext cx="73152" cy="731520"/>
          </a:xfrm>
          <a:prstGeom prst="rect">
            <a:avLst/>
          </a:prstGeom>
          <a:solidFill>
            <a:srgbClr val="C8CFE0"/>
          </a:solidFill>
          <a:ln/>
        </p:spPr>
      </p:sp>
      <p:sp>
        <p:nvSpPr>
          <p:cNvPr id="15" name="Text 13"/>
          <p:cNvSpPr/>
          <p:nvPr/>
        </p:nvSpPr>
        <p:spPr>
          <a:xfrm>
            <a:off x="640080" y="2560320"/>
            <a:ext cx="2743200" cy="365760"/>
          </a:xfrm>
          <a:prstGeom prst="rect">
            <a:avLst/>
          </a:prstGeom>
          <a:noFill/>
          <a:ln/>
        </p:spPr>
        <p:txBody>
          <a:bodyPr wrap="square" rtlCol="0" anchor="ctr"/>
          <a:lstStyle/>
          <a:p>
            <a:pPr indent="0" marL="0">
              <a:buNone/>
            </a:pPr>
            <a:r>
              <a:rPr lang="en-US" sz="1200" b="1" dirty="0">
                <a:solidFill>
                  <a:srgbClr val="1A2440"/>
                </a:solidFill>
                <a:latin typeface="Playfair Display" pitchFamily="34" charset="0"/>
                <a:ea typeface="Playfair Display" pitchFamily="34" charset="-122"/>
                <a:cs typeface="Playfair Display" pitchFamily="34" charset="-120"/>
              </a:rPr>
              <a:t>3. Chronic inflammation and NF-κB activation</a:t>
            </a:r>
            <a:endParaRPr lang="en-US" sz="1200" dirty="0"/>
          </a:p>
        </p:txBody>
      </p:sp>
      <p:sp>
        <p:nvSpPr>
          <p:cNvPr id="16" name="Text 14"/>
          <p:cNvSpPr/>
          <p:nvPr/>
        </p:nvSpPr>
        <p:spPr>
          <a:xfrm>
            <a:off x="640080" y="2889504"/>
            <a:ext cx="1828800" cy="292608"/>
          </a:xfrm>
          <a:prstGeom prst="rect">
            <a:avLst/>
          </a:prstGeom>
          <a:noFill/>
          <a:ln/>
        </p:spPr>
        <p:txBody>
          <a:bodyPr wrap="square" rtlCol="0" anchor="t"/>
          <a:lstStyle/>
          <a:p>
            <a:pPr indent="0" marL="0">
              <a:buNone/>
            </a:pPr>
            <a:r>
              <a:rPr lang="en-US" sz="800" dirty="0">
                <a:solidFill>
                  <a:srgbClr val="C8CFE0"/>
                </a:solidFill>
                <a:latin typeface="Source Sans 3" pitchFamily="34" charset="0"/>
                <a:ea typeface="Source Sans 3" pitchFamily="34" charset="-122"/>
                <a:cs typeface="Source Sans 3" pitchFamily="34" charset="-120"/>
              </a:rPr>
              <a:t>TERTIARY</a:t>
            </a:r>
            <a:endParaRPr lang="en-US" sz="800" dirty="0"/>
          </a:p>
        </p:txBody>
      </p:sp>
      <p:sp>
        <p:nvSpPr>
          <p:cNvPr id="17" name="Text 15"/>
          <p:cNvSpPr/>
          <p:nvPr/>
        </p:nvSpPr>
        <p:spPr>
          <a:xfrm>
            <a:off x="3200400" y="2560320"/>
            <a:ext cx="5303520" cy="731520"/>
          </a:xfrm>
          <a:prstGeom prst="rect">
            <a:avLst/>
          </a:prstGeom>
          <a:noFill/>
          <a:ln/>
        </p:spPr>
        <p:txBody>
          <a:bodyPr wrap="square" rtlCol="0" anchor="ctr"/>
          <a:lstStyle/>
          <a:p>
            <a:pPr indent="0" marL="0">
              <a:buNone/>
            </a:pPr>
            <a:r>
              <a:rPr lang="en-US" sz="1000" dirty="0">
                <a:solidFill>
                  <a:srgbClr val="1A2440"/>
                </a:solidFill>
                <a:latin typeface="Source Sans 3" pitchFamily="34" charset="0"/>
                <a:ea typeface="Source Sans 3" pitchFamily="34" charset="-122"/>
                <a:cs typeface="Source Sans 3" pitchFamily="34" charset="-120"/>
              </a:rPr>
              <a:t>Autoimmune-driven inflammatory cytokines and unregulated NF-κB fueled systemic and local cancer-promoting microenvironment.</a:t>
            </a:r>
            <a:endParaRPr lang="en-US" sz="1000" dirty="0"/>
          </a:p>
        </p:txBody>
      </p:sp>
      <p:sp>
        <p:nvSpPr>
          <p:cNvPr id="18" name="Shape 16"/>
          <p:cNvSpPr/>
          <p:nvPr/>
        </p:nvSpPr>
        <p:spPr>
          <a:xfrm>
            <a:off x="457200" y="3383280"/>
            <a:ext cx="8229600" cy="73152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19" name="Shape 17"/>
          <p:cNvSpPr/>
          <p:nvPr/>
        </p:nvSpPr>
        <p:spPr>
          <a:xfrm>
            <a:off x="457200" y="3383280"/>
            <a:ext cx="73152" cy="731520"/>
          </a:xfrm>
          <a:prstGeom prst="rect">
            <a:avLst/>
          </a:prstGeom>
          <a:solidFill>
            <a:srgbClr val="2E7D32"/>
          </a:solidFill>
          <a:ln/>
        </p:spPr>
      </p:sp>
      <p:sp>
        <p:nvSpPr>
          <p:cNvPr id="20" name="Text 18"/>
          <p:cNvSpPr/>
          <p:nvPr/>
        </p:nvSpPr>
        <p:spPr>
          <a:xfrm>
            <a:off x="640080" y="3383280"/>
            <a:ext cx="2743200" cy="365760"/>
          </a:xfrm>
          <a:prstGeom prst="rect">
            <a:avLst/>
          </a:prstGeom>
          <a:noFill/>
          <a:ln/>
        </p:spPr>
        <p:txBody>
          <a:bodyPr wrap="square" rtlCol="0" anchor="ctr"/>
          <a:lstStyle/>
          <a:p>
            <a:pPr indent="0" marL="0">
              <a:buNone/>
            </a:pPr>
            <a:r>
              <a:rPr lang="en-US" sz="1200" b="1" dirty="0">
                <a:solidFill>
                  <a:srgbClr val="1A2440"/>
                </a:solidFill>
                <a:latin typeface="Playfair Display" pitchFamily="34" charset="0"/>
                <a:ea typeface="Playfair Display" pitchFamily="34" charset="-122"/>
                <a:cs typeface="Playfair Display" pitchFamily="34" charset="-120"/>
              </a:rPr>
              <a:t>4. Gut permeability and microbiome dysfunction</a:t>
            </a:r>
            <a:endParaRPr lang="en-US" sz="1200" dirty="0"/>
          </a:p>
        </p:txBody>
      </p:sp>
      <p:sp>
        <p:nvSpPr>
          <p:cNvPr id="21" name="Text 19"/>
          <p:cNvSpPr/>
          <p:nvPr/>
        </p:nvSpPr>
        <p:spPr>
          <a:xfrm>
            <a:off x="640080" y="3712464"/>
            <a:ext cx="1828800" cy="292608"/>
          </a:xfrm>
          <a:prstGeom prst="rect">
            <a:avLst/>
          </a:prstGeom>
          <a:noFill/>
          <a:ln/>
        </p:spPr>
        <p:txBody>
          <a:bodyPr wrap="square" rtlCol="0" anchor="t"/>
          <a:lstStyle/>
          <a:p>
            <a:pPr indent="0" marL="0">
              <a:buNone/>
            </a:pPr>
            <a:r>
              <a:rPr lang="en-US" sz="800" dirty="0">
                <a:solidFill>
                  <a:srgbClr val="2E7D32"/>
                </a:solidFill>
                <a:latin typeface="Source Sans 3" pitchFamily="34" charset="0"/>
                <a:ea typeface="Source Sans 3" pitchFamily="34" charset="-122"/>
                <a:cs typeface="Source Sans 3" pitchFamily="34" charset="-120"/>
              </a:rPr>
              <a:t>QUATERNARY</a:t>
            </a:r>
            <a:endParaRPr lang="en-US" sz="800" dirty="0"/>
          </a:p>
        </p:txBody>
      </p:sp>
      <p:sp>
        <p:nvSpPr>
          <p:cNvPr id="22" name="Text 20"/>
          <p:cNvSpPr/>
          <p:nvPr/>
        </p:nvSpPr>
        <p:spPr>
          <a:xfrm>
            <a:off x="3200400" y="3383280"/>
            <a:ext cx="5303520" cy="731520"/>
          </a:xfrm>
          <a:prstGeom prst="rect">
            <a:avLst/>
          </a:prstGeom>
          <a:noFill/>
          <a:ln/>
        </p:spPr>
        <p:txBody>
          <a:bodyPr wrap="square" rtlCol="0" anchor="ctr"/>
          <a:lstStyle/>
          <a:p>
            <a:pPr indent="0" marL="0">
              <a:buNone/>
            </a:pPr>
            <a:r>
              <a:rPr lang="en-US" sz="1000" dirty="0">
                <a:solidFill>
                  <a:srgbClr val="1A2440"/>
                </a:solidFill>
                <a:latin typeface="Source Sans 3" pitchFamily="34" charset="0"/>
                <a:ea typeface="Source Sans 3" pitchFamily="34" charset="-122"/>
                <a:cs typeface="Source Sans 3" pitchFamily="34" charset="-120"/>
              </a:rPr>
              <a:t>Leaky gut perpetuates immune confusion and chronic inflammatory signaling, fueling both thyroid autoimmunity and cancer.</a:t>
            </a:r>
            <a:endParaRPr lang="en-US" sz="1000" dirty="0"/>
          </a:p>
        </p:txBody>
      </p:sp>
      <p:sp>
        <p:nvSpPr>
          <p:cNvPr id="23" name="Shape 21"/>
          <p:cNvSpPr/>
          <p:nvPr/>
        </p:nvSpPr>
        <p:spPr>
          <a:xfrm>
            <a:off x="457200" y="4206240"/>
            <a:ext cx="8229600" cy="73152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24" name="Shape 22"/>
          <p:cNvSpPr/>
          <p:nvPr/>
        </p:nvSpPr>
        <p:spPr>
          <a:xfrm>
            <a:off x="457200" y="4206240"/>
            <a:ext cx="73152" cy="731520"/>
          </a:xfrm>
          <a:prstGeom prst="rect">
            <a:avLst/>
          </a:prstGeom>
          <a:solidFill>
            <a:srgbClr val="243055"/>
          </a:solidFill>
          <a:ln/>
        </p:spPr>
      </p:sp>
      <p:sp>
        <p:nvSpPr>
          <p:cNvPr id="25" name="Text 23"/>
          <p:cNvSpPr/>
          <p:nvPr/>
        </p:nvSpPr>
        <p:spPr>
          <a:xfrm>
            <a:off x="640080" y="4206240"/>
            <a:ext cx="2743200" cy="365760"/>
          </a:xfrm>
          <a:prstGeom prst="rect">
            <a:avLst/>
          </a:prstGeom>
          <a:noFill/>
          <a:ln/>
        </p:spPr>
        <p:txBody>
          <a:bodyPr wrap="square" rtlCol="0" anchor="ctr"/>
          <a:lstStyle/>
          <a:p>
            <a:pPr indent="0" marL="0">
              <a:buNone/>
            </a:pPr>
            <a:r>
              <a:rPr lang="en-US" sz="1200" b="1" dirty="0">
                <a:solidFill>
                  <a:srgbClr val="1A2440"/>
                </a:solidFill>
                <a:latin typeface="Playfair Display" pitchFamily="34" charset="0"/>
                <a:ea typeface="Playfair Display" pitchFamily="34" charset="-122"/>
                <a:cs typeface="Playfair Display" pitchFamily="34" charset="-120"/>
              </a:rPr>
              <a:t>5. Potential environmental toxin burden</a:t>
            </a:r>
            <a:endParaRPr lang="en-US" sz="1200" dirty="0"/>
          </a:p>
        </p:txBody>
      </p:sp>
      <p:sp>
        <p:nvSpPr>
          <p:cNvPr id="26" name="Text 24"/>
          <p:cNvSpPr/>
          <p:nvPr/>
        </p:nvSpPr>
        <p:spPr>
          <a:xfrm>
            <a:off x="640080" y="4535424"/>
            <a:ext cx="1828800" cy="292608"/>
          </a:xfrm>
          <a:prstGeom prst="rect">
            <a:avLst/>
          </a:prstGeom>
          <a:noFill/>
          <a:ln/>
        </p:spPr>
        <p:txBody>
          <a:bodyPr wrap="square" rtlCol="0" anchor="t"/>
          <a:lstStyle/>
          <a:p>
            <a:pPr indent="0" marL="0">
              <a:buNone/>
            </a:pPr>
            <a:r>
              <a:rPr lang="en-US" sz="800" dirty="0">
                <a:solidFill>
                  <a:srgbClr val="243055"/>
                </a:solidFill>
                <a:latin typeface="Source Sans 3" pitchFamily="34" charset="0"/>
                <a:ea typeface="Source Sans 3" pitchFamily="34" charset="-122"/>
                <a:cs typeface="Source Sans 3" pitchFamily="34" charset="-120"/>
              </a:rPr>
              <a:t>QUINARY</a:t>
            </a:r>
            <a:endParaRPr lang="en-US" sz="800" dirty="0"/>
          </a:p>
        </p:txBody>
      </p:sp>
      <p:sp>
        <p:nvSpPr>
          <p:cNvPr id="27" name="Text 25"/>
          <p:cNvSpPr/>
          <p:nvPr/>
        </p:nvSpPr>
        <p:spPr>
          <a:xfrm>
            <a:off x="3200400" y="4206240"/>
            <a:ext cx="5303520" cy="731520"/>
          </a:xfrm>
          <a:prstGeom prst="rect">
            <a:avLst/>
          </a:prstGeom>
          <a:noFill/>
          <a:ln/>
        </p:spPr>
        <p:txBody>
          <a:bodyPr wrap="square" rtlCol="0" anchor="ctr"/>
          <a:lstStyle/>
          <a:p>
            <a:pPr indent="0" marL="0">
              <a:buNone/>
            </a:pPr>
            <a:r>
              <a:rPr lang="en-US" sz="1000" dirty="0">
                <a:solidFill>
                  <a:srgbClr val="1A2440"/>
                </a:solidFill>
                <a:latin typeface="Source Sans 3" pitchFamily="34" charset="0"/>
                <a:ea typeface="Source Sans 3" pitchFamily="34" charset="-122"/>
                <a:cs typeface="Source Sans 3" pitchFamily="34" charset="-120"/>
              </a:rPr>
              <a:t>Likely lifetime accumulation of heavy metals, pesticides, environmental chemicals — burdening mitochondria, immune, and detoxification.</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E1A"/>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FFFFFF"/>
                </a:solidFill>
                <a:latin typeface="Playfair Display" pitchFamily="34" charset="0"/>
                <a:ea typeface="Playfair Display" pitchFamily="34" charset="-122"/>
                <a:cs typeface="Playfair Display" pitchFamily="34" charset="-120"/>
              </a:rPr>
              <a:t>5 R's to Healing at FF PMA</a:t>
            </a:r>
            <a:endParaRPr lang="en-US" sz="2800" dirty="0"/>
          </a:p>
        </p:txBody>
      </p:sp>
      <p:sp>
        <p:nvSpPr>
          <p:cNvPr id="3" name="Shape 1"/>
          <p:cNvSpPr/>
          <p:nvPr/>
        </p:nvSpPr>
        <p:spPr>
          <a:xfrm>
            <a:off x="457200" y="1005840"/>
            <a:ext cx="8229600" cy="685800"/>
          </a:xfrm>
          <a:prstGeom prst="rect">
            <a:avLst/>
          </a:prstGeom>
          <a:solidFill>
            <a:srgbClr val="243055"/>
          </a:solidFill>
          <a:ln/>
        </p:spPr>
      </p:sp>
      <p:sp>
        <p:nvSpPr>
          <p:cNvPr id="4" name="Shape 2"/>
          <p:cNvSpPr/>
          <p:nvPr/>
        </p:nvSpPr>
        <p:spPr>
          <a:xfrm>
            <a:off x="457200" y="1005840"/>
            <a:ext cx="73152" cy="685800"/>
          </a:xfrm>
          <a:prstGeom prst="rect">
            <a:avLst/>
          </a:prstGeom>
          <a:solidFill>
            <a:srgbClr val="C62828"/>
          </a:solidFill>
          <a:ln/>
        </p:spPr>
      </p:sp>
      <p:sp>
        <p:nvSpPr>
          <p:cNvPr id="5" name="Text 3"/>
          <p:cNvSpPr/>
          <p:nvPr/>
        </p:nvSpPr>
        <p:spPr>
          <a:xfrm>
            <a:off x="640080" y="1005840"/>
            <a:ext cx="3200400" cy="320040"/>
          </a:xfrm>
          <a:prstGeom prst="rect">
            <a:avLst/>
          </a:prstGeom>
          <a:noFill/>
          <a:ln/>
        </p:spPr>
        <p:txBody>
          <a:bodyPr wrap="square" rtlCol="0" anchor="ctr"/>
          <a:lstStyle/>
          <a:p>
            <a:pPr indent="0" marL="0">
              <a:buNone/>
            </a:pPr>
            <a:r>
              <a:rPr lang="en-US" sz="1300" b="1" dirty="0">
                <a:solidFill>
                  <a:srgbClr val="C62828"/>
                </a:solidFill>
                <a:latin typeface="Playfair Display" pitchFamily="34" charset="0"/>
                <a:ea typeface="Playfair Display" pitchFamily="34" charset="-122"/>
                <a:cs typeface="Playfair Display" pitchFamily="34" charset="-120"/>
              </a:rPr>
              <a:t>Phase 1: REMOVE (Weeks 1–3)</a:t>
            </a:r>
            <a:endParaRPr lang="en-US" sz="1300" dirty="0"/>
          </a:p>
        </p:txBody>
      </p:sp>
      <p:sp>
        <p:nvSpPr>
          <p:cNvPr id="6" name="Text 4"/>
          <p:cNvSpPr/>
          <p:nvPr/>
        </p:nvSpPr>
        <p:spPr>
          <a:xfrm>
            <a:off x="640080" y="1325880"/>
            <a:ext cx="1828800" cy="274320"/>
          </a:xfrm>
          <a:prstGeom prst="rect">
            <a:avLst/>
          </a:prstGeom>
          <a:noFill/>
          <a:ln/>
        </p:spPr>
        <p:txBody>
          <a:bodyPr wrap="square" rtlCol="0" anchor="t"/>
          <a:lstStyle/>
          <a:p>
            <a:pPr indent="0" marL="0">
              <a:buNone/>
            </a:pPr>
            <a:r>
              <a:rPr lang="en-US" sz="900" dirty="0">
                <a:solidFill>
                  <a:srgbClr val="5A6B8A"/>
                </a:solidFill>
                <a:latin typeface="Source Sans 3" pitchFamily="34" charset="0"/>
                <a:ea typeface="Source Sans 3" pitchFamily="34" charset="-122"/>
                <a:cs typeface="Source Sans 3" pitchFamily="34" charset="-120"/>
              </a:rPr>
              <a:t>1–3</a:t>
            </a:r>
            <a:endParaRPr lang="en-US" sz="900" dirty="0"/>
          </a:p>
        </p:txBody>
      </p:sp>
      <p:sp>
        <p:nvSpPr>
          <p:cNvPr id="7" name="Text 5"/>
          <p:cNvSpPr/>
          <p:nvPr/>
        </p:nvSpPr>
        <p:spPr>
          <a:xfrm>
            <a:off x="3840480" y="1005840"/>
            <a:ext cx="4663440" cy="685800"/>
          </a:xfrm>
          <a:prstGeom prst="rect">
            <a:avLst/>
          </a:prstGeom>
          <a:noFill/>
          <a:ln/>
        </p:spPr>
        <p:txBody>
          <a:bodyPr wrap="square" rtlCol="0" anchor="ctr"/>
          <a:lstStyle/>
          <a:p>
            <a:pPr indent="0" marL="0">
              <a:buNone/>
            </a:pPr>
            <a:r>
              <a:rPr lang="en-US" sz="1000" dirty="0">
                <a:solidFill>
                  <a:srgbClr val="FFFFFF"/>
                </a:solidFill>
                <a:latin typeface="Source Sans 3" pitchFamily="34" charset="0"/>
                <a:ea typeface="Source Sans 3" pitchFamily="34" charset="-122"/>
                <a:cs typeface="Source Sans 3" pitchFamily="34" charset="-120"/>
              </a:rPr>
              <a:t>Eliminate triggers (inflammatory foods, pathogens, parasites, toxins), debulk tumor-promoting signals, prep elimination pathways.</a:t>
            </a:r>
            <a:endParaRPr lang="en-US" sz="1000" dirty="0"/>
          </a:p>
        </p:txBody>
      </p:sp>
      <p:sp>
        <p:nvSpPr>
          <p:cNvPr id="8" name="Shape 6"/>
          <p:cNvSpPr/>
          <p:nvPr/>
        </p:nvSpPr>
        <p:spPr>
          <a:xfrm>
            <a:off x="457200" y="1783080"/>
            <a:ext cx="8229600" cy="685800"/>
          </a:xfrm>
          <a:prstGeom prst="rect">
            <a:avLst/>
          </a:prstGeom>
          <a:solidFill>
            <a:srgbClr val="243055"/>
          </a:solidFill>
          <a:ln/>
        </p:spPr>
      </p:sp>
      <p:sp>
        <p:nvSpPr>
          <p:cNvPr id="9" name="Shape 7"/>
          <p:cNvSpPr/>
          <p:nvPr/>
        </p:nvSpPr>
        <p:spPr>
          <a:xfrm>
            <a:off x="457200" y="1783080"/>
            <a:ext cx="73152" cy="685800"/>
          </a:xfrm>
          <a:prstGeom prst="rect">
            <a:avLst/>
          </a:prstGeom>
          <a:solidFill>
            <a:srgbClr val="C9A54E"/>
          </a:solidFill>
          <a:ln/>
        </p:spPr>
      </p:sp>
      <p:sp>
        <p:nvSpPr>
          <p:cNvPr id="10" name="Text 8"/>
          <p:cNvSpPr/>
          <p:nvPr/>
        </p:nvSpPr>
        <p:spPr>
          <a:xfrm>
            <a:off x="640080" y="1783080"/>
            <a:ext cx="3200400" cy="320040"/>
          </a:xfrm>
          <a:prstGeom prst="rect">
            <a:avLst/>
          </a:prstGeom>
          <a:noFill/>
          <a:ln/>
        </p:spPr>
        <p:txBody>
          <a:bodyPr wrap="square" rtlCol="0" anchor="ctr"/>
          <a:lstStyle/>
          <a:p>
            <a:pPr indent="0" marL="0">
              <a:buNone/>
            </a:pPr>
            <a:r>
              <a:rPr lang="en-US" sz="1300" b="1" dirty="0">
                <a:solidFill>
                  <a:srgbClr val="C9A54E"/>
                </a:solidFill>
                <a:latin typeface="Playfair Display" pitchFamily="34" charset="0"/>
                <a:ea typeface="Playfair Display" pitchFamily="34" charset="-122"/>
                <a:cs typeface="Playfair Display" pitchFamily="34" charset="-120"/>
              </a:rPr>
              <a:t>Phase 2: RESTORE (Weeks 4–5)</a:t>
            </a:r>
            <a:endParaRPr lang="en-US" sz="1300" dirty="0"/>
          </a:p>
        </p:txBody>
      </p:sp>
      <p:sp>
        <p:nvSpPr>
          <p:cNvPr id="11" name="Text 9"/>
          <p:cNvSpPr/>
          <p:nvPr/>
        </p:nvSpPr>
        <p:spPr>
          <a:xfrm>
            <a:off x="640080" y="2103120"/>
            <a:ext cx="1828800" cy="274320"/>
          </a:xfrm>
          <a:prstGeom prst="rect">
            <a:avLst/>
          </a:prstGeom>
          <a:noFill/>
          <a:ln/>
        </p:spPr>
        <p:txBody>
          <a:bodyPr wrap="square" rtlCol="0" anchor="t"/>
          <a:lstStyle/>
          <a:p>
            <a:pPr indent="0" marL="0">
              <a:buNone/>
            </a:pPr>
            <a:r>
              <a:rPr lang="en-US" sz="900" dirty="0">
                <a:solidFill>
                  <a:srgbClr val="5A6B8A"/>
                </a:solidFill>
                <a:latin typeface="Source Sans 3" pitchFamily="34" charset="0"/>
                <a:ea typeface="Source Sans 3" pitchFamily="34" charset="-122"/>
                <a:cs typeface="Source Sans 3" pitchFamily="34" charset="-120"/>
              </a:rPr>
              <a:t>4–5</a:t>
            </a:r>
            <a:endParaRPr lang="en-US" sz="900" dirty="0"/>
          </a:p>
        </p:txBody>
      </p:sp>
      <p:sp>
        <p:nvSpPr>
          <p:cNvPr id="12" name="Text 10"/>
          <p:cNvSpPr/>
          <p:nvPr/>
        </p:nvSpPr>
        <p:spPr>
          <a:xfrm>
            <a:off x="3840480" y="1783080"/>
            <a:ext cx="4663440" cy="685800"/>
          </a:xfrm>
          <a:prstGeom prst="rect">
            <a:avLst/>
          </a:prstGeom>
          <a:noFill/>
          <a:ln/>
        </p:spPr>
        <p:txBody>
          <a:bodyPr wrap="square" rtlCol="0" anchor="ctr"/>
          <a:lstStyle/>
          <a:p>
            <a:pPr indent="0" marL="0">
              <a:buNone/>
            </a:pPr>
            <a:r>
              <a:rPr lang="en-US" sz="1000" dirty="0">
                <a:solidFill>
                  <a:srgbClr val="FFFFFF"/>
                </a:solidFill>
                <a:latin typeface="Source Sans 3" pitchFamily="34" charset="0"/>
                <a:ea typeface="Source Sans 3" pitchFamily="34" charset="-122"/>
                <a:cs typeface="Source Sans 3" pitchFamily="34" charset="-120"/>
              </a:rPr>
              <a:t>Restore gut/immune/thyroid communication, seed/rebuild microbiome, begin cellular/mitochondrial repair.</a:t>
            </a:r>
            <a:endParaRPr lang="en-US" sz="1000" dirty="0"/>
          </a:p>
        </p:txBody>
      </p:sp>
      <p:sp>
        <p:nvSpPr>
          <p:cNvPr id="13" name="Shape 11"/>
          <p:cNvSpPr/>
          <p:nvPr/>
        </p:nvSpPr>
        <p:spPr>
          <a:xfrm>
            <a:off x="457200" y="2560320"/>
            <a:ext cx="8229600" cy="685800"/>
          </a:xfrm>
          <a:prstGeom prst="rect">
            <a:avLst/>
          </a:prstGeom>
          <a:solidFill>
            <a:srgbClr val="243055"/>
          </a:solidFill>
          <a:ln/>
        </p:spPr>
      </p:sp>
      <p:sp>
        <p:nvSpPr>
          <p:cNvPr id="14" name="Shape 12"/>
          <p:cNvSpPr/>
          <p:nvPr/>
        </p:nvSpPr>
        <p:spPr>
          <a:xfrm>
            <a:off x="457200" y="2560320"/>
            <a:ext cx="73152" cy="685800"/>
          </a:xfrm>
          <a:prstGeom prst="rect">
            <a:avLst/>
          </a:prstGeom>
          <a:solidFill>
            <a:srgbClr val="C8CFE0"/>
          </a:solidFill>
          <a:ln/>
        </p:spPr>
      </p:sp>
      <p:sp>
        <p:nvSpPr>
          <p:cNvPr id="15" name="Text 13"/>
          <p:cNvSpPr/>
          <p:nvPr/>
        </p:nvSpPr>
        <p:spPr>
          <a:xfrm>
            <a:off x="640080" y="2560320"/>
            <a:ext cx="3200400" cy="320040"/>
          </a:xfrm>
          <a:prstGeom prst="rect">
            <a:avLst/>
          </a:prstGeom>
          <a:noFill/>
          <a:ln/>
        </p:spPr>
        <p:txBody>
          <a:bodyPr wrap="square" rtlCol="0" anchor="ctr"/>
          <a:lstStyle/>
          <a:p>
            <a:pPr indent="0" marL="0">
              <a:buNone/>
            </a:pPr>
            <a:r>
              <a:rPr lang="en-US" sz="1300" b="1" dirty="0">
                <a:solidFill>
                  <a:srgbClr val="C8CFE0"/>
                </a:solidFill>
                <a:latin typeface="Playfair Display" pitchFamily="34" charset="0"/>
                <a:ea typeface="Playfair Display" pitchFamily="34" charset="-122"/>
                <a:cs typeface="Playfair Display" pitchFamily="34" charset="-120"/>
              </a:rPr>
              <a:t>Phase 3: REPLENISH (Weeks 6–7)</a:t>
            </a:r>
            <a:endParaRPr lang="en-US" sz="1300" dirty="0"/>
          </a:p>
        </p:txBody>
      </p:sp>
      <p:sp>
        <p:nvSpPr>
          <p:cNvPr id="16" name="Text 14"/>
          <p:cNvSpPr/>
          <p:nvPr/>
        </p:nvSpPr>
        <p:spPr>
          <a:xfrm>
            <a:off x="640080" y="2880360"/>
            <a:ext cx="1828800" cy="274320"/>
          </a:xfrm>
          <a:prstGeom prst="rect">
            <a:avLst/>
          </a:prstGeom>
          <a:noFill/>
          <a:ln/>
        </p:spPr>
        <p:txBody>
          <a:bodyPr wrap="square" rtlCol="0" anchor="t"/>
          <a:lstStyle/>
          <a:p>
            <a:pPr indent="0" marL="0">
              <a:buNone/>
            </a:pPr>
            <a:r>
              <a:rPr lang="en-US" sz="900" dirty="0">
                <a:solidFill>
                  <a:srgbClr val="5A6B8A"/>
                </a:solidFill>
                <a:latin typeface="Source Sans 3" pitchFamily="34" charset="0"/>
                <a:ea typeface="Source Sans 3" pitchFamily="34" charset="-122"/>
                <a:cs typeface="Source Sans 3" pitchFamily="34" charset="-120"/>
              </a:rPr>
              <a:t>6–7</a:t>
            </a:r>
            <a:endParaRPr lang="en-US" sz="900" dirty="0"/>
          </a:p>
        </p:txBody>
      </p:sp>
      <p:sp>
        <p:nvSpPr>
          <p:cNvPr id="17" name="Text 15"/>
          <p:cNvSpPr/>
          <p:nvPr/>
        </p:nvSpPr>
        <p:spPr>
          <a:xfrm>
            <a:off x="3840480" y="2560320"/>
            <a:ext cx="4663440" cy="685800"/>
          </a:xfrm>
          <a:prstGeom prst="rect">
            <a:avLst/>
          </a:prstGeom>
          <a:noFill/>
          <a:ln/>
        </p:spPr>
        <p:txBody>
          <a:bodyPr wrap="square" rtlCol="0" anchor="ctr"/>
          <a:lstStyle/>
          <a:p>
            <a:pPr indent="0" marL="0">
              <a:buNone/>
            </a:pPr>
            <a:r>
              <a:rPr lang="en-US" sz="1000" dirty="0">
                <a:solidFill>
                  <a:srgbClr val="FFFFFF"/>
                </a:solidFill>
                <a:latin typeface="Source Sans 3" pitchFamily="34" charset="0"/>
                <a:ea typeface="Source Sans 3" pitchFamily="34" charset="-122"/>
                <a:cs typeface="Source Sans 3" pitchFamily="34" charset="-120"/>
              </a:rPr>
              <a:t>Replete minerals, cofactors, vitamins, sirtuins, and build mitochondrial reserves to support anti-cancer immune activity.</a:t>
            </a:r>
            <a:endParaRPr lang="en-US" sz="1000" dirty="0"/>
          </a:p>
        </p:txBody>
      </p:sp>
      <p:sp>
        <p:nvSpPr>
          <p:cNvPr id="18" name="Shape 16"/>
          <p:cNvSpPr/>
          <p:nvPr/>
        </p:nvSpPr>
        <p:spPr>
          <a:xfrm>
            <a:off x="457200" y="3337560"/>
            <a:ext cx="8229600" cy="685800"/>
          </a:xfrm>
          <a:prstGeom prst="rect">
            <a:avLst/>
          </a:prstGeom>
          <a:solidFill>
            <a:srgbClr val="243055"/>
          </a:solidFill>
          <a:ln/>
        </p:spPr>
      </p:sp>
      <p:sp>
        <p:nvSpPr>
          <p:cNvPr id="19" name="Shape 17"/>
          <p:cNvSpPr/>
          <p:nvPr/>
        </p:nvSpPr>
        <p:spPr>
          <a:xfrm>
            <a:off x="457200" y="3337560"/>
            <a:ext cx="73152" cy="685800"/>
          </a:xfrm>
          <a:prstGeom prst="rect">
            <a:avLst/>
          </a:prstGeom>
          <a:solidFill>
            <a:srgbClr val="2E7D32"/>
          </a:solidFill>
          <a:ln/>
        </p:spPr>
      </p:sp>
      <p:sp>
        <p:nvSpPr>
          <p:cNvPr id="20" name="Text 18"/>
          <p:cNvSpPr/>
          <p:nvPr/>
        </p:nvSpPr>
        <p:spPr>
          <a:xfrm>
            <a:off x="640080" y="3337560"/>
            <a:ext cx="3200400" cy="320040"/>
          </a:xfrm>
          <a:prstGeom prst="rect">
            <a:avLst/>
          </a:prstGeom>
          <a:noFill/>
          <a:ln/>
        </p:spPr>
        <p:txBody>
          <a:bodyPr wrap="square" rtlCol="0" anchor="ctr"/>
          <a:lstStyle/>
          <a:p>
            <a:pPr indent="0" marL="0">
              <a:buNone/>
            </a:pPr>
            <a:r>
              <a:rPr lang="en-US" sz="1300" b="1" dirty="0">
                <a:solidFill>
                  <a:srgbClr val="2E7D32"/>
                </a:solidFill>
                <a:latin typeface="Playfair Display" pitchFamily="34" charset="0"/>
                <a:ea typeface="Playfair Display" pitchFamily="34" charset="-122"/>
                <a:cs typeface="Playfair Display" pitchFamily="34" charset="-120"/>
              </a:rPr>
              <a:t>Phase 4: REGENERATE (Weeks 8–10)</a:t>
            </a:r>
            <a:endParaRPr lang="en-US" sz="1300" dirty="0"/>
          </a:p>
        </p:txBody>
      </p:sp>
      <p:sp>
        <p:nvSpPr>
          <p:cNvPr id="21" name="Text 19"/>
          <p:cNvSpPr/>
          <p:nvPr/>
        </p:nvSpPr>
        <p:spPr>
          <a:xfrm>
            <a:off x="640080" y="3657600"/>
            <a:ext cx="1828800" cy="274320"/>
          </a:xfrm>
          <a:prstGeom prst="rect">
            <a:avLst/>
          </a:prstGeom>
          <a:noFill/>
          <a:ln/>
        </p:spPr>
        <p:txBody>
          <a:bodyPr wrap="square" rtlCol="0" anchor="t"/>
          <a:lstStyle/>
          <a:p>
            <a:pPr indent="0" marL="0">
              <a:buNone/>
            </a:pPr>
            <a:r>
              <a:rPr lang="en-US" sz="900" dirty="0">
                <a:solidFill>
                  <a:srgbClr val="5A6B8A"/>
                </a:solidFill>
                <a:latin typeface="Source Sans 3" pitchFamily="34" charset="0"/>
                <a:ea typeface="Source Sans 3" pitchFamily="34" charset="-122"/>
                <a:cs typeface="Source Sans 3" pitchFamily="34" charset="-120"/>
              </a:rPr>
              <a:t>8–10</a:t>
            </a:r>
            <a:endParaRPr lang="en-US" sz="900" dirty="0"/>
          </a:p>
        </p:txBody>
      </p:sp>
      <p:sp>
        <p:nvSpPr>
          <p:cNvPr id="22" name="Text 20"/>
          <p:cNvSpPr/>
          <p:nvPr/>
        </p:nvSpPr>
        <p:spPr>
          <a:xfrm>
            <a:off x="3840480" y="3337560"/>
            <a:ext cx="4663440" cy="685800"/>
          </a:xfrm>
          <a:prstGeom prst="rect">
            <a:avLst/>
          </a:prstGeom>
          <a:noFill/>
          <a:ln/>
        </p:spPr>
        <p:txBody>
          <a:bodyPr wrap="square" rtlCol="0" anchor="ctr"/>
          <a:lstStyle/>
          <a:p>
            <a:pPr indent="0" marL="0">
              <a:buNone/>
            </a:pPr>
            <a:r>
              <a:rPr lang="en-US" sz="1000" dirty="0">
                <a:solidFill>
                  <a:srgbClr val="FFFFFF"/>
                </a:solidFill>
                <a:latin typeface="Source Sans 3" pitchFamily="34" charset="0"/>
                <a:ea typeface="Source Sans 3" pitchFamily="34" charset="-122"/>
                <a:cs typeface="Source Sans 3" pitchFamily="34" charset="-120"/>
              </a:rPr>
              <a:t>Activate repair (peptides, exosomes), promote healthy immune surveillance, stabilize thyroid, and build anti-cancer resilience.</a:t>
            </a:r>
            <a:endParaRPr lang="en-US" sz="1000" dirty="0"/>
          </a:p>
        </p:txBody>
      </p:sp>
      <p:sp>
        <p:nvSpPr>
          <p:cNvPr id="23" name="Shape 21"/>
          <p:cNvSpPr/>
          <p:nvPr/>
        </p:nvSpPr>
        <p:spPr>
          <a:xfrm>
            <a:off x="457200" y="4114800"/>
            <a:ext cx="8229600" cy="685800"/>
          </a:xfrm>
          <a:prstGeom prst="rect">
            <a:avLst/>
          </a:prstGeom>
          <a:solidFill>
            <a:srgbClr val="243055"/>
          </a:solidFill>
          <a:ln/>
        </p:spPr>
      </p:sp>
      <p:sp>
        <p:nvSpPr>
          <p:cNvPr id="24" name="Shape 22"/>
          <p:cNvSpPr/>
          <p:nvPr/>
        </p:nvSpPr>
        <p:spPr>
          <a:xfrm>
            <a:off x="457200" y="4114800"/>
            <a:ext cx="73152" cy="685800"/>
          </a:xfrm>
          <a:prstGeom prst="rect">
            <a:avLst/>
          </a:prstGeom>
          <a:solidFill>
            <a:srgbClr val="243055"/>
          </a:solidFill>
          <a:ln/>
        </p:spPr>
      </p:sp>
      <p:sp>
        <p:nvSpPr>
          <p:cNvPr id="25" name="Text 23"/>
          <p:cNvSpPr/>
          <p:nvPr/>
        </p:nvSpPr>
        <p:spPr>
          <a:xfrm>
            <a:off x="640080" y="4114800"/>
            <a:ext cx="3200400" cy="320040"/>
          </a:xfrm>
          <a:prstGeom prst="rect">
            <a:avLst/>
          </a:prstGeom>
          <a:noFill/>
          <a:ln/>
        </p:spPr>
        <p:txBody>
          <a:bodyPr wrap="square" rtlCol="0" anchor="ctr"/>
          <a:lstStyle/>
          <a:p>
            <a:pPr indent="0" marL="0">
              <a:buNone/>
            </a:pPr>
            <a:r>
              <a:rPr lang="en-US" sz="1300" b="1" dirty="0">
                <a:solidFill>
                  <a:srgbClr val="243055"/>
                </a:solidFill>
                <a:latin typeface="Playfair Display" pitchFamily="34" charset="0"/>
                <a:ea typeface="Playfair Display" pitchFamily="34" charset="-122"/>
                <a:cs typeface="Playfair Display" pitchFamily="34" charset="-120"/>
              </a:rPr>
              <a:t>Phase 5: REBALANCE (Weeks 11–13)</a:t>
            </a:r>
            <a:endParaRPr lang="en-US" sz="1300" dirty="0"/>
          </a:p>
        </p:txBody>
      </p:sp>
      <p:sp>
        <p:nvSpPr>
          <p:cNvPr id="26" name="Text 24"/>
          <p:cNvSpPr/>
          <p:nvPr/>
        </p:nvSpPr>
        <p:spPr>
          <a:xfrm>
            <a:off x="640080" y="4434840"/>
            <a:ext cx="1828800" cy="274320"/>
          </a:xfrm>
          <a:prstGeom prst="rect">
            <a:avLst/>
          </a:prstGeom>
          <a:noFill/>
          <a:ln/>
        </p:spPr>
        <p:txBody>
          <a:bodyPr wrap="square" rtlCol="0" anchor="t"/>
          <a:lstStyle/>
          <a:p>
            <a:pPr indent="0" marL="0">
              <a:buNone/>
            </a:pPr>
            <a:r>
              <a:rPr lang="en-US" sz="900" dirty="0">
                <a:solidFill>
                  <a:srgbClr val="5A6B8A"/>
                </a:solidFill>
                <a:latin typeface="Source Sans 3" pitchFamily="34" charset="0"/>
                <a:ea typeface="Source Sans 3" pitchFamily="34" charset="-122"/>
                <a:cs typeface="Source Sans 3" pitchFamily="34" charset="-120"/>
              </a:rPr>
              <a:t>11–13</a:t>
            </a:r>
            <a:endParaRPr lang="en-US" sz="900" dirty="0"/>
          </a:p>
        </p:txBody>
      </p:sp>
      <p:sp>
        <p:nvSpPr>
          <p:cNvPr id="27" name="Text 25"/>
          <p:cNvSpPr/>
          <p:nvPr/>
        </p:nvSpPr>
        <p:spPr>
          <a:xfrm>
            <a:off x="3840480" y="4114800"/>
            <a:ext cx="4663440" cy="685800"/>
          </a:xfrm>
          <a:prstGeom prst="rect">
            <a:avLst/>
          </a:prstGeom>
          <a:noFill/>
          <a:ln/>
        </p:spPr>
        <p:txBody>
          <a:bodyPr wrap="square" rtlCol="0" anchor="ctr"/>
          <a:lstStyle/>
          <a:p>
            <a:pPr indent="0" marL="0">
              <a:buNone/>
            </a:pPr>
            <a:r>
              <a:rPr lang="en-US" sz="1000" dirty="0">
                <a:solidFill>
                  <a:srgbClr val="FFFFFF"/>
                </a:solidFill>
                <a:latin typeface="Source Sans 3" pitchFamily="34" charset="0"/>
                <a:ea typeface="Source Sans 3" pitchFamily="34" charset="-122"/>
                <a:cs typeface="Source Sans 3" pitchFamily="34" charset="-120"/>
              </a:rPr>
              <a:t>Recalibrate neuroimmune-endocrine signaling, maintain remission, establish sustainable home protocol.</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8EDF5"/>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A2440"/>
                </a:solidFill>
                <a:latin typeface="Playfair Display" pitchFamily="34" charset="0"/>
                <a:ea typeface="Playfair Display" pitchFamily="34" charset="-122"/>
                <a:cs typeface="Playfair Display" pitchFamily="34" charset="-120"/>
              </a:rPr>
              <a:t>Daily Schedule</a:t>
            </a:r>
            <a:endParaRPr lang="en-US" sz="2800" dirty="0"/>
          </a:p>
        </p:txBody>
      </p:sp>
      <p:sp>
        <p:nvSpPr>
          <p:cNvPr id="3" name="Shape 1"/>
          <p:cNvSpPr/>
          <p:nvPr/>
        </p:nvSpPr>
        <p:spPr>
          <a:xfrm>
            <a:off x="457200" y="914400"/>
            <a:ext cx="1965960" cy="320040"/>
          </a:xfrm>
          <a:prstGeom prst="rect">
            <a:avLst/>
          </a:prstGeom>
          <a:solidFill>
            <a:srgbClr val="C9A54E"/>
          </a:solidFill>
          <a:ln/>
        </p:spPr>
      </p:sp>
      <p:sp>
        <p:nvSpPr>
          <p:cNvPr id="4" name="Text 2"/>
          <p:cNvSpPr/>
          <p:nvPr/>
        </p:nvSpPr>
        <p:spPr>
          <a:xfrm>
            <a:off x="457200" y="914400"/>
            <a:ext cx="1965960" cy="320040"/>
          </a:xfrm>
          <a:prstGeom prst="rect">
            <a:avLst/>
          </a:prstGeom>
          <a:noFill/>
          <a:ln/>
        </p:spPr>
        <p:txBody>
          <a:bodyPr wrap="square"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MORNING</a:t>
            </a:r>
            <a:endParaRPr lang="en-US" sz="1100" dirty="0"/>
          </a:p>
        </p:txBody>
      </p:sp>
      <p:sp>
        <p:nvSpPr>
          <p:cNvPr id="5" name="Shape 3"/>
          <p:cNvSpPr/>
          <p:nvPr/>
        </p:nvSpPr>
        <p:spPr>
          <a:xfrm>
            <a:off x="457200" y="1234440"/>
            <a:ext cx="1965960" cy="347472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6" name="Text 4"/>
          <p:cNvSpPr/>
          <p:nvPr/>
        </p:nvSpPr>
        <p:spPr>
          <a:xfrm>
            <a:off x="502920" y="1280160"/>
            <a:ext cx="1874520" cy="3383280"/>
          </a:xfrm>
          <a:prstGeom prst="rect">
            <a:avLst/>
          </a:prstGeom>
          <a:noFill/>
          <a:ln/>
        </p:spPr>
        <p:txBody>
          <a:bodyPr wrap="square" rtlCol="0" anchor="t"/>
          <a:lstStyle/>
          <a:p>
            <a:pPr marL="342900" indent="-342900">
              <a:buSzPct val="100000"/>
              <a:buChar char="•"/>
            </a:pPr>
            <a:r>
              <a:rPr lang="en-US" sz="800" dirty="0">
                <a:solidFill>
                  <a:srgbClr val="1A2440"/>
                </a:solidFill>
                <a:latin typeface="Source Sans 3" pitchFamily="34" charset="0"/>
                <a:ea typeface="Source Sans 3" pitchFamily="34" charset="-122"/>
                <a:cs typeface="Source Sans 3" pitchFamily="34" charset="-120"/>
              </a:rPr>
              <a:t>Filtered water with French Celtic Salt — 12–16 oz, plus 1/4 tsp French Celtic Salt for electrolyte/mineral repletion.</a:t>
            </a:r>
            <a:endParaRPr lang="en-US" sz="800" dirty="0"/>
          </a:p>
          <a:p>
            <a:pPr marL="342900" indent="-342900">
              <a:buSzPct val="100000"/>
              <a:buChar char="•"/>
            </a:pPr>
            <a:r>
              <a:rPr lang="en-US" sz="800" dirty="0">
                <a:solidFill>
                  <a:srgbClr val="1A2440"/>
                </a:solidFill>
                <a:latin typeface="Source Sans 3" pitchFamily="34" charset="0"/>
                <a:ea typeface="Source Sans 3" pitchFamily="34" charset="-122"/>
                <a:cs typeface="Source Sans 3" pitchFamily="34" charset="-120"/>
              </a:rPr>
              <a:t>Bio-Vitamin All-in-One Liquid — 1 tablespoon (15mL) for micronutrient base.</a:t>
            </a:r>
            <a:endParaRPr lang="en-US" sz="800" dirty="0"/>
          </a:p>
          <a:p>
            <a:pPr marL="342900" indent="-342900">
              <a:buSzPct val="100000"/>
              <a:buChar char="•"/>
            </a:pPr>
            <a:r>
              <a:rPr lang="en-US" sz="800" dirty="0">
                <a:solidFill>
                  <a:srgbClr val="1A2440"/>
                </a:solidFill>
                <a:latin typeface="Source Sans 3" pitchFamily="34" charset="0"/>
                <a:ea typeface="Source Sans 3" pitchFamily="34" charset="-122"/>
                <a:cs typeface="Source Sans 3" pitchFamily="34" charset="-120"/>
              </a:rPr>
              <a:t>Gut Feeling (Vegan GI Formula) — 1 scoop in 8oz water to support gut healing, prebiotic fiber.</a:t>
            </a:r>
            <a:endParaRPr lang="en-US" sz="800" dirty="0"/>
          </a:p>
          <a:p>
            <a:pPr marL="342900" indent="-342900">
              <a:buSzPct val="100000"/>
              <a:buChar char="•"/>
            </a:pPr>
            <a:r>
              <a:rPr lang="en-US" sz="800" dirty="0">
                <a:solidFill>
                  <a:srgbClr val="1A2440"/>
                </a:solidFill>
                <a:latin typeface="Source Sans 3" pitchFamily="34" charset="0"/>
                <a:ea typeface="Source Sans 3" pitchFamily="34" charset="-122"/>
                <a:cs typeface="Source Sans 3" pitchFamily="34" charset="-120"/>
              </a:rPr>
              <a:t>KPV Oral Peptide Capsule — 500mcg, empty stomach.</a:t>
            </a:r>
            <a:endParaRPr lang="en-US" sz="800" dirty="0"/>
          </a:p>
          <a:p>
            <a:pPr marL="342900" indent="-342900">
              <a:buSzPct val="100000"/>
              <a:buChar char="•"/>
            </a:pPr>
            <a:r>
              <a:rPr lang="en-US" sz="800" dirty="0">
                <a:solidFill>
                  <a:srgbClr val="1A2440"/>
                </a:solidFill>
                <a:latin typeface="Source Sans 3" pitchFamily="34" charset="0"/>
                <a:ea typeface="Source Sans 3" pitchFamily="34" charset="-122"/>
                <a:cs typeface="Source Sans 3" pitchFamily="34" charset="-120"/>
              </a:rPr>
              <a:t>Elixir for Everything — 0.5–1ml sublingual.</a:t>
            </a:r>
            <a:endParaRPr lang="en-US" sz="800" dirty="0"/>
          </a:p>
          <a:p>
            <a:pPr marL="342900" indent="-342900">
              <a:buSzPct val="100000"/>
              <a:buChar char="•"/>
            </a:pPr>
            <a:r>
              <a:rPr lang="en-US" sz="800" dirty="0">
                <a:solidFill>
                  <a:srgbClr val="1A2440"/>
                </a:solidFill>
                <a:latin typeface="Source Sans 3" pitchFamily="34" charset="0"/>
                <a:ea typeface="Source Sans 3" pitchFamily="34" charset="-122"/>
                <a:cs typeface="Source Sans 3" pitchFamily="34" charset="-120"/>
              </a:rPr>
              <a:t>Sirtuin Stack — See sirtuinStack below.</a:t>
            </a:r>
            <a:endParaRPr lang="en-US" sz="800" dirty="0"/>
          </a:p>
          <a:p>
            <a:pPr marL="342900" indent="-342900">
              <a:buSzPct val="100000"/>
              <a:buChar char="•"/>
            </a:pPr>
            <a:r>
              <a:rPr lang="en-US" sz="800" dirty="0">
                <a:solidFill>
                  <a:srgbClr val="1A2440"/>
                </a:solidFill>
                <a:latin typeface="Source Sans 3" pitchFamily="34" charset="0"/>
                <a:ea typeface="Source Sans 3" pitchFamily="34" charset="-122"/>
                <a:cs typeface="Source Sans 3" pitchFamily="34" charset="-120"/>
              </a:rPr>
              <a:t>Mitochondrial Support Stack — CoQ10 100mg, PQQ 20mg, L-carnitine 500mg, D-ribose 3g.</a:t>
            </a:r>
            <a:endParaRPr lang="en-US" sz="800" dirty="0"/>
          </a:p>
          <a:p>
            <a:pPr marL="342900" indent="-342900">
              <a:buSzPct val="100000"/>
              <a:buChar char="•"/>
            </a:pPr>
            <a:r>
              <a:rPr lang="en-US" sz="800" dirty="0">
                <a:solidFill>
                  <a:srgbClr val="1A2440"/>
                </a:solidFill>
                <a:latin typeface="Source Sans 3" pitchFamily="34" charset="0"/>
                <a:ea typeface="Source Sans 3" pitchFamily="34" charset="-122"/>
                <a:cs typeface="Source Sans 3" pitchFamily="34" charset="-120"/>
              </a:rPr>
              <a:t>Liposomal Selenium/Magnesium/Zinc — 1 tablespoon.</a:t>
            </a:r>
            <a:endParaRPr lang="en-US" sz="800" dirty="0"/>
          </a:p>
          <a:p>
            <a:pPr marL="342900" indent="-342900">
              <a:buSzPct val="100000"/>
              <a:buChar char="•"/>
            </a:pPr>
            <a:r>
              <a:rPr lang="en-US" sz="800" dirty="0">
                <a:solidFill>
                  <a:srgbClr val="1A2440"/>
                </a:solidFill>
                <a:latin typeface="Source Sans 3" pitchFamily="34" charset="0"/>
                <a:ea typeface="Source Sans 3" pitchFamily="34" charset="-122"/>
                <a:cs typeface="Source Sans 3" pitchFamily="34" charset="-120"/>
              </a:rPr>
              <a:t>Vitamin D3/K2 Liposomal — 1 tablespoon.</a:t>
            </a:r>
            <a:endParaRPr lang="en-US" sz="800" dirty="0"/>
          </a:p>
          <a:p>
            <a:pPr marL="342900" indent="-342900">
              <a:buSzPct val="100000"/>
              <a:buChar char="•"/>
            </a:pPr>
            <a:r>
              <a:rPr lang="en-US" sz="800" dirty="0">
                <a:solidFill>
                  <a:srgbClr val="1A2440"/>
                </a:solidFill>
                <a:latin typeface="Source Sans 3" pitchFamily="34" charset="0"/>
                <a:ea typeface="Source Sans 3" pitchFamily="34" charset="-122"/>
                <a:cs typeface="Source Sans 3" pitchFamily="34" charset="-120"/>
              </a:rPr>
              <a:t>Adaptogen Greens with Digestive Enzymes — 1 scoop in water.</a:t>
            </a:r>
            <a:endParaRPr lang="en-US" sz="800" dirty="0"/>
          </a:p>
        </p:txBody>
      </p:sp>
      <p:sp>
        <p:nvSpPr>
          <p:cNvPr id="7" name="Shape 5"/>
          <p:cNvSpPr/>
          <p:nvPr/>
        </p:nvSpPr>
        <p:spPr>
          <a:xfrm>
            <a:off x="2560320" y="914400"/>
            <a:ext cx="1965960" cy="320040"/>
          </a:xfrm>
          <a:prstGeom prst="rect">
            <a:avLst/>
          </a:prstGeom>
          <a:solidFill>
            <a:srgbClr val="243055"/>
          </a:solidFill>
          <a:ln/>
        </p:spPr>
      </p:sp>
      <p:sp>
        <p:nvSpPr>
          <p:cNvPr id="8" name="Text 6"/>
          <p:cNvSpPr/>
          <p:nvPr/>
        </p:nvSpPr>
        <p:spPr>
          <a:xfrm>
            <a:off x="2560320" y="914400"/>
            <a:ext cx="1965960" cy="320040"/>
          </a:xfrm>
          <a:prstGeom prst="rect">
            <a:avLst/>
          </a:prstGeom>
          <a:noFill/>
          <a:ln/>
        </p:spPr>
        <p:txBody>
          <a:bodyPr wrap="square"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MIDDAY</a:t>
            </a:r>
            <a:endParaRPr lang="en-US" sz="1100" dirty="0"/>
          </a:p>
        </p:txBody>
      </p:sp>
      <p:sp>
        <p:nvSpPr>
          <p:cNvPr id="9" name="Shape 7"/>
          <p:cNvSpPr/>
          <p:nvPr/>
        </p:nvSpPr>
        <p:spPr>
          <a:xfrm>
            <a:off x="2560320" y="1234440"/>
            <a:ext cx="1965960" cy="347472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10" name="Text 8"/>
          <p:cNvSpPr/>
          <p:nvPr/>
        </p:nvSpPr>
        <p:spPr>
          <a:xfrm>
            <a:off x="2606040" y="1280160"/>
            <a:ext cx="1874520" cy="3383280"/>
          </a:xfrm>
          <a:prstGeom prst="rect">
            <a:avLst/>
          </a:prstGeom>
          <a:noFill/>
          <a:ln/>
        </p:spPr>
        <p:txBody>
          <a:bodyPr wrap="square" rtlCol="0" anchor="t"/>
          <a:lstStyle/>
          <a:p>
            <a:pPr marL="342900" indent="-342900">
              <a:buSzPct val="100000"/>
              <a:buChar char="•"/>
            </a:pPr>
            <a:r>
              <a:rPr lang="en-US" sz="800" dirty="0">
                <a:solidFill>
                  <a:srgbClr val="1A2440"/>
                </a:solidFill>
                <a:latin typeface="Source Sans 3" pitchFamily="34" charset="0"/>
                <a:ea typeface="Source Sans 3" pitchFamily="34" charset="-122"/>
                <a:cs typeface="Source Sans 3" pitchFamily="34" charset="-120"/>
              </a:rPr>
              <a:t>Complete REDS Powder — 1 scoop in water or smoothie.</a:t>
            </a:r>
            <a:endParaRPr lang="en-US" sz="800" dirty="0"/>
          </a:p>
          <a:p>
            <a:pPr marL="342900" indent="-342900">
              <a:buSzPct val="100000"/>
              <a:buChar char="•"/>
            </a:pPr>
            <a:r>
              <a:rPr lang="en-US" sz="800" dirty="0">
                <a:solidFill>
                  <a:srgbClr val="1A2440"/>
                </a:solidFill>
                <a:latin typeface="Source Sans 3" pitchFamily="34" charset="0"/>
                <a:ea typeface="Source Sans 3" pitchFamily="34" charset="-122"/>
                <a:cs typeface="Source Sans 3" pitchFamily="34" charset="-120"/>
              </a:rPr>
              <a:t>Liposomal Glutathione — 1 tablespoon.</a:t>
            </a:r>
            <a:endParaRPr lang="en-US" sz="800" dirty="0"/>
          </a:p>
          <a:p>
            <a:pPr marL="342900" indent="-342900">
              <a:buSzPct val="100000"/>
              <a:buChar char="•"/>
            </a:pPr>
            <a:r>
              <a:rPr lang="en-US" sz="800" dirty="0">
                <a:solidFill>
                  <a:srgbClr val="1A2440"/>
                </a:solidFill>
                <a:latin typeface="Source Sans 3" pitchFamily="34" charset="0"/>
                <a:ea typeface="Source Sans 3" pitchFamily="34" charset="-122"/>
                <a:cs typeface="Source Sans 3" pitchFamily="34" charset="-120"/>
              </a:rPr>
              <a:t>Liposomal Curcumin Nano+6 — 1 tablespoon.</a:t>
            </a:r>
            <a:endParaRPr lang="en-US" sz="800" dirty="0"/>
          </a:p>
          <a:p>
            <a:pPr marL="342900" indent="-342900">
              <a:buSzPct val="100000"/>
              <a:buChar char="•"/>
            </a:pPr>
            <a:r>
              <a:rPr lang="en-US" sz="800" dirty="0">
                <a:solidFill>
                  <a:srgbClr val="1A2440"/>
                </a:solidFill>
                <a:latin typeface="Source Sans 3" pitchFamily="34" charset="0"/>
                <a:ea typeface="Source Sans 3" pitchFamily="34" charset="-122"/>
                <a:cs typeface="Source Sans 3" pitchFamily="34" charset="-120"/>
              </a:rPr>
              <a:t>Mighty Blue / C60 Olive Oil — 1 teaspoon olive oil or 1 tablespoon blue, rotating days.</a:t>
            </a:r>
            <a:endParaRPr lang="en-US" sz="800" dirty="0"/>
          </a:p>
          <a:p>
            <a:pPr marL="342900" indent="-342900">
              <a:buSzPct val="100000"/>
              <a:buChar char="•"/>
            </a:pPr>
            <a:r>
              <a:rPr lang="en-US" sz="800" dirty="0">
                <a:solidFill>
                  <a:srgbClr val="1A2440"/>
                </a:solidFill>
                <a:latin typeface="Source Sans 3" pitchFamily="34" charset="0"/>
                <a:ea typeface="Source Sans 3" pitchFamily="34" charset="-122"/>
                <a:cs typeface="Source Sans 3" pitchFamily="34" charset="-120"/>
              </a:rPr>
              <a:t>GlyNAC protocol — Glycine 3g + NAC 1200mg.</a:t>
            </a:r>
            <a:endParaRPr lang="en-US" sz="800" dirty="0"/>
          </a:p>
          <a:p>
            <a:pPr marL="342900" indent="-342900">
              <a:buSzPct val="100000"/>
              <a:buChar char="•"/>
            </a:pPr>
            <a:r>
              <a:rPr lang="en-US" sz="800" dirty="0">
                <a:solidFill>
                  <a:srgbClr val="1A2440"/>
                </a:solidFill>
                <a:latin typeface="Source Sans 3" pitchFamily="34" charset="0"/>
                <a:ea typeface="Source Sans 3" pitchFamily="34" charset="-122"/>
                <a:cs typeface="Source Sans 3" pitchFamily="34" charset="-120"/>
              </a:rPr>
              <a:t>Digestive Enzymes — with meals, especially if pancreatic/gut support needed.</a:t>
            </a:r>
            <a:endParaRPr lang="en-US" sz="800" dirty="0"/>
          </a:p>
          <a:p>
            <a:pPr marL="342900" indent="-342900">
              <a:buSzPct val="100000"/>
              <a:buChar char="•"/>
            </a:pPr>
            <a:r>
              <a:rPr lang="en-US" sz="800" dirty="0">
                <a:solidFill>
                  <a:srgbClr val="1A2440"/>
                </a:solidFill>
                <a:latin typeface="Source Sans 3" pitchFamily="34" charset="0"/>
                <a:ea typeface="Source Sans 3" pitchFamily="34" charset="-122"/>
                <a:cs typeface="Source Sans 3" pitchFamily="34" charset="-120"/>
              </a:rPr>
              <a:t>Oncology Peptide (Thymosin Alpha-1 oral or injectable) — per routes below.</a:t>
            </a:r>
            <a:endParaRPr lang="en-US" sz="800" dirty="0"/>
          </a:p>
          <a:p>
            <a:pPr marL="342900" indent="-342900">
              <a:buSzPct val="100000"/>
              <a:buChar char="•"/>
            </a:pPr>
            <a:r>
              <a:rPr lang="en-US" sz="800" dirty="0">
                <a:solidFill>
                  <a:srgbClr val="1A2440"/>
                </a:solidFill>
                <a:latin typeface="Source Sans 3" pitchFamily="34" charset="0"/>
                <a:ea typeface="Source Sans 3" pitchFamily="34" charset="-122"/>
                <a:cs typeface="Source Sans 3" pitchFamily="34" charset="-120"/>
              </a:rPr>
              <a:t>Bioregulators (Pancragen, Livagen) — 2 capsules each, 30 days on then 10 days/month.</a:t>
            </a:r>
            <a:endParaRPr lang="en-US" sz="800" dirty="0"/>
          </a:p>
          <a:p>
            <a:pPr marL="342900" indent="-342900">
              <a:buSzPct val="100000"/>
              <a:buChar char="•"/>
            </a:pPr>
            <a:r>
              <a:rPr lang="en-US" sz="800" dirty="0">
                <a:solidFill>
                  <a:srgbClr val="1A2440"/>
                </a:solidFill>
                <a:latin typeface="Source Sans 3" pitchFamily="34" charset="0"/>
                <a:ea typeface="Source Sans 3" pitchFamily="34" charset="-122"/>
                <a:cs typeface="Source Sans 3" pitchFamily="34" charset="-120"/>
              </a:rPr>
              <a:t>Colostrum/L-Glutamine — Colostrum powder 10g and L-Glutamine 5g in water.</a:t>
            </a:r>
            <a:endParaRPr lang="en-US" sz="800" dirty="0"/>
          </a:p>
        </p:txBody>
      </p:sp>
      <p:sp>
        <p:nvSpPr>
          <p:cNvPr id="11" name="Shape 9"/>
          <p:cNvSpPr/>
          <p:nvPr/>
        </p:nvSpPr>
        <p:spPr>
          <a:xfrm>
            <a:off x="4663440" y="914400"/>
            <a:ext cx="1965960" cy="320040"/>
          </a:xfrm>
          <a:prstGeom prst="rect">
            <a:avLst/>
          </a:prstGeom>
          <a:solidFill>
            <a:srgbClr val="1A2440"/>
          </a:solidFill>
          <a:ln/>
        </p:spPr>
      </p:sp>
      <p:sp>
        <p:nvSpPr>
          <p:cNvPr id="12" name="Text 10"/>
          <p:cNvSpPr/>
          <p:nvPr/>
        </p:nvSpPr>
        <p:spPr>
          <a:xfrm>
            <a:off x="4663440" y="914400"/>
            <a:ext cx="1965960" cy="320040"/>
          </a:xfrm>
          <a:prstGeom prst="rect">
            <a:avLst/>
          </a:prstGeom>
          <a:noFill/>
          <a:ln/>
        </p:spPr>
        <p:txBody>
          <a:bodyPr wrap="square"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EVENING</a:t>
            </a:r>
            <a:endParaRPr lang="en-US" sz="1100" dirty="0"/>
          </a:p>
        </p:txBody>
      </p:sp>
      <p:sp>
        <p:nvSpPr>
          <p:cNvPr id="13" name="Shape 11"/>
          <p:cNvSpPr/>
          <p:nvPr/>
        </p:nvSpPr>
        <p:spPr>
          <a:xfrm>
            <a:off x="4663440" y="1234440"/>
            <a:ext cx="1965960" cy="347472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14" name="Text 12"/>
          <p:cNvSpPr/>
          <p:nvPr/>
        </p:nvSpPr>
        <p:spPr>
          <a:xfrm>
            <a:off x="4709160" y="1280160"/>
            <a:ext cx="1874520" cy="3383280"/>
          </a:xfrm>
          <a:prstGeom prst="rect">
            <a:avLst/>
          </a:prstGeom>
          <a:noFill/>
          <a:ln/>
        </p:spPr>
        <p:txBody>
          <a:bodyPr wrap="square" rtlCol="0" anchor="t"/>
          <a:lstStyle/>
          <a:p>
            <a:pPr marL="342900" indent="-342900">
              <a:buSzPct val="100000"/>
              <a:buChar char="•"/>
            </a:pPr>
            <a:r>
              <a:rPr lang="en-US" sz="800" dirty="0">
                <a:solidFill>
                  <a:srgbClr val="1A2440"/>
                </a:solidFill>
                <a:latin typeface="Source Sans 3" pitchFamily="34" charset="0"/>
                <a:ea typeface="Source Sans 3" pitchFamily="34" charset="-122"/>
                <a:cs typeface="Source Sans 3" pitchFamily="34" charset="-120"/>
              </a:rPr>
              <a:t>Epsom salt + bentonite clay detox bath — 20–40 minutes, see DetoxProtocols section.</a:t>
            </a:r>
            <a:endParaRPr lang="en-US" sz="800" dirty="0"/>
          </a:p>
          <a:p>
            <a:pPr marL="342900" indent="-342900">
              <a:buSzPct val="100000"/>
              <a:buChar char="•"/>
            </a:pPr>
            <a:r>
              <a:rPr lang="en-US" sz="800" dirty="0">
                <a:solidFill>
                  <a:srgbClr val="1A2440"/>
                </a:solidFill>
                <a:latin typeface="Source Sans 3" pitchFamily="34" charset="0"/>
                <a:ea typeface="Source Sans 3" pitchFamily="34" charset="-122"/>
                <a:cs typeface="Source Sans 3" pitchFamily="34" charset="-120"/>
              </a:rPr>
              <a:t>French Celtic Salt water — 12oz, re-mineralization.</a:t>
            </a:r>
            <a:endParaRPr lang="en-US" sz="800" dirty="0"/>
          </a:p>
          <a:p>
            <a:pPr marL="342900" indent="-342900">
              <a:buSzPct val="100000"/>
              <a:buChar char="•"/>
            </a:pPr>
            <a:r>
              <a:rPr lang="en-US" sz="800" dirty="0">
                <a:solidFill>
                  <a:srgbClr val="1A2440"/>
                </a:solidFill>
                <a:latin typeface="Source Sans 3" pitchFamily="34" charset="0"/>
                <a:ea typeface="Source Sans 3" pitchFamily="34" charset="-122"/>
                <a:cs typeface="Source Sans 3" pitchFamily="34" charset="-120"/>
              </a:rPr>
              <a:t>BPC-157 Oral Capsule — 500mcg, empty stomach if well tolerated.</a:t>
            </a:r>
            <a:endParaRPr lang="en-US" sz="800" dirty="0"/>
          </a:p>
          <a:p>
            <a:pPr marL="342900" indent="-342900">
              <a:buSzPct val="100000"/>
              <a:buChar char="•"/>
            </a:pPr>
            <a:r>
              <a:rPr lang="en-US" sz="800" dirty="0">
                <a:solidFill>
                  <a:srgbClr val="1A2440"/>
                </a:solidFill>
                <a:latin typeface="Source Sans 3" pitchFamily="34" charset="0"/>
                <a:ea typeface="Source Sans 3" pitchFamily="34" charset="-122"/>
                <a:cs typeface="Source Sans 3" pitchFamily="34" charset="-120"/>
              </a:rPr>
              <a:t>KPV Oral Capsule — 500mcg, for evening systemic anti-inflammatory effect.</a:t>
            </a:r>
            <a:endParaRPr lang="en-US" sz="800" dirty="0"/>
          </a:p>
          <a:p>
            <a:pPr marL="342900" indent="-342900">
              <a:buSzPct val="100000"/>
              <a:buChar char="•"/>
            </a:pPr>
            <a:r>
              <a:rPr lang="en-US" sz="800" dirty="0">
                <a:solidFill>
                  <a:srgbClr val="1A2440"/>
                </a:solidFill>
                <a:latin typeface="Source Sans 3" pitchFamily="34" charset="0"/>
                <a:ea typeface="Source Sans 3" pitchFamily="34" charset="-122"/>
                <a:cs typeface="Source Sans 3" pitchFamily="34" charset="-120"/>
              </a:rPr>
              <a:t>Adaptogen Greens — 1 scoop, as needed for stress/immune modulation.</a:t>
            </a:r>
            <a:endParaRPr lang="en-US" sz="800" dirty="0"/>
          </a:p>
        </p:txBody>
      </p:sp>
      <p:sp>
        <p:nvSpPr>
          <p:cNvPr id="15" name="Shape 13"/>
          <p:cNvSpPr/>
          <p:nvPr/>
        </p:nvSpPr>
        <p:spPr>
          <a:xfrm>
            <a:off x="6766560" y="914400"/>
            <a:ext cx="1965960" cy="320040"/>
          </a:xfrm>
          <a:prstGeom prst="rect">
            <a:avLst/>
          </a:prstGeom>
          <a:solidFill>
            <a:srgbClr val="0A0E1A"/>
          </a:solidFill>
          <a:ln/>
        </p:spPr>
      </p:sp>
      <p:sp>
        <p:nvSpPr>
          <p:cNvPr id="16" name="Text 14"/>
          <p:cNvSpPr/>
          <p:nvPr/>
        </p:nvSpPr>
        <p:spPr>
          <a:xfrm>
            <a:off x="6766560" y="914400"/>
            <a:ext cx="1965960" cy="320040"/>
          </a:xfrm>
          <a:prstGeom prst="rect">
            <a:avLst/>
          </a:prstGeom>
          <a:noFill/>
          <a:ln/>
        </p:spPr>
        <p:txBody>
          <a:bodyPr wrap="square"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BEDTIME</a:t>
            </a:r>
            <a:endParaRPr lang="en-US" sz="1100" dirty="0"/>
          </a:p>
        </p:txBody>
      </p:sp>
      <p:sp>
        <p:nvSpPr>
          <p:cNvPr id="17" name="Shape 15"/>
          <p:cNvSpPr/>
          <p:nvPr/>
        </p:nvSpPr>
        <p:spPr>
          <a:xfrm>
            <a:off x="6766560" y="1234440"/>
            <a:ext cx="1965960" cy="347472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18" name="Text 16"/>
          <p:cNvSpPr/>
          <p:nvPr/>
        </p:nvSpPr>
        <p:spPr>
          <a:xfrm>
            <a:off x="6812280" y="1280160"/>
            <a:ext cx="1874520" cy="3383280"/>
          </a:xfrm>
          <a:prstGeom prst="rect">
            <a:avLst/>
          </a:prstGeom>
          <a:noFill/>
          <a:ln/>
        </p:spPr>
        <p:txBody>
          <a:bodyPr wrap="square" rtlCol="0" anchor="t"/>
          <a:lstStyle/>
          <a:p>
            <a:pPr marL="342900" indent="-342900">
              <a:buSzPct val="100000"/>
              <a:buChar char="•"/>
            </a:pPr>
            <a:r>
              <a:rPr lang="en-US" sz="800" dirty="0">
                <a:solidFill>
                  <a:srgbClr val="1A2440"/>
                </a:solidFill>
                <a:latin typeface="Source Sans 3" pitchFamily="34" charset="0"/>
                <a:ea typeface="Source Sans 3" pitchFamily="34" charset="-122"/>
                <a:cs typeface="Source Sans 3" pitchFamily="34" charset="-120"/>
              </a:rPr>
              <a:t>ECS Suppository (Nighttime anti-cancer blend) — Insert rectally, see ECSProtocol section.</a:t>
            </a:r>
            <a:endParaRPr lang="en-US" sz="800" dirty="0"/>
          </a:p>
          <a:p>
            <a:pPr marL="342900" indent="-342900">
              <a:buSzPct val="100000"/>
              <a:buChar char="•"/>
            </a:pPr>
            <a:r>
              <a:rPr lang="en-US" sz="800" dirty="0">
                <a:solidFill>
                  <a:srgbClr val="1A2440"/>
                </a:solidFill>
                <a:latin typeface="Source Sans 3" pitchFamily="34" charset="0"/>
                <a:ea typeface="Source Sans 3" pitchFamily="34" charset="-122"/>
                <a:cs typeface="Source Sans 3" pitchFamily="34" charset="-120"/>
              </a:rPr>
              <a:t>PinealPep — 1–2 capsules for circadian and melatonin support.</a:t>
            </a:r>
            <a:endParaRPr lang="en-US" sz="800" dirty="0"/>
          </a:p>
          <a:p>
            <a:pPr marL="342900" indent="-342900">
              <a:buSzPct val="100000"/>
              <a:buChar char="•"/>
            </a:pPr>
            <a:r>
              <a:rPr lang="en-US" sz="800" dirty="0">
                <a:solidFill>
                  <a:srgbClr val="1A2440"/>
                </a:solidFill>
                <a:latin typeface="Source Sans 3" pitchFamily="34" charset="0"/>
                <a:ea typeface="Source Sans 3" pitchFamily="34" charset="-122"/>
                <a:cs typeface="Source Sans 3" pitchFamily="34" charset="-120"/>
              </a:rPr>
              <a:t>Frequency Therapy — 528Hz (DNA repair), 396Hz (grounding), 741Hz (detox); use sound generator for 30 minutes.</a:t>
            </a:r>
            <a:endParaRPr lang="en-US" sz="800" dirty="0"/>
          </a:p>
          <a:p>
            <a:pPr marL="342900" indent="-342900">
              <a:buSzPct val="100000"/>
              <a:buChar char="•"/>
            </a:pPr>
            <a:r>
              <a:rPr lang="en-US" sz="800" dirty="0">
                <a:solidFill>
                  <a:srgbClr val="1A2440"/>
                </a:solidFill>
                <a:latin typeface="Source Sans 3" pitchFamily="34" charset="0"/>
                <a:ea typeface="Source Sans 3" pitchFamily="34" charset="-122"/>
                <a:cs typeface="Source Sans 3" pitchFamily="34" charset="-120"/>
              </a:rPr>
              <a:t>Infrared Sauna — 3x/week before ECS suppository if able, 25–35 min.</a:t>
            </a:r>
            <a:endParaRPr lang="en-US" sz="800" dirty="0"/>
          </a:p>
          <a:p>
            <a:pPr marL="342900" indent="-342900">
              <a:buSzPct val="100000"/>
              <a:buChar char="•"/>
            </a:pPr>
            <a:r>
              <a:rPr lang="en-US" sz="800" dirty="0">
                <a:solidFill>
                  <a:srgbClr val="1A2440"/>
                </a:solidFill>
                <a:latin typeface="Source Sans 3" pitchFamily="34" charset="0"/>
                <a:ea typeface="Source Sans 3" pitchFamily="34" charset="-122"/>
                <a:cs typeface="Source Sans 3" pitchFamily="34" charset="-120"/>
              </a:rPr>
              <a:t>Castor Oil Pack — over liver/abdomen, 30–45 minutes, 3–4x weekly.</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EDF5"/>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rgbClr val="1A2440"/>
                </a:solidFill>
                <a:latin typeface="Playfair Display" pitchFamily="34" charset="0"/>
                <a:ea typeface="Playfair Display" pitchFamily="34" charset="-122"/>
                <a:cs typeface="Playfair Display" pitchFamily="34" charset="-120"/>
              </a:rPr>
              <a:t>Therapeutics: Forgotten Formula Products</a:t>
            </a:r>
            <a:endParaRPr lang="en-US" sz="2400" dirty="0"/>
          </a:p>
        </p:txBody>
      </p:sp>
      <p:sp>
        <p:nvSpPr>
          <p:cNvPr id="3" name="Shape 1"/>
          <p:cNvSpPr/>
          <p:nvPr/>
        </p:nvSpPr>
        <p:spPr>
          <a:xfrm>
            <a:off x="457200" y="914400"/>
            <a:ext cx="8229600" cy="384048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4" name="Text 2"/>
          <p:cNvSpPr/>
          <p:nvPr/>
        </p:nvSpPr>
        <p:spPr>
          <a:xfrm>
            <a:off x="640080" y="1005840"/>
            <a:ext cx="7863840" cy="3200400"/>
          </a:xfrm>
          <a:prstGeom prst="rect">
            <a:avLst/>
          </a:prstGeom>
          <a:noFill/>
          <a:ln/>
        </p:spPr>
        <p:txBody>
          <a:bodyPr wrap="square" rtlCol="0" anchor="t"/>
          <a:lstStyle/>
          <a:p>
            <a:pPr marL="342900" indent="-342900">
              <a:buSzPct val="100000"/>
              <a:buChar char="•"/>
            </a:pPr>
            <a:r>
              <a:rPr lang="en-US" sz="1100" dirty="0">
                <a:solidFill>
                  <a:srgbClr val="1A2440"/>
                </a:solidFill>
                <a:latin typeface="Source Sans 3" pitchFamily="34" charset="0"/>
                <a:ea typeface="Source Sans 3" pitchFamily="34" charset="-122"/>
                <a:cs typeface="Source Sans 3" pitchFamily="34" charset="-120"/>
              </a:rPr>
              <a:t>Bio-Vitamin All-in-One Micronized Liquid — 1 tablespoon (morning)</a:t>
            </a:r>
            <a:endParaRPr lang="en-US" sz="1100" dirty="0"/>
          </a:p>
          <a:p>
            <a:pPr marL="342900" indent="-342900">
              <a:buSzPct val="100000"/>
              <a:buChar char="•"/>
            </a:pPr>
            <a:r>
              <a:rPr lang="en-US" sz="1100" dirty="0">
                <a:solidFill>
                  <a:srgbClr val="1A2440"/>
                </a:solidFill>
                <a:latin typeface="Source Sans 3" pitchFamily="34" charset="0"/>
                <a:ea typeface="Source Sans 3" pitchFamily="34" charset="-122"/>
                <a:cs typeface="Source Sans 3" pitchFamily="34" charset="-120"/>
              </a:rPr>
              <a:t>Colostrum — 10g (midday)</a:t>
            </a:r>
            <a:endParaRPr lang="en-US" sz="1100" dirty="0"/>
          </a:p>
          <a:p>
            <a:pPr marL="342900" indent="-342900">
              <a:buSzPct val="100000"/>
              <a:buChar char="•"/>
            </a:pPr>
            <a:r>
              <a:rPr lang="en-US" sz="1100" dirty="0">
                <a:solidFill>
                  <a:srgbClr val="1A2440"/>
                </a:solidFill>
                <a:latin typeface="Source Sans 3" pitchFamily="34" charset="0"/>
                <a:ea typeface="Source Sans 3" pitchFamily="34" charset="-122"/>
                <a:cs typeface="Source Sans 3" pitchFamily="34" charset="-120"/>
              </a:rPr>
              <a:t>L-Glutamine — 5g (midday)</a:t>
            </a:r>
            <a:endParaRPr lang="en-US" sz="1100" dirty="0"/>
          </a:p>
          <a:p>
            <a:pPr marL="342900" indent="-342900">
              <a:buSzPct val="100000"/>
              <a:buChar char="•"/>
            </a:pPr>
            <a:r>
              <a:rPr lang="en-US" sz="1100" dirty="0">
                <a:solidFill>
                  <a:srgbClr val="1A2440"/>
                </a:solidFill>
                <a:latin typeface="Source Sans 3" pitchFamily="34" charset="0"/>
                <a:ea typeface="Source Sans 3" pitchFamily="34" charset="-122"/>
                <a:cs typeface="Source Sans 3" pitchFamily="34" charset="-120"/>
              </a:rPr>
              <a:t>Selenium + Magnesium &amp; Zinc (Liposomal) — 1 tablespoon (morning)</a:t>
            </a:r>
            <a:endParaRPr lang="en-US" sz="1100" dirty="0"/>
          </a:p>
          <a:p>
            <a:pPr marL="342900" indent="-342900">
              <a:buSzPct val="100000"/>
              <a:buChar char="•"/>
            </a:pPr>
            <a:r>
              <a:rPr lang="en-US" sz="1100" dirty="0">
                <a:solidFill>
                  <a:srgbClr val="1A2440"/>
                </a:solidFill>
                <a:latin typeface="Source Sans 3" pitchFamily="34" charset="0"/>
                <a:ea typeface="Source Sans 3" pitchFamily="34" charset="-122"/>
                <a:cs typeface="Source Sans 3" pitchFamily="34" charset="-120"/>
              </a:rPr>
              <a:t>Vitamin D + K (Liposomal) — 1 tablespoon (morning)</a:t>
            </a:r>
            <a:endParaRPr lang="en-US" sz="1100" dirty="0"/>
          </a:p>
          <a:p>
            <a:pPr marL="342900" indent="-342900">
              <a:buSzPct val="100000"/>
              <a:buChar char="•"/>
            </a:pPr>
            <a:r>
              <a:rPr lang="en-US" sz="1100" dirty="0">
                <a:solidFill>
                  <a:srgbClr val="1A2440"/>
                </a:solidFill>
                <a:latin typeface="Source Sans 3" pitchFamily="34" charset="0"/>
                <a:ea typeface="Source Sans 3" pitchFamily="34" charset="-122"/>
                <a:cs typeface="Source Sans 3" pitchFamily="34" charset="-120"/>
              </a:rPr>
              <a:t>Adaptogen Greens w/ Digestive Enzymes (Powder) — 1 scoop (morning/evening)</a:t>
            </a:r>
            <a:endParaRPr lang="en-US" sz="1100" dirty="0"/>
          </a:p>
          <a:p>
            <a:pPr marL="342900" indent="-342900">
              <a:buSzPct val="100000"/>
              <a:buChar char="•"/>
            </a:pPr>
            <a:r>
              <a:rPr lang="en-US" sz="1100" dirty="0">
                <a:solidFill>
                  <a:srgbClr val="1A2440"/>
                </a:solidFill>
                <a:latin typeface="Source Sans 3" pitchFamily="34" charset="0"/>
                <a:ea typeface="Source Sans 3" pitchFamily="34" charset="-122"/>
                <a:cs typeface="Source Sans 3" pitchFamily="34" charset="-120"/>
              </a:rPr>
              <a:t>Astaxanthin w/ Vitamin C (Liposomal) — 1 tablespoon (morning)</a:t>
            </a:r>
            <a:endParaRPr lang="en-US" sz="1100" dirty="0"/>
          </a:p>
          <a:p>
            <a:pPr marL="342900" indent="-342900">
              <a:buSzPct val="100000"/>
              <a:buChar char="•"/>
            </a:pPr>
            <a:r>
              <a:rPr lang="en-US" sz="1100" dirty="0">
                <a:solidFill>
                  <a:srgbClr val="1A2440"/>
                </a:solidFill>
                <a:latin typeface="Source Sans 3" pitchFamily="34" charset="0"/>
                <a:ea typeface="Source Sans 3" pitchFamily="34" charset="-122"/>
                <a:cs typeface="Source Sans 3" pitchFamily="34" charset="-120"/>
              </a:rPr>
              <a:t>Curcumin+6 Nano (Liposomal) — 1 tablespoon (midday)</a:t>
            </a:r>
            <a:endParaRPr lang="en-US" sz="1100" dirty="0"/>
          </a:p>
          <a:p>
            <a:pPr marL="342900" indent="-342900">
              <a:buSzPct val="100000"/>
              <a:buChar char="•"/>
            </a:pPr>
            <a:r>
              <a:rPr lang="en-US" sz="1100" dirty="0">
                <a:solidFill>
                  <a:srgbClr val="1A2440"/>
                </a:solidFill>
                <a:latin typeface="Source Sans 3" pitchFamily="34" charset="0"/>
                <a:ea typeface="Source Sans 3" pitchFamily="34" charset="-122"/>
                <a:cs typeface="Source Sans 3" pitchFamily="34" charset="-120"/>
              </a:rPr>
              <a:t>Complete REDS — 1 scoop (midday)</a:t>
            </a:r>
            <a:endParaRPr lang="en-US" sz="1100" dirty="0"/>
          </a:p>
          <a:p>
            <a:pPr marL="342900" indent="-342900">
              <a:buSzPct val="100000"/>
              <a:buChar char="•"/>
            </a:pPr>
            <a:r>
              <a:rPr lang="en-US" sz="1100" dirty="0">
                <a:solidFill>
                  <a:srgbClr val="1A2440"/>
                </a:solidFill>
                <a:latin typeface="Source Sans 3" pitchFamily="34" charset="0"/>
                <a:ea typeface="Source Sans 3" pitchFamily="34" charset="-122"/>
                <a:cs typeface="Source Sans 3" pitchFamily="34" charset="-120"/>
              </a:rPr>
              <a:t>French Celtic Salt — 1/4 tsp in 8oz water (morning and evening)</a:t>
            </a:r>
            <a:endParaRPr lang="en-US" sz="1100" dirty="0"/>
          </a:p>
          <a:p>
            <a:pPr marL="342900" indent="-342900">
              <a:buSzPct val="100000"/>
              <a:buChar char="•"/>
            </a:pPr>
            <a:r>
              <a:rPr lang="en-US" sz="1100" dirty="0">
                <a:solidFill>
                  <a:srgbClr val="1A2440"/>
                </a:solidFill>
                <a:latin typeface="Source Sans 3" pitchFamily="34" charset="0"/>
                <a:ea typeface="Source Sans 3" pitchFamily="34" charset="-122"/>
                <a:cs typeface="Source Sans 3" pitchFamily="34" charset="-120"/>
              </a:rPr>
              <a:t>GlyNAC — Glycine 3g + NAC 1200mg (midday)</a:t>
            </a:r>
            <a:endParaRPr lang="en-US" sz="1100" dirty="0"/>
          </a:p>
          <a:p>
            <a:pPr marL="342900" indent="-342900">
              <a:buSzPct val="100000"/>
              <a:buChar char="•"/>
            </a:pPr>
            <a:r>
              <a:rPr lang="en-US" sz="1100" dirty="0">
                <a:solidFill>
                  <a:srgbClr val="1A2440"/>
                </a:solidFill>
                <a:latin typeface="Source Sans 3" pitchFamily="34" charset="0"/>
                <a:ea typeface="Source Sans 3" pitchFamily="34" charset="-122"/>
                <a:cs typeface="Source Sans 3" pitchFamily="34" charset="-120"/>
              </a:rPr>
              <a:t>Mighty Blue (C60 blend) — 1 tablespoon (midday or alternate with C60 Olive Oil)</a:t>
            </a:r>
            <a:endParaRPr lang="en-US" sz="1100" dirty="0"/>
          </a:p>
          <a:p>
            <a:pPr marL="342900" indent="-342900">
              <a:buSzPct val="100000"/>
              <a:buChar char="•"/>
            </a:pPr>
            <a:r>
              <a:rPr lang="en-US" sz="1100" dirty="0">
                <a:solidFill>
                  <a:srgbClr val="1A2440"/>
                </a:solidFill>
                <a:latin typeface="Source Sans 3" pitchFamily="34" charset="0"/>
                <a:ea typeface="Source Sans 3" pitchFamily="34" charset="-122"/>
                <a:cs typeface="Source Sans 3" pitchFamily="34" charset="-120"/>
              </a:rPr>
              <a:t>Liver &amp; Gallbladder Cleanse — Oral/food/supplement flush as per protocol</a:t>
            </a:r>
            <a:endParaRPr lang="en-US" sz="1100" dirty="0"/>
          </a:p>
          <a:p>
            <a:pPr marL="342900" indent="-342900">
              <a:buSzPct val="100000"/>
              <a:buChar char="•"/>
            </a:pPr>
            <a:r>
              <a:rPr lang="en-US" sz="1100" dirty="0">
                <a:solidFill>
                  <a:srgbClr val="1A2440"/>
                </a:solidFill>
                <a:latin typeface="Source Sans 3" pitchFamily="34" charset="0"/>
                <a:ea typeface="Source Sans 3" pitchFamily="34" charset="-122"/>
                <a:cs typeface="Source Sans 3" pitchFamily="34" charset="-120"/>
              </a:rPr>
              <a:t>Detox Bath Protocols — Epsom salt, bentonite clay, hydrogen peroxide, ginger baths</a:t>
            </a:r>
            <a:endParaRPr lang="en-US" sz="1100" dirty="0"/>
          </a:p>
          <a:p>
            <a:pPr marL="342900" indent="-342900">
              <a:buSzPct val="100000"/>
              <a:buChar char="•"/>
            </a:pPr>
            <a:r>
              <a:rPr lang="en-US" sz="1100" dirty="0">
                <a:solidFill>
                  <a:srgbClr val="1A2440"/>
                </a:solidFill>
                <a:latin typeface="Source Sans 3" pitchFamily="34" charset="0"/>
                <a:ea typeface="Source Sans 3" pitchFamily="34" charset="-122"/>
                <a:cs typeface="Source Sans 3" pitchFamily="34" charset="-120"/>
              </a:rPr>
              <a:t>Infrared Sauna — Full-spectrum sauna therapy</a:t>
            </a:r>
            <a:endParaRPr lang="en-US" sz="1100" dirty="0"/>
          </a:p>
          <a:p>
            <a:pPr marL="342900" indent="-342900">
              <a:buSzPct val="100000"/>
              <a:buChar char="•"/>
            </a:pPr>
            <a:r>
              <a:rPr lang="en-US" sz="1100" dirty="0">
                <a:solidFill>
                  <a:srgbClr val="1A2440"/>
                </a:solidFill>
                <a:latin typeface="Source Sans 3" pitchFamily="34" charset="0"/>
                <a:ea typeface="Source Sans 3" pitchFamily="34" charset="-122"/>
                <a:cs typeface="Source Sans 3" pitchFamily="34" charset="-120"/>
              </a:rPr>
              <a:t>Dry Brushing — Pre-bath, upward strokes</a:t>
            </a:r>
            <a:endParaRPr lang="en-US" sz="1100" dirty="0"/>
          </a:p>
        </p:txBody>
      </p:sp>
      <p:sp>
        <p:nvSpPr>
          <p:cNvPr id="5" name="Text 3">
            <a:hlinkClick r:id="rId1" tooltip=""/>
          </p:cNvPr>
          <p:cNvSpPr/>
          <p:nvPr/>
        </p:nvSpPr>
        <p:spPr>
          <a:xfrm>
            <a:off x="640080" y="4297680"/>
            <a:ext cx="7863840" cy="365760"/>
          </a:xfrm>
          <a:prstGeom prst="rect">
            <a:avLst/>
          </a:prstGeom>
          <a:noFill/>
          <a:ln/>
        </p:spPr>
        <p:txBody>
          <a:bodyPr wrap="square" rtlCol="0" anchor="ctr"/>
          <a:lstStyle/>
          <a:p>
            <a:pPr indent="0" marL="0">
              <a:buNone/>
            </a:pPr>
            <a:r>
              <a:rPr lang="en-US" sz="1000" u="sng" dirty="0">
                <a:solidFill>
                  <a:srgbClr val="C9A54E"/>
                </a:solidFill>
                <a:latin typeface="Source Sans 3" pitchFamily="34" charset="0"/>
                <a:ea typeface="Source Sans 3" pitchFamily="34" charset="-122"/>
                <a:cs typeface="Source Sans 3" pitchFamily="34" charset="-120"/>
                <a:hlinkClick r:id="rId1" invalidUrl="" action="" tgtFrame="" tooltip="" history="1" highlightClick="0" endSnd="0">
                  <a:extLst>
                    <a:ext uri="{A12FA001-AC4F-418D-AE19-62706E023703}">
                      <ahyp:hlinkClr xmlns:ahyp="http://schemas.microsoft.com/office/drawing/2018/hyperlinkcolor" val="tx"/>
                    </a:ext>
                  </a:extLst>
                </a:hlinkClick>
              </a:rPr>
              <a:t>Shop: https://www.forgottenformula.com/shop</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E1A"/>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rgbClr val="C9A54E"/>
                </a:solidFill>
                <a:latin typeface="Playfair Display" pitchFamily="34" charset="0"/>
                <a:ea typeface="Playfair Display" pitchFamily="34" charset="-122"/>
                <a:cs typeface="Playfair Display" pitchFamily="34" charset="-120"/>
              </a:rPr>
              <a:t>Therapeutics: Injectable Peptide Protocol</a:t>
            </a:r>
            <a:endParaRPr lang="en-US" sz="2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1371600"/>
                <a:gridCol w="1645920"/>
                <a:gridCol w="1097280"/>
                <a:gridCol w="1097280"/>
                <a:gridCol w="914400"/>
                <a:gridCol w="2468880"/>
              </a:tblGrid>
              <a:tr h="0">
                <a:tc>
                  <a:txBody>
                    <a:bodyPr/>
                    <a:lstStyle/>
                    <a:p>
                      <a:pPr indent="0" marL="0">
                        <a:buNone/>
                      </a:pPr>
                      <a:r>
                        <a:rPr lang="en-US" sz="900" b="1" dirty="0">
                          <a:solidFill>
                            <a:srgbClr val="0A0E1A"/>
                          </a:solidFill>
                        </a:rPr>
                        <a:t>Peptide</a:t>
                      </a:r>
                      <a:endParaRPr lang="en-US" sz="900" dirty="0"/>
                    </a:p>
                  </a:txBody>
                  <a:tcPr marL="91440" marR="91440" marT="45720" marB="45720">
                    <a:lnL w="6350" cap="flat" cmpd="sng" algn="ctr">
                      <a:solidFill>
                        <a:srgbClr val="1A2440"/>
                      </a:solidFill>
                      <a:prstDash val="solid"/>
                      <a:round/>
                      <a:headEnd type="none" w="med" len="med"/>
                      <a:tailEnd type="none" w="med" len="med"/>
                    </a:lnL>
                    <a:lnR w="6350" cap="flat" cmpd="sng" algn="ctr">
                      <a:solidFill>
                        <a:srgbClr val="1A2440"/>
                      </a:solidFill>
                      <a:prstDash val="solid"/>
                      <a:round/>
                      <a:headEnd type="none" w="med" len="med"/>
                      <a:tailEnd type="none" w="med" len="med"/>
                    </a:lnR>
                    <a:lnT w="6350" cap="flat" cmpd="sng" algn="ctr">
                      <a:solidFill>
                        <a:srgbClr val="1A2440"/>
                      </a:solidFill>
                      <a:prstDash val="solid"/>
                      <a:round/>
                      <a:headEnd type="none" w="med" len="med"/>
                      <a:tailEnd type="none" w="med" len="med"/>
                    </a:lnT>
                    <a:lnB w="6350" cap="flat" cmpd="sng" algn="ctr">
                      <a:solidFill>
                        <a:srgbClr val="1A2440"/>
                      </a:solidFill>
                      <a:prstDash val="solid"/>
                      <a:round/>
                      <a:headEnd type="none" w="med" len="med"/>
                      <a:tailEnd type="none" w="med" len="med"/>
                    </a:lnB>
                    <a:solidFill>
                      <a:srgbClr val="C9A54E"/>
                    </a:solidFill>
                  </a:tcPr>
                </a:tc>
                <a:tc>
                  <a:txBody>
                    <a:bodyPr/>
                    <a:lstStyle/>
                    <a:p>
                      <a:pPr indent="0" marL="0">
                        <a:buNone/>
                      </a:pPr>
                      <a:r>
                        <a:rPr lang="en-US" sz="900" b="1" dirty="0">
                          <a:solidFill>
                            <a:srgbClr val="0A0E1A"/>
                          </a:solidFill>
                        </a:rPr>
                        <a:t>Vial/Recon</a:t>
                      </a:r>
                      <a:endParaRPr lang="en-US" sz="900" dirty="0"/>
                    </a:p>
                  </a:txBody>
                  <a:tcPr marL="91440" marR="91440" marT="45720" marB="45720">
                    <a:lnL w="6350" cap="flat" cmpd="sng" algn="ctr">
                      <a:solidFill>
                        <a:srgbClr val="1A2440"/>
                      </a:solidFill>
                      <a:prstDash val="solid"/>
                      <a:round/>
                      <a:headEnd type="none" w="med" len="med"/>
                      <a:tailEnd type="none" w="med" len="med"/>
                    </a:lnL>
                    <a:lnR w="6350" cap="flat" cmpd="sng" algn="ctr">
                      <a:solidFill>
                        <a:srgbClr val="1A2440"/>
                      </a:solidFill>
                      <a:prstDash val="solid"/>
                      <a:round/>
                      <a:headEnd type="none" w="med" len="med"/>
                      <a:tailEnd type="none" w="med" len="med"/>
                    </a:lnR>
                    <a:lnT w="6350" cap="flat" cmpd="sng" algn="ctr">
                      <a:solidFill>
                        <a:srgbClr val="1A2440"/>
                      </a:solidFill>
                      <a:prstDash val="solid"/>
                      <a:round/>
                      <a:headEnd type="none" w="med" len="med"/>
                      <a:tailEnd type="none" w="med" len="med"/>
                    </a:lnT>
                    <a:lnB w="6350" cap="flat" cmpd="sng" algn="ctr">
                      <a:solidFill>
                        <a:srgbClr val="1A2440"/>
                      </a:solidFill>
                      <a:prstDash val="solid"/>
                      <a:round/>
                      <a:headEnd type="none" w="med" len="med"/>
                      <a:tailEnd type="none" w="med" len="med"/>
                    </a:lnB>
                    <a:solidFill>
                      <a:srgbClr val="C9A54E"/>
                    </a:solidFill>
                  </a:tcPr>
                </a:tc>
                <a:tc>
                  <a:txBody>
                    <a:bodyPr/>
                    <a:lstStyle/>
                    <a:p>
                      <a:pPr indent="0" marL="0">
                        <a:buNone/>
                      </a:pPr>
                      <a:r>
                        <a:rPr lang="en-US" sz="900" b="1" dirty="0">
                          <a:solidFill>
                            <a:srgbClr val="0A0E1A"/>
                          </a:solidFill>
                        </a:rPr>
                        <a:t>Dose</a:t>
                      </a:r>
                      <a:endParaRPr lang="en-US" sz="900" dirty="0"/>
                    </a:p>
                  </a:txBody>
                  <a:tcPr marL="91440" marR="91440" marT="45720" marB="45720">
                    <a:lnL w="6350" cap="flat" cmpd="sng" algn="ctr">
                      <a:solidFill>
                        <a:srgbClr val="1A2440"/>
                      </a:solidFill>
                      <a:prstDash val="solid"/>
                      <a:round/>
                      <a:headEnd type="none" w="med" len="med"/>
                      <a:tailEnd type="none" w="med" len="med"/>
                    </a:lnL>
                    <a:lnR w="6350" cap="flat" cmpd="sng" algn="ctr">
                      <a:solidFill>
                        <a:srgbClr val="1A2440"/>
                      </a:solidFill>
                      <a:prstDash val="solid"/>
                      <a:round/>
                      <a:headEnd type="none" w="med" len="med"/>
                      <a:tailEnd type="none" w="med" len="med"/>
                    </a:lnR>
                    <a:lnT w="6350" cap="flat" cmpd="sng" algn="ctr">
                      <a:solidFill>
                        <a:srgbClr val="1A2440"/>
                      </a:solidFill>
                      <a:prstDash val="solid"/>
                      <a:round/>
                      <a:headEnd type="none" w="med" len="med"/>
                      <a:tailEnd type="none" w="med" len="med"/>
                    </a:lnT>
                    <a:lnB w="6350" cap="flat" cmpd="sng" algn="ctr">
                      <a:solidFill>
                        <a:srgbClr val="1A2440"/>
                      </a:solidFill>
                      <a:prstDash val="solid"/>
                      <a:round/>
                      <a:headEnd type="none" w="med" len="med"/>
                      <a:tailEnd type="none" w="med" len="med"/>
                    </a:lnB>
                    <a:solidFill>
                      <a:srgbClr val="C9A54E"/>
                    </a:solidFill>
                  </a:tcPr>
                </a:tc>
                <a:tc>
                  <a:txBody>
                    <a:bodyPr/>
                    <a:lstStyle/>
                    <a:p>
                      <a:pPr indent="0" marL="0">
                        <a:buNone/>
                      </a:pPr>
                      <a:r>
                        <a:rPr lang="en-US" sz="900" b="1" dirty="0">
                          <a:solidFill>
                            <a:srgbClr val="0A0E1A"/>
                          </a:solidFill>
                        </a:rPr>
                        <a:t>Frequency</a:t>
                      </a:r>
                      <a:endParaRPr lang="en-US" sz="900" dirty="0"/>
                    </a:p>
                  </a:txBody>
                  <a:tcPr marL="91440" marR="91440" marT="45720" marB="45720">
                    <a:lnL w="6350" cap="flat" cmpd="sng" algn="ctr">
                      <a:solidFill>
                        <a:srgbClr val="1A2440"/>
                      </a:solidFill>
                      <a:prstDash val="solid"/>
                      <a:round/>
                      <a:headEnd type="none" w="med" len="med"/>
                      <a:tailEnd type="none" w="med" len="med"/>
                    </a:lnL>
                    <a:lnR w="6350" cap="flat" cmpd="sng" algn="ctr">
                      <a:solidFill>
                        <a:srgbClr val="1A2440"/>
                      </a:solidFill>
                      <a:prstDash val="solid"/>
                      <a:round/>
                      <a:headEnd type="none" w="med" len="med"/>
                      <a:tailEnd type="none" w="med" len="med"/>
                    </a:lnR>
                    <a:lnT w="6350" cap="flat" cmpd="sng" algn="ctr">
                      <a:solidFill>
                        <a:srgbClr val="1A2440"/>
                      </a:solidFill>
                      <a:prstDash val="solid"/>
                      <a:round/>
                      <a:headEnd type="none" w="med" len="med"/>
                      <a:tailEnd type="none" w="med" len="med"/>
                    </a:lnT>
                    <a:lnB w="6350" cap="flat" cmpd="sng" algn="ctr">
                      <a:solidFill>
                        <a:srgbClr val="1A2440"/>
                      </a:solidFill>
                      <a:prstDash val="solid"/>
                      <a:round/>
                      <a:headEnd type="none" w="med" len="med"/>
                      <a:tailEnd type="none" w="med" len="med"/>
                    </a:lnB>
                    <a:solidFill>
                      <a:srgbClr val="C9A54E"/>
                    </a:solidFill>
                  </a:tcPr>
                </a:tc>
                <a:tc>
                  <a:txBody>
                    <a:bodyPr/>
                    <a:lstStyle/>
                    <a:p>
                      <a:pPr indent="0" marL="0">
                        <a:buNone/>
                      </a:pPr>
                      <a:r>
                        <a:rPr lang="en-US" sz="900" b="1" dirty="0">
                          <a:solidFill>
                            <a:srgbClr val="0A0E1A"/>
                          </a:solidFill>
                        </a:rPr>
                        <a:t>Duration</a:t>
                      </a:r>
                      <a:endParaRPr lang="en-US" sz="900" dirty="0"/>
                    </a:p>
                  </a:txBody>
                  <a:tcPr marL="91440" marR="91440" marT="45720" marB="45720">
                    <a:lnL w="6350" cap="flat" cmpd="sng" algn="ctr">
                      <a:solidFill>
                        <a:srgbClr val="1A2440"/>
                      </a:solidFill>
                      <a:prstDash val="solid"/>
                      <a:round/>
                      <a:headEnd type="none" w="med" len="med"/>
                      <a:tailEnd type="none" w="med" len="med"/>
                    </a:lnL>
                    <a:lnR w="6350" cap="flat" cmpd="sng" algn="ctr">
                      <a:solidFill>
                        <a:srgbClr val="1A2440"/>
                      </a:solidFill>
                      <a:prstDash val="solid"/>
                      <a:round/>
                      <a:headEnd type="none" w="med" len="med"/>
                      <a:tailEnd type="none" w="med" len="med"/>
                    </a:lnR>
                    <a:lnT w="6350" cap="flat" cmpd="sng" algn="ctr">
                      <a:solidFill>
                        <a:srgbClr val="1A2440"/>
                      </a:solidFill>
                      <a:prstDash val="solid"/>
                      <a:round/>
                      <a:headEnd type="none" w="med" len="med"/>
                      <a:tailEnd type="none" w="med" len="med"/>
                    </a:lnT>
                    <a:lnB w="6350" cap="flat" cmpd="sng" algn="ctr">
                      <a:solidFill>
                        <a:srgbClr val="1A2440"/>
                      </a:solidFill>
                      <a:prstDash val="solid"/>
                      <a:round/>
                      <a:headEnd type="none" w="med" len="med"/>
                      <a:tailEnd type="none" w="med" len="med"/>
                    </a:lnB>
                    <a:solidFill>
                      <a:srgbClr val="C9A54E"/>
                    </a:solidFill>
                  </a:tcPr>
                </a:tc>
                <a:tc>
                  <a:txBody>
                    <a:bodyPr/>
                    <a:lstStyle/>
                    <a:p>
                      <a:pPr indent="0" marL="0">
                        <a:buNone/>
                      </a:pPr>
                      <a:r>
                        <a:rPr lang="en-US" sz="900" b="1" dirty="0">
                          <a:solidFill>
                            <a:srgbClr val="0A0E1A"/>
                          </a:solidFill>
                        </a:rPr>
                        <a:t>Purpose</a:t>
                      </a:r>
                      <a:endParaRPr lang="en-US" sz="900" dirty="0"/>
                    </a:p>
                  </a:txBody>
                  <a:tcPr marL="91440" marR="91440" marT="45720" marB="45720">
                    <a:lnL w="6350" cap="flat" cmpd="sng" algn="ctr">
                      <a:solidFill>
                        <a:srgbClr val="1A2440"/>
                      </a:solidFill>
                      <a:prstDash val="solid"/>
                      <a:round/>
                      <a:headEnd type="none" w="med" len="med"/>
                      <a:tailEnd type="none" w="med" len="med"/>
                    </a:lnL>
                    <a:lnR w="6350" cap="flat" cmpd="sng" algn="ctr">
                      <a:solidFill>
                        <a:srgbClr val="1A2440"/>
                      </a:solidFill>
                      <a:prstDash val="solid"/>
                      <a:round/>
                      <a:headEnd type="none" w="med" len="med"/>
                      <a:tailEnd type="none" w="med" len="med"/>
                    </a:lnR>
                    <a:lnT w="6350" cap="flat" cmpd="sng" algn="ctr">
                      <a:solidFill>
                        <a:srgbClr val="1A2440"/>
                      </a:solidFill>
                      <a:prstDash val="solid"/>
                      <a:round/>
                      <a:headEnd type="none" w="med" len="med"/>
                      <a:tailEnd type="none" w="med" len="med"/>
                    </a:lnT>
                    <a:lnB w="6350" cap="flat" cmpd="sng" algn="ctr">
                      <a:solidFill>
                        <a:srgbClr val="1A2440"/>
                      </a:solidFill>
                      <a:prstDash val="solid"/>
                      <a:round/>
                      <a:headEnd type="none" w="med" len="med"/>
                      <a:tailEnd type="none" w="med" len="med"/>
                    </a:lnB>
                    <a:solidFill>
                      <a:srgbClr val="C9A54E"/>
                    </a:solidFill>
                  </a:tcPr>
                </a:tc>
              </a:tr>
              <a:tr h="0">
                <a:tc>
                  <a:txBody>
                    <a:bodyPr/>
                    <a:lstStyle/>
                    <a:p>
                      <a:pPr indent="0" marL="0">
                        <a:buNone/>
                      </a:pPr>
                      <a:r>
                        <a:rPr lang="en-US" sz="800" b="1" dirty="0">
                          <a:solidFill>
                            <a:srgbClr val="C9A54E"/>
                          </a:solidFill>
                        </a:rPr>
                        <a:t>GHK-Cu</a:t>
                      </a:r>
                      <a:endParaRPr lang="en-US" sz="800" dirty="0"/>
                    </a:p>
                  </a:txBody>
                  <a:tcPr marL="91440" marR="91440" marT="45720" marB="45720">
                    <a:lnL w="6350" cap="flat" cmpd="sng" algn="ctr">
                      <a:solidFill>
                        <a:srgbClr val="1A2440"/>
                      </a:solidFill>
                      <a:prstDash val="solid"/>
                      <a:round/>
                      <a:headEnd type="none" w="med" len="med"/>
                      <a:tailEnd type="none" w="med" len="med"/>
                    </a:lnL>
                    <a:lnR w="6350" cap="flat" cmpd="sng" algn="ctr">
                      <a:solidFill>
                        <a:srgbClr val="1A2440"/>
                      </a:solidFill>
                      <a:prstDash val="solid"/>
                      <a:round/>
                      <a:headEnd type="none" w="med" len="med"/>
                      <a:tailEnd type="none" w="med" len="med"/>
                    </a:lnR>
                    <a:lnT w="6350" cap="flat" cmpd="sng" algn="ctr">
                      <a:solidFill>
                        <a:srgbClr val="1A2440"/>
                      </a:solidFill>
                      <a:prstDash val="solid"/>
                      <a:round/>
                      <a:headEnd type="none" w="med" len="med"/>
                      <a:tailEnd type="none" w="med" len="med"/>
                    </a:lnT>
                    <a:lnB w="6350" cap="flat" cmpd="sng" algn="ctr">
                      <a:solidFill>
                        <a:srgbClr val="1A2440"/>
                      </a:solidFill>
                      <a:prstDash val="solid"/>
                      <a:round/>
                      <a:headEnd type="none" w="med" len="med"/>
                      <a:tailEnd type="none" w="med" len="med"/>
                    </a:lnB>
                    <a:solidFill>
                      <a:srgbClr val="243055"/>
                    </a:solidFill>
                  </a:tcPr>
                </a:tc>
                <a:tc>
                  <a:txBody>
                    <a:bodyPr/>
                    <a:lstStyle/>
                    <a:p>
                      <a:pPr indent="0" marL="0">
                        <a:buNone/>
                      </a:pPr>
                      <a:r>
                        <a:rPr lang="en-US" sz="700" dirty="0">
                          <a:solidFill>
                            <a:srgbClr val="C8CFE0"/>
                          </a:solidFill>
                        </a:rPr>
                        <a:t>50mg</a:t>
                      </a:r>
                      <a:endParaRPr lang="en-US" sz="700" dirty="0"/>
                    </a:p>
                    <a:p>
                      <a:pPr indent="0" marL="0">
                        <a:buNone/>
                      </a:pPr>
                      <a:r>
                        <a:rPr lang="en-US" sz="700" dirty="0">
                          <a:solidFill>
                            <a:srgbClr val="C8CFE0"/>
                          </a:solidFill>
                        </a:rPr>
                        <a:t>2mL BAC water (25mg/mL)</a:t>
                      </a:r>
                      <a:endParaRPr lang="en-US" sz="700" dirty="0"/>
                    </a:p>
                  </a:txBody>
                  <a:tcPr marL="91440" marR="91440" marT="45720" marB="45720">
                    <a:lnL w="6350" cap="flat" cmpd="sng" algn="ctr">
                      <a:solidFill>
                        <a:srgbClr val="1A2440"/>
                      </a:solidFill>
                      <a:prstDash val="solid"/>
                      <a:round/>
                      <a:headEnd type="none" w="med" len="med"/>
                      <a:tailEnd type="none" w="med" len="med"/>
                    </a:lnL>
                    <a:lnR w="6350" cap="flat" cmpd="sng" algn="ctr">
                      <a:solidFill>
                        <a:srgbClr val="1A2440"/>
                      </a:solidFill>
                      <a:prstDash val="solid"/>
                      <a:round/>
                      <a:headEnd type="none" w="med" len="med"/>
                      <a:tailEnd type="none" w="med" len="med"/>
                    </a:lnR>
                    <a:lnT w="6350" cap="flat" cmpd="sng" algn="ctr">
                      <a:solidFill>
                        <a:srgbClr val="1A2440"/>
                      </a:solidFill>
                      <a:prstDash val="solid"/>
                      <a:round/>
                      <a:headEnd type="none" w="med" len="med"/>
                      <a:tailEnd type="none" w="med" len="med"/>
                    </a:lnT>
                    <a:lnB w="6350" cap="flat" cmpd="sng" algn="ctr">
                      <a:solidFill>
                        <a:srgbClr val="1A2440"/>
                      </a:solidFill>
                      <a:prstDash val="solid"/>
                      <a:round/>
                      <a:headEnd type="none" w="med" len="med"/>
                      <a:tailEnd type="none" w="med" len="med"/>
                    </a:lnB>
                    <a:solidFill>
                      <a:srgbClr val="243055"/>
                    </a:solidFill>
                  </a:tcPr>
                </a:tc>
                <a:tc>
                  <a:txBody>
                    <a:bodyPr/>
                    <a:lstStyle/>
                    <a:p>
                      <a:pPr indent="0" marL="0">
                        <a:buNone/>
                      </a:pPr>
                      <a:r>
                        <a:rPr lang="en-US" sz="800" dirty="0">
                          <a:solidFill>
                            <a:srgbClr val="C8CFE0"/>
                          </a:solidFill>
                        </a:rPr>
                        <a:t>1mg SubQ daily</a:t>
                      </a:r>
                      <a:endParaRPr lang="en-US" sz="800" dirty="0"/>
                    </a:p>
                  </a:txBody>
                  <a:tcPr marL="91440" marR="91440" marT="45720" marB="45720">
                    <a:lnL w="6350" cap="flat" cmpd="sng" algn="ctr">
                      <a:solidFill>
                        <a:srgbClr val="1A2440"/>
                      </a:solidFill>
                      <a:prstDash val="solid"/>
                      <a:round/>
                      <a:headEnd type="none" w="med" len="med"/>
                      <a:tailEnd type="none" w="med" len="med"/>
                    </a:lnL>
                    <a:lnR w="6350" cap="flat" cmpd="sng" algn="ctr">
                      <a:solidFill>
                        <a:srgbClr val="1A2440"/>
                      </a:solidFill>
                      <a:prstDash val="solid"/>
                      <a:round/>
                      <a:headEnd type="none" w="med" len="med"/>
                      <a:tailEnd type="none" w="med" len="med"/>
                    </a:lnR>
                    <a:lnT w="6350" cap="flat" cmpd="sng" algn="ctr">
                      <a:solidFill>
                        <a:srgbClr val="1A2440"/>
                      </a:solidFill>
                      <a:prstDash val="solid"/>
                      <a:round/>
                      <a:headEnd type="none" w="med" len="med"/>
                      <a:tailEnd type="none" w="med" len="med"/>
                    </a:lnT>
                    <a:lnB w="6350" cap="flat" cmpd="sng" algn="ctr">
                      <a:solidFill>
                        <a:srgbClr val="1A2440"/>
                      </a:solidFill>
                      <a:prstDash val="solid"/>
                      <a:round/>
                      <a:headEnd type="none" w="med" len="med"/>
                      <a:tailEnd type="none" w="med" len="med"/>
                    </a:lnB>
                    <a:solidFill>
                      <a:srgbClr val="243055"/>
                    </a:solidFill>
                  </a:tcPr>
                </a:tc>
                <a:tc>
                  <a:txBody>
                    <a:bodyPr/>
                    <a:lstStyle/>
                    <a:p>
                      <a:pPr indent="0" marL="0">
                        <a:buNone/>
                      </a:pPr>
                      <a:r>
                        <a:rPr lang="en-US" sz="800" dirty="0">
                          <a:solidFill>
                            <a:srgbClr val="C8CFE0"/>
                          </a:solidFill>
                        </a:rPr>
                        <a:t>daily</a:t>
                      </a:r>
                      <a:endParaRPr lang="en-US" sz="800" dirty="0"/>
                    </a:p>
                  </a:txBody>
                  <a:tcPr marL="91440" marR="91440" marT="45720" marB="45720">
                    <a:lnL w="6350" cap="flat" cmpd="sng" algn="ctr">
                      <a:solidFill>
                        <a:srgbClr val="1A2440"/>
                      </a:solidFill>
                      <a:prstDash val="solid"/>
                      <a:round/>
                      <a:headEnd type="none" w="med" len="med"/>
                      <a:tailEnd type="none" w="med" len="med"/>
                    </a:lnL>
                    <a:lnR w="6350" cap="flat" cmpd="sng" algn="ctr">
                      <a:solidFill>
                        <a:srgbClr val="1A2440"/>
                      </a:solidFill>
                      <a:prstDash val="solid"/>
                      <a:round/>
                      <a:headEnd type="none" w="med" len="med"/>
                      <a:tailEnd type="none" w="med" len="med"/>
                    </a:lnR>
                    <a:lnT w="6350" cap="flat" cmpd="sng" algn="ctr">
                      <a:solidFill>
                        <a:srgbClr val="1A2440"/>
                      </a:solidFill>
                      <a:prstDash val="solid"/>
                      <a:round/>
                      <a:headEnd type="none" w="med" len="med"/>
                      <a:tailEnd type="none" w="med" len="med"/>
                    </a:lnT>
                    <a:lnB w="6350" cap="flat" cmpd="sng" algn="ctr">
                      <a:solidFill>
                        <a:srgbClr val="1A2440"/>
                      </a:solidFill>
                      <a:prstDash val="solid"/>
                      <a:round/>
                      <a:headEnd type="none" w="med" len="med"/>
                      <a:tailEnd type="none" w="med" len="med"/>
                    </a:lnB>
                    <a:solidFill>
                      <a:srgbClr val="243055"/>
                    </a:solidFill>
                  </a:tcPr>
                </a:tc>
                <a:tc>
                  <a:txBody>
                    <a:bodyPr/>
                    <a:lstStyle/>
                    <a:p>
                      <a:pPr indent="0" marL="0">
                        <a:buNone/>
                      </a:pPr>
                      <a:r>
                        <a:rPr lang="en-US" sz="800" dirty="0">
                          <a:solidFill>
                            <a:srgbClr val="C8CFE0"/>
                          </a:solidFill>
                        </a:rPr>
                        <a:t>12 weeks</a:t>
                      </a:r>
                      <a:endParaRPr lang="en-US" sz="800" dirty="0"/>
                    </a:p>
                  </a:txBody>
                  <a:tcPr marL="91440" marR="91440" marT="45720" marB="45720">
                    <a:lnL w="6350" cap="flat" cmpd="sng" algn="ctr">
                      <a:solidFill>
                        <a:srgbClr val="1A2440"/>
                      </a:solidFill>
                      <a:prstDash val="solid"/>
                      <a:round/>
                      <a:headEnd type="none" w="med" len="med"/>
                      <a:tailEnd type="none" w="med" len="med"/>
                    </a:lnL>
                    <a:lnR w="6350" cap="flat" cmpd="sng" algn="ctr">
                      <a:solidFill>
                        <a:srgbClr val="1A2440"/>
                      </a:solidFill>
                      <a:prstDash val="solid"/>
                      <a:round/>
                      <a:headEnd type="none" w="med" len="med"/>
                      <a:tailEnd type="none" w="med" len="med"/>
                    </a:lnR>
                    <a:lnT w="6350" cap="flat" cmpd="sng" algn="ctr">
                      <a:solidFill>
                        <a:srgbClr val="1A2440"/>
                      </a:solidFill>
                      <a:prstDash val="solid"/>
                      <a:round/>
                      <a:headEnd type="none" w="med" len="med"/>
                      <a:tailEnd type="none" w="med" len="med"/>
                    </a:lnT>
                    <a:lnB w="6350" cap="flat" cmpd="sng" algn="ctr">
                      <a:solidFill>
                        <a:srgbClr val="1A2440"/>
                      </a:solidFill>
                      <a:prstDash val="solid"/>
                      <a:round/>
                      <a:headEnd type="none" w="med" len="med"/>
                      <a:tailEnd type="none" w="med" len="med"/>
                    </a:lnB>
                    <a:solidFill>
                      <a:srgbClr val="243055"/>
                    </a:solidFill>
                  </a:tcPr>
                </a:tc>
                <a:tc>
                  <a:txBody>
                    <a:bodyPr/>
                    <a:lstStyle/>
                    <a:p>
                      <a:pPr indent="0" marL="0">
                        <a:buNone/>
                      </a:pPr>
                      <a:r>
                        <a:rPr lang="en-US" sz="700" dirty="0">
                          <a:solidFill>
                            <a:srgbClr val="8A95B0"/>
                          </a:solidFill>
                        </a:rPr>
                        <a:t>Wound healing, anti-cancer microenvironment modulation</a:t>
                      </a:r>
                      <a:endParaRPr lang="en-US" sz="700" dirty="0"/>
                    </a:p>
                  </a:txBody>
                  <a:tcPr marL="91440" marR="91440" marT="45720" marB="45720">
                    <a:lnL w="6350" cap="flat" cmpd="sng" algn="ctr">
                      <a:solidFill>
                        <a:srgbClr val="1A2440"/>
                      </a:solidFill>
                      <a:prstDash val="solid"/>
                      <a:round/>
                      <a:headEnd type="none" w="med" len="med"/>
                      <a:tailEnd type="none" w="med" len="med"/>
                    </a:lnL>
                    <a:lnR w="6350" cap="flat" cmpd="sng" algn="ctr">
                      <a:solidFill>
                        <a:srgbClr val="1A2440"/>
                      </a:solidFill>
                      <a:prstDash val="solid"/>
                      <a:round/>
                      <a:headEnd type="none" w="med" len="med"/>
                      <a:tailEnd type="none" w="med" len="med"/>
                    </a:lnR>
                    <a:lnT w="6350" cap="flat" cmpd="sng" algn="ctr">
                      <a:solidFill>
                        <a:srgbClr val="1A2440"/>
                      </a:solidFill>
                      <a:prstDash val="solid"/>
                      <a:round/>
                      <a:headEnd type="none" w="med" len="med"/>
                      <a:tailEnd type="none" w="med" len="med"/>
                    </a:lnT>
                    <a:lnB w="6350" cap="flat" cmpd="sng" algn="ctr">
                      <a:solidFill>
                        <a:srgbClr val="1A2440"/>
                      </a:solidFill>
                      <a:prstDash val="solid"/>
                      <a:round/>
                      <a:headEnd type="none" w="med" len="med"/>
                      <a:tailEnd type="none" w="med" len="med"/>
                    </a:lnB>
                    <a:solidFill>
                      <a:srgbClr val="243055"/>
                    </a:solidFill>
                  </a:tcPr>
                </a:tc>
              </a:tr>
              <a:tr h="0">
                <a:tc>
                  <a:txBody>
                    <a:bodyPr/>
                    <a:lstStyle/>
                    <a:p>
                      <a:pPr indent="0" marL="0">
                        <a:buNone/>
                      </a:pPr>
                      <a:r>
                        <a:rPr lang="en-US" sz="800" b="1" dirty="0">
                          <a:solidFill>
                            <a:srgbClr val="C9A54E"/>
                          </a:solidFill>
                        </a:rPr>
                        <a:t>BPC-157</a:t>
                      </a:r>
                      <a:endParaRPr lang="en-US" sz="800" dirty="0"/>
                    </a:p>
                  </a:txBody>
                  <a:tcPr marL="91440" marR="91440" marT="45720" marB="45720">
                    <a:lnL w="6350" cap="flat" cmpd="sng" algn="ctr">
                      <a:solidFill>
                        <a:srgbClr val="1A2440"/>
                      </a:solidFill>
                      <a:prstDash val="solid"/>
                      <a:round/>
                      <a:headEnd type="none" w="med" len="med"/>
                      <a:tailEnd type="none" w="med" len="med"/>
                    </a:lnL>
                    <a:lnR w="6350" cap="flat" cmpd="sng" algn="ctr">
                      <a:solidFill>
                        <a:srgbClr val="1A2440"/>
                      </a:solidFill>
                      <a:prstDash val="solid"/>
                      <a:round/>
                      <a:headEnd type="none" w="med" len="med"/>
                      <a:tailEnd type="none" w="med" len="med"/>
                    </a:lnR>
                    <a:lnT w="6350" cap="flat" cmpd="sng" algn="ctr">
                      <a:solidFill>
                        <a:srgbClr val="1A2440"/>
                      </a:solidFill>
                      <a:prstDash val="solid"/>
                      <a:round/>
                      <a:headEnd type="none" w="med" len="med"/>
                      <a:tailEnd type="none" w="med" len="med"/>
                    </a:lnT>
                    <a:lnB w="6350" cap="flat" cmpd="sng" algn="ctr">
                      <a:solidFill>
                        <a:srgbClr val="1A2440"/>
                      </a:solidFill>
                      <a:prstDash val="solid"/>
                      <a:round/>
                      <a:headEnd type="none" w="med" len="med"/>
                      <a:tailEnd type="none" w="med" len="med"/>
                    </a:lnB>
                    <a:solidFill>
                      <a:srgbClr val="243055"/>
                    </a:solidFill>
                  </a:tcPr>
                </a:tc>
                <a:tc>
                  <a:txBody>
                    <a:bodyPr/>
                    <a:lstStyle/>
                    <a:p>
                      <a:pPr indent="0" marL="0">
                        <a:buNone/>
                      </a:pPr>
                      <a:r>
                        <a:rPr lang="en-US" sz="700" dirty="0">
                          <a:solidFill>
                            <a:srgbClr val="C8CFE0"/>
                          </a:solidFill>
                        </a:rPr>
                        <a:t>5mg</a:t>
                      </a:r>
                      <a:endParaRPr lang="en-US" sz="700" dirty="0"/>
                    </a:p>
                    <a:p>
                      <a:pPr indent="0" marL="0">
                        <a:buNone/>
                      </a:pPr>
                      <a:r>
                        <a:rPr lang="en-US" sz="700" dirty="0">
                          <a:solidFill>
                            <a:srgbClr val="C8CFE0"/>
                          </a:solidFill>
                        </a:rPr>
                        <a:t>1mL BAC water (5mg/mL)</a:t>
                      </a:r>
                      <a:endParaRPr lang="en-US" sz="700" dirty="0"/>
                    </a:p>
                  </a:txBody>
                  <a:tcPr marL="91440" marR="91440" marT="45720" marB="45720">
                    <a:lnL w="6350" cap="flat" cmpd="sng" algn="ctr">
                      <a:solidFill>
                        <a:srgbClr val="1A2440"/>
                      </a:solidFill>
                      <a:prstDash val="solid"/>
                      <a:round/>
                      <a:headEnd type="none" w="med" len="med"/>
                      <a:tailEnd type="none" w="med" len="med"/>
                    </a:lnL>
                    <a:lnR w="6350" cap="flat" cmpd="sng" algn="ctr">
                      <a:solidFill>
                        <a:srgbClr val="1A2440"/>
                      </a:solidFill>
                      <a:prstDash val="solid"/>
                      <a:round/>
                      <a:headEnd type="none" w="med" len="med"/>
                      <a:tailEnd type="none" w="med" len="med"/>
                    </a:lnR>
                    <a:lnT w="6350" cap="flat" cmpd="sng" algn="ctr">
                      <a:solidFill>
                        <a:srgbClr val="1A2440"/>
                      </a:solidFill>
                      <a:prstDash val="solid"/>
                      <a:round/>
                      <a:headEnd type="none" w="med" len="med"/>
                      <a:tailEnd type="none" w="med" len="med"/>
                    </a:lnT>
                    <a:lnB w="6350" cap="flat" cmpd="sng" algn="ctr">
                      <a:solidFill>
                        <a:srgbClr val="1A2440"/>
                      </a:solidFill>
                      <a:prstDash val="solid"/>
                      <a:round/>
                      <a:headEnd type="none" w="med" len="med"/>
                      <a:tailEnd type="none" w="med" len="med"/>
                    </a:lnB>
                    <a:solidFill>
                      <a:srgbClr val="243055"/>
                    </a:solidFill>
                  </a:tcPr>
                </a:tc>
                <a:tc>
                  <a:txBody>
                    <a:bodyPr/>
                    <a:lstStyle/>
                    <a:p>
                      <a:pPr indent="0" marL="0">
                        <a:buNone/>
                      </a:pPr>
                      <a:r>
                        <a:rPr lang="en-US" sz="800" dirty="0">
                          <a:solidFill>
                            <a:srgbClr val="C8CFE0"/>
                          </a:solidFill>
                        </a:rPr>
                        <a:t>500mcg SubQ</a:t>
                      </a:r>
                      <a:endParaRPr lang="en-US" sz="800" dirty="0"/>
                    </a:p>
                  </a:txBody>
                  <a:tcPr marL="91440" marR="91440" marT="45720" marB="45720">
                    <a:lnL w="6350" cap="flat" cmpd="sng" algn="ctr">
                      <a:solidFill>
                        <a:srgbClr val="1A2440"/>
                      </a:solidFill>
                      <a:prstDash val="solid"/>
                      <a:round/>
                      <a:headEnd type="none" w="med" len="med"/>
                      <a:tailEnd type="none" w="med" len="med"/>
                    </a:lnL>
                    <a:lnR w="6350" cap="flat" cmpd="sng" algn="ctr">
                      <a:solidFill>
                        <a:srgbClr val="1A2440"/>
                      </a:solidFill>
                      <a:prstDash val="solid"/>
                      <a:round/>
                      <a:headEnd type="none" w="med" len="med"/>
                      <a:tailEnd type="none" w="med" len="med"/>
                    </a:lnR>
                    <a:lnT w="6350" cap="flat" cmpd="sng" algn="ctr">
                      <a:solidFill>
                        <a:srgbClr val="1A2440"/>
                      </a:solidFill>
                      <a:prstDash val="solid"/>
                      <a:round/>
                      <a:headEnd type="none" w="med" len="med"/>
                      <a:tailEnd type="none" w="med" len="med"/>
                    </a:lnT>
                    <a:lnB w="6350" cap="flat" cmpd="sng" algn="ctr">
                      <a:solidFill>
                        <a:srgbClr val="1A2440"/>
                      </a:solidFill>
                      <a:prstDash val="solid"/>
                      <a:round/>
                      <a:headEnd type="none" w="med" len="med"/>
                      <a:tailEnd type="none" w="med" len="med"/>
                    </a:lnB>
                    <a:solidFill>
                      <a:srgbClr val="243055"/>
                    </a:solidFill>
                  </a:tcPr>
                </a:tc>
                <a:tc>
                  <a:txBody>
                    <a:bodyPr/>
                    <a:lstStyle/>
                    <a:p>
                      <a:pPr indent="0" marL="0">
                        <a:buNone/>
                      </a:pPr>
                      <a:r>
                        <a:rPr lang="en-US" sz="800" dirty="0">
                          <a:solidFill>
                            <a:srgbClr val="C8CFE0"/>
                          </a:solidFill>
                        </a:rPr>
                        <a:t>daily</a:t>
                      </a:r>
                      <a:endParaRPr lang="en-US" sz="800" dirty="0"/>
                    </a:p>
                  </a:txBody>
                  <a:tcPr marL="91440" marR="91440" marT="45720" marB="45720">
                    <a:lnL w="6350" cap="flat" cmpd="sng" algn="ctr">
                      <a:solidFill>
                        <a:srgbClr val="1A2440"/>
                      </a:solidFill>
                      <a:prstDash val="solid"/>
                      <a:round/>
                      <a:headEnd type="none" w="med" len="med"/>
                      <a:tailEnd type="none" w="med" len="med"/>
                    </a:lnL>
                    <a:lnR w="6350" cap="flat" cmpd="sng" algn="ctr">
                      <a:solidFill>
                        <a:srgbClr val="1A2440"/>
                      </a:solidFill>
                      <a:prstDash val="solid"/>
                      <a:round/>
                      <a:headEnd type="none" w="med" len="med"/>
                      <a:tailEnd type="none" w="med" len="med"/>
                    </a:lnR>
                    <a:lnT w="6350" cap="flat" cmpd="sng" algn="ctr">
                      <a:solidFill>
                        <a:srgbClr val="1A2440"/>
                      </a:solidFill>
                      <a:prstDash val="solid"/>
                      <a:round/>
                      <a:headEnd type="none" w="med" len="med"/>
                      <a:tailEnd type="none" w="med" len="med"/>
                    </a:lnT>
                    <a:lnB w="6350" cap="flat" cmpd="sng" algn="ctr">
                      <a:solidFill>
                        <a:srgbClr val="1A2440"/>
                      </a:solidFill>
                      <a:prstDash val="solid"/>
                      <a:round/>
                      <a:headEnd type="none" w="med" len="med"/>
                      <a:tailEnd type="none" w="med" len="med"/>
                    </a:lnB>
                    <a:solidFill>
                      <a:srgbClr val="243055"/>
                    </a:solidFill>
                  </a:tcPr>
                </a:tc>
                <a:tc>
                  <a:txBody>
                    <a:bodyPr/>
                    <a:lstStyle/>
                    <a:p>
                      <a:pPr indent="0" marL="0">
                        <a:buNone/>
                      </a:pPr>
                      <a:r>
                        <a:rPr lang="en-US" sz="800" dirty="0">
                          <a:solidFill>
                            <a:srgbClr val="C8CFE0"/>
                          </a:solidFill>
                        </a:rPr>
                        <a:t>12 weeks</a:t>
                      </a:r>
                      <a:endParaRPr lang="en-US" sz="800" dirty="0"/>
                    </a:p>
                  </a:txBody>
                  <a:tcPr marL="91440" marR="91440" marT="45720" marB="45720">
                    <a:lnL w="6350" cap="flat" cmpd="sng" algn="ctr">
                      <a:solidFill>
                        <a:srgbClr val="1A2440"/>
                      </a:solidFill>
                      <a:prstDash val="solid"/>
                      <a:round/>
                      <a:headEnd type="none" w="med" len="med"/>
                      <a:tailEnd type="none" w="med" len="med"/>
                    </a:lnL>
                    <a:lnR w="6350" cap="flat" cmpd="sng" algn="ctr">
                      <a:solidFill>
                        <a:srgbClr val="1A2440"/>
                      </a:solidFill>
                      <a:prstDash val="solid"/>
                      <a:round/>
                      <a:headEnd type="none" w="med" len="med"/>
                      <a:tailEnd type="none" w="med" len="med"/>
                    </a:lnR>
                    <a:lnT w="6350" cap="flat" cmpd="sng" algn="ctr">
                      <a:solidFill>
                        <a:srgbClr val="1A2440"/>
                      </a:solidFill>
                      <a:prstDash val="solid"/>
                      <a:round/>
                      <a:headEnd type="none" w="med" len="med"/>
                      <a:tailEnd type="none" w="med" len="med"/>
                    </a:lnT>
                    <a:lnB w="6350" cap="flat" cmpd="sng" algn="ctr">
                      <a:solidFill>
                        <a:srgbClr val="1A2440"/>
                      </a:solidFill>
                      <a:prstDash val="solid"/>
                      <a:round/>
                      <a:headEnd type="none" w="med" len="med"/>
                      <a:tailEnd type="none" w="med" len="med"/>
                    </a:lnB>
                    <a:solidFill>
                      <a:srgbClr val="243055"/>
                    </a:solidFill>
                  </a:tcPr>
                </a:tc>
                <a:tc>
                  <a:txBody>
                    <a:bodyPr/>
                    <a:lstStyle/>
                    <a:p>
                      <a:pPr indent="0" marL="0">
                        <a:buNone/>
                      </a:pPr>
                      <a:r>
                        <a:rPr lang="en-US" sz="700" dirty="0">
                          <a:solidFill>
                            <a:srgbClr val="8A95B0"/>
                          </a:solidFill>
                        </a:rPr>
                        <a:t>Tissue/gut healing, immune dampening</a:t>
                      </a:r>
                      <a:endParaRPr lang="en-US" sz="700" dirty="0"/>
                    </a:p>
                  </a:txBody>
                  <a:tcPr marL="91440" marR="91440" marT="45720" marB="45720">
                    <a:lnL w="6350" cap="flat" cmpd="sng" algn="ctr">
                      <a:solidFill>
                        <a:srgbClr val="1A2440"/>
                      </a:solidFill>
                      <a:prstDash val="solid"/>
                      <a:round/>
                      <a:headEnd type="none" w="med" len="med"/>
                      <a:tailEnd type="none" w="med" len="med"/>
                    </a:lnL>
                    <a:lnR w="6350" cap="flat" cmpd="sng" algn="ctr">
                      <a:solidFill>
                        <a:srgbClr val="1A2440"/>
                      </a:solidFill>
                      <a:prstDash val="solid"/>
                      <a:round/>
                      <a:headEnd type="none" w="med" len="med"/>
                      <a:tailEnd type="none" w="med" len="med"/>
                    </a:lnR>
                    <a:lnT w="6350" cap="flat" cmpd="sng" algn="ctr">
                      <a:solidFill>
                        <a:srgbClr val="1A2440"/>
                      </a:solidFill>
                      <a:prstDash val="solid"/>
                      <a:round/>
                      <a:headEnd type="none" w="med" len="med"/>
                      <a:tailEnd type="none" w="med" len="med"/>
                    </a:lnT>
                    <a:lnB w="6350" cap="flat" cmpd="sng" algn="ctr">
                      <a:solidFill>
                        <a:srgbClr val="1A2440"/>
                      </a:solidFill>
                      <a:prstDash val="solid"/>
                      <a:round/>
                      <a:headEnd type="none" w="med" len="med"/>
                      <a:tailEnd type="none" w="med" len="med"/>
                    </a:lnB>
                    <a:solidFill>
                      <a:srgbClr val="243055"/>
                    </a:solidFill>
                  </a:tcPr>
                </a:tc>
              </a:tr>
              <a:tr h="0">
                <a:tc>
                  <a:txBody>
                    <a:bodyPr/>
                    <a:lstStyle/>
                    <a:p>
                      <a:pPr indent="0" marL="0">
                        <a:buNone/>
                      </a:pPr>
                      <a:r>
                        <a:rPr lang="en-US" sz="800" b="1" dirty="0">
                          <a:solidFill>
                            <a:srgbClr val="C9A54E"/>
                          </a:solidFill>
                        </a:rPr>
                        <a:t>Thymosin Alpha-1</a:t>
                      </a:r>
                      <a:endParaRPr lang="en-US" sz="800" dirty="0"/>
                    </a:p>
                  </a:txBody>
                  <a:tcPr marL="91440" marR="91440" marT="45720" marB="45720">
                    <a:lnL w="6350" cap="flat" cmpd="sng" algn="ctr">
                      <a:solidFill>
                        <a:srgbClr val="1A2440"/>
                      </a:solidFill>
                      <a:prstDash val="solid"/>
                      <a:round/>
                      <a:headEnd type="none" w="med" len="med"/>
                      <a:tailEnd type="none" w="med" len="med"/>
                    </a:lnL>
                    <a:lnR w="6350" cap="flat" cmpd="sng" algn="ctr">
                      <a:solidFill>
                        <a:srgbClr val="1A2440"/>
                      </a:solidFill>
                      <a:prstDash val="solid"/>
                      <a:round/>
                      <a:headEnd type="none" w="med" len="med"/>
                      <a:tailEnd type="none" w="med" len="med"/>
                    </a:lnR>
                    <a:lnT w="6350" cap="flat" cmpd="sng" algn="ctr">
                      <a:solidFill>
                        <a:srgbClr val="1A2440"/>
                      </a:solidFill>
                      <a:prstDash val="solid"/>
                      <a:round/>
                      <a:headEnd type="none" w="med" len="med"/>
                      <a:tailEnd type="none" w="med" len="med"/>
                    </a:lnT>
                    <a:lnB w="6350" cap="flat" cmpd="sng" algn="ctr">
                      <a:solidFill>
                        <a:srgbClr val="1A2440"/>
                      </a:solidFill>
                      <a:prstDash val="solid"/>
                      <a:round/>
                      <a:headEnd type="none" w="med" len="med"/>
                      <a:tailEnd type="none" w="med" len="med"/>
                    </a:lnB>
                    <a:solidFill>
                      <a:srgbClr val="243055"/>
                    </a:solidFill>
                  </a:tcPr>
                </a:tc>
                <a:tc>
                  <a:txBody>
                    <a:bodyPr/>
                    <a:lstStyle/>
                    <a:p>
                      <a:pPr indent="0" marL="0">
                        <a:buNone/>
                      </a:pPr>
                      <a:r>
                        <a:rPr lang="en-US" sz="700" dirty="0">
                          <a:solidFill>
                            <a:srgbClr val="C8CFE0"/>
                          </a:solidFill>
                        </a:rPr>
                        <a:t>5mg</a:t>
                      </a:r>
                      <a:endParaRPr lang="en-US" sz="700" dirty="0"/>
                    </a:p>
                    <a:p>
                      <a:pPr indent="0" marL="0">
                        <a:buNone/>
                      </a:pPr>
                      <a:r>
                        <a:rPr lang="en-US" sz="700" dirty="0">
                          <a:solidFill>
                            <a:srgbClr val="C8CFE0"/>
                          </a:solidFill>
                        </a:rPr>
                        <a:t>1mL BAC water</a:t>
                      </a:r>
                      <a:endParaRPr lang="en-US" sz="700" dirty="0"/>
                    </a:p>
                  </a:txBody>
                  <a:tcPr marL="91440" marR="91440" marT="45720" marB="45720">
                    <a:lnL w="6350" cap="flat" cmpd="sng" algn="ctr">
                      <a:solidFill>
                        <a:srgbClr val="1A2440"/>
                      </a:solidFill>
                      <a:prstDash val="solid"/>
                      <a:round/>
                      <a:headEnd type="none" w="med" len="med"/>
                      <a:tailEnd type="none" w="med" len="med"/>
                    </a:lnL>
                    <a:lnR w="6350" cap="flat" cmpd="sng" algn="ctr">
                      <a:solidFill>
                        <a:srgbClr val="1A2440"/>
                      </a:solidFill>
                      <a:prstDash val="solid"/>
                      <a:round/>
                      <a:headEnd type="none" w="med" len="med"/>
                      <a:tailEnd type="none" w="med" len="med"/>
                    </a:lnR>
                    <a:lnT w="6350" cap="flat" cmpd="sng" algn="ctr">
                      <a:solidFill>
                        <a:srgbClr val="1A2440"/>
                      </a:solidFill>
                      <a:prstDash val="solid"/>
                      <a:round/>
                      <a:headEnd type="none" w="med" len="med"/>
                      <a:tailEnd type="none" w="med" len="med"/>
                    </a:lnT>
                    <a:lnB w="6350" cap="flat" cmpd="sng" algn="ctr">
                      <a:solidFill>
                        <a:srgbClr val="1A2440"/>
                      </a:solidFill>
                      <a:prstDash val="solid"/>
                      <a:round/>
                      <a:headEnd type="none" w="med" len="med"/>
                      <a:tailEnd type="none" w="med" len="med"/>
                    </a:lnB>
                    <a:solidFill>
                      <a:srgbClr val="243055"/>
                    </a:solidFill>
                  </a:tcPr>
                </a:tc>
                <a:tc>
                  <a:txBody>
                    <a:bodyPr/>
                    <a:lstStyle/>
                    <a:p>
                      <a:pPr indent="0" marL="0">
                        <a:buNone/>
                      </a:pPr>
                      <a:r>
                        <a:rPr lang="en-US" sz="800" dirty="0">
                          <a:solidFill>
                            <a:srgbClr val="C8CFE0"/>
                          </a:solidFill>
                        </a:rPr>
                        <a:t>1.6mg SubQ</a:t>
                      </a:r>
                      <a:endParaRPr lang="en-US" sz="800" dirty="0"/>
                    </a:p>
                  </a:txBody>
                  <a:tcPr marL="91440" marR="91440" marT="45720" marB="45720">
                    <a:lnL w="6350" cap="flat" cmpd="sng" algn="ctr">
                      <a:solidFill>
                        <a:srgbClr val="1A2440"/>
                      </a:solidFill>
                      <a:prstDash val="solid"/>
                      <a:round/>
                      <a:headEnd type="none" w="med" len="med"/>
                      <a:tailEnd type="none" w="med" len="med"/>
                    </a:lnL>
                    <a:lnR w="6350" cap="flat" cmpd="sng" algn="ctr">
                      <a:solidFill>
                        <a:srgbClr val="1A2440"/>
                      </a:solidFill>
                      <a:prstDash val="solid"/>
                      <a:round/>
                      <a:headEnd type="none" w="med" len="med"/>
                      <a:tailEnd type="none" w="med" len="med"/>
                    </a:lnR>
                    <a:lnT w="6350" cap="flat" cmpd="sng" algn="ctr">
                      <a:solidFill>
                        <a:srgbClr val="1A2440"/>
                      </a:solidFill>
                      <a:prstDash val="solid"/>
                      <a:round/>
                      <a:headEnd type="none" w="med" len="med"/>
                      <a:tailEnd type="none" w="med" len="med"/>
                    </a:lnT>
                    <a:lnB w="6350" cap="flat" cmpd="sng" algn="ctr">
                      <a:solidFill>
                        <a:srgbClr val="1A2440"/>
                      </a:solidFill>
                      <a:prstDash val="solid"/>
                      <a:round/>
                      <a:headEnd type="none" w="med" len="med"/>
                      <a:tailEnd type="none" w="med" len="med"/>
                    </a:lnB>
                    <a:solidFill>
                      <a:srgbClr val="243055"/>
                    </a:solidFill>
                  </a:tcPr>
                </a:tc>
                <a:tc>
                  <a:txBody>
                    <a:bodyPr/>
                    <a:lstStyle/>
                    <a:p>
                      <a:pPr indent="0" marL="0">
                        <a:buNone/>
                      </a:pPr>
                      <a:r>
                        <a:rPr lang="en-US" sz="800" dirty="0">
                          <a:solidFill>
                            <a:srgbClr val="C8CFE0"/>
                          </a:solidFill>
                        </a:rPr>
                        <a:t>2x weekly</a:t>
                      </a:r>
                      <a:endParaRPr lang="en-US" sz="800" dirty="0"/>
                    </a:p>
                  </a:txBody>
                  <a:tcPr marL="91440" marR="91440" marT="45720" marB="45720">
                    <a:lnL w="6350" cap="flat" cmpd="sng" algn="ctr">
                      <a:solidFill>
                        <a:srgbClr val="1A2440"/>
                      </a:solidFill>
                      <a:prstDash val="solid"/>
                      <a:round/>
                      <a:headEnd type="none" w="med" len="med"/>
                      <a:tailEnd type="none" w="med" len="med"/>
                    </a:lnL>
                    <a:lnR w="6350" cap="flat" cmpd="sng" algn="ctr">
                      <a:solidFill>
                        <a:srgbClr val="1A2440"/>
                      </a:solidFill>
                      <a:prstDash val="solid"/>
                      <a:round/>
                      <a:headEnd type="none" w="med" len="med"/>
                      <a:tailEnd type="none" w="med" len="med"/>
                    </a:lnR>
                    <a:lnT w="6350" cap="flat" cmpd="sng" algn="ctr">
                      <a:solidFill>
                        <a:srgbClr val="1A2440"/>
                      </a:solidFill>
                      <a:prstDash val="solid"/>
                      <a:round/>
                      <a:headEnd type="none" w="med" len="med"/>
                      <a:tailEnd type="none" w="med" len="med"/>
                    </a:lnT>
                    <a:lnB w="6350" cap="flat" cmpd="sng" algn="ctr">
                      <a:solidFill>
                        <a:srgbClr val="1A2440"/>
                      </a:solidFill>
                      <a:prstDash val="solid"/>
                      <a:round/>
                      <a:headEnd type="none" w="med" len="med"/>
                      <a:tailEnd type="none" w="med" len="med"/>
                    </a:lnB>
                    <a:solidFill>
                      <a:srgbClr val="243055"/>
                    </a:solidFill>
                  </a:tcPr>
                </a:tc>
                <a:tc>
                  <a:txBody>
                    <a:bodyPr/>
                    <a:lstStyle/>
                    <a:p>
                      <a:pPr indent="0" marL="0">
                        <a:buNone/>
                      </a:pPr>
                      <a:r>
                        <a:rPr lang="en-US" sz="800" dirty="0">
                          <a:solidFill>
                            <a:srgbClr val="C8CFE0"/>
                          </a:solidFill>
                        </a:rPr>
                        <a:t>12 weeks</a:t>
                      </a:r>
                      <a:endParaRPr lang="en-US" sz="800" dirty="0"/>
                    </a:p>
                  </a:txBody>
                  <a:tcPr marL="91440" marR="91440" marT="45720" marB="45720">
                    <a:lnL w="6350" cap="flat" cmpd="sng" algn="ctr">
                      <a:solidFill>
                        <a:srgbClr val="1A2440"/>
                      </a:solidFill>
                      <a:prstDash val="solid"/>
                      <a:round/>
                      <a:headEnd type="none" w="med" len="med"/>
                      <a:tailEnd type="none" w="med" len="med"/>
                    </a:lnL>
                    <a:lnR w="6350" cap="flat" cmpd="sng" algn="ctr">
                      <a:solidFill>
                        <a:srgbClr val="1A2440"/>
                      </a:solidFill>
                      <a:prstDash val="solid"/>
                      <a:round/>
                      <a:headEnd type="none" w="med" len="med"/>
                      <a:tailEnd type="none" w="med" len="med"/>
                    </a:lnR>
                    <a:lnT w="6350" cap="flat" cmpd="sng" algn="ctr">
                      <a:solidFill>
                        <a:srgbClr val="1A2440"/>
                      </a:solidFill>
                      <a:prstDash val="solid"/>
                      <a:round/>
                      <a:headEnd type="none" w="med" len="med"/>
                      <a:tailEnd type="none" w="med" len="med"/>
                    </a:lnT>
                    <a:lnB w="6350" cap="flat" cmpd="sng" algn="ctr">
                      <a:solidFill>
                        <a:srgbClr val="1A2440"/>
                      </a:solidFill>
                      <a:prstDash val="solid"/>
                      <a:round/>
                      <a:headEnd type="none" w="med" len="med"/>
                      <a:tailEnd type="none" w="med" len="med"/>
                    </a:lnB>
                    <a:solidFill>
                      <a:srgbClr val="243055"/>
                    </a:solidFill>
                  </a:tcPr>
                </a:tc>
                <a:tc>
                  <a:txBody>
                    <a:bodyPr/>
                    <a:lstStyle/>
                    <a:p>
                      <a:pPr indent="0" marL="0">
                        <a:buNone/>
                      </a:pPr>
                      <a:r>
                        <a:rPr lang="en-US" sz="700" dirty="0">
                          <a:solidFill>
                            <a:srgbClr val="8A95B0"/>
                          </a:solidFill>
                        </a:rPr>
                        <a:t>Anti-cancer, immune restoration</a:t>
                      </a:r>
                      <a:endParaRPr lang="en-US" sz="700" dirty="0"/>
                    </a:p>
                  </a:txBody>
                  <a:tcPr marL="91440" marR="91440" marT="45720" marB="45720">
                    <a:lnL w="6350" cap="flat" cmpd="sng" algn="ctr">
                      <a:solidFill>
                        <a:srgbClr val="1A2440"/>
                      </a:solidFill>
                      <a:prstDash val="solid"/>
                      <a:round/>
                      <a:headEnd type="none" w="med" len="med"/>
                      <a:tailEnd type="none" w="med" len="med"/>
                    </a:lnL>
                    <a:lnR w="6350" cap="flat" cmpd="sng" algn="ctr">
                      <a:solidFill>
                        <a:srgbClr val="1A2440"/>
                      </a:solidFill>
                      <a:prstDash val="solid"/>
                      <a:round/>
                      <a:headEnd type="none" w="med" len="med"/>
                      <a:tailEnd type="none" w="med" len="med"/>
                    </a:lnR>
                    <a:lnT w="6350" cap="flat" cmpd="sng" algn="ctr">
                      <a:solidFill>
                        <a:srgbClr val="1A2440"/>
                      </a:solidFill>
                      <a:prstDash val="solid"/>
                      <a:round/>
                      <a:headEnd type="none" w="med" len="med"/>
                      <a:tailEnd type="none" w="med" len="med"/>
                    </a:lnT>
                    <a:lnB w="6350" cap="flat" cmpd="sng" algn="ctr">
                      <a:solidFill>
                        <a:srgbClr val="1A2440"/>
                      </a:solidFill>
                      <a:prstDash val="solid"/>
                      <a:round/>
                      <a:headEnd type="none" w="med" len="med"/>
                      <a:tailEnd type="none" w="med" len="med"/>
                    </a:lnB>
                    <a:solidFill>
                      <a:srgbClr val="243055"/>
                    </a:solidFill>
                  </a:tcPr>
                </a:tc>
              </a:tr>
              <a:tr h="0">
                <a:tc>
                  <a:txBody>
                    <a:bodyPr/>
                    <a:lstStyle/>
                    <a:p>
                      <a:pPr indent="0" marL="0">
                        <a:buNone/>
                      </a:pPr>
                      <a:r>
                        <a:rPr lang="en-US" sz="800" b="1" dirty="0">
                          <a:solidFill>
                            <a:srgbClr val="C9A54E"/>
                          </a:solidFill>
                        </a:rPr>
                        <a:t>Epithalon</a:t>
                      </a:r>
                      <a:endParaRPr lang="en-US" sz="800" dirty="0"/>
                    </a:p>
                  </a:txBody>
                  <a:tcPr marL="91440" marR="91440" marT="45720" marB="45720">
                    <a:lnL w="6350" cap="flat" cmpd="sng" algn="ctr">
                      <a:solidFill>
                        <a:srgbClr val="1A2440"/>
                      </a:solidFill>
                      <a:prstDash val="solid"/>
                      <a:round/>
                      <a:headEnd type="none" w="med" len="med"/>
                      <a:tailEnd type="none" w="med" len="med"/>
                    </a:lnL>
                    <a:lnR w="6350" cap="flat" cmpd="sng" algn="ctr">
                      <a:solidFill>
                        <a:srgbClr val="1A2440"/>
                      </a:solidFill>
                      <a:prstDash val="solid"/>
                      <a:round/>
                      <a:headEnd type="none" w="med" len="med"/>
                      <a:tailEnd type="none" w="med" len="med"/>
                    </a:lnR>
                    <a:lnT w="6350" cap="flat" cmpd="sng" algn="ctr">
                      <a:solidFill>
                        <a:srgbClr val="1A2440"/>
                      </a:solidFill>
                      <a:prstDash val="solid"/>
                      <a:round/>
                      <a:headEnd type="none" w="med" len="med"/>
                      <a:tailEnd type="none" w="med" len="med"/>
                    </a:lnT>
                    <a:lnB w="6350" cap="flat" cmpd="sng" algn="ctr">
                      <a:solidFill>
                        <a:srgbClr val="1A2440"/>
                      </a:solidFill>
                      <a:prstDash val="solid"/>
                      <a:round/>
                      <a:headEnd type="none" w="med" len="med"/>
                      <a:tailEnd type="none" w="med" len="med"/>
                    </a:lnB>
                    <a:solidFill>
                      <a:srgbClr val="243055"/>
                    </a:solidFill>
                  </a:tcPr>
                </a:tc>
                <a:tc>
                  <a:txBody>
                    <a:bodyPr/>
                    <a:lstStyle/>
                    <a:p>
                      <a:pPr indent="0" marL="0">
                        <a:buNone/>
                      </a:pPr>
                      <a:r>
                        <a:rPr lang="en-US" sz="700" dirty="0">
                          <a:solidFill>
                            <a:srgbClr val="C8CFE0"/>
                          </a:solidFill>
                        </a:rPr>
                        <a:t>10mg</a:t>
                      </a:r>
                      <a:endParaRPr lang="en-US" sz="700" dirty="0"/>
                    </a:p>
                    <a:p>
                      <a:pPr indent="0" marL="0">
                        <a:buNone/>
                      </a:pPr>
                      <a:r>
                        <a:rPr lang="en-US" sz="700" dirty="0">
                          <a:solidFill>
                            <a:srgbClr val="C8CFE0"/>
                          </a:solidFill>
                        </a:rPr>
                        <a:t>1mL BAC water</a:t>
                      </a:r>
                      <a:endParaRPr lang="en-US" sz="700" dirty="0"/>
                    </a:p>
                  </a:txBody>
                  <a:tcPr marL="91440" marR="91440" marT="45720" marB="45720">
                    <a:lnL w="6350" cap="flat" cmpd="sng" algn="ctr">
                      <a:solidFill>
                        <a:srgbClr val="1A2440"/>
                      </a:solidFill>
                      <a:prstDash val="solid"/>
                      <a:round/>
                      <a:headEnd type="none" w="med" len="med"/>
                      <a:tailEnd type="none" w="med" len="med"/>
                    </a:lnL>
                    <a:lnR w="6350" cap="flat" cmpd="sng" algn="ctr">
                      <a:solidFill>
                        <a:srgbClr val="1A2440"/>
                      </a:solidFill>
                      <a:prstDash val="solid"/>
                      <a:round/>
                      <a:headEnd type="none" w="med" len="med"/>
                      <a:tailEnd type="none" w="med" len="med"/>
                    </a:lnR>
                    <a:lnT w="6350" cap="flat" cmpd="sng" algn="ctr">
                      <a:solidFill>
                        <a:srgbClr val="1A2440"/>
                      </a:solidFill>
                      <a:prstDash val="solid"/>
                      <a:round/>
                      <a:headEnd type="none" w="med" len="med"/>
                      <a:tailEnd type="none" w="med" len="med"/>
                    </a:lnT>
                    <a:lnB w="6350" cap="flat" cmpd="sng" algn="ctr">
                      <a:solidFill>
                        <a:srgbClr val="1A2440"/>
                      </a:solidFill>
                      <a:prstDash val="solid"/>
                      <a:round/>
                      <a:headEnd type="none" w="med" len="med"/>
                      <a:tailEnd type="none" w="med" len="med"/>
                    </a:lnB>
                    <a:solidFill>
                      <a:srgbClr val="243055"/>
                    </a:solidFill>
                  </a:tcPr>
                </a:tc>
                <a:tc>
                  <a:txBody>
                    <a:bodyPr/>
                    <a:lstStyle/>
                    <a:p>
                      <a:pPr indent="0" marL="0">
                        <a:buNone/>
                      </a:pPr>
                      <a:r>
                        <a:rPr lang="en-US" sz="800" dirty="0">
                          <a:solidFill>
                            <a:srgbClr val="C8CFE0"/>
                          </a:solidFill>
                        </a:rPr>
                        <a:t>10mg SubQ</a:t>
                      </a:r>
                      <a:endParaRPr lang="en-US" sz="800" dirty="0"/>
                    </a:p>
                  </a:txBody>
                  <a:tcPr marL="91440" marR="91440" marT="45720" marB="45720">
                    <a:lnL w="6350" cap="flat" cmpd="sng" algn="ctr">
                      <a:solidFill>
                        <a:srgbClr val="1A2440"/>
                      </a:solidFill>
                      <a:prstDash val="solid"/>
                      <a:round/>
                      <a:headEnd type="none" w="med" len="med"/>
                      <a:tailEnd type="none" w="med" len="med"/>
                    </a:lnL>
                    <a:lnR w="6350" cap="flat" cmpd="sng" algn="ctr">
                      <a:solidFill>
                        <a:srgbClr val="1A2440"/>
                      </a:solidFill>
                      <a:prstDash val="solid"/>
                      <a:round/>
                      <a:headEnd type="none" w="med" len="med"/>
                      <a:tailEnd type="none" w="med" len="med"/>
                    </a:lnR>
                    <a:lnT w="6350" cap="flat" cmpd="sng" algn="ctr">
                      <a:solidFill>
                        <a:srgbClr val="1A2440"/>
                      </a:solidFill>
                      <a:prstDash val="solid"/>
                      <a:round/>
                      <a:headEnd type="none" w="med" len="med"/>
                      <a:tailEnd type="none" w="med" len="med"/>
                    </a:lnT>
                    <a:lnB w="6350" cap="flat" cmpd="sng" algn="ctr">
                      <a:solidFill>
                        <a:srgbClr val="1A2440"/>
                      </a:solidFill>
                      <a:prstDash val="solid"/>
                      <a:round/>
                      <a:headEnd type="none" w="med" len="med"/>
                      <a:tailEnd type="none" w="med" len="med"/>
                    </a:lnB>
                    <a:solidFill>
                      <a:srgbClr val="243055"/>
                    </a:solidFill>
                  </a:tcPr>
                </a:tc>
                <a:tc>
                  <a:txBody>
                    <a:bodyPr/>
                    <a:lstStyle/>
                    <a:p>
                      <a:pPr indent="0" marL="0">
                        <a:buNone/>
                      </a:pPr>
                      <a:r>
                        <a:rPr lang="en-US" sz="800" dirty="0">
                          <a:solidFill>
                            <a:srgbClr val="C8CFE0"/>
                          </a:solidFill>
                        </a:rPr>
                        <a:t>daily x 10 days, repeat every 4 months</a:t>
                      </a:r>
                      <a:endParaRPr lang="en-US" sz="800" dirty="0"/>
                    </a:p>
                  </a:txBody>
                  <a:tcPr marL="91440" marR="91440" marT="45720" marB="45720">
                    <a:lnL w="6350" cap="flat" cmpd="sng" algn="ctr">
                      <a:solidFill>
                        <a:srgbClr val="1A2440"/>
                      </a:solidFill>
                      <a:prstDash val="solid"/>
                      <a:round/>
                      <a:headEnd type="none" w="med" len="med"/>
                      <a:tailEnd type="none" w="med" len="med"/>
                    </a:lnL>
                    <a:lnR w="6350" cap="flat" cmpd="sng" algn="ctr">
                      <a:solidFill>
                        <a:srgbClr val="1A2440"/>
                      </a:solidFill>
                      <a:prstDash val="solid"/>
                      <a:round/>
                      <a:headEnd type="none" w="med" len="med"/>
                      <a:tailEnd type="none" w="med" len="med"/>
                    </a:lnR>
                    <a:lnT w="6350" cap="flat" cmpd="sng" algn="ctr">
                      <a:solidFill>
                        <a:srgbClr val="1A2440"/>
                      </a:solidFill>
                      <a:prstDash val="solid"/>
                      <a:round/>
                      <a:headEnd type="none" w="med" len="med"/>
                      <a:tailEnd type="none" w="med" len="med"/>
                    </a:lnT>
                    <a:lnB w="6350" cap="flat" cmpd="sng" algn="ctr">
                      <a:solidFill>
                        <a:srgbClr val="1A2440"/>
                      </a:solidFill>
                      <a:prstDash val="solid"/>
                      <a:round/>
                      <a:headEnd type="none" w="med" len="med"/>
                      <a:tailEnd type="none" w="med" len="med"/>
                    </a:lnB>
                    <a:solidFill>
                      <a:srgbClr val="243055"/>
                    </a:solidFill>
                  </a:tcPr>
                </a:tc>
                <a:tc>
                  <a:txBody>
                    <a:bodyPr/>
                    <a:lstStyle/>
                    <a:p>
                      <a:pPr indent="0" marL="0">
                        <a:buNone/>
                      </a:pPr>
                      <a:r>
                        <a:rPr lang="en-US" sz="800" dirty="0">
                          <a:solidFill>
                            <a:srgbClr val="C8CFE0"/>
                          </a:solidFill>
                        </a:rPr>
                        <a:t>10 days (repeat as above)</a:t>
                      </a:r>
                      <a:endParaRPr lang="en-US" sz="800" dirty="0"/>
                    </a:p>
                  </a:txBody>
                  <a:tcPr marL="91440" marR="91440" marT="45720" marB="45720">
                    <a:lnL w="6350" cap="flat" cmpd="sng" algn="ctr">
                      <a:solidFill>
                        <a:srgbClr val="1A2440"/>
                      </a:solidFill>
                      <a:prstDash val="solid"/>
                      <a:round/>
                      <a:headEnd type="none" w="med" len="med"/>
                      <a:tailEnd type="none" w="med" len="med"/>
                    </a:lnL>
                    <a:lnR w="6350" cap="flat" cmpd="sng" algn="ctr">
                      <a:solidFill>
                        <a:srgbClr val="1A2440"/>
                      </a:solidFill>
                      <a:prstDash val="solid"/>
                      <a:round/>
                      <a:headEnd type="none" w="med" len="med"/>
                      <a:tailEnd type="none" w="med" len="med"/>
                    </a:lnR>
                    <a:lnT w="6350" cap="flat" cmpd="sng" algn="ctr">
                      <a:solidFill>
                        <a:srgbClr val="1A2440"/>
                      </a:solidFill>
                      <a:prstDash val="solid"/>
                      <a:round/>
                      <a:headEnd type="none" w="med" len="med"/>
                      <a:tailEnd type="none" w="med" len="med"/>
                    </a:lnT>
                    <a:lnB w="6350" cap="flat" cmpd="sng" algn="ctr">
                      <a:solidFill>
                        <a:srgbClr val="1A2440"/>
                      </a:solidFill>
                      <a:prstDash val="solid"/>
                      <a:round/>
                      <a:headEnd type="none" w="med" len="med"/>
                      <a:tailEnd type="none" w="med" len="med"/>
                    </a:lnB>
                    <a:solidFill>
                      <a:srgbClr val="243055"/>
                    </a:solidFill>
                  </a:tcPr>
                </a:tc>
                <a:tc>
                  <a:txBody>
                    <a:bodyPr/>
                    <a:lstStyle/>
                    <a:p>
                      <a:pPr indent="0" marL="0">
                        <a:buNone/>
                      </a:pPr>
                      <a:r>
                        <a:rPr lang="en-US" sz="700" dirty="0">
                          <a:solidFill>
                            <a:srgbClr val="8A95B0"/>
                          </a:solidFill>
                        </a:rPr>
                        <a:t>Telomerase activation, immune and DNA repair</a:t>
                      </a:r>
                      <a:endParaRPr lang="en-US" sz="700" dirty="0"/>
                    </a:p>
                  </a:txBody>
                  <a:tcPr marL="91440" marR="91440" marT="45720" marB="45720">
                    <a:lnL w="6350" cap="flat" cmpd="sng" algn="ctr">
                      <a:solidFill>
                        <a:srgbClr val="1A2440"/>
                      </a:solidFill>
                      <a:prstDash val="solid"/>
                      <a:round/>
                      <a:headEnd type="none" w="med" len="med"/>
                      <a:tailEnd type="none" w="med" len="med"/>
                    </a:lnL>
                    <a:lnR w="6350" cap="flat" cmpd="sng" algn="ctr">
                      <a:solidFill>
                        <a:srgbClr val="1A2440"/>
                      </a:solidFill>
                      <a:prstDash val="solid"/>
                      <a:round/>
                      <a:headEnd type="none" w="med" len="med"/>
                      <a:tailEnd type="none" w="med" len="med"/>
                    </a:lnR>
                    <a:lnT w="6350" cap="flat" cmpd="sng" algn="ctr">
                      <a:solidFill>
                        <a:srgbClr val="1A2440"/>
                      </a:solidFill>
                      <a:prstDash val="solid"/>
                      <a:round/>
                      <a:headEnd type="none" w="med" len="med"/>
                      <a:tailEnd type="none" w="med" len="med"/>
                    </a:lnT>
                    <a:lnB w="6350" cap="flat" cmpd="sng" algn="ctr">
                      <a:solidFill>
                        <a:srgbClr val="1A2440"/>
                      </a:solidFill>
                      <a:prstDash val="solid"/>
                      <a:round/>
                      <a:headEnd type="none" w="med" len="med"/>
                      <a:tailEnd type="none" w="med" len="med"/>
                    </a:lnB>
                    <a:solidFill>
                      <a:srgbClr val="243055"/>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8EDF5"/>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rgbClr val="1A2440"/>
                </a:solidFill>
                <a:latin typeface="Playfair Display" pitchFamily="34" charset="0"/>
                <a:ea typeface="Playfair Display" pitchFamily="34" charset="-122"/>
                <a:cs typeface="Playfair Display" pitchFamily="34" charset="-120"/>
              </a:rPr>
              <a:t>Therapeutics: Oral Peptides</a:t>
            </a:r>
            <a:endParaRPr lang="en-US" sz="2400" dirty="0"/>
          </a:p>
        </p:txBody>
      </p:sp>
      <p:sp>
        <p:nvSpPr>
          <p:cNvPr id="3" name="Shape 1"/>
          <p:cNvSpPr/>
          <p:nvPr/>
        </p:nvSpPr>
        <p:spPr>
          <a:xfrm>
            <a:off x="457200" y="914400"/>
            <a:ext cx="8229600" cy="384048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4" name="Text 2"/>
          <p:cNvSpPr/>
          <p:nvPr/>
        </p:nvSpPr>
        <p:spPr>
          <a:xfrm>
            <a:off x="640080" y="1005840"/>
            <a:ext cx="7863840" cy="3657600"/>
          </a:xfrm>
          <a:prstGeom prst="rect">
            <a:avLst/>
          </a:prstGeom>
          <a:noFill/>
          <a:ln/>
        </p:spPr>
        <p:txBody>
          <a:bodyPr wrap="square" rtlCol="0" anchor="t"/>
          <a:lstStyle/>
          <a:p>
            <a:pPr indent="0" marL="0">
              <a:buNone/>
            </a:pPr>
            <a:r>
              <a:rPr lang="en-US" sz="1200" b="1" dirty="0">
                <a:solidFill>
                  <a:srgbClr val="1A2440"/>
                </a:solidFill>
                <a:latin typeface="Source Sans 3" pitchFamily="34" charset="0"/>
                <a:ea typeface="Source Sans 3" pitchFamily="34" charset="-122"/>
                <a:cs typeface="Source Sans 3" pitchFamily="34" charset="-120"/>
              </a:rPr>
              <a:t>BPC-157 Oral (Immediate Release)</a:t>
            </a:r>
            <a:pPr indent="0" marL="0">
              <a:buNone/>
            </a:pPr>
            <a:r>
              <a:rPr lang="en-US" sz="1000" dirty="0">
                <a:solidFill>
                  <a:srgbClr val="5A6B8A"/>
                </a:solidFill>
                <a:latin typeface="Source Sans 3" pitchFamily="34" charset="0"/>
                <a:ea typeface="Source Sans 3" pitchFamily="34" charset="-122"/>
                <a:cs typeface="Source Sans 3" pitchFamily="34" charset="-120"/>
              </a:rPr>
              <a:t> — 500mcg | 2x daily | 90 days</a:t>
            </a:r>
            <a:pPr indent="0" marL="0">
              <a:buNone/>
            </a:pPr>
            <a:endParaRPr lang="en-US" sz="1200" dirty="0"/>
          </a:p>
          <a:p>
            <a:pPr indent="0" marL="0">
              <a:buNone/>
            </a:pPr>
            <a:r>
              <a:rPr lang="en-US" sz="900" dirty="0">
                <a:solidFill>
                  <a:srgbClr val="1A2440"/>
                </a:solidFill>
                <a:latin typeface="Source Sans 3" pitchFamily="34" charset="0"/>
                <a:ea typeface="Source Sans 3" pitchFamily="34" charset="-122"/>
                <a:cs typeface="Source Sans 3" pitchFamily="34" charset="-120"/>
              </a:rPr>
              <a:t>   Purpose: GI repair, anti-inflammatory</a:t>
            </a:r>
            <a:endParaRPr lang="en-US" sz="1200" dirty="0"/>
          </a:p>
          <a:p>
            <a:pPr indent="0" marL="0">
              <a:buNone/>
            </a:pPr>
            <a:r>
              <a:rPr lang="en-US" sz="1200" b="1" dirty="0">
                <a:solidFill>
                  <a:srgbClr val="1A2440"/>
                </a:solidFill>
                <a:latin typeface="Source Sans 3" pitchFamily="34" charset="0"/>
                <a:ea typeface="Source Sans 3" pitchFamily="34" charset="-122"/>
                <a:cs typeface="Source Sans 3" pitchFamily="34" charset="-120"/>
              </a:rPr>
              <a:t>KPV</a:t>
            </a:r>
            <a:pPr indent="0" marL="0">
              <a:buNone/>
            </a:pPr>
            <a:r>
              <a:rPr lang="en-US" sz="1000" dirty="0">
                <a:solidFill>
                  <a:srgbClr val="5A6B8A"/>
                </a:solidFill>
                <a:latin typeface="Source Sans 3" pitchFamily="34" charset="0"/>
                <a:ea typeface="Source Sans 3" pitchFamily="34" charset="-122"/>
                <a:cs typeface="Source Sans 3" pitchFamily="34" charset="-120"/>
              </a:rPr>
              <a:t> — 500mcg | 2x daily | 90 days</a:t>
            </a:r>
            <a:pPr indent="0" marL="0">
              <a:buNone/>
            </a:pPr>
            <a:endParaRPr lang="en-US" sz="1200" dirty="0"/>
          </a:p>
          <a:p>
            <a:pPr indent="0" marL="0">
              <a:buNone/>
            </a:pPr>
            <a:r>
              <a:rPr lang="en-US" sz="900" dirty="0">
                <a:solidFill>
                  <a:srgbClr val="1A2440"/>
                </a:solidFill>
                <a:latin typeface="Source Sans 3" pitchFamily="34" charset="0"/>
                <a:ea typeface="Source Sans 3" pitchFamily="34" charset="-122"/>
                <a:cs typeface="Source Sans 3" pitchFamily="34" charset="-120"/>
              </a:rPr>
              <a:t>   Purpose: Anti-inflammatory, gut barrier repair</a:t>
            </a:r>
            <a:endParaRPr lang="en-US" sz="1200" dirty="0"/>
          </a:p>
          <a:p>
            <a:pPr indent="0" marL="0">
              <a:buNone/>
            </a:pPr>
            <a:r>
              <a:rPr lang="en-US" sz="1200" b="1" dirty="0">
                <a:solidFill>
                  <a:srgbClr val="1A2440"/>
                </a:solidFill>
                <a:latin typeface="Source Sans 3" pitchFamily="34" charset="0"/>
                <a:ea typeface="Source Sans 3" pitchFamily="34" charset="-122"/>
                <a:cs typeface="Source Sans 3" pitchFamily="34" charset="-120"/>
              </a:rPr>
              <a:t>Thymosin Alpha-1 Oral</a:t>
            </a:r>
            <a:pPr indent="0" marL="0">
              <a:buNone/>
            </a:pPr>
            <a:r>
              <a:rPr lang="en-US" sz="1000" dirty="0">
                <a:solidFill>
                  <a:srgbClr val="5A6B8A"/>
                </a:solidFill>
                <a:latin typeface="Source Sans 3" pitchFamily="34" charset="0"/>
                <a:ea typeface="Source Sans 3" pitchFamily="34" charset="-122"/>
                <a:cs typeface="Source Sans 3" pitchFamily="34" charset="-120"/>
              </a:rPr>
              <a:t> — 2 capsules | daily | 90 days</a:t>
            </a:r>
            <a:pPr indent="0" marL="0">
              <a:buNone/>
            </a:pPr>
            <a:endParaRPr lang="en-US" sz="1200" dirty="0"/>
          </a:p>
          <a:p>
            <a:pPr indent="0" marL="0">
              <a:buNone/>
            </a:pPr>
            <a:r>
              <a:rPr lang="en-US" sz="900" dirty="0">
                <a:solidFill>
                  <a:srgbClr val="1A2440"/>
                </a:solidFill>
                <a:latin typeface="Source Sans 3" pitchFamily="34" charset="0"/>
                <a:ea typeface="Source Sans 3" pitchFamily="34" charset="-122"/>
                <a:cs typeface="Source Sans 3" pitchFamily="34" charset="-120"/>
              </a:rPr>
              <a:t>   Purpose: Immune modulation, anti-cancer</a:t>
            </a:r>
            <a:endParaRPr lang="en-US" sz="1200" dirty="0"/>
          </a:p>
          <a:p>
            <a:pPr indent="0" marL="0">
              <a:buNone/>
            </a:pPr>
            <a:r>
              <a:rPr lang="en-US" sz="1200" b="1" dirty="0">
                <a:solidFill>
                  <a:srgbClr val="1A2440"/>
                </a:solidFill>
                <a:latin typeface="Source Sans 3" pitchFamily="34" charset="0"/>
                <a:ea typeface="Source Sans 3" pitchFamily="34" charset="-122"/>
                <a:cs typeface="Source Sans 3" pitchFamily="34" charset="-120"/>
              </a:rPr>
              <a:t>TB4-Frag Max</a:t>
            </a:r>
            <a:pPr indent="0" marL="0">
              <a:buNone/>
            </a:pPr>
            <a:r>
              <a:rPr lang="en-US" sz="1000" dirty="0">
                <a:solidFill>
                  <a:srgbClr val="5A6B8A"/>
                </a:solidFill>
                <a:latin typeface="Source Sans 3" pitchFamily="34" charset="0"/>
                <a:ea typeface="Source Sans 3" pitchFamily="34" charset="-122"/>
                <a:cs typeface="Source Sans 3" pitchFamily="34" charset="-120"/>
              </a:rPr>
              <a:t> — 1 capsule | daily | 90 days</a:t>
            </a:r>
            <a:pPr indent="0" marL="0">
              <a:buNone/>
            </a:pPr>
            <a:endParaRPr lang="en-US" sz="1200" dirty="0"/>
          </a:p>
          <a:p>
            <a:pPr indent="0" marL="0">
              <a:buNone/>
            </a:pPr>
            <a:r>
              <a:rPr lang="en-US" sz="900" dirty="0">
                <a:solidFill>
                  <a:srgbClr val="1A2440"/>
                </a:solidFill>
                <a:latin typeface="Source Sans 3" pitchFamily="34" charset="0"/>
                <a:ea typeface="Source Sans 3" pitchFamily="34" charset="-122"/>
                <a:cs typeface="Source Sans 3" pitchFamily="34" charset="-120"/>
              </a:rPr>
              <a:t>   Purpose: Cellular repair, tissue regeneration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8EDF5"/>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lIns="0" tIns="0" rIns="0" bIns="0" rtlCol="0" anchor="ctr"/>
          <a:lstStyle/>
          <a:p>
            <a:pPr indent="0" marL="0">
              <a:buNone/>
            </a:pPr>
            <a:r>
              <a:rPr lang="en-US" sz="2200" b="1" dirty="0">
                <a:solidFill>
                  <a:srgbClr val="1A2440"/>
                </a:solidFill>
                <a:latin typeface="Playfair Display" pitchFamily="34" charset="0"/>
                <a:ea typeface="Playfair Display" pitchFamily="34" charset="-122"/>
                <a:cs typeface="Playfair Display" pitchFamily="34" charset="-120"/>
              </a:rPr>
              <a:t>Therapeutics: Forgotten Formula Oral Bioregulators</a:t>
            </a:r>
            <a:endParaRPr lang="en-US" sz="2200" dirty="0"/>
          </a:p>
        </p:txBody>
      </p:sp>
      <p:sp>
        <p:nvSpPr>
          <p:cNvPr id="3" name="Shape 1"/>
          <p:cNvSpPr/>
          <p:nvPr/>
        </p:nvSpPr>
        <p:spPr>
          <a:xfrm>
            <a:off x="457200" y="914400"/>
            <a:ext cx="8229600" cy="384048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4" name="Text 2"/>
          <p:cNvSpPr/>
          <p:nvPr/>
        </p:nvSpPr>
        <p:spPr>
          <a:xfrm>
            <a:off x="640080" y="960120"/>
            <a:ext cx="7863840" cy="274320"/>
          </a:xfrm>
          <a:prstGeom prst="rect">
            <a:avLst/>
          </a:prstGeom>
          <a:noFill/>
          <a:ln/>
        </p:spPr>
        <p:txBody>
          <a:bodyPr wrap="square" rtlCol="0" anchor="ctr"/>
          <a:lstStyle/>
          <a:p>
            <a:pPr indent="0" marL="0">
              <a:buNone/>
            </a:pPr>
            <a:r>
              <a:rPr lang="en-US" sz="1100" dirty="0">
                <a:solidFill>
                  <a:srgbClr val="5A6B8A"/>
                </a:solidFill>
                <a:latin typeface="Source Sans 3" pitchFamily="34" charset="0"/>
                <a:ea typeface="Source Sans 3" pitchFamily="34" charset="-122"/>
                <a:cs typeface="Source Sans 3" pitchFamily="34" charset="-120"/>
              </a:rPr>
              <a:t>The following bioregulators run for the entire 90-day protocol:</a:t>
            </a:r>
            <a:endParaRPr lang="en-US" sz="1100" dirty="0"/>
          </a:p>
        </p:txBody>
      </p:sp>
      <p:sp>
        <p:nvSpPr>
          <p:cNvPr id="5" name="Text 3"/>
          <p:cNvSpPr/>
          <p:nvPr/>
        </p:nvSpPr>
        <p:spPr>
          <a:xfrm>
            <a:off x="640080" y="1371600"/>
            <a:ext cx="7863840" cy="3200400"/>
          </a:xfrm>
          <a:prstGeom prst="rect">
            <a:avLst/>
          </a:prstGeom>
          <a:noFill/>
          <a:ln/>
        </p:spPr>
        <p:txBody>
          <a:bodyPr wrap="square" rtlCol="0" anchor="t"/>
          <a:lstStyle/>
          <a:p>
            <a:pPr indent="0" marL="0">
              <a:buNone/>
            </a:pPr>
            <a:r>
              <a:rPr lang="en-US" sz="1200" b="1" dirty="0">
                <a:solidFill>
                  <a:srgbClr val="C9A54E"/>
                </a:solidFill>
                <a:latin typeface="Source Sans 3" pitchFamily="34" charset="0"/>
                <a:ea typeface="Source Sans 3" pitchFamily="34" charset="-122"/>
                <a:cs typeface="Source Sans 3" pitchFamily="34" charset="-120"/>
              </a:rPr>
              <a:t>Thymus Bioregulator</a:t>
            </a:r>
            <a:pPr indent="0" marL="0">
              <a:buNone/>
            </a:pPr>
            <a:r>
              <a:rPr lang="en-US" sz="1000" dirty="0">
                <a:solidFill>
                  <a:srgbClr val="1A2440"/>
                </a:solidFill>
                <a:latin typeface="Source Sans 3" pitchFamily="34" charset="0"/>
                <a:ea typeface="Source Sans 3" pitchFamily="34" charset="-122"/>
                <a:cs typeface="Source Sans 3" pitchFamily="34" charset="-120"/>
              </a:rPr>
              <a:t> — Target: Thymus | 2 capsules | daily | 30 days, then 10 days monthly</a:t>
            </a:r>
            <a:endParaRPr lang="en-US" sz="1200" dirty="0"/>
          </a:p>
          <a:p>
            <a:pPr indent="0" marL="0">
              <a:buNone/>
            </a:pPr>
            <a:r>
              <a:rPr lang="en-US" sz="1200" b="1" dirty="0">
                <a:solidFill>
                  <a:srgbClr val="C9A54E"/>
                </a:solidFill>
                <a:latin typeface="Source Sans 3" pitchFamily="34" charset="0"/>
                <a:ea typeface="Source Sans 3" pitchFamily="34" charset="-122"/>
                <a:cs typeface="Source Sans 3" pitchFamily="34" charset="-120"/>
              </a:rPr>
              <a:t>Thyroid Bioregulator</a:t>
            </a:r>
            <a:pPr indent="0" marL="0">
              <a:buNone/>
            </a:pPr>
            <a:r>
              <a:rPr lang="en-US" sz="1000" dirty="0">
                <a:solidFill>
                  <a:srgbClr val="1A2440"/>
                </a:solidFill>
                <a:latin typeface="Source Sans 3" pitchFamily="34" charset="0"/>
                <a:ea typeface="Source Sans 3" pitchFamily="34" charset="-122"/>
                <a:cs typeface="Source Sans 3" pitchFamily="34" charset="-120"/>
              </a:rPr>
              <a:t> — Target: Thyroid | 2 capsules | daily | 30 days, then 10 days monthly</a:t>
            </a:r>
            <a:endParaRPr lang="en-US" sz="1200" dirty="0"/>
          </a:p>
          <a:p>
            <a:pPr indent="0" marL="0">
              <a:buNone/>
            </a:pPr>
            <a:r>
              <a:rPr lang="en-US" sz="1200" b="1" dirty="0">
                <a:solidFill>
                  <a:srgbClr val="C9A54E"/>
                </a:solidFill>
                <a:latin typeface="Source Sans 3" pitchFamily="34" charset="0"/>
                <a:ea typeface="Source Sans 3" pitchFamily="34" charset="-122"/>
                <a:cs typeface="Source Sans 3" pitchFamily="34" charset="-120"/>
              </a:rPr>
              <a:t>Central Nervous System Bioregulator</a:t>
            </a:r>
            <a:pPr indent="0" marL="0">
              <a:buNone/>
            </a:pPr>
            <a:r>
              <a:rPr lang="en-US" sz="1000" dirty="0">
                <a:solidFill>
                  <a:srgbClr val="1A2440"/>
                </a:solidFill>
                <a:latin typeface="Source Sans 3" pitchFamily="34" charset="0"/>
                <a:ea typeface="Source Sans 3" pitchFamily="34" charset="-122"/>
                <a:cs typeface="Source Sans 3" pitchFamily="34" charset="-120"/>
              </a:rPr>
              <a:t> — Target: Brain | 2 capsules | daily | 30 days, then 10 days monthly</a:t>
            </a:r>
            <a:endParaRPr lang="en-US" sz="1200" dirty="0"/>
          </a:p>
          <a:p>
            <a:pPr indent="0" marL="0">
              <a:buNone/>
            </a:pPr>
            <a:r>
              <a:rPr lang="en-US" sz="1200" b="1" dirty="0">
                <a:solidFill>
                  <a:srgbClr val="C9A54E"/>
                </a:solidFill>
                <a:latin typeface="Source Sans 3" pitchFamily="34" charset="0"/>
                <a:ea typeface="Source Sans 3" pitchFamily="34" charset="-122"/>
                <a:cs typeface="Source Sans 3" pitchFamily="34" charset="-120"/>
              </a:rPr>
              <a:t>Pancragen</a:t>
            </a:r>
            <a:pPr indent="0" marL="0">
              <a:buNone/>
            </a:pPr>
            <a:r>
              <a:rPr lang="en-US" sz="1000" dirty="0">
                <a:solidFill>
                  <a:srgbClr val="1A2440"/>
                </a:solidFill>
                <a:latin typeface="Source Sans 3" pitchFamily="34" charset="0"/>
                <a:ea typeface="Source Sans 3" pitchFamily="34" charset="-122"/>
                <a:cs typeface="Source Sans 3" pitchFamily="34" charset="-120"/>
              </a:rPr>
              <a:t> — Target: Pancreas | 2 capsules | daily | 30 days, then 10 days monthly</a:t>
            </a:r>
            <a:endParaRPr lang="en-US" sz="1200" dirty="0"/>
          </a:p>
          <a:p>
            <a:pPr indent="0" marL="0">
              <a:buNone/>
            </a:pPr>
            <a:r>
              <a:rPr lang="en-US" sz="1200" b="1" dirty="0">
                <a:solidFill>
                  <a:srgbClr val="C9A54E"/>
                </a:solidFill>
                <a:latin typeface="Source Sans 3" pitchFamily="34" charset="0"/>
                <a:ea typeface="Source Sans 3" pitchFamily="34" charset="-122"/>
                <a:cs typeface="Source Sans 3" pitchFamily="34" charset="-120"/>
              </a:rPr>
              <a:t>Livagen</a:t>
            </a:r>
            <a:pPr indent="0" marL="0">
              <a:buNone/>
            </a:pPr>
            <a:r>
              <a:rPr lang="en-US" sz="1000" dirty="0">
                <a:solidFill>
                  <a:srgbClr val="1A2440"/>
                </a:solidFill>
                <a:latin typeface="Source Sans 3" pitchFamily="34" charset="0"/>
                <a:ea typeface="Source Sans 3" pitchFamily="34" charset="-122"/>
                <a:cs typeface="Source Sans 3" pitchFamily="34" charset="-120"/>
              </a:rPr>
              <a:t> — Target: Liver | 2 capsules | daily | 30 days, then 10 days monthly</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8EDF5"/>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rgbClr val="1A2440"/>
                </a:solidFill>
                <a:latin typeface="Playfair Display" pitchFamily="34" charset="0"/>
                <a:ea typeface="Playfair Display" pitchFamily="34" charset="-122"/>
                <a:cs typeface="Playfair Display" pitchFamily="34" charset="-120"/>
              </a:rPr>
              <a:t>Some of your Supplements Explained</a:t>
            </a:r>
            <a:endParaRPr lang="en-US" sz="2400" dirty="0"/>
          </a:p>
        </p:txBody>
      </p:sp>
      <p:sp>
        <p:nvSpPr>
          <p:cNvPr id="3" name="Shape 1"/>
          <p:cNvSpPr/>
          <p:nvPr/>
        </p:nvSpPr>
        <p:spPr>
          <a:xfrm>
            <a:off x="457200" y="914400"/>
            <a:ext cx="8229600" cy="384048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4" name="Text 2"/>
          <p:cNvSpPr/>
          <p:nvPr/>
        </p:nvSpPr>
        <p:spPr>
          <a:xfrm>
            <a:off x="640080" y="1005840"/>
            <a:ext cx="7863840" cy="3657600"/>
          </a:xfrm>
          <a:prstGeom prst="rect">
            <a:avLst/>
          </a:prstGeom>
          <a:noFill/>
          <a:ln/>
        </p:spPr>
        <p:txBody>
          <a:bodyPr wrap="square" rtlCol="0" anchor="t"/>
          <a:lstStyle/>
          <a:p>
            <a:pPr indent="0" marL="0">
              <a:buNone/>
            </a:pPr>
            <a:r>
              <a:rPr lang="en-US" sz="1100" b="1" dirty="0">
                <a:solidFill>
                  <a:srgbClr val="C9A54E"/>
                </a:solidFill>
                <a:latin typeface="Source Sans 3" pitchFamily="34" charset="0"/>
                <a:ea typeface="Source Sans 3" pitchFamily="34" charset="-122"/>
                <a:cs typeface="Source Sans 3" pitchFamily="34" charset="-120"/>
              </a:rPr>
              <a:t>Bio-Vitamin All-in-One Micronized Liquid</a:t>
            </a:r>
            <a:pPr indent="0" marL="0">
              <a:buNone/>
            </a:pPr>
            <a:r>
              <a:rPr lang="en-US" sz="1000" dirty="0">
                <a:solidFill>
                  <a:srgbClr val="1A2440"/>
                </a:solidFill>
                <a:latin typeface="Source Sans 3" pitchFamily="34" charset="0"/>
                <a:ea typeface="Source Sans 3" pitchFamily="34" charset="-122"/>
                <a:cs typeface="Source Sans 3" pitchFamily="34" charset="-120"/>
              </a:rPr>
              <a:t> — 1 tablespoon (morning)</a:t>
            </a:r>
            <a:pPr indent="0" marL="0">
              <a:buNone/>
            </a:pPr>
            <a:endParaRPr lang="en-US" sz="11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   Foundational micronutrients</a:t>
            </a:r>
            <a:endParaRPr lang="en-US" sz="1100" dirty="0"/>
          </a:p>
          <a:p>
            <a:pPr indent="0" marL="0">
              <a:buNone/>
            </a:pPr>
            <a:r>
              <a:rPr lang="en-US" sz="1100" b="1" dirty="0">
                <a:solidFill>
                  <a:srgbClr val="C9A54E"/>
                </a:solidFill>
                <a:latin typeface="Source Sans 3" pitchFamily="34" charset="0"/>
                <a:ea typeface="Source Sans 3" pitchFamily="34" charset="-122"/>
                <a:cs typeface="Source Sans 3" pitchFamily="34" charset="-120"/>
              </a:rPr>
              <a:t>Colostrum</a:t>
            </a:r>
            <a:pPr indent="0" marL="0">
              <a:buNone/>
            </a:pPr>
            <a:r>
              <a:rPr lang="en-US" sz="1000" dirty="0">
                <a:solidFill>
                  <a:srgbClr val="1A2440"/>
                </a:solidFill>
                <a:latin typeface="Source Sans 3" pitchFamily="34" charset="0"/>
                <a:ea typeface="Source Sans 3" pitchFamily="34" charset="-122"/>
                <a:cs typeface="Source Sans 3" pitchFamily="34" charset="-120"/>
              </a:rPr>
              <a:t> — 10g (midday)</a:t>
            </a:r>
            <a:pPr indent="0" marL="0">
              <a:buNone/>
            </a:pPr>
            <a:endParaRPr lang="en-US" sz="11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   Gut immune restoration</a:t>
            </a:r>
            <a:endParaRPr lang="en-US" sz="1100" dirty="0"/>
          </a:p>
          <a:p>
            <a:pPr indent="0" marL="0">
              <a:buNone/>
            </a:pPr>
            <a:r>
              <a:rPr lang="en-US" sz="1100" b="1" dirty="0">
                <a:solidFill>
                  <a:srgbClr val="C9A54E"/>
                </a:solidFill>
                <a:latin typeface="Source Sans 3" pitchFamily="34" charset="0"/>
                <a:ea typeface="Source Sans 3" pitchFamily="34" charset="-122"/>
                <a:cs typeface="Source Sans 3" pitchFamily="34" charset="-120"/>
              </a:rPr>
              <a:t>L-Glutamine</a:t>
            </a:r>
            <a:pPr indent="0" marL="0">
              <a:buNone/>
            </a:pPr>
            <a:r>
              <a:rPr lang="en-US" sz="1000" dirty="0">
                <a:solidFill>
                  <a:srgbClr val="1A2440"/>
                </a:solidFill>
                <a:latin typeface="Source Sans 3" pitchFamily="34" charset="0"/>
                <a:ea typeface="Source Sans 3" pitchFamily="34" charset="-122"/>
                <a:cs typeface="Source Sans 3" pitchFamily="34" charset="-120"/>
              </a:rPr>
              <a:t> — 5g (midday)</a:t>
            </a:r>
            <a:pPr indent="0" marL="0">
              <a:buNone/>
            </a:pPr>
            <a:endParaRPr lang="en-US" sz="11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   Gut mucosal repair</a:t>
            </a:r>
            <a:endParaRPr lang="en-US" sz="1100" dirty="0"/>
          </a:p>
          <a:p>
            <a:pPr indent="0" marL="0">
              <a:buNone/>
            </a:pPr>
            <a:r>
              <a:rPr lang="en-US" sz="1100" b="1" dirty="0">
                <a:solidFill>
                  <a:srgbClr val="C9A54E"/>
                </a:solidFill>
                <a:latin typeface="Source Sans 3" pitchFamily="34" charset="0"/>
                <a:ea typeface="Source Sans 3" pitchFamily="34" charset="-122"/>
                <a:cs typeface="Source Sans 3" pitchFamily="34" charset="-120"/>
              </a:rPr>
              <a:t>Selenium + Magnesium &amp; Zinc (Liposomal)</a:t>
            </a:r>
            <a:pPr indent="0" marL="0">
              <a:buNone/>
            </a:pPr>
            <a:r>
              <a:rPr lang="en-US" sz="1000" dirty="0">
                <a:solidFill>
                  <a:srgbClr val="1A2440"/>
                </a:solidFill>
                <a:latin typeface="Source Sans 3" pitchFamily="34" charset="0"/>
                <a:ea typeface="Source Sans 3" pitchFamily="34" charset="-122"/>
                <a:cs typeface="Source Sans 3" pitchFamily="34" charset="-120"/>
              </a:rPr>
              <a:t> — 1 tablespoon (morning)</a:t>
            </a:r>
            <a:pPr indent="0" marL="0">
              <a:buNone/>
            </a:pPr>
            <a:endParaRPr lang="en-US" sz="11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   Mineral repletion, thyroid, and immune support</a:t>
            </a:r>
            <a:endParaRPr lang="en-US" sz="1100" dirty="0"/>
          </a:p>
          <a:p>
            <a:pPr indent="0" marL="0">
              <a:buNone/>
            </a:pPr>
            <a:r>
              <a:rPr lang="en-US" sz="1100" b="1" dirty="0">
                <a:solidFill>
                  <a:srgbClr val="C9A54E"/>
                </a:solidFill>
                <a:latin typeface="Source Sans 3" pitchFamily="34" charset="0"/>
                <a:ea typeface="Source Sans 3" pitchFamily="34" charset="-122"/>
                <a:cs typeface="Source Sans 3" pitchFamily="34" charset="-120"/>
              </a:rPr>
              <a:t>Vitamin D + K (Liposomal)</a:t>
            </a:r>
            <a:pPr indent="0" marL="0">
              <a:buNone/>
            </a:pPr>
            <a:r>
              <a:rPr lang="en-US" sz="1000" dirty="0">
                <a:solidFill>
                  <a:srgbClr val="1A2440"/>
                </a:solidFill>
                <a:latin typeface="Source Sans 3" pitchFamily="34" charset="0"/>
                <a:ea typeface="Source Sans 3" pitchFamily="34" charset="-122"/>
                <a:cs typeface="Source Sans 3" pitchFamily="34" charset="-120"/>
              </a:rPr>
              <a:t> — 1 tablespoon (morning)</a:t>
            </a:r>
            <a:pPr indent="0" marL="0">
              <a:buNone/>
            </a:pPr>
            <a:endParaRPr lang="en-US" sz="11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   Immune modulation, hormone, and cancer support</a:t>
            </a:r>
            <a:endParaRPr lang="en-US" sz="1100" dirty="0"/>
          </a:p>
          <a:p>
            <a:pPr indent="0" marL="0">
              <a:buNone/>
            </a:pPr>
            <a:r>
              <a:rPr lang="en-US" sz="1100" b="1" dirty="0">
                <a:solidFill>
                  <a:srgbClr val="C9A54E"/>
                </a:solidFill>
                <a:latin typeface="Source Sans 3" pitchFamily="34" charset="0"/>
                <a:ea typeface="Source Sans 3" pitchFamily="34" charset="-122"/>
                <a:cs typeface="Source Sans 3" pitchFamily="34" charset="-120"/>
              </a:rPr>
              <a:t>Adaptogen Greens w/ Digestive Enzymes (Powder)</a:t>
            </a:r>
            <a:pPr indent="0" marL="0">
              <a:buNone/>
            </a:pPr>
            <a:r>
              <a:rPr lang="en-US" sz="1000" dirty="0">
                <a:solidFill>
                  <a:srgbClr val="1A2440"/>
                </a:solidFill>
                <a:latin typeface="Source Sans 3" pitchFamily="34" charset="0"/>
                <a:ea typeface="Source Sans 3" pitchFamily="34" charset="-122"/>
                <a:cs typeface="Source Sans 3" pitchFamily="34" charset="-120"/>
              </a:rPr>
              <a:t> — 1 scoop (morning/evening)</a:t>
            </a:r>
            <a:pPr indent="0" marL="0">
              <a:buNone/>
            </a:pPr>
            <a:endParaRPr lang="en-US" sz="11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   Stress, digestive, and immune support</a:t>
            </a:r>
            <a:endParaRPr lang="en-US" sz="1100" dirty="0"/>
          </a:p>
          <a:p>
            <a:pPr indent="0" marL="0">
              <a:buNone/>
            </a:pPr>
            <a:r>
              <a:rPr lang="en-US" sz="1100" b="1" dirty="0">
                <a:solidFill>
                  <a:srgbClr val="C9A54E"/>
                </a:solidFill>
                <a:latin typeface="Source Sans 3" pitchFamily="34" charset="0"/>
                <a:ea typeface="Source Sans 3" pitchFamily="34" charset="-122"/>
                <a:cs typeface="Source Sans 3" pitchFamily="34" charset="-120"/>
              </a:rPr>
              <a:t>Astaxanthin w/ Vitamin C (Liposomal)</a:t>
            </a:r>
            <a:pPr indent="0" marL="0">
              <a:buNone/>
            </a:pPr>
            <a:r>
              <a:rPr lang="en-US" sz="1000" dirty="0">
                <a:solidFill>
                  <a:srgbClr val="1A2440"/>
                </a:solidFill>
                <a:latin typeface="Source Sans 3" pitchFamily="34" charset="0"/>
                <a:ea typeface="Source Sans 3" pitchFamily="34" charset="-122"/>
                <a:cs typeface="Source Sans 3" pitchFamily="34" charset="-120"/>
              </a:rPr>
              <a:t> — 1 tablespoon (morning)</a:t>
            </a:r>
            <a:pPr indent="0" marL="0">
              <a:buNone/>
            </a:pPr>
            <a:endParaRPr lang="en-US" sz="11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   Antioxidant, immune, and mitochondrial protection</a:t>
            </a:r>
            <a:endParaRPr lang="en-US" sz="1100" dirty="0"/>
          </a:p>
          <a:p>
            <a:pPr indent="0" marL="0">
              <a:buNone/>
            </a:pPr>
            <a:r>
              <a:rPr lang="en-US" sz="1100" b="1" dirty="0">
                <a:solidFill>
                  <a:srgbClr val="C9A54E"/>
                </a:solidFill>
                <a:latin typeface="Source Sans 3" pitchFamily="34" charset="0"/>
                <a:ea typeface="Source Sans 3" pitchFamily="34" charset="-122"/>
                <a:cs typeface="Source Sans 3" pitchFamily="34" charset="-120"/>
              </a:rPr>
              <a:t>Curcumin+6 Nano (Liposomal)</a:t>
            </a:r>
            <a:pPr indent="0" marL="0">
              <a:buNone/>
            </a:pPr>
            <a:r>
              <a:rPr lang="en-US" sz="1000" dirty="0">
                <a:solidFill>
                  <a:srgbClr val="1A2440"/>
                </a:solidFill>
                <a:latin typeface="Source Sans 3" pitchFamily="34" charset="0"/>
                <a:ea typeface="Source Sans 3" pitchFamily="34" charset="-122"/>
                <a:cs typeface="Source Sans 3" pitchFamily="34" charset="-120"/>
              </a:rPr>
              <a:t> — 1 tablespoon (midday)</a:t>
            </a:r>
            <a:pPr indent="0" marL="0">
              <a:buNone/>
            </a:pPr>
            <a:endParaRPr lang="en-US" sz="11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   Potent anti-inflammatory, cancer microenvironment modulation</a:t>
            </a:r>
            <a:endParaRPr lang="en-US" sz="1100" dirty="0"/>
          </a:p>
          <a:p>
            <a:pPr indent="0" marL="0">
              <a:buNone/>
            </a:pPr>
            <a:r>
              <a:rPr lang="en-US" sz="1100" b="1" dirty="0">
                <a:solidFill>
                  <a:srgbClr val="C9A54E"/>
                </a:solidFill>
                <a:latin typeface="Source Sans 3" pitchFamily="34" charset="0"/>
                <a:ea typeface="Source Sans 3" pitchFamily="34" charset="-122"/>
                <a:cs typeface="Source Sans 3" pitchFamily="34" charset="-120"/>
              </a:rPr>
              <a:t>Complete REDS</a:t>
            </a:r>
            <a:pPr indent="0" marL="0">
              <a:buNone/>
            </a:pPr>
            <a:r>
              <a:rPr lang="en-US" sz="1000" dirty="0">
                <a:solidFill>
                  <a:srgbClr val="1A2440"/>
                </a:solidFill>
                <a:latin typeface="Source Sans 3" pitchFamily="34" charset="0"/>
                <a:ea typeface="Source Sans 3" pitchFamily="34" charset="-122"/>
                <a:cs typeface="Source Sans 3" pitchFamily="34" charset="-120"/>
              </a:rPr>
              <a:t> — 1 scoop (midday)</a:t>
            </a:r>
            <a:pPr indent="0" marL="0">
              <a:buNone/>
            </a:pPr>
            <a:endParaRPr lang="en-US" sz="11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   Polyphenols, cardiovascular, and anti-cancer support</a:t>
            </a:r>
            <a:endParaRPr lang="en-US" sz="1100" dirty="0"/>
          </a:p>
          <a:p>
            <a:pPr indent="0" marL="0">
              <a:buNone/>
            </a:pPr>
            <a:r>
              <a:rPr lang="en-US" sz="1100" b="1" dirty="0">
                <a:solidFill>
                  <a:srgbClr val="C9A54E"/>
                </a:solidFill>
                <a:latin typeface="Source Sans 3" pitchFamily="34" charset="0"/>
                <a:ea typeface="Source Sans 3" pitchFamily="34" charset="-122"/>
                <a:cs typeface="Source Sans 3" pitchFamily="34" charset="-120"/>
              </a:rPr>
              <a:t>French Celtic Salt</a:t>
            </a:r>
            <a:pPr indent="0" marL="0">
              <a:buNone/>
            </a:pPr>
            <a:r>
              <a:rPr lang="en-US" sz="1000" dirty="0">
                <a:solidFill>
                  <a:srgbClr val="1A2440"/>
                </a:solidFill>
                <a:latin typeface="Source Sans 3" pitchFamily="34" charset="0"/>
                <a:ea typeface="Source Sans 3" pitchFamily="34" charset="-122"/>
                <a:cs typeface="Source Sans 3" pitchFamily="34" charset="-120"/>
              </a:rPr>
              <a:t> — 1/4 tsp in 8oz water (morning and evening)</a:t>
            </a:r>
            <a:pPr indent="0" marL="0">
              <a:buNone/>
            </a:pPr>
            <a:endParaRPr lang="en-US" sz="11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   Microminerals, hydration, electrolyte support</a:t>
            </a:r>
            <a:endParaRPr lang="en-US" sz="1100" dirty="0"/>
          </a:p>
          <a:p>
            <a:pPr indent="0" marL="0">
              <a:buNone/>
            </a:pPr>
            <a:r>
              <a:rPr lang="en-US" sz="1100" b="1" dirty="0">
                <a:solidFill>
                  <a:srgbClr val="C9A54E"/>
                </a:solidFill>
                <a:latin typeface="Source Sans 3" pitchFamily="34" charset="0"/>
                <a:ea typeface="Source Sans 3" pitchFamily="34" charset="-122"/>
                <a:cs typeface="Source Sans 3" pitchFamily="34" charset="-120"/>
              </a:rPr>
              <a:t>GlyNAC</a:t>
            </a:r>
            <a:pPr indent="0" marL="0">
              <a:buNone/>
            </a:pPr>
            <a:r>
              <a:rPr lang="en-US" sz="1000" dirty="0">
                <a:solidFill>
                  <a:srgbClr val="1A2440"/>
                </a:solidFill>
                <a:latin typeface="Source Sans 3" pitchFamily="34" charset="0"/>
                <a:ea typeface="Source Sans 3" pitchFamily="34" charset="-122"/>
                <a:cs typeface="Source Sans 3" pitchFamily="34" charset="-120"/>
              </a:rPr>
              <a:t> — Glycine 3g + NAC 1200mg (midday)</a:t>
            </a:r>
            <a:pPr indent="0" marL="0">
              <a:buNone/>
            </a:pPr>
            <a:endParaRPr lang="en-US" sz="11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   Glutathione synthesis, Nrf2 pathway, detoxification</a:t>
            </a:r>
            <a:endParaRPr lang="en-US" sz="1100" dirty="0"/>
          </a:p>
          <a:p>
            <a:pPr indent="0" marL="0">
              <a:buNone/>
            </a:pPr>
            <a:r>
              <a:rPr lang="en-US" sz="1100" b="1" dirty="0">
                <a:solidFill>
                  <a:srgbClr val="C9A54E"/>
                </a:solidFill>
                <a:latin typeface="Source Sans 3" pitchFamily="34" charset="0"/>
                <a:ea typeface="Source Sans 3" pitchFamily="34" charset="-122"/>
                <a:cs typeface="Source Sans 3" pitchFamily="34" charset="-120"/>
              </a:rPr>
              <a:t>Mighty Blue (C60 blend)</a:t>
            </a:r>
            <a:pPr indent="0" marL="0">
              <a:buNone/>
            </a:pPr>
            <a:r>
              <a:rPr lang="en-US" sz="1000" dirty="0">
                <a:solidFill>
                  <a:srgbClr val="1A2440"/>
                </a:solidFill>
                <a:latin typeface="Source Sans 3" pitchFamily="34" charset="0"/>
                <a:ea typeface="Source Sans 3" pitchFamily="34" charset="-122"/>
                <a:cs typeface="Source Sans 3" pitchFamily="34" charset="-120"/>
              </a:rPr>
              <a:t> — 1 tablespoon (midday or alternate with C60 Olive Oil)</a:t>
            </a:r>
            <a:pPr indent="0" marL="0">
              <a:buNone/>
            </a:pPr>
            <a:endParaRPr lang="en-US" sz="11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   C60 antioxidant, mitochondrial longevity</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8EDF5"/>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rgbClr val="1A2440"/>
                </a:solidFill>
                <a:latin typeface="Playfair Display" pitchFamily="34" charset="0"/>
                <a:ea typeface="Playfair Display" pitchFamily="34" charset="-122"/>
                <a:cs typeface="Playfair Display" pitchFamily="34" charset="-120"/>
              </a:rPr>
              <a:t>Supplement Timing Guide</a:t>
            </a:r>
            <a:endParaRPr lang="en-US" sz="2400" dirty="0"/>
          </a:p>
        </p:txBody>
      </p:sp>
      <p:sp>
        <p:nvSpPr>
          <p:cNvPr id="3" name="Text 1"/>
          <p:cNvSpPr/>
          <p:nvPr/>
        </p:nvSpPr>
        <p:spPr>
          <a:xfrm>
            <a:off x="457200" y="777240"/>
            <a:ext cx="8229600" cy="274320"/>
          </a:xfrm>
          <a:prstGeom prst="rect">
            <a:avLst/>
          </a:prstGeom>
          <a:noFill/>
          <a:ln/>
        </p:spPr>
        <p:txBody>
          <a:bodyPr wrap="square" rtlCol="0" anchor="ctr"/>
          <a:lstStyle/>
          <a:p>
            <a:pPr indent="0" marL="0">
              <a:buNone/>
            </a:pPr>
            <a:r>
              <a:rPr lang="en-US" sz="1100" i="1" dirty="0">
                <a:solidFill>
                  <a:srgbClr val="5A6B8A"/>
                </a:solidFill>
                <a:latin typeface="Source Sans 3" pitchFamily="34" charset="0"/>
                <a:ea typeface="Source Sans 3" pitchFamily="34" charset="-122"/>
                <a:cs typeface="Source Sans 3" pitchFamily="34" charset="-120"/>
              </a:rPr>
              <a:t>Proper timing maximizes absorption and minimizes interactions</a:t>
            </a:r>
            <a:endParaRPr lang="en-US" sz="1100" dirty="0"/>
          </a:p>
        </p:txBody>
      </p:sp>
      <p:sp>
        <p:nvSpPr>
          <p:cNvPr id="4" name="Shape 2"/>
          <p:cNvSpPr/>
          <p:nvPr/>
        </p:nvSpPr>
        <p:spPr>
          <a:xfrm>
            <a:off x="457200" y="1097280"/>
            <a:ext cx="8229600" cy="274320"/>
          </a:xfrm>
          <a:prstGeom prst="rect">
            <a:avLst/>
          </a:prstGeom>
          <a:solidFill>
            <a:srgbClr val="1A2440"/>
          </a:solidFill>
          <a:ln/>
        </p:spPr>
      </p:sp>
      <p:sp>
        <p:nvSpPr>
          <p:cNvPr id="5" name="Text 3"/>
          <p:cNvSpPr/>
          <p:nvPr/>
        </p:nvSpPr>
        <p:spPr>
          <a:xfrm>
            <a:off x="640080" y="1097280"/>
            <a:ext cx="7863840" cy="274320"/>
          </a:xfrm>
          <a:prstGeom prst="rect">
            <a:avLst/>
          </a:prstGeom>
          <a:noFill/>
          <a:ln/>
        </p:spPr>
        <p:txBody>
          <a:bodyPr wrap="square" rtlCol="0" anchor="ctr"/>
          <a:lstStyle/>
          <a:p>
            <a:pPr indent="0" marL="0">
              <a:buNone/>
            </a:pPr>
            <a:r>
              <a:rPr lang="en-US" sz="1100" b="1" dirty="0">
                <a:solidFill>
                  <a:srgbClr val="FFFFFF"/>
                </a:solidFill>
                <a:latin typeface="Source Sans 3" pitchFamily="34" charset="0"/>
                <a:ea typeface="Source Sans 3" pitchFamily="34" charset="-122"/>
                <a:cs typeface="Source Sans 3" pitchFamily="34" charset="-120"/>
              </a:rPr>
              <a:t>Morning (Empty Stomach)</a:t>
            </a:r>
            <a:endParaRPr lang="en-US" sz="1100" dirty="0"/>
          </a:p>
        </p:txBody>
      </p:sp>
      <p:sp>
        <p:nvSpPr>
          <p:cNvPr id="6" name="Shape 4"/>
          <p:cNvSpPr/>
          <p:nvPr/>
        </p:nvSpPr>
        <p:spPr>
          <a:xfrm>
            <a:off x="457200" y="1417320"/>
            <a:ext cx="8229600" cy="32004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7" name="Text 5"/>
          <p:cNvSpPr/>
          <p:nvPr/>
        </p:nvSpPr>
        <p:spPr>
          <a:xfrm>
            <a:off x="640080" y="1417320"/>
            <a:ext cx="7863840" cy="320040"/>
          </a:xfrm>
          <a:prstGeom prst="rect">
            <a:avLst/>
          </a:prstGeom>
          <a:noFill/>
          <a:ln/>
        </p:spPr>
        <p:txBody>
          <a:bodyPr wrap="square" rtlCol="0" anchor="ctr"/>
          <a:lstStyle/>
          <a:p>
            <a:pPr indent="0" marL="0">
              <a:buNone/>
            </a:pPr>
            <a:r>
              <a:rPr lang="en-US" sz="1000" b="1" dirty="0">
                <a:solidFill>
                  <a:srgbClr val="1A2440"/>
                </a:solidFill>
                <a:latin typeface="Source Sans 3" pitchFamily="34" charset="0"/>
                <a:ea typeface="Source Sans 3" pitchFamily="34" charset="-122"/>
                <a:cs typeface="Source Sans 3" pitchFamily="34" charset="-120"/>
              </a:rPr>
              <a:t>Liposomal Vitamin D + K (liposomal)</a:t>
            </a:r>
            <a:pPr indent="0" marL="0">
              <a:buNone/>
            </a:pPr>
            <a:r>
              <a:rPr lang="en-US" sz="900" dirty="0">
                <a:solidFill>
                  <a:srgbClr val="5A6B8A"/>
                </a:solidFill>
                <a:latin typeface="Source Sans 3" pitchFamily="34" charset="0"/>
                <a:ea typeface="Source Sans 3" pitchFamily="34" charset="-122"/>
                <a:cs typeface="Source Sans 3" pitchFamily="34" charset="-120"/>
              </a:rPr>
              <a:t> — 1 tbsp</a:t>
            </a:r>
            <a:endParaRPr lang="en-US" sz="1000" dirty="0"/>
          </a:p>
        </p:txBody>
      </p:sp>
      <p:sp>
        <p:nvSpPr>
          <p:cNvPr id="8" name="Shape 6"/>
          <p:cNvSpPr/>
          <p:nvPr/>
        </p:nvSpPr>
        <p:spPr>
          <a:xfrm>
            <a:off x="457200" y="1764792"/>
            <a:ext cx="8229600" cy="32004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9" name="Text 7"/>
          <p:cNvSpPr/>
          <p:nvPr/>
        </p:nvSpPr>
        <p:spPr>
          <a:xfrm>
            <a:off x="640080" y="1764792"/>
            <a:ext cx="7863840" cy="320040"/>
          </a:xfrm>
          <a:prstGeom prst="rect">
            <a:avLst/>
          </a:prstGeom>
          <a:noFill/>
          <a:ln/>
        </p:spPr>
        <p:txBody>
          <a:bodyPr wrap="square" rtlCol="0" anchor="ctr"/>
          <a:lstStyle/>
          <a:p>
            <a:pPr indent="0" marL="0">
              <a:buNone/>
            </a:pPr>
            <a:r>
              <a:rPr lang="en-US" sz="1000" b="1" dirty="0">
                <a:solidFill>
                  <a:srgbClr val="1A2440"/>
                </a:solidFill>
                <a:latin typeface="Source Sans 3" pitchFamily="34" charset="0"/>
                <a:ea typeface="Source Sans 3" pitchFamily="34" charset="-122"/>
                <a:cs typeface="Source Sans 3" pitchFamily="34" charset="-120"/>
              </a:rPr>
              <a:t>Liposomal Selenium/Magnesium/Zinc (liposomal)</a:t>
            </a:r>
            <a:pPr indent="0" marL="0">
              <a:buNone/>
            </a:pPr>
            <a:r>
              <a:rPr lang="en-US" sz="900" dirty="0">
                <a:solidFill>
                  <a:srgbClr val="5A6B8A"/>
                </a:solidFill>
                <a:latin typeface="Source Sans 3" pitchFamily="34" charset="0"/>
                <a:ea typeface="Source Sans 3" pitchFamily="34" charset="-122"/>
                <a:cs typeface="Source Sans 3" pitchFamily="34" charset="-120"/>
              </a:rPr>
              <a:t> — 1 tbsp</a:t>
            </a:r>
            <a:endParaRPr lang="en-US" sz="1000" dirty="0"/>
          </a:p>
        </p:txBody>
      </p:sp>
      <p:sp>
        <p:nvSpPr>
          <p:cNvPr id="10" name="Shape 8"/>
          <p:cNvSpPr/>
          <p:nvPr/>
        </p:nvSpPr>
        <p:spPr>
          <a:xfrm>
            <a:off x="457200" y="2112264"/>
            <a:ext cx="8229600" cy="32004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11" name="Text 9"/>
          <p:cNvSpPr/>
          <p:nvPr/>
        </p:nvSpPr>
        <p:spPr>
          <a:xfrm>
            <a:off x="640080" y="2112264"/>
            <a:ext cx="7863840" cy="320040"/>
          </a:xfrm>
          <a:prstGeom prst="rect">
            <a:avLst/>
          </a:prstGeom>
          <a:noFill/>
          <a:ln/>
        </p:spPr>
        <p:txBody>
          <a:bodyPr wrap="square" rtlCol="0" anchor="ctr"/>
          <a:lstStyle/>
          <a:p>
            <a:pPr indent="0" marL="0">
              <a:buNone/>
            </a:pPr>
            <a:r>
              <a:rPr lang="en-US" sz="1000" b="1" dirty="0">
                <a:solidFill>
                  <a:srgbClr val="1A2440"/>
                </a:solidFill>
                <a:latin typeface="Source Sans 3" pitchFamily="34" charset="0"/>
                <a:ea typeface="Source Sans 3" pitchFamily="34" charset="-122"/>
                <a:cs typeface="Source Sans 3" pitchFamily="34" charset="-120"/>
              </a:rPr>
              <a:t>Astaxanthin w/ Vitamin C (liposomal)</a:t>
            </a:r>
            <a:pPr indent="0" marL="0">
              <a:buNone/>
            </a:pPr>
            <a:r>
              <a:rPr lang="en-US" sz="900" dirty="0">
                <a:solidFill>
                  <a:srgbClr val="5A6B8A"/>
                </a:solidFill>
                <a:latin typeface="Source Sans 3" pitchFamily="34" charset="0"/>
                <a:ea typeface="Source Sans 3" pitchFamily="34" charset="-122"/>
                <a:cs typeface="Source Sans 3" pitchFamily="34" charset="-120"/>
              </a:rPr>
              <a:t> — 1 tbsp</a:t>
            </a:r>
            <a:endParaRPr lang="en-US" sz="1000" dirty="0"/>
          </a:p>
        </p:txBody>
      </p:sp>
      <p:sp>
        <p:nvSpPr>
          <p:cNvPr id="12" name="Shape 10"/>
          <p:cNvSpPr/>
          <p:nvPr/>
        </p:nvSpPr>
        <p:spPr>
          <a:xfrm>
            <a:off x="457200" y="2551176"/>
            <a:ext cx="8229600" cy="274320"/>
          </a:xfrm>
          <a:prstGeom prst="rect">
            <a:avLst/>
          </a:prstGeom>
          <a:solidFill>
            <a:srgbClr val="1A2440"/>
          </a:solidFill>
          <a:ln/>
        </p:spPr>
      </p:sp>
      <p:sp>
        <p:nvSpPr>
          <p:cNvPr id="13" name="Text 11"/>
          <p:cNvSpPr/>
          <p:nvPr/>
        </p:nvSpPr>
        <p:spPr>
          <a:xfrm>
            <a:off x="640080" y="2551176"/>
            <a:ext cx="7863840" cy="274320"/>
          </a:xfrm>
          <a:prstGeom prst="rect">
            <a:avLst/>
          </a:prstGeom>
          <a:noFill/>
          <a:ln/>
        </p:spPr>
        <p:txBody>
          <a:bodyPr wrap="square" rtlCol="0" anchor="ctr"/>
          <a:lstStyle/>
          <a:p>
            <a:pPr indent="0" marL="0">
              <a:buNone/>
            </a:pPr>
            <a:r>
              <a:rPr lang="en-US" sz="1100" b="1" dirty="0">
                <a:solidFill>
                  <a:srgbClr val="FFFFFF"/>
                </a:solidFill>
                <a:latin typeface="Source Sans 3" pitchFamily="34" charset="0"/>
                <a:ea typeface="Source Sans 3" pitchFamily="34" charset="-122"/>
                <a:cs typeface="Source Sans 3" pitchFamily="34" charset="-120"/>
              </a:rPr>
              <a:t>With Breakfast</a:t>
            </a:r>
            <a:endParaRPr lang="en-US" sz="1100" dirty="0"/>
          </a:p>
        </p:txBody>
      </p:sp>
      <p:sp>
        <p:nvSpPr>
          <p:cNvPr id="14" name="Shape 12"/>
          <p:cNvSpPr/>
          <p:nvPr/>
        </p:nvSpPr>
        <p:spPr>
          <a:xfrm>
            <a:off x="457200" y="2871216"/>
            <a:ext cx="8229600" cy="32004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15" name="Text 13"/>
          <p:cNvSpPr/>
          <p:nvPr/>
        </p:nvSpPr>
        <p:spPr>
          <a:xfrm>
            <a:off x="640080" y="2871216"/>
            <a:ext cx="7863840" cy="320040"/>
          </a:xfrm>
          <a:prstGeom prst="rect">
            <a:avLst/>
          </a:prstGeom>
          <a:noFill/>
          <a:ln/>
        </p:spPr>
        <p:txBody>
          <a:bodyPr wrap="square" rtlCol="0" anchor="ctr"/>
          <a:lstStyle/>
          <a:p>
            <a:pPr indent="0" marL="0">
              <a:buNone/>
            </a:pPr>
            <a:r>
              <a:rPr lang="en-US" sz="1000" b="1" dirty="0">
                <a:solidFill>
                  <a:srgbClr val="1A2440"/>
                </a:solidFill>
                <a:latin typeface="Source Sans 3" pitchFamily="34" charset="0"/>
                <a:ea typeface="Source Sans 3" pitchFamily="34" charset="-122"/>
                <a:cs typeface="Source Sans 3" pitchFamily="34" charset="-120"/>
              </a:rPr>
              <a:t>Bio-Vitamin All-in-One Micronized Liquid</a:t>
            </a:r>
            <a:pPr indent="0" marL="0">
              <a:buNone/>
            </a:pPr>
            <a:r>
              <a:rPr lang="en-US" sz="900" dirty="0">
                <a:solidFill>
                  <a:srgbClr val="5A6B8A"/>
                </a:solidFill>
                <a:latin typeface="Source Sans 3" pitchFamily="34" charset="0"/>
                <a:ea typeface="Source Sans 3" pitchFamily="34" charset="-122"/>
                <a:cs typeface="Source Sans 3" pitchFamily="34" charset="-120"/>
              </a:rPr>
              <a:t> — 1 tablespoon</a:t>
            </a:r>
            <a:endParaRPr lang="en-US" sz="1000" dirty="0"/>
          </a:p>
        </p:txBody>
      </p:sp>
      <p:sp>
        <p:nvSpPr>
          <p:cNvPr id="16" name="Shape 14"/>
          <p:cNvSpPr/>
          <p:nvPr/>
        </p:nvSpPr>
        <p:spPr>
          <a:xfrm>
            <a:off x="457200" y="3218688"/>
            <a:ext cx="8229600" cy="32004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17" name="Text 15"/>
          <p:cNvSpPr/>
          <p:nvPr/>
        </p:nvSpPr>
        <p:spPr>
          <a:xfrm>
            <a:off x="640080" y="3218688"/>
            <a:ext cx="7863840" cy="320040"/>
          </a:xfrm>
          <a:prstGeom prst="rect">
            <a:avLst/>
          </a:prstGeom>
          <a:noFill/>
          <a:ln/>
        </p:spPr>
        <p:txBody>
          <a:bodyPr wrap="square" rtlCol="0" anchor="ctr"/>
          <a:lstStyle/>
          <a:p>
            <a:pPr indent="0" marL="0">
              <a:buNone/>
            </a:pPr>
            <a:r>
              <a:rPr lang="en-US" sz="1000" b="1" dirty="0">
                <a:solidFill>
                  <a:srgbClr val="1A2440"/>
                </a:solidFill>
                <a:latin typeface="Source Sans 3" pitchFamily="34" charset="0"/>
                <a:ea typeface="Source Sans 3" pitchFamily="34" charset="-122"/>
                <a:cs typeface="Source Sans 3" pitchFamily="34" charset="-120"/>
              </a:rPr>
              <a:t>Selenium + Magnesium &amp; Zinc (Liposomal)</a:t>
            </a:r>
            <a:pPr indent="0" marL="0">
              <a:buNone/>
            </a:pPr>
            <a:r>
              <a:rPr lang="en-US" sz="900" dirty="0">
                <a:solidFill>
                  <a:srgbClr val="5A6B8A"/>
                </a:solidFill>
                <a:latin typeface="Source Sans 3" pitchFamily="34" charset="0"/>
                <a:ea typeface="Source Sans 3" pitchFamily="34" charset="-122"/>
                <a:cs typeface="Source Sans 3" pitchFamily="34" charset="-120"/>
              </a:rPr>
              <a:t> — 1 tablespoon</a:t>
            </a:r>
            <a:endParaRPr lang="en-US" sz="1000" dirty="0"/>
          </a:p>
        </p:txBody>
      </p:sp>
      <p:sp>
        <p:nvSpPr>
          <p:cNvPr id="18" name="Shape 16"/>
          <p:cNvSpPr/>
          <p:nvPr/>
        </p:nvSpPr>
        <p:spPr>
          <a:xfrm>
            <a:off x="457200" y="3566160"/>
            <a:ext cx="8229600" cy="32004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19" name="Text 17"/>
          <p:cNvSpPr/>
          <p:nvPr/>
        </p:nvSpPr>
        <p:spPr>
          <a:xfrm>
            <a:off x="640080" y="3566160"/>
            <a:ext cx="7863840" cy="320040"/>
          </a:xfrm>
          <a:prstGeom prst="rect">
            <a:avLst/>
          </a:prstGeom>
          <a:noFill/>
          <a:ln/>
        </p:spPr>
        <p:txBody>
          <a:bodyPr wrap="square" rtlCol="0" anchor="ctr"/>
          <a:lstStyle/>
          <a:p>
            <a:pPr indent="0" marL="0">
              <a:buNone/>
            </a:pPr>
            <a:r>
              <a:rPr lang="en-US" sz="1000" b="1" dirty="0">
                <a:solidFill>
                  <a:srgbClr val="1A2440"/>
                </a:solidFill>
                <a:latin typeface="Source Sans 3" pitchFamily="34" charset="0"/>
                <a:ea typeface="Source Sans 3" pitchFamily="34" charset="-122"/>
                <a:cs typeface="Source Sans 3" pitchFamily="34" charset="-120"/>
              </a:rPr>
              <a:t>Vitamin D + K (Liposomal)</a:t>
            </a:r>
            <a:pPr indent="0" marL="0">
              <a:buNone/>
            </a:pPr>
            <a:r>
              <a:rPr lang="en-US" sz="900" dirty="0">
                <a:solidFill>
                  <a:srgbClr val="5A6B8A"/>
                </a:solidFill>
                <a:latin typeface="Source Sans 3" pitchFamily="34" charset="0"/>
                <a:ea typeface="Source Sans 3" pitchFamily="34" charset="-122"/>
                <a:cs typeface="Source Sans 3" pitchFamily="34" charset="-120"/>
              </a:rPr>
              <a:t> — 1 tablespoon</a:t>
            </a:r>
            <a:endParaRPr lang="en-US" sz="1000" dirty="0"/>
          </a:p>
        </p:txBody>
      </p:sp>
      <p:sp>
        <p:nvSpPr>
          <p:cNvPr id="20" name="Shape 18"/>
          <p:cNvSpPr/>
          <p:nvPr/>
        </p:nvSpPr>
        <p:spPr>
          <a:xfrm>
            <a:off x="457200" y="3913632"/>
            <a:ext cx="8229600" cy="32004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21" name="Text 19"/>
          <p:cNvSpPr/>
          <p:nvPr/>
        </p:nvSpPr>
        <p:spPr>
          <a:xfrm>
            <a:off x="640080" y="3913632"/>
            <a:ext cx="7863840" cy="320040"/>
          </a:xfrm>
          <a:prstGeom prst="rect">
            <a:avLst/>
          </a:prstGeom>
          <a:noFill/>
          <a:ln/>
        </p:spPr>
        <p:txBody>
          <a:bodyPr wrap="square" rtlCol="0" anchor="ctr"/>
          <a:lstStyle/>
          <a:p>
            <a:pPr indent="0" marL="0">
              <a:buNone/>
            </a:pPr>
            <a:r>
              <a:rPr lang="en-US" sz="1000" b="1" dirty="0">
                <a:solidFill>
                  <a:srgbClr val="1A2440"/>
                </a:solidFill>
                <a:latin typeface="Source Sans 3" pitchFamily="34" charset="0"/>
                <a:ea typeface="Source Sans 3" pitchFamily="34" charset="-122"/>
                <a:cs typeface="Source Sans 3" pitchFamily="34" charset="-120"/>
              </a:rPr>
              <a:t>Adaptogen Greens w/ Digestive Enzymes (Powder)</a:t>
            </a:r>
            <a:pPr indent="0" marL="0">
              <a:buNone/>
            </a:pPr>
            <a:r>
              <a:rPr lang="en-US" sz="900" dirty="0">
                <a:solidFill>
                  <a:srgbClr val="5A6B8A"/>
                </a:solidFill>
                <a:latin typeface="Source Sans 3" pitchFamily="34" charset="0"/>
                <a:ea typeface="Source Sans 3" pitchFamily="34" charset="-122"/>
                <a:cs typeface="Source Sans 3" pitchFamily="34" charset="-120"/>
              </a:rPr>
              <a:t> — 1 scoop</a:t>
            </a:r>
            <a:endParaRPr lang="en-US" sz="1000" dirty="0"/>
          </a:p>
        </p:txBody>
      </p:sp>
      <p:sp>
        <p:nvSpPr>
          <p:cNvPr id="22" name="Shape 20"/>
          <p:cNvSpPr/>
          <p:nvPr/>
        </p:nvSpPr>
        <p:spPr>
          <a:xfrm>
            <a:off x="457200" y="4352544"/>
            <a:ext cx="8229600" cy="274320"/>
          </a:xfrm>
          <a:prstGeom prst="rect">
            <a:avLst/>
          </a:prstGeom>
          <a:solidFill>
            <a:srgbClr val="1A2440"/>
          </a:solidFill>
          <a:ln/>
        </p:spPr>
      </p:sp>
      <p:sp>
        <p:nvSpPr>
          <p:cNvPr id="23" name="Text 21"/>
          <p:cNvSpPr/>
          <p:nvPr/>
        </p:nvSpPr>
        <p:spPr>
          <a:xfrm>
            <a:off x="640080" y="4352544"/>
            <a:ext cx="7863840" cy="274320"/>
          </a:xfrm>
          <a:prstGeom prst="rect">
            <a:avLst/>
          </a:prstGeom>
          <a:noFill/>
          <a:ln/>
        </p:spPr>
        <p:txBody>
          <a:bodyPr wrap="square" rtlCol="0" anchor="ctr"/>
          <a:lstStyle/>
          <a:p>
            <a:pPr indent="0" marL="0">
              <a:buNone/>
            </a:pPr>
            <a:r>
              <a:rPr lang="en-US" sz="1100" b="1" dirty="0">
                <a:solidFill>
                  <a:srgbClr val="FFFFFF"/>
                </a:solidFill>
                <a:latin typeface="Source Sans 3" pitchFamily="34" charset="0"/>
                <a:ea typeface="Source Sans 3" pitchFamily="34" charset="-122"/>
                <a:cs typeface="Source Sans 3" pitchFamily="34" charset="-120"/>
              </a:rPr>
              <a:t>Midday</a:t>
            </a:r>
            <a:endParaRPr lang="en-US" sz="1100" dirty="0"/>
          </a:p>
        </p:txBody>
      </p:sp>
      <p:sp>
        <p:nvSpPr>
          <p:cNvPr id="24" name="Shape 22"/>
          <p:cNvSpPr/>
          <p:nvPr/>
        </p:nvSpPr>
        <p:spPr>
          <a:xfrm>
            <a:off x="457200" y="4672584"/>
            <a:ext cx="8229600" cy="32004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25" name="Text 23"/>
          <p:cNvSpPr/>
          <p:nvPr/>
        </p:nvSpPr>
        <p:spPr>
          <a:xfrm>
            <a:off x="640080" y="4672584"/>
            <a:ext cx="7863840" cy="320040"/>
          </a:xfrm>
          <a:prstGeom prst="rect">
            <a:avLst/>
          </a:prstGeom>
          <a:noFill/>
          <a:ln/>
        </p:spPr>
        <p:txBody>
          <a:bodyPr wrap="square" rtlCol="0" anchor="ctr"/>
          <a:lstStyle/>
          <a:p>
            <a:pPr indent="0" marL="0">
              <a:buNone/>
            </a:pPr>
            <a:r>
              <a:rPr lang="en-US" sz="1000" b="1" dirty="0">
                <a:solidFill>
                  <a:srgbClr val="1A2440"/>
                </a:solidFill>
                <a:latin typeface="Source Sans 3" pitchFamily="34" charset="0"/>
                <a:ea typeface="Source Sans 3" pitchFamily="34" charset="-122"/>
                <a:cs typeface="Source Sans 3" pitchFamily="34" charset="-120"/>
              </a:rPr>
              <a:t>Colostrum</a:t>
            </a:r>
            <a:pPr indent="0" marL="0">
              <a:buNone/>
            </a:pPr>
            <a:r>
              <a:rPr lang="en-US" sz="900" dirty="0">
                <a:solidFill>
                  <a:srgbClr val="5A6B8A"/>
                </a:solidFill>
                <a:latin typeface="Source Sans 3" pitchFamily="34" charset="0"/>
                <a:ea typeface="Source Sans 3" pitchFamily="34" charset="-122"/>
                <a:cs typeface="Source Sans 3" pitchFamily="34" charset="-120"/>
              </a:rPr>
              <a:t> — 10g</a:t>
            </a:r>
            <a:endParaRPr lang="en-US" sz="1000" dirty="0"/>
          </a:p>
        </p:txBody>
      </p:sp>
      <p:sp>
        <p:nvSpPr>
          <p:cNvPr id="26" name="Shape 24"/>
          <p:cNvSpPr/>
          <p:nvPr/>
        </p:nvSpPr>
        <p:spPr>
          <a:xfrm>
            <a:off x="457200" y="5020056"/>
            <a:ext cx="8229600" cy="32004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27" name="Text 25"/>
          <p:cNvSpPr/>
          <p:nvPr/>
        </p:nvSpPr>
        <p:spPr>
          <a:xfrm>
            <a:off x="640080" y="5020056"/>
            <a:ext cx="7863840" cy="320040"/>
          </a:xfrm>
          <a:prstGeom prst="rect">
            <a:avLst/>
          </a:prstGeom>
          <a:noFill/>
          <a:ln/>
        </p:spPr>
        <p:txBody>
          <a:bodyPr wrap="square" rtlCol="0" anchor="ctr"/>
          <a:lstStyle/>
          <a:p>
            <a:pPr indent="0" marL="0">
              <a:buNone/>
            </a:pPr>
            <a:r>
              <a:rPr lang="en-US" sz="1000" b="1" dirty="0">
                <a:solidFill>
                  <a:srgbClr val="1A2440"/>
                </a:solidFill>
                <a:latin typeface="Source Sans 3" pitchFamily="34" charset="0"/>
                <a:ea typeface="Source Sans 3" pitchFamily="34" charset="-122"/>
                <a:cs typeface="Source Sans 3" pitchFamily="34" charset="-120"/>
              </a:rPr>
              <a:t>L-Glutamine</a:t>
            </a:r>
            <a:pPr indent="0" marL="0">
              <a:buNone/>
            </a:pPr>
            <a:r>
              <a:rPr lang="en-US" sz="900" dirty="0">
                <a:solidFill>
                  <a:srgbClr val="5A6B8A"/>
                </a:solidFill>
                <a:latin typeface="Source Sans 3" pitchFamily="34" charset="0"/>
                <a:ea typeface="Source Sans 3" pitchFamily="34" charset="-122"/>
                <a:cs typeface="Source Sans 3" pitchFamily="34" charset="-120"/>
              </a:rPr>
              <a:t> — 5g</a:t>
            </a:r>
            <a:endParaRPr lang="en-US" sz="1000" dirty="0"/>
          </a:p>
        </p:txBody>
      </p:sp>
      <p:sp>
        <p:nvSpPr>
          <p:cNvPr id="28" name="Shape 26"/>
          <p:cNvSpPr/>
          <p:nvPr/>
        </p:nvSpPr>
        <p:spPr>
          <a:xfrm>
            <a:off x="457200" y="5367528"/>
            <a:ext cx="8229600" cy="32004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29" name="Text 27"/>
          <p:cNvSpPr/>
          <p:nvPr/>
        </p:nvSpPr>
        <p:spPr>
          <a:xfrm>
            <a:off x="640080" y="5367528"/>
            <a:ext cx="7863840" cy="320040"/>
          </a:xfrm>
          <a:prstGeom prst="rect">
            <a:avLst/>
          </a:prstGeom>
          <a:noFill/>
          <a:ln/>
        </p:spPr>
        <p:txBody>
          <a:bodyPr wrap="square" rtlCol="0" anchor="ctr"/>
          <a:lstStyle/>
          <a:p>
            <a:pPr indent="0" marL="0">
              <a:buNone/>
            </a:pPr>
            <a:r>
              <a:rPr lang="en-US" sz="1000" b="1" dirty="0">
                <a:solidFill>
                  <a:srgbClr val="1A2440"/>
                </a:solidFill>
                <a:latin typeface="Source Sans 3" pitchFamily="34" charset="0"/>
                <a:ea typeface="Source Sans 3" pitchFamily="34" charset="-122"/>
                <a:cs typeface="Source Sans 3" pitchFamily="34" charset="-120"/>
              </a:rPr>
              <a:t>Curcumin+6 Nano (Liposomal)</a:t>
            </a:r>
            <a:pPr indent="0" marL="0">
              <a:buNone/>
            </a:pPr>
            <a:r>
              <a:rPr lang="en-US" sz="900" dirty="0">
                <a:solidFill>
                  <a:srgbClr val="5A6B8A"/>
                </a:solidFill>
                <a:latin typeface="Source Sans 3" pitchFamily="34" charset="0"/>
                <a:ea typeface="Source Sans 3" pitchFamily="34" charset="-122"/>
                <a:cs typeface="Source Sans 3" pitchFamily="34" charset="-120"/>
              </a:rPr>
              <a:t> — 1 tablespoon</a:t>
            </a:r>
            <a:endParaRPr lang="en-US" sz="1000" dirty="0"/>
          </a:p>
        </p:txBody>
      </p:sp>
      <p:sp>
        <p:nvSpPr>
          <p:cNvPr id="30" name="Shape 28"/>
          <p:cNvSpPr/>
          <p:nvPr/>
        </p:nvSpPr>
        <p:spPr>
          <a:xfrm>
            <a:off x="457200" y="5715000"/>
            <a:ext cx="8229600" cy="32004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31" name="Text 29"/>
          <p:cNvSpPr/>
          <p:nvPr/>
        </p:nvSpPr>
        <p:spPr>
          <a:xfrm>
            <a:off x="640080" y="5715000"/>
            <a:ext cx="7863840" cy="320040"/>
          </a:xfrm>
          <a:prstGeom prst="rect">
            <a:avLst/>
          </a:prstGeom>
          <a:noFill/>
          <a:ln/>
        </p:spPr>
        <p:txBody>
          <a:bodyPr wrap="square" rtlCol="0" anchor="ctr"/>
          <a:lstStyle/>
          <a:p>
            <a:pPr indent="0" marL="0">
              <a:buNone/>
            </a:pPr>
            <a:r>
              <a:rPr lang="en-US" sz="1000" b="1" dirty="0">
                <a:solidFill>
                  <a:srgbClr val="1A2440"/>
                </a:solidFill>
                <a:latin typeface="Source Sans 3" pitchFamily="34" charset="0"/>
                <a:ea typeface="Source Sans 3" pitchFamily="34" charset="-122"/>
                <a:cs typeface="Source Sans 3" pitchFamily="34" charset="-120"/>
              </a:rPr>
              <a:t>Complete REDS</a:t>
            </a:r>
            <a:pPr indent="0" marL="0">
              <a:buNone/>
            </a:pPr>
            <a:r>
              <a:rPr lang="en-US" sz="900" dirty="0">
                <a:solidFill>
                  <a:srgbClr val="5A6B8A"/>
                </a:solidFill>
                <a:latin typeface="Source Sans 3" pitchFamily="34" charset="0"/>
                <a:ea typeface="Source Sans 3" pitchFamily="34" charset="-122"/>
                <a:cs typeface="Source Sans 3" pitchFamily="34" charset="-120"/>
              </a:rPr>
              <a:t> — 1 scoop</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8EDF5"/>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rgbClr val="1A2440"/>
                </a:solidFill>
                <a:latin typeface="Playfair Display" pitchFamily="34" charset="0"/>
                <a:ea typeface="Playfair Display" pitchFamily="34" charset="-122"/>
                <a:cs typeface="Playfair Display" pitchFamily="34" charset="-120"/>
              </a:rPr>
              <a:t>Therapeutics: IV &amp; IM Therapy Schedule</a:t>
            </a:r>
            <a:endParaRPr lang="en-US" sz="2400" dirty="0"/>
          </a:p>
        </p:txBody>
      </p:sp>
      <p:sp>
        <p:nvSpPr>
          <p:cNvPr id="3" name="Text 1"/>
          <p:cNvSpPr/>
          <p:nvPr/>
        </p:nvSpPr>
        <p:spPr>
          <a:xfrm>
            <a:off x="457200" y="914400"/>
            <a:ext cx="8229600" cy="274320"/>
          </a:xfrm>
          <a:prstGeom prst="rect">
            <a:avLst/>
          </a:prstGeom>
          <a:noFill/>
          <a:ln/>
        </p:spPr>
        <p:txBody>
          <a:bodyPr wrap="square" rtlCol="0" anchor="ctr"/>
          <a:lstStyle/>
          <a:p>
            <a:pPr indent="0" marL="0">
              <a:buNone/>
            </a:pPr>
            <a:r>
              <a:rPr lang="en-US" sz="1300" b="1" dirty="0">
                <a:solidFill>
                  <a:srgbClr val="C9A54E"/>
                </a:solidFill>
                <a:latin typeface="Source Sans 3" pitchFamily="34" charset="0"/>
                <a:ea typeface="Source Sans 3" pitchFamily="34" charset="-122"/>
                <a:cs typeface="Source Sans 3" pitchFamily="34" charset="-120"/>
              </a:rPr>
              <a:t>IV Therapies:</a:t>
            </a:r>
            <a:endParaRPr lang="en-US" sz="1300" dirty="0"/>
          </a:p>
        </p:txBody>
      </p:sp>
      <p:sp>
        <p:nvSpPr>
          <p:cNvPr id="4" name="Shape 2"/>
          <p:cNvSpPr/>
          <p:nvPr/>
        </p:nvSpPr>
        <p:spPr>
          <a:xfrm>
            <a:off x="457200" y="1234440"/>
            <a:ext cx="8229600" cy="50292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5" name="Text 3"/>
          <p:cNvSpPr/>
          <p:nvPr/>
        </p:nvSpPr>
        <p:spPr>
          <a:xfrm>
            <a:off x="640080" y="1234440"/>
            <a:ext cx="7863840" cy="502920"/>
          </a:xfrm>
          <a:prstGeom prst="rect">
            <a:avLst/>
          </a:prstGeom>
          <a:noFill/>
          <a:ln/>
        </p:spPr>
        <p:txBody>
          <a:bodyPr wrap="square" rtlCol="0" anchor="ctr"/>
          <a:lstStyle/>
          <a:p>
            <a:pPr indent="0" marL="0">
              <a:buNone/>
            </a:pPr>
            <a:r>
              <a:rPr lang="en-US" sz="1000" dirty="0">
                <a:solidFill>
                  <a:srgbClr val="1A2440"/>
                </a:solidFill>
                <a:latin typeface="Source Sans 3" pitchFamily="34" charset="0"/>
                <a:ea typeface="Source Sans 3" pitchFamily="34" charset="-122"/>
                <a:cs typeface="Source Sans 3" pitchFamily="34" charset="-120"/>
              </a:rPr>
              <a:t>High-Dose Vitamin C IV — 2x/week x 8 weeks; then 1x/week x 4–8 weeks for 2–3 hours/infusion | Direct anti-cancer cytotoxic activity, immune support, collagen stabilization</a:t>
            </a:r>
            <a:endParaRPr lang="en-US" sz="1000" dirty="0"/>
          </a:p>
        </p:txBody>
      </p:sp>
      <p:sp>
        <p:nvSpPr>
          <p:cNvPr id="6" name="Shape 4"/>
          <p:cNvSpPr/>
          <p:nvPr/>
        </p:nvSpPr>
        <p:spPr>
          <a:xfrm>
            <a:off x="457200" y="1828800"/>
            <a:ext cx="8229600" cy="50292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7" name="Text 5"/>
          <p:cNvSpPr/>
          <p:nvPr/>
        </p:nvSpPr>
        <p:spPr>
          <a:xfrm>
            <a:off x="640080" y="1828800"/>
            <a:ext cx="7863840" cy="502920"/>
          </a:xfrm>
          <a:prstGeom prst="rect">
            <a:avLst/>
          </a:prstGeom>
          <a:noFill/>
          <a:ln/>
        </p:spPr>
        <p:txBody>
          <a:bodyPr wrap="square" rtlCol="0" anchor="ctr"/>
          <a:lstStyle/>
          <a:p>
            <a:pPr indent="0" marL="0">
              <a:buNone/>
            </a:pPr>
            <a:r>
              <a:rPr lang="en-US" sz="1000" dirty="0">
                <a:solidFill>
                  <a:srgbClr val="1A2440"/>
                </a:solidFill>
                <a:latin typeface="Source Sans 3" pitchFamily="34" charset="0"/>
                <a:ea typeface="Source Sans 3" pitchFamily="34" charset="-122"/>
                <a:cs typeface="Source Sans 3" pitchFamily="34" charset="-120"/>
              </a:rPr>
              <a:t>Myers' Cocktail — 1x/week x 10 weeks for 30–60 mins | Nutrient repletion, mitochondrial and immune support</a:t>
            </a:r>
            <a:endParaRPr lang="en-US" sz="1000" dirty="0"/>
          </a:p>
        </p:txBody>
      </p:sp>
      <p:sp>
        <p:nvSpPr>
          <p:cNvPr id="8" name="Shape 6"/>
          <p:cNvSpPr/>
          <p:nvPr/>
        </p:nvSpPr>
        <p:spPr>
          <a:xfrm>
            <a:off x="457200" y="2423160"/>
            <a:ext cx="8229600" cy="50292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9" name="Text 7"/>
          <p:cNvSpPr/>
          <p:nvPr/>
        </p:nvSpPr>
        <p:spPr>
          <a:xfrm>
            <a:off x="640080" y="2423160"/>
            <a:ext cx="7863840" cy="502920"/>
          </a:xfrm>
          <a:prstGeom prst="rect">
            <a:avLst/>
          </a:prstGeom>
          <a:noFill/>
          <a:ln/>
        </p:spPr>
        <p:txBody>
          <a:bodyPr wrap="square" rtlCol="0" anchor="ctr"/>
          <a:lstStyle/>
          <a:p>
            <a:pPr indent="0" marL="0">
              <a:buNone/>
            </a:pPr>
            <a:r>
              <a:rPr lang="en-US" sz="1000" dirty="0">
                <a:solidFill>
                  <a:srgbClr val="1A2440"/>
                </a:solidFill>
                <a:latin typeface="Source Sans 3" pitchFamily="34" charset="0"/>
                <a:ea typeface="Source Sans 3" pitchFamily="34" charset="-122"/>
                <a:cs typeface="Source Sans 3" pitchFamily="34" charset="-120"/>
              </a:rPr>
              <a:t>Glutathione Push IV — 2x/week x 8 weeks, then as tolerated for 15 mins slow IV push post Vitamin C or PC | Master antioxidant, detox, immune optimization</a:t>
            </a:r>
            <a:endParaRPr lang="en-US" sz="1000" dirty="0"/>
          </a:p>
        </p:txBody>
      </p:sp>
      <p:sp>
        <p:nvSpPr>
          <p:cNvPr id="10" name="Shape 8"/>
          <p:cNvSpPr/>
          <p:nvPr/>
        </p:nvSpPr>
        <p:spPr>
          <a:xfrm>
            <a:off x="457200" y="3017520"/>
            <a:ext cx="8229600" cy="50292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11" name="Text 9"/>
          <p:cNvSpPr/>
          <p:nvPr/>
        </p:nvSpPr>
        <p:spPr>
          <a:xfrm>
            <a:off x="640080" y="3017520"/>
            <a:ext cx="7863840" cy="502920"/>
          </a:xfrm>
          <a:prstGeom prst="rect">
            <a:avLst/>
          </a:prstGeom>
          <a:noFill/>
          <a:ln/>
        </p:spPr>
        <p:txBody>
          <a:bodyPr wrap="square" rtlCol="0" anchor="ctr"/>
          <a:lstStyle/>
          <a:p>
            <a:pPr indent="0" marL="0">
              <a:buNone/>
            </a:pPr>
            <a:r>
              <a:rPr lang="en-US" sz="1000" dirty="0">
                <a:solidFill>
                  <a:srgbClr val="1A2440"/>
                </a:solidFill>
                <a:latin typeface="Source Sans 3" pitchFamily="34" charset="0"/>
                <a:ea typeface="Source Sans 3" pitchFamily="34" charset="-122"/>
                <a:cs typeface="Source Sans 3" pitchFamily="34" charset="-120"/>
              </a:rPr>
              <a:t>Ozone IV Therapy — 1x/week x 6–8 weeks for 60 mins | Anti-infective, anti-cancer, immune modulation</a:t>
            </a:r>
            <a:endParaRPr lang="en-US" sz="1000" dirty="0"/>
          </a:p>
        </p:txBody>
      </p:sp>
      <p:sp>
        <p:nvSpPr>
          <p:cNvPr id="12" name="Shape 10"/>
          <p:cNvSpPr/>
          <p:nvPr/>
        </p:nvSpPr>
        <p:spPr>
          <a:xfrm>
            <a:off x="457200" y="3611880"/>
            <a:ext cx="8229600" cy="50292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13" name="Text 11"/>
          <p:cNvSpPr/>
          <p:nvPr/>
        </p:nvSpPr>
        <p:spPr>
          <a:xfrm>
            <a:off x="640080" y="3611880"/>
            <a:ext cx="7863840" cy="502920"/>
          </a:xfrm>
          <a:prstGeom prst="rect">
            <a:avLst/>
          </a:prstGeom>
          <a:noFill/>
          <a:ln/>
        </p:spPr>
        <p:txBody>
          <a:bodyPr wrap="square" rtlCol="0" anchor="ctr"/>
          <a:lstStyle/>
          <a:p>
            <a:pPr indent="0" marL="0">
              <a:buNone/>
            </a:pPr>
            <a:r>
              <a:rPr lang="en-US" sz="1000" dirty="0">
                <a:solidFill>
                  <a:srgbClr val="1A2440"/>
                </a:solidFill>
                <a:latin typeface="Source Sans 3" pitchFamily="34" charset="0"/>
                <a:ea typeface="Source Sans 3" pitchFamily="34" charset="-122"/>
                <a:cs typeface="Source Sans 3" pitchFamily="34" charset="-120"/>
              </a:rPr>
              <a:t>Alpha Lipoic Acid IV — 1x/week x 6–8 weeks for 30–60 mins | Universal antioxidant, neuro and metabolic support</a:t>
            </a:r>
            <a:endParaRPr lang="en-US" sz="1000" dirty="0"/>
          </a:p>
        </p:txBody>
      </p:sp>
      <p:sp>
        <p:nvSpPr>
          <p:cNvPr id="14" name="Text 12"/>
          <p:cNvSpPr/>
          <p:nvPr/>
        </p:nvSpPr>
        <p:spPr>
          <a:xfrm>
            <a:off x="457200" y="4389120"/>
            <a:ext cx="8229600" cy="274320"/>
          </a:xfrm>
          <a:prstGeom prst="rect">
            <a:avLst/>
          </a:prstGeom>
          <a:noFill/>
          <a:ln/>
        </p:spPr>
        <p:txBody>
          <a:bodyPr wrap="square" rtlCol="0" anchor="ctr"/>
          <a:lstStyle/>
          <a:p>
            <a:pPr indent="0" marL="0">
              <a:buNone/>
            </a:pPr>
            <a:r>
              <a:rPr lang="en-US" sz="1300" b="1" dirty="0">
                <a:solidFill>
                  <a:srgbClr val="C9A54E"/>
                </a:solidFill>
                <a:latin typeface="Source Sans 3" pitchFamily="34" charset="0"/>
                <a:ea typeface="Source Sans 3" pitchFamily="34" charset="-122"/>
                <a:cs typeface="Source Sans 3" pitchFamily="34" charset="-120"/>
              </a:rPr>
              <a:t>IM Therapies:</a:t>
            </a:r>
            <a:endParaRPr lang="en-US" sz="1300" dirty="0"/>
          </a:p>
        </p:txBody>
      </p:sp>
      <p:sp>
        <p:nvSpPr>
          <p:cNvPr id="15" name="Shape 13"/>
          <p:cNvSpPr/>
          <p:nvPr/>
        </p:nvSpPr>
        <p:spPr>
          <a:xfrm>
            <a:off x="457200" y="4709160"/>
            <a:ext cx="8229600" cy="50292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16" name="Text 14"/>
          <p:cNvSpPr/>
          <p:nvPr/>
        </p:nvSpPr>
        <p:spPr>
          <a:xfrm>
            <a:off x="640080" y="4709160"/>
            <a:ext cx="7863840" cy="502920"/>
          </a:xfrm>
          <a:prstGeom prst="rect">
            <a:avLst/>
          </a:prstGeom>
          <a:noFill/>
          <a:ln/>
        </p:spPr>
        <p:txBody>
          <a:bodyPr wrap="square" rtlCol="0" anchor="ctr"/>
          <a:lstStyle/>
          <a:p>
            <a:pPr indent="0" marL="0">
              <a:buNone/>
            </a:pPr>
            <a:r>
              <a:rPr lang="en-US" sz="1000" dirty="0">
                <a:solidFill>
                  <a:srgbClr val="1A2440"/>
                </a:solidFill>
                <a:latin typeface="Source Sans 3" pitchFamily="34" charset="0"/>
                <a:ea typeface="Source Sans 3" pitchFamily="34" charset="-122"/>
                <a:cs typeface="Source Sans 3" pitchFamily="34" charset="-120"/>
              </a:rPr>
              <a:t>Lipo-B — 2mL IM (per 216mg/mL concentration) | 1x/week | Fat metabolism, liver, and mood support</a:t>
            </a:r>
            <a:endParaRPr lang="en-US" sz="1000" dirty="0"/>
          </a:p>
        </p:txBody>
      </p:sp>
      <p:sp>
        <p:nvSpPr>
          <p:cNvPr id="17" name="Shape 15"/>
          <p:cNvSpPr/>
          <p:nvPr/>
        </p:nvSpPr>
        <p:spPr>
          <a:xfrm>
            <a:off x="457200" y="5303520"/>
            <a:ext cx="8229600" cy="50292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18" name="Text 16"/>
          <p:cNvSpPr/>
          <p:nvPr/>
        </p:nvSpPr>
        <p:spPr>
          <a:xfrm>
            <a:off x="640080" y="5303520"/>
            <a:ext cx="7863840" cy="502920"/>
          </a:xfrm>
          <a:prstGeom prst="rect">
            <a:avLst/>
          </a:prstGeom>
          <a:noFill/>
          <a:ln/>
        </p:spPr>
        <p:txBody>
          <a:bodyPr wrap="square" rtlCol="0" anchor="ctr"/>
          <a:lstStyle/>
          <a:p>
            <a:pPr indent="0" marL="0">
              <a:buNone/>
            </a:pPr>
            <a:r>
              <a:rPr lang="en-US" sz="1000" dirty="0">
                <a:solidFill>
                  <a:srgbClr val="1A2440"/>
                </a:solidFill>
                <a:latin typeface="Source Sans 3" pitchFamily="34" charset="0"/>
                <a:ea typeface="Source Sans 3" pitchFamily="34" charset="-122"/>
                <a:cs typeface="Source Sans 3" pitchFamily="34" charset="-120"/>
              </a:rPr>
              <a:t>Vitamin D3 IM — 100,000 IU IM | Every 4–6 weeks (as needed, based on labs) | Immune, anti-cancer, and bone support</a:t>
            </a:r>
            <a:endParaRPr lang="en-US" sz="1000" dirty="0"/>
          </a:p>
        </p:txBody>
      </p:sp>
      <p:sp>
        <p:nvSpPr>
          <p:cNvPr id="19" name="Shape 17"/>
          <p:cNvSpPr/>
          <p:nvPr/>
        </p:nvSpPr>
        <p:spPr>
          <a:xfrm>
            <a:off x="457200" y="5897880"/>
            <a:ext cx="8229600" cy="50292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20" name="Text 18"/>
          <p:cNvSpPr/>
          <p:nvPr/>
        </p:nvSpPr>
        <p:spPr>
          <a:xfrm>
            <a:off x="640080" y="5897880"/>
            <a:ext cx="7863840" cy="502920"/>
          </a:xfrm>
          <a:prstGeom prst="rect">
            <a:avLst/>
          </a:prstGeom>
          <a:noFill/>
          <a:ln/>
        </p:spPr>
        <p:txBody>
          <a:bodyPr wrap="square" rtlCol="0" anchor="ctr"/>
          <a:lstStyle/>
          <a:p>
            <a:pPr indent="0" marL="0">
              <a:buNone/>
            </a:pPr>
            <a:r>
              <a:rPr lang="en-US" sz="1000" dirty="0">
                <a:solidFill>
                  <a:srgbClr val="1A2440"/>
                </a:solidFill>
                <a:latin typeface="Source Sans 3" pitchFamily="34" charset="0"/>
                <a:ea typeface="Source Sans 3" pitchFamily="34" charset="-122"/>
                <a:cs typeface="Source Sans 3" pitchFamily="34" charset="-120"/>
              </a:rPr>
              <a:t>Glutathione IM — 600mg | 2x/week | Antioxidant, detox, and mitochondrial protection</a:t>
            </a:r>
            <a:endParaRPr lang="en-US" sz="1000" dirty="0"/>
          </a:p>
        </p:txBody>
      </p:sp>
      <p:sp>
        <p:nvSpPr>
          <p:cNvPr id="21" name="Shape 19"/>
          <p:cNvSpPr/>
          <p:nvPr/>
        </p:nvSpPr>
        <p:spPr>
          <a:xfrm>
            <a:off x="457200" y="6492240"/>
            <a:ext cx="8229600" cy="50292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22" name="Text 20"/>
          <p:cNvSpPr/>
          <p:nvPr/>
        </p:nvSpPr>
        <p:spPr>
          <a:xfrm>
            <a:off x="640080" y="6492240"/>
            <a:ext cx="7863840" cy="502920"/>
          </a:xfrm>
          <a:prstGeom prst="rect">
            <a:avLst/>
          </a:prstGeom>
          <a:noFill/>
          <a:ln/>
        </p:spPr>
        <p:txBody>
          <a:bodyPr wrap="square" rtlCol="0" anchor="ctr"/>
          <a:lstStyle/>
          <a:p>
            <a:pPr indent="0" marL="0">
              <a:buNone/>
            </a:pPr>
            <a:r>
              <a:rPr lang="en-US" sz="1000" dirty="0">
                <a:solidFill>
                  <a:srgbClr val="1A2440"/>
                </a:solidFill>
                <a:latin typeface="Source Sans 3" pitchFamily="34" charset="0"/>
                <a:ea typeface="Source Sans 3" pitchFamily="34" charset="-122"/>
                <a:cs typeface="Source Sans 3" pitchFamily="34" charset="-120"/>
              </a:rPr>
              <a:t>Vitamin B12 (Methylcobalamin) — 2500mcg | Weekly | Energy, methylation, and neuro support</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8EDF5"/>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rgbClr val="C9A54E"/>
                </a:solidFill>
                <a:latin typeface="Playfair Display" pitchFamily="34" charset="0"/>
                <a:ea typeface="Playfair Display" pitchFamily="34" charset="-122"/>
                <a:cs typeface="Playfair Display" pitchFamily="34" charset="-120"/>
              </a:rPr>
              <a:t>Detox &amp; Pathogen Support</a:t>
            </a:r>
            <a:endParaRPr lang="en-US" sz="2400" dirty="0"/>
          </a:p>
        </p:txBody>
      </p:sp>
      <p:sp>
        <p:nvSpPr>
          <p:cNvPr id="3" name="Shape 1"/>
          <p:cNvSpPr/>
          <p:nvPr/>
        </p:nvSpPr>
        <p:spPr>
          <a:xfrm>
            <a:off x="457200" y="914400"/>
            <a:ext cx="8229600" cy="384048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4" name="Text 2"/>
          <p:cNvSpPr/>
          <p:nvPr/>
        </p:nvSpPr>
        <p:spPr>
          <a:xfrm>
            <a:off x="640080" y="1005840"/>
            <a:ext cx="7863840" cy="3657600"/>
          </a:xfrm>
          <a:prstGeom prst="rect">
            <a:avLst/>
          </a:prstGeom>
          <a:noFill/>
          <a:ln/>
        </p:spPr>
        <p:txBody>
          <a:bodyPr wrap="square" rtlCol="0" anchor="t"/>
          <a:lstStyle/>
          <a:p>
            <a:pPr indent="0" marL="0">
              <a:buNone/>
            </a:pPr>
            <a:r>
              <a:rPr lang="en-US" sz="1200" b="1" dirty="0">
                <a:solidFill>
                  <a:srgbClr val="C9A54E"/>
                </a:solidFill>
                <a:latin typeface="Source Sans 3" pitchFamily="34" charset="0"/>
                <a:ea typeface="Source Sans 3" pitchFamily="34" charset="-122"/>
                <a:cs typeface="Source Sans 3" pitchFamily="34" charset="-120"/>
              </a:rPr>
              <a:t>Liver &amp; Gallbladder Cleanse</a:t>
            </a:r>
            <a:pPr indent="0" marL="0">
              <a:buNone/>
            </a:pPr>
            <a:r>
              <a:rPr lang="en-US" sz="1000" dirty="0">
                <a:solidFill>
                  <a:srgbClr val="1A2440"/>
                </a:solidFill>
                <a:latin typeface="Source Sans 3" pitchFamily="34" charset="0"/>
                <a:ea typeface="Source Sans 3" pitchFamily="34" charset="-122"/>
                <a:cs typeface="Source Sans 3" pitchFamily="34" charset="-120"/>
              </a:rPr>
              <a:t> — Oral/food/supplement flush as per protocol | 1 complete course month 1; repeat at month 2 if tolerated for 21 days/cleanse</a:t>
            </a:r>
            <a:pPr indent="0" marL="0">
              <a:buNone/>
            </a:pPr>
            <a:endParaRPr lang="en-US" sz="12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   Follow Phase 1–4 detailed above; monitor for contraindications related to active cancer and autoimmune status</a:t>
            </a:r>
            <a:endParaRPr lang="en-US" sz="1200" dirty="0"/>
          </a:p>
          <a:p>
            <a:pPr indent="0" marL="0">
              <a:buNone/>
            </a:pPr>
            <a:r>
              <a:rPr lang="en-US" sz="1200" b="1" dirty="0">
                <a:solidFill>
                  <a:srgbClr val="C9A54E"/>
                </a:solidFill>
                <a:latin typeface="Source Sans 3" pitchFamily="34" charset="0"/>
                <a:ea typeface="Source Sans 3" pitchFamily="34" charset="-122"/>
                <a:cs typeface="Source Sans 3" pitchFamily="34" charset="-120"/>
              </a:rPr>
              <a:t>Detox Bath Protocols</a:t>
            </a:r>
            <a:pPr indent="0" marL="0">
              <a:buNone/>
            </a:pPr>
            <a:r>
              <a:rPr lang="en-US" sz="1000" dirty="0">
                <a:solidFill>
                  <a:srgbClr val="1A2440"/>
                </a:solidFill>
                <a:latin typeface="Source Sans 3" pitchFamily="34" charset="0"/>
                <a:ea typeface="Source Sans 3" pitchFamily="34" charset="-122"/>
                <a:cs typeface="Source Sans 3" pitchFamily="34" charset="-120"/>
              </a:rPr>
              <a:t> — Epsom salt, bentonite clay, hydrogen peroxide, ginger baths | 2–3x/week for 20–40 mins/each</a:t>
            </a:r>
            <a:pPr indent="0" marL="0">
              <a:buNone/>
            </a:pPr>
            <a:endParaRPr lang="en-US" sz="12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   Rotate protocols; see Detox Bath Instructions</a:t>
            </a:r>
            <a:endParaRPr lang="en-US" sz="1200" dirty="0"/>
          </a:p>
          <a:p>
            <a:pPr indent="0" marL="0">
              <a:buNone/>
            </a:pPr>
            <a:r>
              <a:rPr lang="en-US" sz="1200" b="1" dirty="0">
                <a:solidFill>
                  <a:srgbClr val="C9A54E"/>
                </a:solidFill>
                <a:latin typeface="Source Sans 3" pitchFamily="34" charset="0"/>
                <a:ea typeface="Source Sans 3" pitchFamily="34" charset="-122"/>
                <a:cs typeface="Source Sans 3" pitchFamily="34" charset="-120"/>
              </a:rPr>
              <a:t>Infrared Sauna</a:t>
            </a:r>
            <a:pPr indent="0" marL="0">
              <a:buNone/>
            </a:pPr>
            <a:r>
              <a:rPr lang="en-US" sz="1000" dirty="0">
                <a:solidFill>
                  <a:srgbClr val="1A2440"/>
                </a:solidFill>
                <a:latin typeface="Source Sans 3" pitchFamily="34" charset="0"/>
                <a:ea typeface="Source Sans 3" pitchFamily="34" charset="-122"/>
                <a:cs typeface="Source Sans 3" pitchFamily="34" charset="-120"/>
              </a:rPr>
              <a:t> — Full-spectrum sauna therapy | 3x/week for 25–35 mins</a:t>
            </a:r>
            <a:pPr indent="0" marL="0">
              <a:buNone/>
            </a:pPr>
            <a:endParaRPr lang="en-US" sz="12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   Hydrate before, mineralize after</a:t>
            </a:r>
            <a:endParaRPr lang="en-US" sz="1200" dirty="0"/>
          </a:p>
          <a:p>
            <a:pPr indent="0" marL="0">
              <a:buNone/>
            </a:pPr>
            <a:r>
              <a:rPr lang="en-US" sz="1200" b="1" dirty="0">
                <a:solidFill>
                  <a:srgbClr val="C9A54E"/>
                </a:solidFill>
                <a:latin typeface="Source Sans 3" pitchFamily="34" charset="0"/>
                <a:ea typeface="Source Sans 3" pitchFamily="34" charset="-122"/>
                <a:cs typeface="Source Sans 3" pitchFamily="34" charset="-120"/>
              </a:rPr>
              <a:t>Dry Brushing</a:t>
            </a:r>
            <a:pPr indent="0" marL="0">
              <a:buNone/>
            </a:pPr>
            <a:r>
              <a:rPr lang="en-US" sz="1000" dirty="0">
                <a:solidFill>
                  <a:srgbClr val="1A2440"/>
                </a:solidFill>
                <a:latin typeface="Source Sans 3" pitchFamily="34" charset="0"/>
                <a:ea typeface="Source Sans 3" pitchFamily="34" charset="-122"/>
                <a:cs typeface="Source Sans 3" pitchFamily="34" charset="-120"/>
              </a:rPr>
              <a:t> — Pre-bath, upward strokes | 3–5x/week for 5–10 mins</a:t>
            </a:r>
            <a:pPr indent="0" marL="0">
              <a:buNone/>
            </a:pPr>
            <a:endParaRPr lang="en-US" sz="12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   Always before bathing</a:t>
            </a:r>
            <a:endParaRPr lang="en-US" sz="1200" dirty="0"/>
          </a:p>
          <a:p>
            <a:pPr indent="0" marL="0">
              <a:buNone/>
            </a:pPr>
            <a:r>
              <a:rPr lang="en-US" sz="1200" b="1" dirty="0">
                <a:solidFill>
                  <a:srgbClr val="C9A54E"/>
                </a:solidFill>
                <a:latin typeface="Source Sans 3" pitchFamily="34" charset="0"/>
                <a:ea typeface="Source Sans 3" pitchFamily="34" charset="-122"/>
                <a:cs typeface="Source Sans 3" pitchFamily="34" charset="-120"/>
              </a:rPr>
              <a:t>Coffee Enema</a:t>
            </a:r>
            <a:pPr indent="0" marL="0">
              <a:buNone/>
            </a:pPr>
            <a:r>
              <a:rPr lang="en-US" sz="1000" dirty="0">
                <a:solidFill>
                  <a:srgbClr val="1A2440"/>
                </a:solidFill>
                <a:latin typeface="Source Sans 3" pitchFamily="34" charset="0"/>
                <a:ea typeface="Source Sans 3" pitchFamily="34" charset="-122"/>
                <a:cs typeface="Source Sans 3" pitchFamily="34" charset="-120"/>
              </a:rPr>
              <a:t> — Rectal enema with organic, mold-free coffee | 1–2x/week Phase 1–2; as tolerated for 15 mins retention</a:t>
            </a:r>
            <a:pPr indent="0" marL="0">
              <a:buNone/>
            </a:pPr>
            <a:endParaRPr lang="en-US" sz="12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   After cleansing bath or sauna</a:t>
            </a:r>
            <a:endParaRPr lang="en-US" sz="1200" dirty="0"/>
          </a:p>
          <a:p>
            <a:pPr indent="0" marL="0">
              <a:buNone/>
            </a:pPr>
            <a:r>
              <a:rPr lang="en-US" sz="1200" b="1" dirty="0">
                <a:solidFill>
                  <a:srgbClr val="C9A54E"/>
                </a:solidFill>
                <a:latin typeface="Source Sans 3" pitchFamily="34" charset="0"/>
                <a:ea typeface="Source Sans 3" pitchFamily="34" charset="-122"/>
                <a:cs typeface="Source Sans 3" pitchFamily="34" charset="-120"/>
              </a:rPr>
              <a:t>Castor Oil Packs</a:t>
            </a:r>
            <a:pPr indent="0" marL="0">
              <a:buNone/>
            </a:pPr>
            <a:r>
              <a:rPr lang="en-US" sz="1000" dirty="0">
                <a:solidFill>
                  <a:srgbClr val="1A2440"/>
                </a:solidFill>
                <a:latin typeface="Source Sans 3" pitchFamily="34" charset="0"/>
                <a:ea typeface="Source Sans 3" pitchFamily="34" charset="-122"/>
                <a:cs typeface="Source Sans 3" pitchFamily="34" charset="-120"/>
              </a:rPr>
              <a:t> — Transdermal oil application plus heat | 3–4x/week for 45 mins</a:t>
            </a:r>
            <a:pPr indent="0" marL="0">
              <a:buNone/>
            </a:pPr>
            <a:endParaRPr lang="en-US" sz="12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   Apply over liver/abdomen nightly</a:t>
            </a:r>
            <a:endParaRPr lang="en-US" sz="1200" dirty="0"/>
          </a:p>
          <a:p>
            <a:pPr indent="0" marL="0">
              <a:buNone/>
            </a:pPr>
            <a:r>
              <a:rPr lang="en-US" sz="1200" b="1" dirty="0">
                <a:solidFill>
                  <a:srgbClr val="C9A54E"/>
                </a:solidFill>
                <a:latin typeface="Source Sans 3" pitchFamily="34" charset="0"/>
                <a:ea typeface="Source Sans 3" pitchFamily="34" charset="-122"/>
                <a:cs typeface="Source Sans 3" pitchFamily="34" charset="-120"/>
              </a:rPr>
              <a:t>EDTA Chelation Protocol</a:t>
            </a:r>
            <a:pPr indent="0" marL="0">
              <a:buNone/>
            </a:pPr>
            <a:r>
              <a:rPr lang="en-US" sz="1000" dirty="0">
                <a:solidFill>
                  <a:srgbClr val="1A2440"/>
                </a:solidFill>
                <a:latin typeface="Source Sans 3" pitchFamily="34" charset="0"/>
                <a:ea typeface="Source Sans 3" pitchFamily="34" charset="-122"/>
                <a:cs typeface="Source Sans 3" pitchFamily="34" charset="-120"/>
              </a:rPr>
              <a:t> — IV Chelation | Weekly during Phase 1-2 for 8-12 sessions</a:t>
            </a:r>
            <a:pPr indent="0" marL="0">
              <a:buNone/>
            </a:pPr>
            <a:endParaRPr lang="en-US" sz="12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   EDTA IV chelation — must be administered at clinic. Pre-session with glutathione IV. Monitor kidney function and mineral levels throughout.</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8EDF5"/>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rgbClr val="1A2440"/>
                </a:solidFill>
                <a:latin typeface="Playfair Display" pitchFamily="34" charset="0"/>
                <a:ea typeface="Playfair Display" pitchFamily="34" charset="-122"/>
                <a:cs typeface="Playfair Display" pitchFamily="34" charset="-120"/>
              </a:rPr>
              <a:t>Parasite &amp; Antiviral Protocols</a:t>
            </a:r>
            <a:endParaRPr lang="en-US" sz="2400" dirty="0"/>
          </a:p>
        </p:txBody>
      </p:sp>
      <p:sp>
        <p:nvSpPr>
          <p:cNvPr id="3" name="Shape 1"/>
          <p:cNvSpPr/>
          <p:nvPr/>
        </p:nvSpPr>
        <p:spPr>
          <a:xfrm>
            <a:off x="457200" y="914400"/>
            <a:ext cx="8229600" cy="384048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4" name="Text 2"/>
          <p:cNvSpPr/>
          <p:nvPr/>
        </p:nvSpPr>
        <p:spPr>
          <a:xfrm>
            <a:off x="640080" y="1005840"/>
            <a:ext cx="7863840" cy="3657600"/>
          </a:xfrm>
          <a:prstGeom prst="rect">
            <a:avLst/>
          </a:prstGeom>
          <a:noFill/>
          <a:ln/>
        </p:spPr>
        <p:txBody>
          <a:bodyPr wrap="square" rtlCol="0" anchor="t"/>
          <a:lstStyle/>
          <a:p>
            <a:pPr indent="0" marL="0">
              <a:buNone/>
            </a:pPr>
            <a:r>
              <a:rPr lang="en-US" sz="1200" b="1" dirty="0">
                <a:solidFill>
                  <a:srgbClr val="C9A54E"/>
                </a:solidFill>
                <a:latin typeface="Source Sans 3" pitchFamily="34" charset="0"/>
                <a:ea typeface="Source Sans 3" pitchFamily="34" charset="-122"/>
                <a:cs typeface="Source Sans 3" pitchFamily="34" charset="-120"/>
              </a:rPr>
              <a:t>Ivermectin</a:t>
            </a:r>
            <a:pPr indent="0" marL="0">
              <a:buNone/>
            </a:pPr>
            <a:r>
              <a:rPr lang="en-US" sz="1000" dirty="0">
                <a:solidFill>
                  <a:srgbClr val="1A2440"/>
                </a:solidFill>
                <a:latin typeface="Source Sans 3" pitchFamily="34" charset="0"/>
                <a:ea typeface="Source Sans 3" pitchFamily="34" charset="-122"/>
                <a:cs typeface="Source Sans 3" pitchFamily="34" charset="-120"/>
              </a:rPr>
              <a:t> — 12mg | Once daily x 14 days, then 12mg MWF weeks 3–10 for First 10 weeks</a:t>
            </a:r>
            <a:pPr indent="0" marL="0">
              <a:buNone/>
            </a:pPr>
            <a:endParaRPr lang="en-US" sz="12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   Purpose: Anti-parasitic, anti-cancer, immune modulation</a:t>
            </a:r>
            <a:endParaRPr lang="en-US" sz="1200" dirty="0"/>
          </a:p>
          <a:p>
            <a:pPr indent="0" marL="0">
              <a:buNone/>
            </a:pPr>
            <a:r>
              <a:rPr lang="en-US" sz="1200" b="1" dirty="0">
                <a:solidFill>
                  <a:srgbClr val="C9A54E"/>
                </a:solidFill>
                <a:latin typeface="Source Sans 3" pitchFamily="34" charset="0"/>
                <a:ea typeface="Source Sans 3" pitchFamily="34" charset="-122"/>
                <a:cs typeface="Source Sans 3" pitchFamily="34" charset="-120"/>
              </a:rPr>
              <a:t>Fenbendazole</a:t>
            </a:r>
            <a:pPr indent="0" marL="0">
              <a:buNone/>
            </a:pPr>
            <a:r>
              <a:rPr lang="en-US" sz="1000" dirty="0">
                <a:solidFill>
                  <a:srgbClr val="1A2440"/>
                </a:solidFill>
                <a:latin typeface="Source Sans 3" pitchFamily="34" charset="0"/>
                <a:ea typeface="Source Sans 3" pitchFamily="34" charset="-122"/>
                <a:cs typeface="Source Sans 3" pitchFamily="34" charset="-120"/>
              </a:rPr>
              <a:t> — 222mg | Daily x 3 days/week, rotate with Ivermectin off days for First 10 weeks</a:t>
            </a:r>
            <a:pPr indent="0" marL="0">
              <a:buNone/>
            </a:pPr>
            <a:endParaRPr lang="en-US" sz="12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   Purpose: Antiparasitic, microtubule/cancer inhibition</a:t>
            </a:r>
            <a:endParaRPr lang="en-US" sz="1200" dirty="0"/>
          </a:p>
          <a:p>
            <a:pPr indent="0" marL="0">
              <a:buNone/>
            </a:pPr>
            <a:r>
              <a:rPr lang="en-US" sz="1200" b="1" dirty="0">
                <a:solidFill>
                  <a:srgbClr val="C9A54E"/>
                </a:solidFill>
                <a:latin typeface="Source Sans 3" pitchFamily="34" charset="0"/>
                <a:ea typeface="Source Sans 3" pitchFamily="34" charset="-122"/>
                <a:cs typeface="Source Sans 3" pitchFamily="34" charset="-120"/>
              </a:rPr>
              <a:t>Menvera (Ivermectin + Mebendazole)</a:t>
            </a:r>
            <a:pPr indent="0" marL="0">
              <a:buNone/>
            </a:pPr>
            <a:r>
              <a:rPr lang="en-US" sz="1000" dirty="0">
                <a:solidFill>
                  <a:srgbClr val="1A2440"/>
                </a:solidFill>
                <a:latin typeface="Source Sans 3" pitchFamily="34" charset="0"/>
                <a:ea typeface="Source Sans 3" pitchFamily="34" charset="-122"/>
                <a:cs typeface="Source Sans 3" pitchFamily="34" charset="-120"/>
              </a:rPr>
              <a:t> — 1 tablet | Every Sunday weeks 1–10; use as pulse therapy for Pulsed support</a:t>
            </a:r>
            <a:pPr indent="0" marL="0">
              <a:buNone/>
            </a:pPr>
            <a:endParaRPr lang="en-US" sz="12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   Purpose: Prevent parasite resistance and further immune reset</a:t>
            </a:r>
            <a:endParaRPr lang="en-US" sz="1200" dirty="0"/>
          </a:p>
          <a:p>
            <a:pPr indent="0" marL="0">
              <a:buNone/>
            </a:pPr>
            <a:r>
              <a:rPr lang="en-US" sz="1200" b="1" dirty="0">
                <a:solidFill>
                  <a:srgbClr val="C9A54E"/>
                </a:solidFill>
                <a:latin typeface="Source Sans 3" pitchFamily="34" charset="0"/>
                <a:ea typeface="Source Sans 3" pitchFamily="34" charset="-122"/>
                <a:cs typeface="Source Sans 3" pitchFamily="34" charset="-120"/>
              </a:rPr>
              <a:t>Black Walnut/Wormwood/Clove combo</a:t>
            </a:r>
            <a:pPr indent="0" marL="0">
              <a:buNone/>
            </a:pPr>
            <a:r>
              <a:rPr lang="en-US" sz="1000" dirty="0">
                <a:solidFill>
                  <a:srgbClr val="1A2440"/>
                </a:solidFill>
                <a:latin typeface="Source Sans 3" pitchFamily="34" charset="0"/>
                <a:ea typeface="Source Sans 3" pitchFamily="34" charset="-122"/>
                <a:cs typeface="Source Sans 3" pitchFamily="34" charset="-120"/>
              </a:rPr>
              <a:t> — per label | Evening x 2 weeks; repeat monthly for First 6 weeks, then as needed</a:t>
            </a:r>
            <a:pPr indent="0" marL="0">
              <a:buNone/>
            </a:pPr>
            <a:endParaRPr lang="en-US" sz="12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   Purpose: Broad-spectrum anti-parasitic</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0E1A"/>
        </a:solidFill>
      </p:bgPr>
    </p:bg>
    <p:spTree>
      <p:nvGrpSpPr>
        <p:cNvPr id="1" name=""/>
        <p:cNvGrpSpPr/>
        <p:nvPr/>
      </p:nvGrpSpPr>
      <p:grpSpPr>
        <a:xfrm>
          <a:off x="0" y="0"/>
          <a:ext cx="0" cy="0"/>
          <a:chOff x="0" y="0"/>
          <a:chExt cx="0" cy="0"/>
        </a:xfrm>
      </p:grpSpPr>
      <p:sp>
        <p:nvSpPr>
          <p:cNvPr id="2" name="Text 0"/>
          <p:cNvSpPr/>
          <p:nvPr/>
        </p:nvSpPr>
        <p:spPr>
          <a:xfrm>
            <a:off x="0" y="1645920"/>
            <a:ext cx="9144000" cy="731520"/>
          </a:xfrm>
          <a:prstGeom prst="rect">
            <a:avLst/>
          </a:prstGeom>
          <a:noFill/>
          <a:ln/>
        </p:spPr>
        <p:txBody>
          <a:bodyPr wrap="square" rtlCol="0" anchor="ctr"/>
          <a:lstStyle/>
          <a:p>
            <a:pPr algn="ctr" indent="0" marL="0">
              <a:buNone/>
            </a:pPr>
            <a:r>
              <a:rPr lang="en-US" sz="3600" b="1" dirty="0">
                <a:solidFill>
                  <a:srgbClr val="FFFFFF"/>
                </a:solidFill>
                <a:latin typeface="Playfair Display" pitchFamily="34" charset="0"/>
                <a:ea typeface="Playfair Display" pitchFamily="34" charset="-122"/>
                <a:cs typeface="Playfair Display" pitchFamily="34" charset="-120"/>
              </a:rPr>
              <a:t>ECS PROTOCOL</a:t>
            </a:r>
            <a:endParaRPr lang="en-US" sz="3600" dirty="0"/>
          </a:p>
        </p:txBody>
      </p:sp>
      <p:sp>
        <p:nvSpPr>
          <p:cNvPr id="3" name="Text 1"/>
          <p:cNvSpPr/>
          <p:nvPr/>
        </p:nvSpPr>
        <p:spPr>
          <a:xfrm>
            <a:off x="914400" y="2377440"/>
            <a:ext cx="7315200" cy="548640"/>
          </a:xfrm>
          <a:prstGeom prst="rect">
            <a:avLst/>
          </a:prstGeom>
          <a:noFill/>
          <a:ln/>
        </p:spPr>
        <p:txBody>
          <a:bodyPr wrap="square" rtlCol="0" anchor="ctr"/>
          <a:lstStyle/>
          <a:p>
            <a:pPr algn="ctr" indent="0" marL="0">
              <a:buNone/>
            </a:pPr>
            <a:r>
              <a:rPr lang="en-US" sz="1400" dirty="0">
                <a:solidFill>
                  <a:srgbClr val="C9A54E"/>
                </a:solidFill>
                <a:latin typeface="Source Sans 3" pitchFamily="34" charset="0"/>
                <a:ea typeface="Source Sans 3" pitchFamily="34" charset="-122"/>
                <a:cs typeface="Source Sans 3" pitchFamily="34" charset="-120"/>
              </a:rPr>
              <a:t>Endocannabinoid System Optimization — Suppositories, Tinctures &amp; Targeted Ratios</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8EDF5"/>
        </a:solidFill>
      </p:bgPr>
    </p:bg>
    <p:spTree>
      <p:nvGrpSpPr>
        <p:cNvPr id="1" name=""/>
        <p:cNvGrpSpPr/>
        <p:nvPr/>
      </p:nvGrpSpPr>
      <p:grpSpPr>
        <a:xfrm>
          <a:off x="0" y="0"/>
          <a:ext cx="0" cy="0"/>
          <a:chOff x="0" y="0"/>
          <a:chExt cx="0" cy="0"/>
        </a:xfrm>
      </p:grpSpPr>
      <p:sp>
        <p:nvSpPr>
          <p:cNvPr id="2" name="Text 0"/>
          <p:cNvSpPr/>
          <p:nvPr/>
        </p:nvSpPr>
        <p:spPr>
          <a:xfrm>
            <a:off x="457200" y="182880"/>
            <a:ext cx="8229600" cy="457200"/>
          </a:xfrm>
          <a:prstGeom prst="rect">
            <a:avLst/>
          </a:prstGeom>
          <a:noFill/>
          <a:ln/>
        </p:spPr>
        <p:txBody>
          <a:bodyPr wrap="square" rtlCol="0" anchor="ctr"/>
          <a:lstStyle/>
          <a:p>
            <a:pPr indent="0" marL="0">
              <a:buNone/>
            </a:pPr>
            <a:r>
              <a:rPr lang="en-US" sz="2200" b="1" dirty="0">
                <a:solidFill>
                  <a:srgbClr val="1A2440"/>
                </a:solidFill>
                <a:latin typeface="Playfair Display" pitchFamily="34" charset="0"/>
                <a:ea typeface="Playfair Display" pitchFamily="34" charset="-122"/>
                <a:cs typeface="Playfair Display" pitchFamily="34" charset="-120"/>
              </a:rPr>
              <a:t>ECS Protocol — Endocannabinoid System</a:t>
            </a:r>
            <a:endParaRPr lang="en-US" sz="2200" dirty="0"/>
          </a:p>
        </p:txBody>
      </p:sp>
      <p:sp>
        <p:nvSpPr>
          <p:cNvPr id="3" name="Text 1"/>
          <p:cNvSpPr/>
          <p:nvPr/>
        </p:nvSpPr>
        <p:spPr>
          <a:xfrm>
            <a:off x="457200" y="685800"/>
            <a:ext cx="8229600" cy="457200"/>
          </a:xfrm>
          <a:prstGeom prst="rect">
            <a:avLst/>
          </a:prstGeom>
          <a:noFill/>
          <a:ln/>
        </p:spPr>
        <p:txBody>
          <a:bodyPr wrap="square" rtlCol="0" anchor="ctr"/>
          <a:lstStyle/>
          <a:p>
            <a:pPr indent="0" marL="0">
              <a:buNone/>
            </a:pPr>
            <a:r>
              <a:rPr lang="en-US" sz="1000" dirty="0">
                <a:solidFill>
                  <a:srgbClr val="5A6B8A"/>
                </a:solidFill>
                <a:latin typeface="Source Sans 3" pitchFamily="34" charset="0"/>
                <a:ea typeface="Source Sans 3" pitchFamily="34" charset="-122"/>
                <a:cs typeface="Source Sans 3" pitchFamily="34" charset="-120"/>
              </a:rPr>
              <a:t>Targeted onco-immunologic ECS protocol using high CBD:THC ratios (1:1 for cancer, 10:1 for inflammation) with CBG/CBN and DMSO/cacao butter for maximum mucosal and systemic uptake.</a:t>
            </a:r>
            <a:endParaRPr lang="en-US" sz="1000" dirty="0"/>
          </a:p>
        </p:txBody>
      </p:sp>
      <p:sp>
        <p:nvSpPr>
          <p:cNvPr id="4" name="Shape 2"/>
          <p:cNvSpPr/>
          <p:nvPr/>
        </p:nvSpPr>
        <p:spPr>
          <a:xfrm>
            <a:off x="274320" y="1280160"/>
            <a:ext cx="4114800" cy="164592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5" name="Text 3"/>
          <p:cNvSpPr/>
          <p:nvPr/>
        </p:nvSpPr>
        <p:spPr>
          <a:xfrm>
            <a:off x="457200" y="1371600"/>
            <a:ext cx="3749040" cy="1463040"/>
          </a:xfrm>
          <a:prstGeom prst="rect">
            <a:avLst/>
          </a:prstGeom>
          <a:noFill/>
          <a:ln/>
        </p:spPr>
        <p:txBody>
          <a:bodyPr wrap="square" rtlCol="0" anchor="t"/>
          <a:lstStyle/>
          <a:p>
            <a:pPr indent="0" marL="0">
              <a:buNone/>
            </a:pPr>
            <a:r>
              <a:rPr lang="en-US" sz="1200" b="1" dirty="0">
                <a:solidFill>
                  <a:srgbClr val="1A2440"/>
                </a:solidFill>
                <a:latin typeface="Source Sans 3" pitchFamily="34" charset="0"/>
                <a:ea typeface="Source Sans 3" pitchFamily="34" charset="-122"/>
                <a:cs typeface="Source Sans 3" pitchFamily="34" charset="-120"/>
              </a:rPr>
              <a:t>DAYTIME SUPPOSITORY</a:t>
            </a:r>
            <a:endParaRPr lang="en-US" sz="1200" dirty="0"/>
          </a:p>
          <a:p>
            <a:pPr indent="0" marL="0">
              <a:buNone/>
            </a:pPr>
            <a:r>
              <a:rPr lang="en-US" sz="1000" dirty="0">
                <a:solidFill>
                  <a:srgbClr val="1A2440"/>
                </a:solidFill>
                <a:latin typeface="Source Sans 3" pitchFamily="34" charset="0"/>
                <a:ea typeface="Source Sans 3" pitchFamily="34" charset="-122"/>
                <a:cs typeface="Source Sans 3" pitchFamily="34" charset="-120"/>
              </a:rPr>
              <a:t>CBD: 50</a:t>
            </a:r>
            <a:endParaRPr lang="en-US" sz="1200" dirty="0"/>
          </a:p>
          <a:p>
            <a:pPr indent="0" marL="0">
              <a:buNone/>
            </a:pPr>
            <a:r>
              <a:rPr lang="en-US" sz="1000" dirty="0">
                <a:solidFill>
                  <a:srgbClr val="1A2440"/>
                </a:solidFill>
                <a:latin typeface="Source Sans 3" pitchFamily="34" charset="0"/>
                <a:ea typeface="Source Sans 3" pitchFamily="34" charset="-122"/>
                <a:cs typeface="Source Sans 3" pitchFamily="34" charset="-120"/>
              </a:rPr>
              <a:t>CBG: 5</a:t>
            </a:r>
            <a:endParaRPr lang="en-US" sz="1200" dirty="0"/>
          </a:p>
          <a:p>
            <a:pPr indent="0" marL="0">
              <a:buNone/>
            </a:pPr>
            <a:r>
              <a:rPr lang="en-US" sz="1000" dirty="0">
                <a:solidFill>
                  <a:srgbClr val="1A2440"/>
                </a:solidFill>
                <a:latin typeface="Source Sans 3" pitchFamily="34" charset="0"/>
                <a:ea typeface="Source Sans 3" pitchFamily="34" charset="-122"/>
                <a:cs typeface="Source Sans 3" pitchFamily="34" charset="-120"/>
              </a:rPr>
              <a:t>DMSO: 75</a:t>
            </a:r>
            <a:endParaRPr lang="en-US" sz="12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Base: cacao butter</a:t>
            </a:r>
            <a:endParaRPr lang="en-US" sz="12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Delivery: suppository</a:t>
            </a:r>
            <a:endParaRPr lang="en-US" sz="1200" dirty="0"/>
          </a:p>
        </p:txBody>
      </p:sp>
      <p:sp>
        <p:nvSpPr>
          <p:cNvPr id="6" name="Shape 4"/>
          <p:cNvSpPr/>
          <p:nvPr/>
        </p:nvSpPr>
        <p:spPr>
          <a:xfrm>
            <a:off x="4754880" y="1280160"/>
            <a:ext cx="4114800" cy="164592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7" name="Text 5"/>
          <p:cNvSpPr/>
          <p:nvPr/>
        </p:nvSpPr>
        <p:spPr>
          <a:xfrm>
            <a:off x="4937760" y="1371600"/>
            <a:ext cx="3749040" cy="1463040"/>
          </a:xfrm>
          <a:prstGeom prst="rect">
            <a:avLst/>
          </a:prstGeom>
          <a:noFill/>
          <a:ln/>
        </p:spPr>
        <p:txBody>
          <a:bodyPr wrap="square" rtlCol="0" anchor="t"/>
          <a:lstStyle/>
          <a:p>
            <a:pPr indent="0" marL="0">
              <a:buNone/>
            </a:pPr>
            <a:r>
              <a:rPr lang="en-US" sz="1200" b="1" dirty="0">
                <a:solidFill>
                  <a:srgbClr val="1A2440"/>
                </a:solidFill>
                <a:latin typeface="Source Sans 3" pitchFamily="34" charset="0"/>
                <a:ea typeface="Source Sans 3" pitchFamily="34" charset="-122"/>
                <a:cs typeface="Source Sans 3" pitchFamily="34" charset="-120"/>
              </a:rPr>
              <a:t>NIGHTTIME SUPPOSITORY</a:t>
            </a:r>
            <a:endParaRPr lang="en-US" sz="1200" dirty="0"/>
          </a:p>
          <a:p>
            <a:pPr indent="0" marL="0">
              <a:buNone/>
            </a:pPr>
            <a:r>
              <a:rPr lang="en-US" sz="1000" dirty="0">
                <a:solidFill>
                  <a:srgbClr val="1A2440"/>
                </a:solidFill>
                <a:latin typeface="Source Sans 3" pitchFamily="34" charset="0"/>
                <a:ea typeface="Source Sans 3" pitchFamily="34" charset="-122"/>
                <a:cs typeface="Source Sans 3" pitchFamily="34" charset="-120"/>
              </a:rPr>
              <a:t>CBD: 50</a:t>
            </a:r>
            <a:endParaRPr lang="en-US" sz="1200" dirty="0"/>
          </a:p>
          <a:p>
            <a:pPr indent="0" marL="0">
              <a:buNone/>
            </a:pPr>
            <a:r>
              <a:rPr lang="en-US" sz="1000" dirty="0">
                <a:solidFill>
                  <a:srgbClr val="1A2440"/>
                </a:solidFill>
                <a:latin typeface="Source Sans 3" pitchFamily="34" charset="0"/>
                <a:ea typeface="Source Sans 3" pitchFamily="34" charset="-122"/>
                <a:cs typeface="Source Sans 3" pitchFamily="34" charset="-120"/>
              </a:rPr>
              <a:t>THC: 50</a:t>
            </a:r>
            <a:endParaRPr lang="en-US" sz="1200" dirty="0"/>
          </a:p>
          <a:p>
            <a:pPr indent="0" marL="0">
              <a:buNone/>
            </a:pPr>
            <a:r>
              <a:rPr lang="en-US" sz="1000" dirty="0">
                <a:solidFill>
                  <a:srgbClr val="1A2440"/>
                </a:solidFill>
                <a:latin typeface="Source Sans 3" pitchFamily="34" charset="0"/>
                <a:ea typeface="Source Sans 3" pitchFamily="34" charset="-122"/>
                <a:cs typeface="Source Sans 3" pitchFamily="34" charset="-120"/>
              </a:rPr>
              <a:t>CBN: 15</a:t>
            </a:r>
            <a:endParaRPr lang="en-US" sz="12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DMSO: 75</a:t>
            </a:r>
            <a:endParaRPr lang="en-US" sz="12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Base: cacao butter</a:t>
            </a:r>
            <a:endParaRPr lang="en-US" sz="1200" dirty="0"/>
          </a:p>
        </p:txBody>
      </p:sp>
      <p:sp>
        <p:nvSpPr>
          <p:cNvPr id="8" name="Shape 6"/>
          <p:cNvSpPr/>
          <p:nvPr/>
        </p:nvSpPr>
        <p:spPr>
          <a:xfrm>
            <a:off x="274320" y="3108960"/>
            <a:ext cx="8595360" cy="64008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9" name="Text 7"/>
          <p:cNvSpPr/>
          <p:nvPr/>
        </p:nvSpPr>
        <p:spPr>
          <a:xfrm>
            <a:off x="457200" y="3154680"/>
            <a:ext cx="8229600" cy="548640"/>
          </a:xfrm>
          <a:prstGeom prst="rect">
            <a:avLst/>
          </a:prstGeom>
          <a:noFill/>
          <a:ln/>
        </p:spPr>
        <p:txBody>
          <a:bodyPr wrap="square" rtlCol="0" anchor="ctr"/>
          <a:lstStyle/>
          <a:p>
            <a:pPr indent="0" marL="0">
              <a:buNone/>
            </a:pPr>
            <a:r>
              <a:rPr lang="en-US" sz="1100" b="1" dirty="0">
                <a:solidFill>
                  <a:srgbClr val="1A2440"/>
                </a:solidFill>
                <a:latin typeface="Source Sans 3" pitchFamily="34" charset="0"/>
                <a:ea typeface="Source Sans 3" pitchFamily="34" charset="-122"/>
                <a:cs typeface="Source Sans 3" pitchFamily="34" charset="-120"/>
              </a:rPr>
              <a:t>Elixir for Everything: </a:t>
            </a:r>
            <a:pPr indent="0" marL="0">
              <a:buNone/>
            </a:pPr>
            <a:r>
              <a:rPr lang="en-US" sz="1000" dirty="0">
                <a:solidFill>
                  <a:srgbClr val="1A2440"/>
                </a:solidFill>
                <a:latin typeface="Source Sans 3" pitchFamily="34" charset="0"/>
                <a:ea typeface="Source Sans 3" pitchFamily="34" charset="-122"/>
                <a:cs typeface="Source Sans 3" pitchFamily="34" charset="-120"/>
              </a:rPr>
              <a:t>0.5–1ml sublingual BID — CBD, CBG, CBC, CBDV, CBN, THCV, CBDA, CBGA, CBCA, THCA, CBDVA, CBCVA</a:t>
            </a:r>
            <a:endParaRPr lang="en-US" sz="1100" dirty="0"/>
          </a:p>
        </p:txBody>
      </p:sp>
      <p:sp>
        <p:nvSpPr>
          <p:cNvPr id="10" name="Shape 8"/>
          <p:cNvSpPr/>
          <p:nvPr/>
        </p:nvSpPr>
        <p:spPr>
          <a:xfrm>
            <a:off x="274320" y="3931920"/>
            <a:ext cx="8595360" cy="100584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11" name="Text 9"/>
          <p:cNvSpPr/>
          <p:nvPr/>
        </p:nvSpPr>
        <p:spPr>
          <a:xfrm>
            <a:off x="457200" y="3977640"/>
            <a:ext cx="8229600" cy="914400"/>
          </a:xfrm>
          <a:prstGeom prst="rect">
            <a:avLst/>
          </a:prstGeom>
          <a:noFill/>
          <a:ln/>
        </p:spPr>
        <p:txBody>
          <a:bodyPr wrap="square" rtlCol="0" anchor="t"/>
          <a:lstStyle/>
          <a:p>
            <a:pPr indent="0" marL="0">
              <a:buNone/>
            </a:pPr>
            <a:r>
              <a:rPr lang="en-US" sz="1100" b="1" dirty="0">
                <a:solidFill>
                  <a:srgbClr val="1A2440"/>
                </a:solidFill>
                <a:latin typeface="Source Sans 3" pitchFamily="34" charset="0"/>
                <a:ea typeface="Source Sans 3" pitchFamily="34" charset="-122"/>
                <a:cs typeface="Source Sans 3" pitchFamily="34" charset="-120"/>
              </a:rPr>
              <a:t>TARGETED CANNABINOID RATIOS</a:t>
            </a:r>
            <a:endParaRPr lang="en-US" sz="1100" dirty="0"/>
          </a:p>
          <a:p>
            <a:pPr indent="0" marL="0">
              <a:buNone/>
            </a:pPr>
            <a:r>
              <a:rPr lang="en-US" sz="1000" b="1" dirty="0">
                <a:solidFill>
                  <a:srgbClr val="C9A54E"/>
                </a:solidFill>
                <a:latin typeface="Source Sans 3" pitchFamily="34" charset="0"/>
                <a:ea typeface="Source Sans 3" pitchFamily="34" charset="-122"/>
                <a:cs typeface="Source Sans 3" pitchFamily="34" charset="-120"/>
              </a:rPr>
              <a:t>Metastatic adenocarcinoma: </a:t>
            </a:r>
            <a:pPr indent="0" marL="0">
              <a:buNone/>
            </a:pPr>
            <a:r>
              <a:rPr lang="en-US" sz="900" dirty="0">
                <a:solidFill>
                  <a:srgbClr val="1A2440"/>
                </a:solidFill>
                <a:latin typeface="Source Sans 3" pitchFamily="34" charset="0"/>
                <a:ea typeface="Source Sans 3" pitchFamily="34" charset="-122"/>
                <a:cs typeface="Source Sans 3" pitchFamily="34" charset="-120"/>
              </a:rPr>
              <a:t>CBD:THC 1:1 (night) + CBG and CBN support — Clinical/experimental evidence for tumor apoptosis, modulation of tumor microenvironment, immune potentiation</a:t>
            </a:r>
            <a:endParaRPr lang="en-US" sz="1100" dirty="0"/>
          </a:p>
          <a:p>
            <a:pPr indent="0" marL="0">
              <a:buNone/>
            </a:pPr>
            <a:r>
              <a:rPr lang="en-US" sz="1000" b="1" dirty="0">
                <a:solidFill>
                  <a:srgbClr val="C9A54E"/>
                </a:solidFill>
                <a:latin typeface="Source Sans 3" pitchFamily="34" charset="0"/>
                <a:ea typeface="Source Sans 3" pitchFamily="34" charset="-122"/>
                <a:cs typeface="Source Sans 3" pitchFamily="34" charset="-120"/>
              </a:rPr>
              <a:t>Chronic inflammation/Thyroid autoimmunity (day): </a:t>
            </a:r>
            <a:pPr indent="0" marL="0">
              <a:buNone/>
            </a:pPr>
            <a:r>
              <a:rPr lang="en-US" sz="900" dirty="0">
                <a:solidFill>
                  <a:srgbClr val="1A2440"/>
                </a:solidFill>
                <a:latin typeface="Source Sans 3" pitchFamily="34" charset="0"/>
                <a:ea typeface="Source Sans 3" pitchFamily="34" charset="-122"/>
                <a:cs typeface="Source Sans 3" pitchFamily="34" charset="-120"/>
              </a:rPr>
              <a:t>CBD:CBG 10:1, no THC for day — Reduce NF-κB and inflammatory cytokine cascades without immune overstimulation</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8EDF5"/>
        </a:solidFill>
      </p:bgPr>
    </p:bg>
    <p:spTree>
      <p:nvGrpSpPr>
        <p:cNvPr id="1" name=""/>
        <p:cNvGrpSpPr/>
        <p:nvPr/>
      </p:nvGrpSpPr>
      <p:grpSpPr>
        <a:xfrm>
          <a:off x="0" y="0"/>
          <a:ext cx="0" cy="0"/>
          <a:chOff x="0" y="0"/>
          <a:chExt cx="0" cy="0"/>
        </a:xfrm>
      </p:grpSpPr>
      <p:sp>
        <p:nvSpPr>
          <p:cNvPr id="2" name="Text 0"/>
          <p:cNvSpPr/>
          <p:nvPr/>
        </p:nvSpPr>
        <p:spPr>
          <a:xfrm>
            <a:off x="457200" y="182880"/>
            <a:ext cx="8229600" cy="457200"/>
          </a:xfrm>
          <a:prstGeom prst="rect">
            <a:avLst/>
          </a:prstGeom>
          <a:noFill/>
          <a:ln/>
        </p:spPr>
        <p:txBody>
          <a:bodyPr wrap="square" rtlCol="0" anchor="ctr"/>
          <a:lstStyle/>
          <a:p>
            <a:pPr indent="0" marL="0">
              <a:buNone/>
            </a:pPr>
            <a:r>
              <a:rPr lang="en-US" sz="2200" b="1" dirty="0">
                <a:solidFill>
                  <a:srgbClr val="1A2440"/>
                </a:solidFill>
                <a:latin typeface="Playfair Display" pitchFamily="34" charset="0"/>
                <a:ea typeface="Playfair Display" pitchFamily="34" charset="-122"/>
                <a:cs typeface="Playfair Display" pitchFamily="34" charset="-120"/>
              </a:rPr>
              <a:t>Suppository Protocols</a:t>
            </a:r>
            <a:endParaRPr lang="en-US" sz="2200" dirty="0"/>
          </a:p>
        </p:txBody>
      </p:sp>
      <p:sp>
        <p:nvSpPr>
          <p:cNvPr id="3" name="Shape 1"/>
          <p:cNvSpPr/>
          <p:nvPr/>
        </p:nvSpPr>
        <p:spPr>
          <a:xfrm>
            <a:off x="457200" y="731520"/>
            <a:ext cx="8229600" cy="411480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4" name="Text 2"/>
          <p:cNvSpPr/>
          <p:nvPr/>
        </p:nvSpPr>
        <p:spPr>
          <a:xfrm>
            <a:off x="640080" y="822960"/>
            <a:ext cx="7863840" cy="3931920"/>
          </a:xfrm>
          <a:prstGeom prst="rect">
            <a:avLst/>
          </a:prstGeom>
          <a:noFill/>
          <a:ln/>
        </p:spPr>
        <p:txBody>
          <a:bodyPr wrap="square" rtlCol="0" anchor="t"/>
          <a:lstStyle/>
          <a:p>
            <a:pPr indent="0" marL="0">
              <a:buNone/>
            </a:pPr>
            <a:r>
              <a:rPr lang="en-US" sz="1100" b="1" dirty="0">
                <a:solidFill>
                  <a:srgbClr val="1A2440"/>
                </a:solidFill>
                <a:latin typeface="Source Sans 3" pitchFamily="34" charset="0"/>
                <a:ea typeface="Source Sans 3" pitchFamily="34" charset="-122"/>
                <a:cs typeface="Source Sans 3" pitchFamily="34" charset="-120"/>
              </a:rPr>
              <a:t>FF PMA Suppository (Anti-cancer ECS blend) (nighttime)</a:t>
            </a:r>
            <a:endParaRPr lang="en-US" sz="1100" dirty="0"/>
          </a:p>
          <a:p>
            <a:pPr indent="0" marL="0">
              <a:buNone/>
            </a:pPr>
            <a:r>
              <a:rPr lang="en-US" sz="900" dirty="0">
                <a:solidFill>
                  <a:srgbClr val="1A2440"/>
                </a:solidFill>
                <a:latin typeface="Source Sans 3" pitchFamily="34" charset="0"/>
                <a:ea typeface="Source Sans 3" pitchFamily="34" charset="-122"/>
                <a:cs typeface="Source Sans 3" pitchFamily="34" charset="-120"/>
              </a:rPr>
              <a:t>Formula: CBD:THC 1:1 + CBN + CBG + DMSO in cacao butter base | Base: cacao butter | Freq: nightly</a:t>
            </a:r>
            <a:endParaRPr lang="en-US" sz="11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Purpose: Direct rectal absorption for anti-cancer, anti-inflammatory, sleep; DMSO drives penetration</a:t>
            </a:r>
            <a:endParaRPr lang="en-US" sz="1100" dirty="0"/>
          </a:p>
          <a:p>
            <a:pPr indent="0" marL="0">
              <a:buNone/>
            </a:pPr>
            <a:endParaRPr lang="en-US" sz="1100" dirty="0"/>
          </a:p>
          <a:p>
            <a:pPr indent="0" marL="0">
              <a:buNone/>
            </a:pPr>
            <a:r>
              <a:rPr lang="en-US" sz="1100" b="1" dirty="0">
                <a:solidFill>
                  <a:srgbClr val="1A2440"/>
                </a:solidFill>
                <a:latin typeface="Source Sans 3" pitchFamily="34" charset="0"/>
                <a:ea typeface="Source Sans 3" pitchFamily="34" charset="-122"/>
                <a:cs typeface="Source Sans 3" pitchFamily="34" charset="-120"/>
              </a:rPr>
              <a:t>FF PMA Suppository (Day, anti-inflammatory ECS blend) (daytime)</a:t>
            </a:r>
            <a:endParaRPr lang="en-US" sz="1100" dirty="0"/>
          </a:p>
          <a:p>
            <a:pPr indent="0" marL="0">
              <a:buNone/>
            </a:pPr>
            <a:r>
              <a:rPr lang="en-US" sz="900" dirty="0">
                <a:solidFill>
                  <a:srgbClr val="1A2440"/>
                </a:solidFill>
                <a:latin typeface="Source Sans 3" pitchFamily="34" charset="0"/>
                <a:ea typeface="Source Sans 3" pitchFamily="34" charset="-122"/>
                <a:cs typeface="Source Sans 3" pitchFamily="34" charset="-120"/>
              </a:rPr>
              <a:t>Formula: CBD:CBG 10:1 + minor cannabinoids + DMSO in cacao butter base | Base: cacao butter | Freq: morning</a:t>
            </a:r>
            <a:endParaRPr lang="en-US" sz="11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Purpose: Daytime inflammation/cancer cell modulation without psychoactivity</a:t>
            </a:r>
            <a:endParaRPr lang="en-US" sz="1100" dirty="0"/>
          </a:p>
          <a:p>
            <a:pPr indent="0" marL="0">
              <a:buNone/>
            </a:pPr>
            <a:endParaRPr lang="en-US" sz="1100" dirty="0"/>
          </a:p>
          <a:p>
            <a:pPr indent="0" marL="0">
              <a:buNone/>
            </a:pPr>
            <a:r>
              <a:rPr lang="en-US" sz="1100" b="1" dirty="0">
                <a:solidFill>
                  <a:srgbClr val="1A2440"/>
                </a:solidFill>
                <a:latin typeface="Source Sans 3" pitchFamily="34" charset="0"/>
                <a:ea typeface="Source Sans 3" pitchFamily="34" charset="-122"/>
                <a:cs typeface="Source Sans 3" pitchFamily="34" charset="-120"/>
              </a:rPr>
              <a:t>Probiotic Suppository (18 Strain) (nighttime)</a:t>
            </a:r>
            <a:endParaRPr lang="en-US" sz="1100" dirty="0"/>
          </a:p>
          <a:p>
            <a:pPr indent="0" marL="0">
              <a:buNone/>
            </a:pPr>
            <a:r>
              <a:rPr lang="en-US" sz="900" dirty="0">
                <a:solidFill>
                  <a:srgbClr val="1A2440"/>
                </a:solidFill>
                <a:latin typeface="Source Sans 3" pitchFamily="34" charset="0"/>
                <a:ea typeface="Source Sans 3" pitchFamily="34" charset="-122"/>
                <a:cs typeface="Source Sans 3" pitchFamily="34" charset="-120"/>
              </a:rPr>
              <a:t>Formula: 18+ strains direct delivery | Base: cocoa butter or glycerin | Freq: every other night</a:t>
            </a:r>
            <a:endParaRPr lang="en-US" sz="11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Purpose: Microbiome restoration and gut barrier support</a:t>
            </a:r>
            <a:endParaRPr lang="en-US" sz="1100" dirty="0"/>
          </a:p>
          <a:p>
            <a:pPr indent="0" marL="0">
              <a:buNone/>
            </a:pP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0E1A"/>
        </a:solidFill>
      </p:bgPr>
    </p:bg>
    <p:spTree>
      <p:nvGrpSpPr>
        <p:cNvPr id="1" name=""/>
        <p:cNvGrpSpPr/>
        <p:nvPr/>
      </p:nvGrpSpPr>
      <p:grpSpPr>
        <a:xfrm>
          <a:off x="0" y="0"/>
          <a:ext cx="0" cy="0"/>
          <a:chOff x="0" y="0"/>
          <a:chExt cx="0" cy="0"/>
        </a:xfrm>
      </p:grpSpPr>
      <p:sp>
        <p:nvSpPr>
          <p:cNvPr id="2" name="Text 0"/>
          <p:cNvSpPr/>
          <p:nvPr/>
        </p:nvSpPr>
        <p:spPr>
          <a:xfrm>
            <a:off x="0" y="1645920"/>
            <a:ext cx="9144000" cy="731520"/>
          </a:xfrm>
          <a:prstGeom prst="rect">
            <a:avLst/>
          </a:prstGeom>
          <a:noFill/>
          <a:ln/>
        </p:spPr>
        <p:txBody>
          <a:bodyPr wrap="square" rtlCol="0" anchor="ctr"/>
          <a:lstStyle/>
          <a:p>
            <a:pPr algn="ctr" indent="0" marL="0">
              <a:buNone/>
            </a:pPr>
            <a:r>
              <a:rPr lang="en-US" sz="3200" b="1" dirty="0">
                <a:solidFill>
                  <a:srgbClr val="FFFFFF"/>
                </a:solidFill>
                <a:latin typeface="Playfair Display" pitchFamily="34" charset="0"/>
                <a:ea typeface="Playfair Display" pitchFamily="34" charset="-122"/>
                <a:cs typeface="Playfair Display" pitchFamily="34" charset="-120"/>
              </a:rPr>
              <a:t>MITOCHONDRIAL &amp; SIRTUIN SUPPORT</a:t>
            </a:r>
            <a:endParaRPr lang="en-US" sz="3200" dirty="0"/>
          </a:p>
        </p:txBody>
      </p:sp>
      <p:sp>
        <p:nvSpPr>
          <p:cNvPr id="3" name="Text 1"/>
          <p:cNvSpPr/>
          <p:nvPr/>
        </p:nvSpPr>
        <p:spPr>
          <a:xfrm>
            <a:off x="914400" y="2377440"/>
            <a:ext cx="7315200" cy="548640"/>
          </a:xfrm>
          <a:prstGeom prst="rect">
            <a:avLst/>
          </a:prstGeom>
          <a:noFill/>
          <a:ln/>
        </p:spPr>
        <p:txBody>
          <a:bodyPr wrap="square" rtlCol="0" anchor="ctr"/>
          <a:lstStyle/>
          <a:p>
            <a:pPr algn="ctr" indent="0" marL="0">
              <a:buNone/>
            </a:pPr>
            <a:r>
              <a:rPr lang="en-US" sz="1400" dirty="0">
                <a:solidFill>
                  <a:srgbClr val="C9A54E"/>
                </a:solidFill>
                <a:latin typeface="Source Sans 3" pitchFamily="34" charset="0"/>
                <a:ea typeface="Source Sans 3" pitchFamily="34" charset="-122"/>
                <a:cs typeface="Source Sans 3" pitchFamily="34" charset="-120"/>
              </a:rPr>
              <a:t>NAD+, GlyNAC, MitoSTAC Complex, Methylation, Cellular Energy Restoration</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8EDF5"/>
        </a:solidFill>
      </p:bgPr>
    </p:bg>
    <p:spTree>
      <p:nvGrpSpPr>
        <p:cNvPr id="1" name=""/>
        <p:cNvGrpSpPr/>
        <p:nvPr/>
      </p:nvGrpSpPr>
      <p:grpSpPr>
        <a:xfrm>
          <a:off x="0" y="0"/>
          <a:ext cx="0" cy="0"/>
          <a:chOff x="0" y="0"/>
          <a:chExt cx="0" cy="0"/>
        </a:xfrm>
      </p:grpSpPr>
      <p:sp>
        <p:nvSpPr>
          <p:cNvPr id="2" name="Text 0"/>
          <p:cNvSpPr/>
          <p:nvPr/>
        </p:nvSpPr>
        <p:spPr>
          <a:xfrm>
            <a:off x="457200" y="182880"/>
            <a:ext cx="8229600" cy="457200"/>
          </a:xfrm>
          <a:prstGeom prst="rect">
            <a:avLst/>
          </a:prstGeom>
          <a:noFill/>
          <a:ln/>
        </p:spPr>
        <p:txBody>
          <a:bodyPr wrap="square" rtlCol="0" anchor="ctr"/>
          <a:lstStyle/>
          <a:p>
            <a:pPr indent="0" marL="0">
              <a:buNone/>
            </a:pPr>
            <a:r>
              <a:rPr lang="en-US" sz="2200" b="1" dirty="0">
                <a:solidFill>
                  <a:srgbClr val="1A2440"/>
                </a:solidFill>
                <a:latin typeface="Playfair Display" pitchFamily="34" charset="0"/>
                <a:ea typeface="Playfair Display" pitchFamily="34" charset="-122"/>
                <a:cs typeface="Playfair Display" pitchFamily="34" charset="-120"/>
              </a:rPr>
              <a:t>Sirtuin &amp; Mitochondrial Stack</a:t>
            </a:r>
            <a:endParaRPr lang="en-US" sz="2200" dirty="0"/>
          </a:p>
        </p:txBody>
      </p:sp>
      <p:sp>
        <p:nvSpPr>
          <p:cNvPr id="3" name="Shape 1"/>
          <p:cNvSpPr/>
          <p:nvPr/>
        </p:nvSpPr>
        <p:spPr>
          <a:xfrm>
            <a:off x="274320" y="731520"/>
            <a:ext cx="4114800" cy="164592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4" name="Text 2"/>
          <p:cNvSpPr/>
          <p:nvPr/>
        </p:nvSpPr>
        <p:spPr>
          <a:xfrm>
            <a:off x="457200" y="822960"/>
            <a:ext cx="3749040" cy="1463040"/>
          </a:xfrm>
          <a:prstGeom prst="rect">
            <a:avLst/>
          </a:prstGeom>
          <a:noFill/>
          <a:ln/>
        </p:spPr>
        <p:txBody>
          <a:bodyPr wrap="square" rtlCol="0" anchor="t"/>
          <a:lstStyle/>
          <a:p>
            <a:pPr indent="0" marL="0">
              <a:buNone/>
            </a:pPr>
            <a:r>
              <a:rPr lang="en-US" sz="1100" b="1" dirty="0">
                <a:solidFill>
                  <a:srgbClr val="4A3080"/>
                </a:solidFill>
                <a:latin typeface="Source Sans 3" pitchFamily="34" charset="0"/>
                <a:ea typeface="Source Sans 3" pitchFamily="34" charset="-122"/>
                <a:cs typeface="Source Sans 3" pitchFamily="34" charset="-120"/>
              </a:rPr>
              <a:t>MitoSTAC Complex (Sirtuin Activation)</a:t>
            </a:r>
            <a:endParaRPr lang="en-US" sz="1100" dirty="0"/>
          </a:p>
          <a:p>
            <a:pPr indent="0" marL="0">
              <a:buNone/>
            </a:pPr>
            <a:r>
              <a:rPr lang="en-US" sz="1000" dirty="0">
                <a:solidFill>
                  <a:srgbClr val="1A2440"/>
                </a:solidFill>
                <a:latin typeface="Source Sans 3" pitchFamily="34" charset="0"/>
                <a:ea typeface="Source Sans 3" pitchFamily="34" charset="-122"/>
                <a:cs typeface="Source Sans 3" pitchFamily="34" charset="-120"/>
              </a:rPr>
              <a:t>Resveratrol: 500mg</a:t>
            </a:r>
            <a:endParaRPr lang="en-US" sz="1100" dirty="0"/>
          </a:p>
          <a:p>
            <a:pPr indent="0" marL="0">
              <a:buNone/>
            </a:pPr>
            <a:r>
              <a:rPr lang="en-US" sz="1000" dirty="0">
                <a:solidFill>
                  <a:srgbClr val="1A2440"/>
                </a:solidFill>
                <a:latin typeface="Source Sans 3" pitchFamily="34" charset="0"/>
                <a:ea typeface="Source Sans 3" pitchFamily="34" charset="-122"/>
                <a:cs typeface="Source Sans 3" pitchFamily="34" charset="-120"/>
              </a:rPr>
              <a:t>Pterostilbene: 100mg</a:t>
            </a:r>
            <a:endParaRPr lang="en-US" sz="1100" dirty="0"/>
          </a:p>
          <a:p>
            <a:pPr indent="0" marL="0">
              <a:buNone/>
            </a:pPr>
            <a:r>
              <a:rPr lang="en-US" sz="1000" dirty="0">
                <a:solidFill>
                  <a:srgbClr val="1A2440"/>
                </a:solidFill>
                <a:latin typeface="Source Sans 3" pitchFamily="34" charset="0"/>
                <a:ea typeface="Source Sans 3" pitchFamily="34" charset="-122"/>
                <a:cs typeface="Source Sans 3" pitchFamily="34" charset="-120"/>
              </a:rPr>
              <a:t>Quercetin: 900mg</a:t>
            </a:r>
            <a:endParaRPr lang="en-US" sz="1100" dirty="0"/>
          </a:p>
          <a:p>
            <a:pPr indent="0" marL="0">
              <a:buNone/>
            </a:pPr>
            <a:r>
              <a:rPr lang="en-US" sz="1000" dirty="0">
                <a:solidFill>
                  <a:srgbClr val="1A2440"/>
                </a:solidFill>
                <a:latin typeface="Source Sans 3" pitchFamily="34" charset="0"/>
                <a:ea typeface="Source Sans 3" pitchFamily="34" charset="-122"/>
                <a:cs typeface="Source Sans 3" pitchFamily="34" charset="-120"/>
              </a:rPr>
              <a:t>Fisetin: 500mg</a:t>
            </a:r>
            <a:endParaRPr lang="en-US" sz="1100" dirty="0"/>
          </a:p>
        </p:txBody>
      </p:sp>
      <p:sp>
        <p:nvSpPr>
          <p:cNvPr id="5" name="Shape 3"/>
          <p:cNvSpPr/>
          <p:nvPr/>
        </p:nvSpPr>
        <p:spPr>
          <a:xfrm>
            <a:off x="4754880" y="731520"/>
            <a:ext cx="4114800" cy="164592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6" name="Text 4"/>
          <p:cNvSpPr/>
          <p:nvPr/>
        </p:nvSpPr>
        <p:spPr>
          <a:xfrm>
            <a:off x="4937760" y="822960"/>
            <a:ext cx="3749040" cy="1463040"/>
          </a:xfrm>
          <a:prstGeom prst="rect">
            <a:avLst/>
          </a:prstGeom>
          <a:noFill/>
          <a:ln/>
        </p:spPr>
        <p:txBody>
          <a:bodyPr wrap="square" rtlCol="0" anchor="t"/>
          <a:lstStyle/>
          <a:p>
            <a:pPr indent="0" marL="0">
              <a:buNone/>
            </a:pPr>
            <a:r>
              <a:rPr lang="en-US" sz="1100" b="1" dirty="0">
                <a:solidFill>
                  <a:srgbClr val="4A3080"/>
                </a:solidFill>
                <a:latin typeface="Source Sans 3" pitchFamily="34" charset="0"/>
                <a:ea typeface="Source Sans 3" pitchFamily="34" charset="-122"/>
                <a:cs typeface="Source Sans 3" pitchFamily="34" charset="-120"/>
              </a:rPr>
              <a:t>NAD+ &amp; GlyNAC</a:t>
            </a:r>
            <a:endParaRPr lang="en-US" sz="1100" dirty="0"/>
          </a:p>
          <a:p>
            <a:pPr indent="0" marL="0">
              <a:buNone/>
            </a:pPr>
            <a:r>
              <a:rPr lang="en-US" sz="1000" dirty="0">
                <a:solidFill>
                  <a:srgbClr val="1A2440"/>
                </a:solidFill>
                <a:latin typeface="Source Sans 3" pitchFamily="34" charset="0"/>
                <a:ea typeface="Source Sans 3" pitchFamily="34" charset="-122"/>
                <a:cs typeface="Source Sans 3" pitchFamily="34" charset="-120"/>
              </a:rPr>
              <a:t>NMN: 500mg — daily</a:t>
            </a:r>
            <a:endParaRPr lang="en-US" sz="1100" dirty="0"/>
          </a:p>
          <a:p>
            <a:pPr indent="0" marL="0">
              <a:buNone/>
            </a:pPr>
            <a:endParaRPr lang="en-US" sz="1100" dirty="0"/>
          </a:p>
          <a:p>
            <a:pPr indent="0" marL="0">
              <a:buNone/>
            </a:pPr>
            <a:r>
              <a:rPr lang="en-US" sz="1000" b="1" dirty="0">
                <a:solidFill>
                  <a:srgbClr val="1A2440"/>
                </a:solidFill>
                <a:latin typeface="Source Sans 3" pitchFamily="34" charset="0"/>
                <a:ea typeface="Source Sans 3" pitchFamily="34" charset="-122"/>
                <a:cs typeface="Source Sans 3" pitchFamily="34" charset="-120"/>
              </a:rPr>
              <a:t>GlyNAC Protocol:</a:t>
            </a:r>
            <a:endParaRPr lang="en-US" sz="1100" dirty="0"/>
          </a:p>
          <a:p>
            <a:pPr indent="0" marL="0">
              <a:buNone/>
            </a:pPr>
            <a:r>
              <a:rPr lang="en-US" sz="1000" dirty="0">
                <a:solidFill>
                  <a:srgbClr val="1A2440"/>
                </a:solidFill>
                <a:latin typeface="Source Sans 3" pitchFamily="34" charset="0"/>
                <a:ea typeface="Source Sans 3" pitchFamily="34" charset="-122"/>
                <a:cs typeface="Source Sans 3" pitchFamily="34" charset="-120"/>
              </a:rPr>
              <a:t>Glycine: 3g</a:t>
            </a:r>
            <a:endParaRPr lang="en-US" sz="1100" dirty="0"/>
          </a:p>
          <a:p>
            <a:pPr indent="0" marL="0">
              <a:buNone/>
            </a:pPr>
            <a:r>
              <a:rPr lang="en-US" sz="1000" dirty="0">
                <a:solidFill>
                  <a:srgbClr val="1A2440"/>
                </a:solidFill>
                <a:latin typeface="Source Sans 3" pitchFamily="34" charset="0"/>
                <a:ea typeface="Source Sans 3" pitchFamily="34" charset="-122"/>
                <a:cs typeface="Source Sans 3" pitchFamily="34" charset="-120"/>
              </a:rPr>
              <a:t>NAC: 1200mg</a:t>
            </a:r>
            <a:endParaRPr lang="en-US" sz="11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Frequency: midday</a:t>
            </a:r>
            <a:endParaRPr lang="en-US" sz="1100" dirty="0"/>
          </a:p>
        </p:txBody>
      </p:sp>
      <p:sp>
        <p:nvSpPr>
          <p:cNvPr id="7" name="Shape 5"/>
          <p:cNvSpPr/>
          <p:nvPr/>
        </p:nvSpPr>
        <p:spPr>
          <a:xfrm>
            <a:off x="274320" y="2560320"/>
            <a:ext cx="8595360" cy="128016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8" name="Text 6"/>
          <p:cNvSpPr/>
          <p:nvPr/>
        </p:nvSpPr>
        <p:spPr>
          <a:xfrm>
            <a:off x="457200" y="2606040"/>
            <a:ext cx="8229600" cy="1188720"/>
          </a:xfrm>
          <a:prstGeom prst="rect">
            <a:avLst/>
          </a:prstGeom>
          <a:noFill/>
          <a:ln/>
        </p:spPr>
        <p:txBody>
          <a:bodyPr wrap="square" rtlCol="0" anchor="t"/>
          <a:lstStyle/>
          <a:p>
            <a:pPr indent="0" marL="0">
              <a:buNone/>
            </a:pPr>
            <a:r>
              <a:rPr lang="en-US" sz="1100" b="1" dirty="0">
                <a:solidFill>
                  <a:srgbClr val="4A3080"/>
                </a:solidFill>
                <a:latin typeface="Source Sans 3" pitchFamily="34" charset="0"/>
                <a:ea typeface="Source Sans 3" pitchFamily="34" charset="-122"/>
                <a:cs typeface="Source Sans 3" pitchFamily="34" charset="-120"/>
              </a:rPr>
              <a:t>Mitochondrial Support Stack</a:t>
            </a:r>
            <a:endParaRPr lang="en-US" sz="1100" dirty="0"/>
          </a:p>
          <a:p>
            <a:pPr indent="0" marL="0">
              <a:buNone/>
            </a:pPr>
            <a:r>
              <a:rPr lang="en-US" sz="900" dirty="0">
                <a:solidFill>
                  <a:srgbClr val="1A2440"/>
                </a:solidFill>
                <a:latin typeface="Source Sans 3" pitchFamily="34" charset="0"/>
                <a:ea typeface="Source Sans 3" pitchFamily="34" charset="-122"/>
                <a:cs typeface="Source Sans 3" pitchFamily="34" charset="-120"/>
              </a:rPr>
              <a:t>CoQ10 (ubiquinol): 100mg — ATP and mitochondrial bioenergetics</a:t>
            </a:r>
            <a:endParaRPr lang="en-US" sz="1100" dirty="0"/>
          </a:p>
          <a:p>
            <a:pPr indent="0" marL="0">
              <a:buNone/>
            </a:pPr>
            <a:r>
              <a:rPr lang="en-US" sz="900" dirty="0">
                <a:solidFill>
                  <a:srgbClr val="1A2440"/>
                </a:solidFill>
                <a:latin typeface="Source Sans 3" pitchFamily="34" charset="0"/>
                <a:ea typeface="Source Sans 3" pitchFamily="34" charset="-122"/>
                <a:cs typeface="Source Sans 3" pitchFamily="34" charset="-120"/>
              </a:rPr>
              <a:t>PQQ: 20mg — Mitochondrial biogenesis</a:t>
            </a:r>
            <a:endParaRPr lang="en-US" sz="1100" dirty="0"/>
          </a:p>
          <a:p>
            <a:pPr indent="0" marL="0">
              <a:buNone/>
            </a:pPr>
            <a:r>
              <a:rPr lang="en-US" sz="900" dirty="0">
                <a:solidFill>
                  <a:srgbClr val="1A2440"/>
                </a:solidFill>
                <a:latin typeface="Source Sans 3" pitchFamily="34" charset="0"/>
                <a:ea typeface="Source Sans 3" pitchFamily="34" charset="-122"/>
                <a:cs typeface="Source Sans 3" pitchFamily="34" charset="-120"/>
              </a:rPr>
              <a:t>D-Ribose: 3g — Cellular energy, cardiac support</a:t>
            </a:r>
            <a:endParaRPr lang="en-US" sz="1100" dirty="0"/>
          </a:p>
          <a:p>
            <a:pPr indent="0" marL="0">
              <a:buNone/>
            </a:pPr>
            <a:r>
              <a:rPr lang="en-US" sz="900" dirty="0">
                <a:solidFill>
                  <a:srgbClr val="1A2440"/>
                </a:solidFill>
                <a:latin typeface="Source Sans 3" pitchFamily="34" charset="0"/>
                <a:ea typeface="Source Sans 3" pitchFamily="34" charset="-122"/>
                <a:cs typeface="Source Sans 3" pitchFamily="34" charset="-120"/>
              </a:rPr>
              <a:t>L-carnitine: 500mg — FAO and mitochondrial transport</a:t>
            </a:r>
            <a:endParaRPr lang="en-US" sz="1100" dirty="0"/>
          </a:p>
        </p:txBody>
      </p:sp>
      <p:sp>
        <p:nvSpPr>
          <p:cNvPr id="9" name="Shape 7"/>
          <p:cNvSpPr/>
          <p:nvPr/>
        </p:nvSpPr>
        <p:spPr>
          <a:xfrm>
            <a:off x="274320" y="4023360"/>
            <a:ext cx="8595360" cy="82296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10" name="Text 8"/>
          <p:cNvSpPr/>
          <p:nvPr/>
        </p:nvSpPr>
        <p:spPr>
          <a:xfrm>
            <a:off x="457200" y="4069080"/>
            <a:ext cx="8229600" cy="731520"/>
          </a:xfrm>
          <a:prstGeom prst="rect">
            <a:avLst/>
          </a:prstGeom>
          <a:noFill/>
          <a:ln/>
        </p:spPr>
        <p:txBody>
          <a:bodyPr wrap="square" rtlCol="0" anchor="t"/>
          <a:lstStyle/>
          <a:p>
            <a:pPr indent="0" marL="0">
              <a:buNone/>
            </a:pPr>
            <a:r>
              <a:rPr lang="en-US" sz="1100" b="1" dirty="0">
                <a:solidFill>
                  <a:srgbClr val="4A3080"/>
                </a:solidFill>
                <a:latin typeface="Source Sans 3" pitchFamily="34" charset="0"/>
                <a:ea typeface="Source Sans 3" pitchFamily="34" charset="-122"/>
                <a:cs typeface="Source Sans 3" pitchFamily="34" charset="-120"/>
              </a:rPr>
              <a:t>Methylation Support: </a:t>
            </a:r>
            <a:pPr indent="0" marL="0">
              <a:buNone/>
            </a:pPr>
            <a:r>
              <a:rPr lang="en-US" sz="1000" dirty="0">
                <a:solidFill>
                  <a:srgbClr val="1A2440"/>
                </a:solidFill>
                <a:latin typeface="Source Sans 3" pitchFamily="34" charset="0"/>
                <a:ea typeface="Source Sans 3" pitchFamily="34" charset="-122"/>
                <a:cs typeface="Source Sans 3" pitchFamily="34" charset="-120"/>
              </a:rPr>
              <a:t>Methylated B-complex per label</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8EDF5"/>
        </a:solidFill>
      </p:bgPr>
    </p:bg>
    <p:spTree>
      <p:nvGrpSpPr>
        <p:cNvPr id="1" name=""/>
        <p:cNvGrpSpPr/>
        <p:nvPr/>
      </p:nvGrpSpPr>
      <p:grpSpPr>
        <a:xfrm>
          <a:off x="0" y="0"/>
          <a:ext cx="0" cy="0"/>
          <a:chOff x="0" y="0"/>
          <a:chExt cx="0" cy="0"/>
        </a:xfrm>
      </p:grpSpPr>
      <p:sp>
        <p:nvSpPr>
          <p:cNvPr id="2" name="Text 0"/>
          <p:cNvSpPr/>
          <p:nvPr/>
        </p:nvSpPr>
        <p:spPr>
          <a:xfrm>
            <a:off x="457200" y="182880"/>
            <a:ext cx="8229600" cy="457200"/>
          </a:xfrm>
          <a:prstGeom prst="rect">
            <a:avLst/>
          </a:prstGeom>
          <a:noFill/>
          <a:ln/>
        </p:spPr>
        <p:txBody>
          <a:bodyPr wrap="square" rtlCol="0" anchor="ctr"/>
          <a:lstStyle/>
          <a:p>
            <a:pPr indent="0" marL="0">
              <a:buNone/>
            </a:pPr>
            <a:r>
              <a:rPr lang="en-US" sz="2200" b="1" dirty="0">
                <a:solidFill>
                  <a:srgbClr val="1A2440"/>
                </a:solidFill>
                <a:latin typeface="Playfair Display" pitchFamily="34" charset="0"/>
                <a:ea typeface="Playfair Display" pitchFamily="34" charset="-122"/>
                <a:cs typeface="Playfair Display" pitchFamily="34" charset="-120"/>
              </a:rPr>
              <a:t>Liposomal Supplements</a:t>
            </a:r>
            <a:endParaRPr lang="en-US" sz="2200" dirty="0"/>
          </a:p>
        </p:txBody>
      </p:sp>
      <p:sp>
        <p:nvSpPr>
          <p:cNvPr id="3" name="Shape 1"/>
          <p:cNvSpPr/>
          <p:nvPr/>
        </p:nvSpPr>
        <p:spPr>
          <a:xfrm>
            <a:off x="457200" y="731520"/>
            <a:ext cx="8229600" cy="411480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4" name="Text 2"/>
          <p:cNvSpPr/>
          <p:nvPr/>
        </p:nvSpPr>
        <p:spPr>
          <a:xfrm>
            <a:off x="640080" y="822960"/>
            <a:ext cx="7863840" cy="3931920"/>
          </a:xfrm>
          <a:prstGeom prst="rect">
            <a:avLst/>
          </a:prstGeom>
          <a:noFill/>
          <a:ln/>
        </p:spPr>
        <p:txBody>
          <a:bodyPr wrap="square" rtlCol="0" anchor="t"/>
          <a:lstStyle/>
          <a:p>
            <a:pPr indent="0" marL="0">
              <a:buNone/>
            </a:pPr>
            <a:r>
              <a:rPr lang="en-US" sz="1100" b="1" dirty="0">
                <a:solidFill>
                  <a:srgbClr val="1A2440"/>
                </a:solidFill>
                <a:latin typeface="Source Sans 3" pitchFamily="34" charset="0"/>
                <a:ea typeface="Source Sans 3" pitchFamily="34" charset="-122"/>
                <a:cs typeface="Source Sans 3" pitchFamily="34" charset="-120"/>
              </a:rPr>
              <a:t>Liposomal Glutathione</a:t>
            </a:r>
            <a:pPr indent="0" marL="0">
              <a:buNone/>
            </a:pPr>
            <a:r>
              <a:rPr lang="en-US" sz="1000" dirty="0">
                <a:solidFill>
                  <a:srgbClr val="1A2440"/>
                </a:solidFill>
                <a:latin typeface="Source Sans 3" pitchFamily="34" charset="0"/>
                <a:ea typeface="Source Sans 3" pitchFamily="34" charset="-122"/>
                <a:cs typeface="Source Sans 3" pitchFamily="34" charset="-120"/>
              </a:rPr>
              <a:t> — 1 tbsp (midday)</a:t>
            </a:r>
            <a:endParaRPr lang="en-US" sz="11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   Purpose: Antioxidant, detoxification</a:t>
            </a:r>
            <a:endParaRPr lang="en-US" sz="1100" dirty="0"/>
          </a:p>
          <a:p>
            <a:pPr indent="0" marL="0">
              <a:buNone/>
            </a:pPr>
            <a:r>
              <a:rPr lang="en-US" sz="1100" b="1" dirty="0">
                <a:solidFill>
                  <a:srgbClr val="1A2440"/>
                </a:solidFill>
                <a:latin typeface="Source Sans 3" pitchFamily="34" charset="0"/>
                <a:ea typeface="Source Sans 3" pitchFamily="34" charset="-122"/>
                <a:cs typeface="Source Sans 3" pitchFamily="34" charset="-120"/>
              </a:rPr>
              <a:t>Liposomal Curcumin+6</a:t>
            </a:r>
            <a:pPr indent="0" marL="0">
              <a:buNone/>
            </a:pPr>
            <a:r>
              <a:rPr lang="en-US" sz="1000" dirty="0">
                <a:solidFill>
                  <a:srgbClr val="1A2440"/>
                </a:solidFill>
                <a:latin typeface="Source Sans 3" pitchFamily="34" charset="0"/>
                <a:ea typeface="Source Sans 3" pitchFamily="34" charset="-122"/>
                <a:cs typeface="Source Sans 3" pitchFamily="34" charset="-120"/>
              </a:rPr>
              <a:t> — 1 tbsp (midday)</a:t>
            </a:r>
            <a:endParaRPr lang="en-US" sz="11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   Purpose: Anti-inflammatory, anti-cancer</a:t>
            </a:r>
            <a:endParaRPr lang="en-US" sz="1100" dirty="0"/>
          </a:p>
          <a:p>
            <a:pPr indent="0" marL="0">
              <a:buNone/>
            </a:pPr>
            <a:r>
              <a:rPr lang="en-US" sz="1100" b="1" dirty="0">
                <a:solidFill>
                  <a:srgbClr val="1A2440"/>
                </a:solidFill>
                <a:latin typeface="Source Sans 3" pitchFamily="34" charset="0"/>
                <a:ea typeface="Source Sans 3" pitchFamily="34" charset="-122"/>
                <a:cs typeface="Source Sans 3" pitchFamily="34" charset="-120"/>
              </a:rPr>
              <a:t>Liposomal Vitamin D + K</a:t>
            </a:r>
            <a:pPr indent="0" marL="0">
              <a:buNone/>
            </a:pPr>
            <a:r>
              <a:rPr lang="en-US" sz="1000" dirty="0">
                <a:solidFill>
                  <a:srgbClr val="1A2440"/>
                </a:solidFill>
                <a:latin typeface="Source Sans 3" pitchFamily="34" charset="0"/>
                <a:ea typeface="Source Sans 3" pitchFamily="34" charset="-122"/>
                <a:cs typeface="Source Sans 3" pitchFamily="34" charset="-120"/>
              </a:rPr>
              <a:t> — 1 tbsp (morning)</a:t>
            </a:r>
            <a:endParaRPr lang="en-US" sz="11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   Purpose: Immune and bone support</a:t>
            </a:r>
            <a:endParaRPr lang="en-US" sz="1100" dirty="0"/>
          </a:p>
          <a:p>
            <a:pPr indent="0" marL="0">
              <a:buNone/>
            </a:pPr>
            <a:r>
              <a:rPr lang="en-US" sz="1100" b="1" dirty="0">
                <a:solidFill>
                  <a:srgbClr val="1A2440"/>
                </a:solidFill>
                <a:latin typeface="Source Sans 3" pitchFamily="34" charset="0"/>
                <a:ea typeface="Source Sans 3" pitchFamily="34" charset="-122"/>
                <a:cs typeface="Source Sans 3" pitchFamily="34" charset="-120"/>
              </a:rPr>
              <a:t>Liposomal Selenium/Magnesium/Zinc</a:t>
            </a:r>
            <a:pPr indent="0" marL="0">
              <a:buNone/>
            </a:pPr>
            <a:r>
              <a:rPr lang="en-US" sz="1000" dirty="0">
                <a:solidFill>
                  <a:srgbClr val="1A2440"/>
                </a:solidFill>
                <a:latin typeface="Source Sans 3" pitchFamily="34" charset="0"/>
                <a:ea typeface="Source Sans 3" pitchFamily="34" charset="-122"/>
                <a:cs typeface="Source Sans 3" pitchFamily="34" charset="-120"/>
              </a:rPr>
              <a:t> — 1 tbsp (morning)</a:t>
            </a:r>
            <a:endParaRPr lang="en-US" sz="11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   Purpose: Thyroid/cofactor support</a:t>
            </a:r>
            <a:endParaRPr lang="en-US" sz="1100" dirty="0"/>
          </a:p>
          <a:p>
            <a:pPr indent="0" marL="0">
              <a:buNone/>
            </a:pPr>
            <a:r>
              <a:rPr lang="en-US" sz="1100" b="1" dirty="0">
                <a:solidFill>
                  <a:srgbClr val="1A2440"/>
                </a:solidFill>
                <a:latin typeface="Source Sans 3" pitchFamily="34" charset="0"/>
                <a:ea typeface="Source Sans 3" pitchFamily="34" charset="-122"/>
                <a:cs typeface="Source Sans 3" pitchFamily="34" charset="-120"/>
              </a:rPr>
              <a:t>Astaxanthin w/ Vitamin C</a:t>
            </a:r>
            <a:pPr indent="0" marL="0">
              <a:buNone/>
            </a:pPr>
            <a:r>
              <a:rPr lang="en-US" sz="1000" dirty="0">
                <a:solidFill>
                  <a:srgbClr val="1A2440"/>
                </a:solidFill>
                <a:latin typeface="Source Sans 3" pitchFamily="34" charset="0"/>
                <a:ea typeface="Source Sans 3" pitchFamily="34" charset="-122"/>
                <a:cs typeface="Source Sans 3" pitchFamily="34" charset="-120"/>
              </a:rPr>
              <a:t> — 1 tbsp (morning)</a:t>
            </a:r>
            <a:endParaRPr lang="en-US" sz="11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   Purpose: Antioxidant, mitochondrial health</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8EDF5"/>
        </a:solidFill>
      </p:bgPr>
    </p:bg>
    <p:spTree>
      <p:nvGrpSpPr>
        <p:cNvPr id="1" name=""/>
        <p:cNvGrpSpPr/>
        <p:nvPr/>
      </p:nvGrpSpPr>
      <p:grpSpPr>
        <a:xfrm>
          <a:off x="0" y="0"/>
          <a:ext cx="0" cy="0"/>
          <a:chOff x="0" y="0"/>
          <a:chExt cx="0" cy="0"/>
        </a:xfrm>
      </p:grpSpPr>
      <p:sp>
        <p:nvSpPr>
          <p:cNvPr id="2" name="Text 0"/>
          <p:cNvSpPr/>
          <p:nvPr/>
        </p:nvSpPr>
        <p:spPr>
          <a:xfrm>
            <a:off x="457200" y="182880"/>
            <a:ext cx="8229600" cy="457200"/>
          </a:xfrm>
          <a:prstGeom prst="rect">
            <a:avLst/>
          </a:prstGeom>
          <a:noFill/>
          <a:ln/>
        </p:spPr>
        <p:txBody>
          <a:bodyPr wrap="square" rtlCol="0" anchor="ctr"/>
          <a:lstStyle/>
          <a:p>
            <a:pPr indent="0" marL="0">
              <a:buNone/>
            </a:pPr>
            <a:r>
              <a:rPr lang="en-US" sz="2200" b="1" dirty="0">
                <a:solidFill>
                  <a:srgbClr val="1A2440"/>
                </a:solidFill>
                <a:latin typeface="Playfair Display" pitchFamily="34" charset="0"/>
                <a:ea typeface="Playfair Display" pitchFamily="34" charset="-122"/>
                <a:cs typeface="Playfair Display" pitchFamily="34" charset="-120"/>
              </a:rPr>
              <a:t>Nebulization Protocols</a:t>
            </a:r>
            <a:endParaRPr lang="en-US" sz="2200" dirty="0"/>
          </a:p>
        </p:txBody>
      </p:sp>
      <p:sp>
        <p:nvSpPr>
          <p:cNvPr id="3" name="Shape 1"/>
          <p:cNvSpPr/>
          <p:nvPr/>
        </p:nvSpPr>
        <p:spPr>
          <a:xfrm>
            <a:off x="457200" y="731520"/>
            <a:ext cx="8229600" cy="411480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4" name="Text 2"/>
          <p:cNvSpPr/>
          <p:nvPr/>
        </p:nvSpPr>
        <p:spPr>
          <a:xfrm>
            <a:off x="640080" y="822960"/>
            <a:ext cx="7863840" cy="3931920"/>
          </a:xfrm>
          <a:prstGeom prst="rect">
            <a:avLst/>
          </a:prstGeom>
          <a:noFill/>
          <a:ln/>
        </p:spPr>
        <p:txBody>
          <a:bodyPr wrap="square" rtlCol="0" anchor="t"/>
          <a:lstStyle/>
          <a:p>
            <a:pPr indent="0" marL="0">
              <a:buNone/>
            </a:pPr>
            <a:r>
              <a:rPr lang="en-US" sz="1100" b="1" dirty="0">
                <a:solidFill>
                  <a:srgbClr val="1A2440"/>
                </a:solidFill>
                <a:latin typeface="Source Sans 3" pitchFamily="34" charset="0"/>
                <a:ea typeface="Source Sans 3" pitchFamily="34" charset="-122"/>
                <a:cs typeface="Source Sans 3" pitchFamily="34" charset="-120"/>
              </a:rPr>
              <a:t>Nebulized Glutathione</a:t>
            </a:r>
            <a:endParaRPr lang="en-US" sz="1100" dirty="0"/>
          </a:p>
          <a:p>
            <a:pPr indent="0" marL="0">
              <a:buNone/>
            </a:pPr>
            <a:r>
              <a:rPr lang="en-US" sz="1000" dirty="0">
                <a:solidFill>
                  <a:srgbClr val="1A2440"/>
                </a:solidFill>
                <a:latin typeface="Source Sans 3" pitchFamily="34" charset="0"/>
                <a:ea typeface="Source Sans 3" pitchFamily="34" charset="-122"/>
                <a:cs typeface="Source Sans 3" pitchFamily="34" charset="-120"/>
              </a:rPr>
              <a:t>Solution: 200mg in 3mL saline | Dose: 200mg</a:t>
            </a:r>
            <a:endParaRPr lang="en-US" sz="1100" dirty="0"/>
          </a:p>
          <a:p>
            <a:pPr indent="0" marL="0">
              <a:buNone/>
            </a:pPr>
            <a:r>
              <a:rPr lang="en-US" sz="1000" dirty="0">
                <a:solidFill>
                  <a:srgbClr val="1A2440"/>
                </a:solidFill>
                <a:latin typeface="Source Sans 3" pitchFamily="34" charset="0"/>
                <a:ea typeface="Source Sans 3" pitchFamily="34" charset="-122"/>
                <a:cs typeface="Source Sans 3" pitchFamily="34" charset="-120"/>
              </a:rPr>
              <a:t>Frequency: 3x weekly | Duration: 10-15 minutes</a:t>
            </a:r>
            <a:endParaRPr lang="en-US" sz="11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Purpose: Mycotoxin clearance from respiratory system</a:t>
            </a:r>
            <a:endParaRPr lang="en-US" sz="1100" dirty="0"/>
          </a:p>
          <a:p>
            <a:pPr indent="0" marL="0">
              <a:buNone/>
            </a:pPr>
            <a:endParaRPr lang="en-US" sz="1100" dirty="0"/>
          </a:p>
          <a:p>
            <a:pPr indent="0" marL="0">
              <a:buNone/>
            </a:pPr>
            <a:r>
              <a:rPr lang="en-US" sz="1100" b="1" dirty="0">
                <a:solidFill>
                  <a:srgbClr val="1A2440"/>
                </a:solidFill>
                <a:latin typeface="Source Sans 3" pitchFamily="34" charset="0"/>
                <a:ea typeface="Source Sans 3" pitchFamily="34" charset="-122"/>
                <a:cs typeface="Source Sans 3" pitchFamily="34" charset="-120"/>
              </a:rPr>
              <a:t>Nebulized Hydrogen Peroxide</a:t>
            </a:r>
            <a:endParaRPr lang="en-US" sz="1100" dirty="0"/>
          </a:p>
          <a:p>
            <a:pPr indent="0" marL="0">
              <a:buNone/>
            </a:pPr>
            <a:r>
              <a:rPr lang="en-US" sz="1000" dirty="0">
                <a:solidFill>
                  <a:srgbClr val="1A2440"/>
                </a:solidFill>
                <a:latin typeface="Source Sans 3" pitchFamily="34" charset="0"/>
                <a:ea typeface="Source Sans 3" pitchFamily="34" charset="-122"/>
                <a:cs typeface="Source Sans 3" pitchFamily="34" charset="-120"/>
              </a:rPr>
              <a:t>Solution: 0.04% food-grade H2O2 in saline | Dose: 3mL</a:t>
            </a:r>
            <a:endParaRPr lang="en-US" sz="1100" dirty="0"/>
          </a:p>
          <a:p>
            <a:pPr indent="0" marL="0">
              <a:buNone/>
            </a:pPr>
            <a:r>
              <a:rPr lang="en-US" sz="1000" dirty="0">
                <a:solidFill>
                  <a:srgbClr val="1A2440"/>
                </a:solidFill>
                <a:latin typeface="Source Sans 3" pitchFamily="34" charset="0"/>
                <a:ea typeface="Source Sans 3" pitchFamily="34" charset="-122"/>
                <a:cs typeface="Source Sans 3" pitchFamily="34" charset="-120"/>
              </a:rPr>
              <a:t>Frequency: 2x weekly | Duration: 10 minutes</a:t>
            </a:r>
            <a:endParaRPr lang="en-US" sz="11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Purpose: Antimicrobial respiratory support</a:t>
            </a:r>
            <a:endParaRPr lang="en-US" sz="1100" dirty="0"/>
          </a:p>
          <a:p>
            <a:pPr indent="0" marL="0">
              <a:buNone/>
            </a:pP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8EDF5"/>
        </a:solidFill>
      </p:bgPr>
    </p:bg>
    <p:spTree>
      <p:nvGrpSpPr>
        <p:cNvPr id="1" name=""/>
        <p:cNvGrpSpPr/>
        <p:nvPr/>
      </p:nvGrpSpPr>
      <p:grpSpPr>
        <a:xfrm>
          <a:off x="0" y="0"/>
          <a:ext cx="0" cy="0"/>
          <a:chOff x="0" y="0"/>
          <a:chExt cx="0" cy="0"/>
        </a:xfrm>
      </p:grpSpPr>
      <p:sp>
        <p:nvSpPr>
          <p:cNvPr id="2" name="Text 0"/>
          <p:cNvSpPr/>
          <p:nvPr/>
        </p:nvSpPr>
        <p:spPr>
          <a:xfrm>
            <a:off x="457200" y="182880"/>
            <a:ext cx="8229600" cy="457200"/>
          </a:xfrm>
          <a:prstGeom prst="rect">
            <a:avLst/>
          </a:prstGeom>
          <a:noFill/>
          <a:ln/>
        </p:spPr>
        <p:txBody>
          <a:bodyPr wrap="square" rtlCol="0" anchor="ctr"/>
          <a:lstStyle/>
          <a:p>
            <a:pPr indent="0" marL="0">
              <a:buNone/>
            </a:pPr>
            <a:r>
              <a:rPr lang="en-US" sz="2200" b="1" dirty="0">
                <a:solidFill>
                  <a:srgbClr val="1A2440"/>
                </a:solidFill>
                <a:latin typeface="Playfair Display" pitchFamily="34" charset="0"/>
                <a:ea typeface="Playfair Display" pitchFamily="34" charset="-122"/>
                <a:cs typeface="Playfair Display" pitchFamily="34" charset="-120"/>
              </a:rPr>
              <a:t>Topical Protocols</a:t>
            </a:r>
            <a:endParaRPr lang="en-US" sz="2200" dirty="0"/>
          </a:p>
        </p:txBody>
      </p:sp>
      <p:sp>
        <p:nvSpPr>
          <p:cNvPr id="3" name="Shape 1"/>
          <p:cNvSpPr/>
          <p:nvPr/>
        </p:nvSpPr>
        <p:spPr>
          <a:xfrm>
            <a:off x="457200" y="731520"/>
            <a:ext cx="8229600" cy="411480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4" name="Text 2"/>
          <p:cNvSpPr/>
          <p:nvPr/>
        </p:nvSpPr>
        <p:spPr>
          <a:xfrm>
            <a:off x="640080" y="822960"/>
            <a:ext cx="7863840" cy="3931920"/>
          </a:xfrm>
          <a:prstGeom prst="rect">
            <a:avLst/>
          </a:prstGeom>
          <a:noFill/>
          <a:ln/>
        </p:spPr>
        <p:txBody>
          <a:bodyPr wrap="square" rtlCol="0" anchor="t"/>
          <a:lstStyle/>
          <a:p>
            <a:pPr indent="0" marL="0">
              <a:buNone/>
            </a:pPr>
            <a:r>
              <a:rPr lang="en-US" sz="1100" b="1" dirty="0">
                <a:solidFill>
                  <a:srgbClr val="1A2440"/>
                </a:solidFill>
                <a:latin typeface="Source Sans 3" pitchFamily="34" charset="0"/>
                <a:ea typeface="Source Sans 3" pitchFamily="34" charset="-122"/>
                <a:cs typeface="Source Sans 3" pitchFamily="34" charset="-120"/>
              </a:rPr>
              <a:t>DMSO Extended Recovery Cooling Lotion (Lotion)</a:t>
            </a:r>
            <a:endParaRPr lang="en-US" sz="1100" dirty="0"/>
          </a:p>
          <a:p>
            <a:pPr indent="0" marL="0">
              <a:buNone/>
            </a:pPr>
            <a:r>
              <a:rPr lang="en-US" sz="1000" dirty="0">
                <a:solidFill>
                  <a:srgbClr val="1A2440"/>
                </a:solidFill>
                <a:latin typeface="Source Sans 3" pitchFamily="34" charset="0"/>
                <a:ea typeface="Source Sans 3" pitchFamily="34" charset="-122"/>
                <a:cs typeface="Source Sans 3" pitchFamily="34" charset="-120"/>
              </a:rPr>
              <a:t>Application: Apply to pain/inflamed areas after IV sessions or as needed | Frequency: up to 2x daily</a:t>
            </a:r>
            <a:endParaRPr lang="en-US" sz="11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Purpose: Deep tissue anti-inflammatory, lymphatic support</a:t>
            </a:r>
            <a:endParaRPr lang="en-US" sz="1100" dirty="0"/>
          </a:p>
          <a:p>
            <a:pPr indent="0" marL="0">
              <a:buNone/>
            </a:pPr>
            <a:endParaRPr lang="en-US" sz="1100" dirty="0"/>
          </a:p>
          <a:p>
            <a:pPr indent="0" marL="0">
              <a:buNone/>
            </a:pPr>
            <a:r>
              <a:rPr lang="en-US" sz="1100" b="1" dirty="0">
                <a:solidFill>
                  <a:srgbClr val="1A2440"/>
                </a:solidFill>
                <a:latin typeface="Source Sans 3" pitchFamily="34" charset="0"/>
                <a:ea typeface="Source Sans 3" pitchFamily="34" charset="-122"/>
                <a:cs typeface="Source Sans 3" pitchFamily="34" charset="-120"/>
              </a:rPr>
              <a:t>Kaneh Bosem Oil (Oil)</a:t>
            </a:r>
            <a:endParaRPr lang="en-US" sz="1100" dirty="0"/>
          </a:p>
          <a:p>
            <a:pPr indent="0" marL="0">
              <a:buNone/>
            </a:pPr>
            <a:r>
              <a:rPr lang="en-US" sz="1000" dirty="0">
                <a:solidFill>
                  <a:srgbClr val="1A2440"/>
                </a:solidFill>
                <a:latin typeface="Source Sans 3" pitchFamily="34" charset="0"/>
                <a:ea typeface="Source Sans 3" pitchFamily="34" charset="-122"/>
                <a:cs typeface="Source Sans 3" pitchFamily="34" charset="-120"/>
              </a:rPr>
              <a:t>Application: Massage into lymph nodes/neck/throat, breast and axillary areas (if affected) | Frequency: 2x daily or as needed</a:t>
            </a:r>
            <a:endParaRPr lang="en-US" sz="11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Purpose: Cannabinoid-rich anti-inflammatory, topical ECS modulation</a:t>
            </a:r>
            <a:endParaRPr lang="en-US" sz="1100" dirty="0"/>
          </a:p>
          <a:p>
            <a:pPr indent="0" marL="0">
              <a:buNone/>
            </a:pP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8EDF5"/>
        </a:solidFill>
      </p:bgPr>
    </p:bg>
    <p:spTree>
      <p:nvGrpSpPr>
        <p:cNvPr id="1" name=""/>
        <p:cNvGrpSpPr/>
        <p:nvPr/>
      </p:nvGrpSpPr>
      <p:grpSpPr>
        <a:xfrm>
          <a:off x="0" y="0"/>
          <a:ext cx="0" cy="0"/>
          <a:chOff x="0" y="0"/>
          <a:chExt cx="0" cy="0"/>
        </a:xfrm>
      </p:grpSpPr>
      <p:sp>
        <p:nvSpPr>
          <p:cNvPr id="2" name="Text 0"/>
          <p:cNvSpPr/>
          <p:nvPr/>
        </p:nvSpPr>
        <p:spPr>
          <a:xfrm>
            <a:off x="457200" y="182880"/>
            <a:ext cx="8229600" cy="457200"/>
          </a:xfrm>
          <a:prstGeom prst="rect">
            <a:avLst/>
          </a:prstGeom>
          <a:noFill/>
          <a:ln/>
        </p:spPr>
        <p:txBody>
          <a:bodyPr wrap="square" rtlCol="0" anchor="ctr"/>
          <a:lstStyle/>
          <a:p>
            <a:pPr indent="0" marL="0">
              <a:buNone/>
            </a:pPr>
            <a:r>
              <a:rPr lang="en-US" sz="2200" b="1" dirty="0">
                <a:solidFill>
                  <a:srgbClr val="1A2440"/>
                </a:solidFill>
                <a:latin typeface="Playfair Display" pitchFamily="34" charset="0"/>
                <a:ea typeface="Playfair Display" pitchFamily="34" charset="-122"/>
                <a:cs typeface="Playfair Display" pitchFamily="34" charset="-120"/>
              </a:rPr>
              <a:t>Exosome Therapy</a:t>
            </a:r>
            <a:endParaRPr lang="en-US" sz="2200" dirty="0"/>
          </a:p>
        </p:txBody>
      </p:sp>
      <p:sp>
        <p:nvSpPr>
          <p:cNvPr id="3" name="Shape 1"/>
          <p:cNvSpPr/>
          <p:nvPr/>
        </p:nvSpPr>
        <p:spPr>
          <a:xfrm>
            <a:off x="457200" y="731520"/>
            <a:ext cx="8229600" cy="411480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4" name="Text 2"/>
          <p:cNvSpPr/>
          <p:nvPr/>
        </p:nvSpPr>
        <p:spPr>
          <a:xfrm>
            <a:off x="640080" y="822960"/>
            <a:ext cx="7863840" cy="3931920"/>
          </a:xfrm>
          <a:prstGeom prst="rect">
            <a:avLst/>
          </a:prstGeom>
          <a:noFill/>
          <a:ln/>
        </p:spPr>
        <p:txBody>
          <a:bodyPr wrap="square" rtlCol="0" anchor="t"/>
          <a:lstStyle/>
          <a:p>
            <a:pPr indent="0" marL="0">
              <a:buNone/>
            </a:pPr>
            <a:r>
              <a:rPr lang="en-US" sz="1100" b="1" dirty="0">
                <a:solidFill>
                  <a:srgbClr val="1A2440"/>
                </a:solidFill>
                <a:latin typeface="Source Sans 3" pitchFamily="34" charset="0"/>
                <a:ea typeface="Source Sans 3" pitchFamily="34" charset="-122"/>
                <a:cs typeface="Source Sans 3" pitchFamily="34" charset="-120"/>
              </a:rPr>
              <a:t>100 Billion MSC-Derived Exosomes</a:t>
            </a:r>
            <a:endParaRPr lang="en-US" sz="1100" dirty="0"/>
          </a:p>
          <a:p>
            <a:pPr indent="0" marL="0">
              <a:buNone/>
            </a:pPr>
            <a:r>
              <a:rPr lang="en-US" sz="1000" dirty="0">
                <a:solidFill>
                  <a:srgbClr val="1A2440"/>
                </a:solidFill>
                <a:latin typeface="Source Sans 3" pitchFamily="34" charset="0"/>
                <a:ea typeface="Source Sans 3" pitchFamily="34" charset="-122"/>
                <a:cs typeface="Source Sans 3" pitchFamily="34" charset="-120"/>
              </a:rPr>
              <a:t>Source: MSC | 100 billion/5ml | Route: IV</a:t>
            </a:r>
            <a:endParaRPr lang="en-US" sz="1100" dirty="0"/>
          </a:p>
          <a:p>
            <a:pPr indent="0" marL="0">
              <a:buNone/>
            </a:pPr>
            <a:r>
              <a:rPr lang="en-US" sz="1000" dirty="0">
                <a:solidFill>
                  <a:srgbClr val="1A2440"/>
                </a:solidFill>
                <a:latin typeface="Source Sans 3" pitchFamily="34" charset="0"/>
                <a:ea typeface="Source Sans 3" pitchFamily="34" charset="-122"/>
                <a:cs typeface="Source Sans 3" pitchFamily="34" charset="-120"/>
              </a:rPr>
              <a:t>Frequency: monthly x 3</a:t>
            </a:r>
            <a:endParaRPr lang="en-US" sz="11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Purpose: Tissue/systemic repair, anti-inflammatory, tumor microenvironment regulation</a:t>
            </a:r>
            <a:endParaRPr lang="en-US" sz="1100" dirty="0"/>
          </a:p>
          <a:p>
            <a:pPr indent="0" marL="0">
              <a:buNone/>
            </a:pP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8EDF5"/>
        </a:solidFill>
      </p:bgPr>
    </p:bg>
    <p:spTree>
      <p:nvGrpSpPr>
        <p:cNvPr id="1" name=""/>
        <p:cNvGrpSpPr/>
        <p:nvPr/>
      </p:nvGrpSpPr>
      <p:grpSpPr>
        <a:xfrm>
          <a:off x="0" y="0"/>
          <a:ext cx="0" cy="0"/>
          <a:chOff x="0" y="0"/>
          <a:chExt cx="0" cy="0"/>
        </a:xfrm>
      </p:grpSpPr>
      <p:sp>
        <p:nvSpPr>
          <p:cNvPr id="2" name="Text 0"/>
          <p:cNvSpPr/>
          <p:nvPr/>
        </p:nvSpPr>
        <p:spPr>
          <a:xfrm>
            <a:off x="457200" y="182880"/>
            <a:ext cx="8229600" cy="457200"/>
          </a:xfrm>
          <a:prstGeom prst="rect">
            <a:avLst/>
          </a:prstGeom>
          <a:noFill/>
          <a:ln/>
        </p:spPr>
        <p:txBody>
          <a:bodyPr wrap="square" rtlCol="0" anchor="ctr"/>
          <a:lstStyle/>
          <a:p>
            <a:pPr indent="0" marL="0">
              <a:buNone/>
            </a:pPr>
            <a:r>
              <a:rPr lang="en-US" sz="2200" b="1" dirty="0">
                <a:solidFill>
                  <a:srgbClr val="1A2440"/>
                </a:solidFill>
                <a:latin typeface="Playfair Display" pitchFamily="34" charset="0"/>
                <a:ea typeface="Playfair Display" pitchFamily="34" charset="-122"/>
                <a:cs typeface="Playfair Display" pitchFamily="34" charset="-120"/>
              </a:rPr>
              <a:t>Dietary Protocol</a:t>
            </a:r>
            <a:endParaRPr lang="en-US" sz="2200" dirty="0"/>
          </a:p>
        </p:txBody>
      </p:sp>
      <p:sp>
        <p:nvSpPr>
          <p:cNvPr id="3" name="Shape 1"/>
          <p:cNvSpPr/>
          <p:nvPr/>
        </p:nvSpPr>
        <p:spPr>
          <a:xfrm>
            <a:off x="457200" y="731520"/>
            <a:ext cx="8229600" cy="118872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4" name="Shape 2"/>
          <p:cNvSpPr/>
          <p:nvPr/>
        </p:nvSpPr>
        <p:spPr>
          <a:xfrm>
            <a:off x="457200" y="731520"/>
            <a:ext cx="54864" cy="1188720"/>
          </a:xfrm>
          <a:prstGeom prst="rect">
            <a:avLst/>
          </a:prstGeom>
          <a:solidFill>
            <a:srgbClr val="C62828"/>
          </a:solidFill>
          <a:ln/>
        </p:spPr>
      </p:sp>
      <p:sp>
        <p:nvSpPr>
          <p:cNvPr id="5" name="Text 3"/>
          <p:cNvSpPr/>
          <p:nvPr/>
        </p:nvSpPr>
        <p:spPr>
          <a:xfrm>
            <a:off x="640080" y="777240"/>
            <a:ext cx="7863840" cy="1097280"/>
          </a:xfrm>
          <a:prstGeom prst="rect">
            <a:avLst/>
          </a:prstGeom>
          <a:noFill/>
          <a:ln/>
        </p:spPr>
        <p:txBody>
          <a:bodyPr wrap="square" rtlCol="0" anchor="t"/>
          <a:lstStyle/>
          <a:p>
            <a:pPr indent="0" marL="0">
              <a:buNone/>
            </a:pPr>
            <a:r>
              <a:rPr lang="en-US" sz="1100" b="1" dirty="0">
                <a:solidFill>
                  <a:srgbClr val="1A2440"/>
                </a:solidFill>
                <a:latin typeface="Source Sans 3" pitchFamily="34" charset="0"/>
                <a:ea typeface="Source Sans 3" pitchFamily="34" charset="-122"/>
                <a:cs typeface="Source Sans 3" pitchFamily="34" charset="-120"/>
              </a:rPr>
              <a:t>Elimination (Weeks 1–3) (3 weeks)</a:t>
            </a:r>
            <a:endParaRPr lang="en-US" sz="11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Remove gluten, dairy, soy, corn, nightshades, processed sugars, pro-inflammatory oils</a:t>
            </a:r>
            <a:endParaRPr lang="en-US" sz="1100" dirty="0"/>
          </a:p>
          <a:p>
            <a:pPr indent="0" marL="0">
              <a:buNone/>
            </a:pPr>
            <a:r>
              <a:rPr lang="en-US" sz="900" dirty="0">
                <a:solidFill>
                  <a:srgbClr val="C62828"/>
                </a:solidFill>
                <a:latin typeface="Source Sans 3" pitchFamily="34" charset="0"/>
                <a:ea typeface="Source Sans 3" pitchFamily="34" charset="-122"/>
                <a:cs typeface="Source Sans 3" pitchFamily="34" charset="-120"/>
              </a:rPr>
              <a:t>Eliminate: gluten, dairy, soy, corn, nightshades, processed sugars, industrial oils</a:t>
            </a:r>
            <a:endParaRPr lang="en-US" sz="1100" dirty="0"/>
          </a:p>
          <a:p>
            <a:pPr indent="0" marL="0">
              <a:buNone/>
            </a:pPr>
            <a:r>
              <a:rPr lang="en-US" sz="900" dirty="0">
                <a:solidFill>
                  <a:srgbClr val="2E7D32"/>
                </a:solidFill>
                <a:latin typeface="Source Sans 3" pitchFamily="34" charset="0"/>
                <a:ea typeface="Source Sans 3" pitchFamily="34" charset="-122"/>
                <a:cs typeface="Source Sans 3" pitchFamily="34" charset="-120"/>
              </a:rPr>
              <a:t>Emphasize: organic vegetables, low-glycemic fruit, wild fish, pasture-raised poultry, olive oil</a:t>
            </a:r>
            <a:endParaRPr lang="en-US" sz="1100" dirty="0"/>
          </a:p>
        </p:txBody>
      </p:sp>
      <p:sp>
        <p:nvSpPr>
          <p:cNvPr id="6" name="Shape 4"/>
          <p:cNvSpPr/>
          <p:nvPr/>
        </p:nvSpPr>
        <p:spPr>
          <a:xfrm>
            <a:off x="457200" y="2011680"/>
            <a:ext cx="8229600" cy="118872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7" name="Shape 5"/>
          <p:cNvSpPr/>
          <p:nvPr/>
        </p:nvSpPr>
        <p:spPr>
          <a:xfrm>
            <a:off x="457200" y="2011680"/>
            <a:ext cx="54864" cy="1188720"/>
          </a:xfrm>
          <a:prstGeom prst="rect">
            <a:avLst/>
          </a:prstGeom>
          <a:solidFill>
            <a:srgbClr val="C9A54E"/>
          </a:solidFill>
          <a:ln/>
        </p:spPr>
      </p:sp>
      <p:sp>
        <p:nvSpPr>
          <p:cNvPr id="8" name="Text 6"/>
          <p:cNvSpPr/>
          <p:nvPr/>
        </p:nvSpPr>
        <p:spPr>
          <a:xfrm>
            <a:off x="640080" y="2057400"/>
            <a:ext cx="7863840" cy="1097280"/>
          </a:xfrm>
          <a:prstGeom prst="rect">
            <a:avLst/>
          </a:prstGeom>
          <a:noFill/>
          <a:ln/>
        </p:spPr>
        <p:txBody>
          <a:bodyPr wrap="square" rtlCol="0" anchor="t"/>
          <a:lstStyle/>
          <a:p>
            <a:pPr indent="0" marL="0">
              <a:buNone/>
            </a:pPr>
            <a:r>
              <a:rPr lang="en-US" sz="1100" b="1" dirty="0">
                <a:solidFill>
                  <a:srgbClr val="1A2440"/>
                </a:solidFill>
                <a:latin typeface="Source Sans 3" pitchFamily="34" charset="0"/>
                <a:ea typeface="Source Sans 3" pitchFamily="34" charset="-122"/>
                <a:cs typeface="Source Sans 3" pitchFamily="34" charset="-120"/>
              </a:rPr>
              <a:t>Anti-Inflammatory Oncology (Weeks 4–7) (4 weeks)</a:t>
            </a:r>
            <a:endParaRPr lang="en-US" sz="11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Low glycemic, plant-focused Mediterranean-keto (no ketosis if thyroid symptoms emerge); maximize polyphenols, crucifers, alliums, sea vegetables</a:t>
            </a:r>
            <a:endParaRPr lang="en-US" sz="1100" dirty="0"/>
          </a:p>
          <a:p>
            <a:pPr indent="0" marL="0">
              <a:buNone/>
            </a:pPr>
            <a:r>
              <a:rPr lang="en-US" sz="900" dirty="0">
                <a:solidFill>
                  <a:srgbClr val="C62828"/>
                </a:solidFill>
                <a:latin typeface="Source Sans 3" pitchFamily="34" charset="0"/>
                <a:ea typeface="Source Sans 3" pitchFamily="34" charset="-122"/>
                <a:cs typeface="Source Sans 3" pitchFamily="34" charset="-120"/>
              </a:rPr>
              <a:t>Eliminate: processed sugar, red meat (mostly), alcohol</a:t>
            </a:r>
            <a:endParaRPr lang="en-US" sz="1100" dirty="0"/>
          </a:p>
          <a:p>
            <a:pPr indent="0" marL="0">
              <a:buNone/>
            </a:pPr>
            <a:r>
              <a:rPr lang="en-US" sz="900" dirty="0">
                <a:solidFill>
                  <a:srgbClr val="2E7D32"/>
                </a:solidFill>
                <a:latin typeface="Source Sans 3" pitchFamily="34" charset="0"/>
                <a:ea typeface="Source Sans 3" pitchFamily="34" charset="-122"/>
                <a:cs typeface="Source Sans 3" pitchFamily="34" charset="-120"/>
              </a:rPr>
              <a:t>Emphasize: berries, avocado, leafy greens, cruciferous/allium, fermented foods</a:t>
            </a:r>
            <a:endParaRPr lang="en-US" sz="1100" dirty="0"/>
          </a:p>
        </p:txBody>
      </p:sp>
      <p:sp>
        <p:nvSpPr>
          <p:cNvPr id="9" name="Shape 7"/>
          <p:cNvSpPr/>
          <p:nvPr/>
        </p:nvSpPr>
        <p:spPr>
          <a:xfrm>
            <a:off x="457200" y="3291840"/>
            <a:ext cx="8229600" cy="118872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10" name="Shape 8"/>
          <p:cNvSpPr/>
          <p:nvPr/>
        </p:nvSpPr>
        <p:spPr>
          <a:xfrm>
            <a:off x="457200" y="3291840"/>
            <a:ext cx="54864" cy="1188720"/>
          </a:xfrm>
          <a:prstGeom prst="rect">
            <a:avLst/>
          </a:prstGeom>
          <a:solidFill>
            <a:srgbClr val="2E7D32"/>
          </a:solidFill>
          <a:ln/>
        </p:spPr>
      </p:sp>
      <p:sp>
        <p:nvSpPr>
          <p:cNvPr id="11" name="Text 9"/>
          <p:cNvSpPr/>
          <p:nvPr/>
        </p:nvSpPr>
        <p:spPr>
          <a:xfrm>
            <a:off x="640080" y="3337560"/>
            <a:ext cx="7863840" cy="1097280"/>
          </a:xfrm>
          <a:prstGeom prst="rect">
            <a:avLst/>
          </a:prstGeom>
          <a:noFill/>
          <a:ln/>
        </p:spPr>
        <p:txBody>
          <a:bodyPr wrap="square" rtlCol="0" anchor="t"/>
          <a:lstStyle/>
          <a:p>
            <a:pPr indent="0" marL="0">
              <a:buNone/>
            </a:pPr>
            <a:r>
              <a:rPr lang="en-US" sz="1100" b="1" dirty="0">
                <a:solidFill>
                  <a:srgbClr val="1A2440"/>
                </a:solidFill>
                <a:latin typeface="Source Sans 3" pitchFamily="34" charset="0"/>
                <a:ea typeface="Source Sans 3" pitchFamily="34" charset="-122"/>
                <a:cs typeface="Source Sans 3" pitchFamily="34" charset="-120"/>
              </a:rPr>
              <a:t>Gut &amp; Microbiome Repair (Weeks 8–10) (3 weeks)</a:t>
            </a:r>
            <a:endParaRPr lang="en-US" sz="11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Repopulate beneficial flora, maximize pre/probiotic foods, continue anti-inflammatory focus</a:t>
            </a:r>
            <a:endParaRPr lang="en-US" sz="1100" dirty="0"/>
          </a:p>
          <a:p>
            <a:pPr indent="0" marL="0">
              <a:buNone/>
            </a:pPr>
            <a:r>
              <a:rPr lang="en-US" sz="900" dirty="0">
                <a:solidFill>
                  <a:srgbClr val="2E7D32"/>
                </a:solidFill>
                <a:latin typeface="Source Sans 3" pitchFamily="34" charset="0"/>
                <a:ea typeface="Source Sans 3" pitchFamily="34" charset="-122"/>
                <a:cs typeface="Source Sans 3" pitchFamily="34" charset="-120"/>
              </a:rPr>
              <a:t>Emphasize: fermented vegetables, probiotic/plant fibers, ginger/turmeric, mushrooms</a:t>
            </a:r>
            <a:endParaRPr lang="en-US" sz="1100" dirty="0"/>
          </a:p>
        </p:txBody>
      </p:sp>
      <p:sp>
        <p:nvSpPr>
          <p:cNvPr id="12" name="Shape 10"/>
          <p:cNvSpPr/>
          <p:nvPr/>
        </p:nvSpPr>
        <p:spPr>
          <a:xfrm>
            <a:off x="457200" y="4572000"/>
            <a:ext cx="8229600" cy="118872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13" name="Shape 11"/>
          <p:cNvSpPr/>
          <p:nvPr/>
        </p:nvSpPr>
        <p:spPr>
          <a:xfrm>
            <a:off x="457200" y="4572000"/>
            <a:ext cx="54864" cy="1188720"/>
          </a:xfrm>
          <a:prstGeom prst="rect">
            <a:avLst/>
          </a:prstGeom>
          <a:solidFill>
            <a:srgbClr val="1A2440"/>
          </a:solidFill>
          <a:ln/>
        </p:spPr>
      </p:sp>
      <p:sp>
        <p:nvSpPr>
          <p:cNvPr id="14" name="Text 12"/>
          <p:cNvSpPr/>
          <p:nvPr/>
        </p:nvSpPr>
        <p:spPr>
          <a:xfrm>
            <a:off x="640080" y="4617720"/>
            <a:ext cx="7863840" cy="1097280"/>
          </a:xfrm>
          <a:prstGeom prst="rect">
            <a:avLst/>
          </a:prstGeom>
          <a:noFill/>
          <a:ln/>
        </p:spPr>
        <p:txBody>
          <a:bodyPr wrap="square" rtlCol="0" anchor="t"/>
          <a:lstStyle/>
          <a:p>
            <a:pPr indent="0" marL="0">
              <a:buNone/>
            </a:pPr>
            <a:r>
              <a:rPr lang="en-US" sz="1100" b="1" dirty="0">
                <a:solidFill>
                  <a:srgbClr val="1A2440"/>
                </a:solidFill>
                <a:latin typeface="Source Sans 3" pitchFamily="34" charset="0"/>
                <a:ea typeface="Source Sans 3" pitchFamily="34" charset="-122"/>
                <a:cs typeface="Source Sans 3" pitchFamily="34" charset="-120"/>
              </a:rPr>
              <a:t>Maintenance Adaptive (Weeks 11+) (at least 2 weeks)</a:t>
            </a:r>
            <a:endParaRPr lang="en-US" sz="1100" dirty="0"/>
          </a:p>
          <a:p>
            <a:pPr indent="0" marL="0">
              <a:buNone/>
            </a:pPr>
            <a:r>
              <a:rPr lang="en-US" sz="900" dirty="0">
                <a:solidFill>
                  <a:srgbClr val="5A6B8A"/>
                </a:solidFill>
                <a:latin typeface="Source Sans 3" pitchFamily="34" charset="0"/>
                <a:ea typeface="Source Sans 3" pitchFamily="34" charset="-122"/>
                <a:cs typeface="Source Sans 3" pitchFamily="34" charset="-120"/>
              </a:rPr>
              <a:t>Long-term maintenance: clean whole-food pescatarian-lean/Mediterranean-based; 80/20 rule for psychological sustainability</a:t>
            </a:r>
            <a:endParaRPr lang="en-US" sz="1100" dirty="0"/>
          </a:p>
          <a:p>
            <a:pPr indent="0" marL="0">
              <a:buNone/>
            </a:pPr>
            <a:r>
              <a:rPr lang="en-US" sz="900" dirty="0">
                <a:solidFill>
                  <a:srgbClr val="2E7D32"/>
                </a:solidFill>
                <a:latin typeface="Source Sans 3" pitchFamily="34" charset="0"/>
                <a:ea typeface="Source Sans 3" pitchFamily="34" charset="-122"/>
                <a:cs typeface="Source Sans 3" pitchFamily="34" charset="-120"/>
              </a:rPr>
              <a:t>Emphasize: rotate food variety, reintroduce tolerated foods as guided, flexibility</a:t>
            </a:r>
            <a:endParaRPr lang="en-US" sz="1100" dirty="0"/>
          </a:p>
        </p:txBody>
      </p:sp>
      <p:sp>
        <p:nvSpPr>
          <p:cNvPr id="15" name="Shape 13"/>
          <p:cNvSpPr/>
          <p:nvPr/>
        </p:nvSpPr>
        <p:spPr>
          <a:xfrm>
            <a:off x="457200" y="5852160"/>
            <a:ext cx="8229600" cy="54864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16" name="Text 14"/>
          <p:cNvSpPr/>
          <p:nvPr/>
        </p:nvSpPr>
        <p:spPr>
          <a:xfrm>
            <a:off x="640080" y="5897880"/>
            <a:ext cx="7863840" cy="457200"/>
          </a:xfrm>
          <a:prstGeom prst="rect">
            <a:avLst/>
          </a:prstGeom>
          <a:noFill/>
          <a:ln/>
        </p:spPr>
        <p:txBody>
          <a:bodyPr wrap="square" rtlCol="0" anchor="ctr"/>
          <a:lstStyle/>
          <a:p>
            <a:pPr indent="0" marL="0">
              <a:buNone/>
            </a:pPr>
            <a:r>
              <a:rPr lang="en-US" sz="1000" b="1" dirty="0">
                <a:solidFill>
                  <a:srgbClr val="1A2440"/>
                </a:solidFill>
                <a:latin typeface="Source Sans 3" pitchFamily="34" charset="0"/>
                <a:ea typeface="Source Sans 3" pitchFamily="34" charset="-122"/>
                <a:cs typeface="Source Sans 3" pitchFamily="34" charset="-120"/>
              </a:rPr>
              <a:t>Intermittent Fasting: 14:10, increasing to 16:8 as tolerated, at least 5 days/week </a:t>
            </a:r>
            <a:pPr indent="0" marL="0">
              <a:buNone/>
            </a:pPr>
            <a:r>
              <a:rPr lang="en-US" sz="900" dirty="0">
                <a:solidFill>
                  <a:srgbClr val="1A2440"/>
                </a:solidFill>
                <a:latin typeface="Source Sans 3" pitchFamily="34" charset="0"/>
                <a:ea typeface="Source Sans 3" pitchFamily="34" charset="-122"/>
                <a:cs typeface="Source Sans 3" pitchFamily="34" charset="-120"/>
              </a:rPr>
              <a:t>— First meal at 9am, last by 7pm (Autophagy, metabolic reset without excess catabolic stress on thyroid/cancer member)</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8EDF5"/>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rgbClr val="1A2440"/>
                </a:solidFill>
                <a:latin typeface="Playfair Display" pitchFamily="34" charset="0"/>
                <a:ea typeface="Playfair Display" pitchFamily="34" charset="-122"/>
                <a:cs typeface="Playfair Display" pitchFamily="34" charset="-120"/>
              </a:rPr>
              <a:t>Lifestyle &amp; Dietary Guidelines</a:t>
            </a:r>
            <a:endParaRPr lang="en-US" sz="2400" dirty="0"/>
          </a:p>
        </p:txBody>
      </p:sp>
      <p:sp>
        <p:nvSpPr>
          <p:cNvPr id="3" name="Shape 1"/>
          <p:cNvSpPr/>
          <p:nvPr/>
        </p:nvSpPr>
        <p:spPr>
          <a:xfrm>
            <a:off x="457200" y="914400"/>
            <a:ext cx="3931920" cy="384048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4" name="Text 2"/>
          <p:cNvSpPr/>
          <p:nvPr/>
        </p:nvSpPr>
        <p:spPr>
          <a:xfrm>
            <a:off x="640080" y="914400"/>
            <a:ext cx="3566160" cy="274320"/>
          </a:xfrm>
          <a:prstGeom prst="rect">
            <a:avLst/>
          </a:prstGeom>
          <a:noFill/>
          <a:ln/>
        </p:spPr>
        <p:txBody>
          <a:bodyPr wrap="square" rtlCol="0" anchor="ctr"/>
          <a:lstStyle/>
          <a:p>
            <a:pPr indent="0" marL="0">
              <a:buNone/>
            </a:pPr>
            <a:r>
              <a:rPr lang="en-US" sz="1200" b="1" dirty="0">
                <a:solidFill>
                  <a:srgbClr val="C9A54E"/>
                </a:solidFill>
                <a:latin typeface="Source Sans 3" pitchFamily="34" charset="0"/>
                <a:ea typeface="Source Sans 3" pitchFamily="34" charset="-122"/>
                <a:cs typeface="Source Sans 3" pitchFamily="34" charset="-120"/>
              </a:rPr>
              <a:t>Lifestyle</a:t>
            </a:r>
            <a:endParaRPr lang="en-US" sz="1200" dirty="0"/>
          </a:p>
        </p:txBody>
      </p:sp>
      <p:sp>
        <p:nvSpPr>
          <p:cNvPr id="5" name="Text 3"/>
          <p:cNvSpPr/>
          <p:nvPr/>
        </p:nvSpPr>
        <p:spPr>
          <a:xfrm>
            <a:off x="640080" y="1234440"/>
            <a:ext cx="3566160" cy="3383280"/>
          </a:xfrm>
          <a:prstGeom prst="rect">
            <a:avLst/>
          </a:prstGeom>
          <a:noFill/>
          <a:ln/>
        </p:spPr>
        <p:txBody>
          <a:bodyPr wrap="square" rtlCol="0" anchor="t"/>
          <a:lstStyle/>
          <a:p>
            <a:pPr marL="342900" indent="-342900">
              <a:buSzPct val="100000"/>
              <a:buChar char="•"/>
            </a:pPr>
            <a:r>
              <a:rPr lang="en-US" sz="900" dirty="0">
                <a:solidFill>
                  <a:srgbClr val="1A2440"/>
                </a:solidFill>
                <a:latin typeface="Source Sans 3" pitchFamily="34" charset="0"/>
                <a:ea typeface="Source Sans 3" pitchFamily="34" charset="-122"/>
                <a:cs typeface="Source Sans 3" pitchFamily="34" charset="-120"/>
              </a:rPr>
              <a:t>Hydration: Filtered water 80–100oz/day with minerals.</a:t>
            </a:r>
            <a:endParaRPr lang="en-US" sz="900" dirty="0"/>
          </a:p>
          <a:p>
            <a:pPr marL="342900" indent="-342900">
              <a:buSzPct val="100000"/>
              <a:buChar char="•"/>
            </a:pPr>
            <a:r>
              <a:rPr lang="en-US" sz="900" dirty="0">
                <a:solidFill>
                  <a:srgbClr val="1A2440"/>
                </a:solidFill>
                <a:latin typeface="Source Sans 3" pitchFamily="34" charset="0"/>
                <a:ea typeface="Source Sans 3" pitchFamily="34" charset="-122"/>
                <a:cs typeface="Source Sans 3" pitchFamily="34" charset="-120"/>
              </a:rPr>
              <a:t>Movement: Gentle walking/yoga, avoid high intensity.</a:t>
            </a:r>
            <a:endParaRPr lang="en-US" sz="900" dirty="0"/>
          </a:p>
          <a:p>
            <a:pPr marL="342900" indent="-342900">
              <a:buSzPct val="100000"/>
              <a:buChar char="•"/>
            </a:pPr>
            <a:r>
              <a:rPr lang="en-US" sz="900" dirty="0">
                <a:solidFill>
                  <a:srgbClr val="1A2440"/>
                </a:solidFill>
                <a:latin typeface="Source Sans 3" pitchFamily="34" charset="0"/>
                <a:ea typeface="Source Sans 3" pitchFamily="34" charset="-122"/>
                <a:cs typeface="Source Sans 3" pitchFamily="34" charset="-120"/>
              </a:rPr>
              <a:t>Sleep: 7–9 hours/night; curfew before 10pm.</a:t>
            </a:r>
            <a:endParaRPr lang="en-US" sz="900" dirty="0"/>
          </a:p>
          <a:p>
            <a:pPr marL="342900" indent="-342900">
              <a:buSzPct val="100000"/>
              <a:buChar char="•"/>
            </a:pPr>
            <a:r>
              <a:rPr lang="en-US" sz="900" dirty="0">
                <a:solidFill>
                  <a:srgbClr val="1A2440"/>
                </a:solidFill>
                <a:latin typeface="Source Sans 3" pitchFamily="34" charset="0"/>
                <a:ea typeface="Source Sans 3" pitchFamily="34" charset="-122"/>
                <a:cs typeface="Source Sans 3" pitchFamily="34" charset="-120"/>
              </a:rPr>
              <a:t>Stress: Daily meditation/528Hz frequency healing/grounding rituals.</a:t>
            </a:r>
            <a:endParaRPr lang="en-US" sz="900" dirty="0"/>
          </a:p>
          <a:p>
            <a:pPr marL="342900" indent="-342900">
              <a:buSzPct val="100000"/>
              <a:buChar char="•"/>
            </a:pPr>
            <a:r>
              <a:rPr lang="en-US" sz="900" dirty="0">
                <a:solidFill>
                  <a:srgbClr val="1A2440"/>
                </a:solidFill>
                <a:latin typeface="Source Sans 3" pitchFamily="34" charset="0"/>
                <a:ea typeface="Source Sans 3" pitchFamily="34" charset="-122"/>
                <a:cs typeface="Source Sans 3" pitchFamily="34" charset="-120"/>
              </a:rPr>
              <a:t>Toxin avoidance: Use glass/stainless for water, organic food focus, avoid EMF excess.</a:t>
            </a:r>
            <a:endParaRPr lang="en-US" sz="900" dirty="0"/>
          </a:p>
          <a:p>
            <a:pPr marL="342900" indent="-342900">
              <a:buSzPct val="100000"/>
              <a:buChar char="•"/>
            </a:pPr>
            <a:r>
              <a:rPr lang="en-US" sz="900" dirty="0">
                <a:solidFill>
                  <a:srgbClr val="1A2440"/>
                </a:solidFill>
                <a:latin typeface="Source Sans 3" pitchFamily="34" charset="0"/>
                <a:ea typeface="Source Sans 3" pitchFamily="34" charset="-122"/>
                <a:cs typeface="Source Sans 3" pitchFamily="34" charset="-120"/>
              </a:rPr>
              <a:t>Thyroid management: Daily symptom journal, labs every 2 weeks, communicate medication changes with PMA team.</a:t>
            </a:r>
            <a:endParaRPr lang="en-US" sz="900" dirty="0"/>
          </a:p>
        </p:txBody>
      </p:sp>
      <p:sp>
        <p:nvSpPr>
          <p:cNvPr id="6" name="Shape 4"/>
          <p:cNvSpPr/>
          <p:nvPr/>
        </p:nvSpPr>
        <p:spPr>
          <a:xfrm>
            <a:off x="4663440" y="914400"/>
            <a:ext cx="4023360" cy="384048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7" name="Text 5"/>
          <p:cNvSpPr/>
          <p:nvPr/>
        </p:nvSpPr>
        <p:spPr>
          <a:xfrm>
            <a:off x="4846320" y="914400"/>
            <a:ext cx="3657600" cy="274320"/>
          </a:xfrm>
          <a:prstGeom prst="rect">
            <a:avLst/>
          </a:prstGeom>
          <a:noFill/>
          <a:ln/>
        </p:spPr>
        <p:txBody>
          <a:bodyPr wrap="square" rtlCol="0" anchor="ctr"/>
          <a:lstStyle/>
          <a:p>
            <a:pPr indent="0" marL="0">
              <a:buNone/>
            </a:pPr>
            <a:r>
              <a:rPr lang="en-US" sz="1200" b="1" dirty="0">
                <a:solidFill>
                  <a:srgbClr val="2E7D32"/>
                </a:solidFill>
                <a:latin typeface="Source Sans 3" pitchFamily="34" charset="0"/>
                <a:ea typeface="Source Sans 3" pitchFamily="34" charset="-122"/>
                <a:cs typeface="Source Sans 3" pitchFamily="34" charset="-120"/>
              </a:rPr>
              <a:t>Dietary Guidelines</a:t>
            </a:r>
            <a:endParaRPr lang="en-US" sz="1200" dirty="0"/>
          </a:p>
        </p:txBody>
      </p:sp>
      <p:sp>
        <p:nvSpPr>
          <p:cNvPr id="8" name="Text 6"/>
          <p:cNvSpPr/>
          <p:nvPr/>
        </p:nvSpPr>
        <p:spPr>
          <a:xfrm>
            <a:off x="4846320" y="1234440"/>
            <a:ext cx="3657600" cy="3383280"/>
          </a:xfrm>
          <a:prstGeom prst="rect">
            <a:avLst/>
          </a:prstGeom>
          <a:noFill/>
          <a:ln/>
        </p:spPr>
        <p:txBody>
          <a:bodyPr wrap="square" rtlCol="0" anchor="t"/>
          <a:lstStyle/>
          <a:p>
            <a:pPr marL="342900" indent="-342900">
              <a:buSzPct val="100000"/>
              <a:buChar char="•"/>
            </a:pPr>
            <a:r>
              <a:rPr lang="en-US" sz="900" dirty="0">
                <a:solidFill>
                  <a:srgbClr val="1A2440"/>
                </a:solidFill>
                <a:latin typeface="Source Sans 3" pitchFamily="34" charset="0"/>
                <a:ea typeface="Source Sans 3" pitchFamily="34" charset="-122"/>
                <a:cs typeface="Source Sans 3" pitchFamily="34" charset="-120"/>
              </a:rPr>
              <a:t>Eliminate gluten, dairy, soy, corn, processed sugar, nightshades (for initial 6 weeks)</a:t>
            </a:r>
            <a:endParaRPr lang="en-US" sz="900" dirty="0"/>
          </a:p>
          <a:p>
            <a:pPr marL="342900" indent="-342900">
              <a:buSzPct val="100000"/>
              <a:buChar char="•"/>
            </a:pPr>
            <a:r>
              <a:rPr lang="en-US" sz="900" dirty="0">
                <a:solidFill>
                  <a:srgbClr val="1A2440"/>
                </a:solidFill>
                <a:latin typeface="Source Sans 3" pitchFamily="34" charset="0"/>
                <a:ea typeface="Source Sans 3" pitchFamily="34" charset="-122"/>
                <a:cs typeface="Source Sans 3" pitchFamily="34" charset="-120"/>
              </a:rPr>
              <a:t>Emphasize organic vegetables, berries, avocados, wild fish, pasture-raised eggs/chicken</a:t>
            </a:r>
            <a:endParaRPr lang="en-US" sz="900" dirty="0"/>
          </a:p>
          <a:p>
            <a:pPr marL="342900" indent="-342900">
              <a:buSzPct val="100000"/>
              <a:buChar char="•"/>
            </a:pPr>
            <a:r>
              <a:rPr lang="en-US" sz="900" dirty="0">
                <a:solidFill>
                  <a:srgbClr val="1A2440"/>
                </a:solidFill>
                <a:latin typeface="Source Sans 3" pitchFamily="34" charset="0"/>
                <a:ea typeface="Source Sans 3" pitchFamily="34" charset="-122"/>
                <a:cs typeface="Source Sans 3" pitchFamily="34" charset="-120"/>
              </a:rPr>
              <a:t>Low-glycemic, anti-inflammatory ketogenic Mediterranean template; adjust carbs upward if excessive weight loss or low thyroid symptoms</a:t>
            </a:r>
            <a:endParaRPr lang="en-US" sz="900" dirty="0"/>
          </a:p>
          <a:p>
            <a:pPr marL="342900" indent="-342900">
              <a:buSzPct val="100000"/>
              <a:buChar char="•"/>
            </a:pPr>
            <a:r>
              <a:rPr lang="en-US" sz="900" dirty="0">
                <a:solidFill>
                  <a:srgbClr val="1A2440"/>
                </a:solidFill>
                <a:latin typeface="Source Sans 3" pitchFamily="34" charset="0"/>
                <a:ea typeface="Source Sans 3" pitchFamily="34" charset="-122"/>
                <a:cs typeface="Source Sans 3" pitchFamily="34" charset="-120"/>
              </a:rPr>
              <a:t>Fermented foods (sauerkraut, kimchi, coconut kefir) 3+ days/week; rotate for microbiome diversity</a:t>
            </a:r>
            <a:endParaRPr lang="en-US" sz="900" dirty="0"/>
          </a:p>
          <a:p>
            <a:pPr marL="342900" indent="-342900">
              <a:buSzPct val="100000"/>
              <a:buChar char="•"/>
            </a:pPr>
            <a:r>
              <a:rPr lang="en-US" sz="900" dirty="0">
                <a:solidFill>
                  <a:srgbClr val="1A2440"/>
                </a:solidFill>
                <a:latin typeface="Source Sans 3" pitchFamily="34" charset="0"/>
                <a:ea typeface="Source Sans 3" pitchFamily="34" charset="-122"/>
                <a:cs typeface="Source Sans 3" pitchFamily="34" charset="-120"/>
              </a:rPr>
              <a:t>Include cruciferous and allium vegetables for detox enzyme support</a:t>
            </a:r>
            <a:endParaRPr lang="en-US" sz="900" dirty="0"/>
          </a:p>
          <a:p>
            <a:pPr marL="342900" indent="-342900">
              <a:buSzPct val="100000"/>
              <a:buChar char="•"/>
            </a:pPr>
            <a:r>
              <a:rPr lang="en-US" sz="900" dirty="0">
                <a:solidFill>
                  <a:srgbClr val="1A2440"/>
                </a:solidFill>
                <a:latin typeface="Source Sans 3" pitchFamily="34" charset="0"/>
                <a:ea typeface="Source Sans 3" pitchFamily="34" charset="-122"/>
                <a:cs typeface="Source Sans 3" pitchFamily="34" charset="-120"/>
              </a:rPr>
              <a:t>Minimal red meat; avoid charred/grilled meats</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8EDF5"/>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rgbClr val="1A2440"/>
                </a:solidFill>
                <a:latin typeface="Playfair Display" pitchFamily="34" charset="0"/>
                <a:ea typeface="Playfair Display" pitchFamily="34" charset="-122"/>
                <a:cs typeface="Playfair Display" pitchFamily="34" charset="-120"/>
              </a:rPr>
              <a:t>Follow-Up Plan &amp; Lab Orders</a:t>
            </a:r>
            <a:endParaRPr lang="en-US" sz="2400" dirty="0"/>
          </a:p>
        </p:txBody>
      </p:sp>
      <p:sp>
        <p:nvSpPr>
          <p:cNvPr id="3" name="Shape 1"/>
          <p:cNvSpPr/>
          <p:nvPr/>
        </p:nvSpPr>
        <p:spPr>
          <a:xfrm>
            <a:off x="457200" y="914400"/>
            <a:ext cx="8229600" cy="384048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4" name="Text 2"/>
          <p:cNvSpPr/>
          <p:nvPr/>
        </p:nvSpPr>
        <p:spPr>
          <a:xfrm>
            <a:off x="640080" y="1005840"/>
            <a:ext cx="7863840" cy="274320"/>
          </a:xfrm>
          <a:prstGeom prst="rect">
            <a:avLst/>
          </a:prstGeom>
          <a:noFill/>
          <a:ln/>
        </p:spPr>
        <p:txBody>
          <a:bodyPr wrap="square" rtlCol="0" anchor="ctr"/>
          <a:lstStyle/>
          <a:p>
            <a:pPr indent="0" marL="0">
              <a:buNone/>
            </a:pPr>
            <a:r>
              <a:rPr lang="en-US" sz="1200" b="1" dirty="0">
                <a:solidFill>
                  <a:srgbClr val="C9A54E"/>
                </a:solidFill>
                <a:latin typeface="Source Sans 3" pitchFamily="34" charset="0"/>
                <a:ea typeface="Source Sans 3" pitchFamily="34" charset="-122"/>
                <a:cs typeface="Source Sans 3" pitchFamily="34" charset="-120"/>
              </a:rPr>
              <a:t>Follow-Up Schedule:</a:t>
            </a:r>
            <a:endParaRPr lang="en-US" sz="1200" dirty="0"/>
          </a:p>
        </p:txBody>
      </p:sp>
      <p:sp>
        <p:nvSpPr>
          <p:cNvPr id="5" name="Text 3"/>
          <p:cNvSpPr/>
          <p:nvPr/>
        </p:nvSpPr>
        <p:spPr>
          <a:xfrm>
            <a:off x="640080" y="1325880"/>
            <a:ext cx="7863840" cy="1371600"/>
          </a:xfrm>
          <a:prstGeom prst="rect">
            <a:avLst/>
          </a:prstGeom>
          <a:noFill/>
          <a:ln/>
        </p:spPr>
        <p:txBody>
          <a:bodyPr wrap="square" rtlCol="0" anchor="t"/>
          <a:lstStyle/>
          <a:p>
            <a:pPr marL="342900" indent="-342900">
              <a:buSzPct val="100000"/>
              <a:buChar char="•"/>
            </a:pPr>
            <a:r>
              <a:rPr lang="en-US" sz="1000" dirty="0">
                <a:solidFill>
                  <a:srgbClr val="1A2440"/>
                </a:solidFill>
                <a:latin typeface="Source Sans 3" pitchFamily="34" charset="0"/>
                <a:ea typeface="Source Sans 3" pitchFamily="34" charset="-122"/>
                <a:cs typeface="Source Sans 3" pitchFamily="34" charset="-120"/>
              </a:rPr>
              <a:t>Week 2: Review basic labs (CBC, CMP, thyroid panel, Vitamin D, selenium, zinc); check for intolerances, monitor autoimmune symptoms.</a:t>
            </a:r>
            <a:endParaRPr lang="en-US" sz="1000" dirty="0"/>
          </a:p>
          <a:p>
            <a:pPr marL="342900" indent="-342900">
              <a:buSzPct val="100000"/>
              <a:buChar char="•"/>
            </a:pPr>
            <a:r>
              <a:rPr lang="en-US" sz="1000" dirty="0">
                <a:solidFill>
                  <a:srgbClr val="1A2440"/>
                </a:solidFill>
                <a:latin typeface="Source Sans 3" pitchFamily="34" charset="0"/>
                <a:ea typeface="Source Sans 3" pitchFamily="34" charset="-122"/>
                <a:cs typeface="Source Sans 3" pitchFamily="34" charset="-120"/>
              </a:rPr>
              <a:t>Week 4: Assess response to anti-parasite/cancer oral protocols. Titrate immune/thyroid support.</a:t>
            </a:r>
            <a:endParaRPr lang="en-US" sz="1000" dirty="0"/>
          </a:p>
          <a:p>
            <a:pPr marL="342900" indent="-342900">
              <a:buSzPct val="100000"/>
              <a:buChar char="•"/>
            </a:pPr>
            <a:r>
              <a:rPr lang="en-US" sz="1000" dirty="0">
                <a:solidFill>
                  <a:srgbClr val="1A2440"/>
                </a:solidFill>
                <a:latin typeface="Source Sans 3" pitchFamily="34" charset="0"/>
                <a:ea typeface="Source Sans 3" pitchFamily="34" charset="-122"/>
                <a:cs typeface="Source Sans 3" pitchFamily="34" charset="-120"/>
              </a:rPr>
              <a:t>Week 6: Repeat IVs/IM boosters as needed; add epithalon course.</a:t>
            </a:r>
            <a:endParaRPr lang="en-US" sz="1000" dirty="0"/>
          </a:p>
          <a:p>
            <a:pPr marL="342900" indent="-342900">
              <a:buSzPct val="100000"/>
              <a:buChar char="•"/>
            </a:pPr>
            <a:r>
              <a:rPr lang="en-US" sz="1000" dirty="0">
                <a:solidFill>
                  <a:srgbClr val="1A2440"/>
                </a:solidFill>
                <a:latin typeface="Source Sans 3" pitchFamily="34" charset="0"/>
                <a:ea typeface="Source Sans 3" pitchFamily="34" charset="-122"/>
                <a:cs typeface="Source Sans 3" pitchFamily="34" charset="-120"/>
              </a:rPr>
              <a:t>Week 8: Clinical review: T4/T3, TSI, antithyroid antibodies, ferritin, CRP, tumor markers; adjust bioregulator/peptide dosing.</a:t>
            </a:r>
            <a:endParaRPr lang="en-US" sz="1000" dirty="0"/>
          </a:p>
          <a:p>
            <a:pPr marL="342900" indent="-342900">
              <a:buSzPct val="100000"/>
              <a:buChar char="•"/>
            </a:pPr>
            <a:r>
              <a:rPr lang="en-US" sz="1000" dirty="0">
                <a:solidFill>
                  <a:srgbClr val="1A2440"/>
                </a:solidFill>
                <a:latin typeface="Source Sans 3" pitchFamily="34" charset="0"/>
                <a:ea typeface="Source Sans 3" pitchFamily="34" charset="-122"/>
                <a:cs typeface="Source Sans 3" pitchFamily="34" charset="-120"/>
              </a:rPr>
              <a:t>Week 10: Oncology re-imaging if available. Review with team. Continue maintenance phase therapies.</a:t>
            </a:r>
            <a:endParaRPr lang="en-US" sz="1000" dirty="0"/>
          </a:p>
          <a:p>
            <a:pPr marL="342900" indent="-342900">
              <a:buSzPct val="100000"/>
              <a:buChar char="•"/>
            </a:pPr>
            <a:r>
              <a:rPr lang="en-US" sz="1000" dirty="0">
                <a:solidFill>
                  <a:srgbClr val="1A2440"/>
                </a:solidFill>
                <a:latin typeface="Source Sans 3" pitchFamily="34" charset="0"/>
                <a:ea typeface="Source Sans 3" pitchFamily="34" charset="-122"/>
                <a:cs typeface="Source Sans 3" pitchFamily="34" charset="-120"/>
              </a:rPr>
              <a:t>Week 12: Comprehensive clinical review, update labs, re-design maintenance protocol for next quarter.</a:t>
            </a:r>
            <a:endParaRPr lang="en-US" sz="1000" dirty="0"/>
          </a:p>
        </p:txBody>
      </p:sp>
      <p:sp>
        <p:nvSpPr>
          <p:cNvPr id="6" name="Text 4"/>
          <p:cNvSpPr/>
          <p:nvPr/>
        </p:nvSpPr>
        <p:spPr>
          <a:xfrm>
            <a:off x="640080" y="2880360"/>
            <a:ext cx="7863840" cy="274320"/>
          </a:xfrm>
          <a:prstGeom prst="rect">
            <a:avLst/>
          </a:prstGeom>
          <a:noFill/>
          <a:ln/>
        </p:spPr>
        <p:txBody>
          <a:bodyPr wrap="square" rtlCol="0" anchor="ctr"/>
          <a:lstStyle/>
          <a:p>
            <a:pPr indent="0" marL="0">
              <a:buNone/>
            </a:pPr>
            <a:r>
              <a:rPr lang="en-US" sz="1200" b="1" dirty="0">
                <a:solidFill>
                  <a:srgbClr val="C9A54E"/>
                </a:solidFill>
                <a:latin typeface="Source Sans 3" pitchFamily="34" charset="0"/>
                <a:ea typeface="Source Sans 3" pitchFamily="34" charset="-122"/>
                <a:cs typeface="Source Sans 3" pitchFamily="34" charset="-120"/>
              </a:rPr>
              <a:t>Required Labs:</a:t>
            </a:r>
            <a:endParaRPr lang="en-US" sz="1200" dirty="0"/>
          </a:p>
        </p:txBody>
      </p:sp>
      <p:sp>
        <p:nvSpPr>
          <p:cNvPr id="7" name="Text 5"/>
          <p:cNvSpPr/>
          <p:nvPr/>
        </p:nvSpPr>
        <p:spPr>
          <a:xfrm>
            <a:off x="640080" y="3200400"/>
            <a:ext cx="7863840" cy="1371600"/>
          </a:xfrm>
          <a:prstGeom prst="rect">
            <a:avLst/>
          </a:prstGeom>
          <a:noFill/>
          <a:ln/>
        </p:spPr>
        <p:txBody>
          <a:bodyPr wrap="square" rtlCol="0" anchor="t"/>
          <a:lstStyle/>
          <a:p>
            <a:pPr marL="342900" indent="-342900">
              <a:buSzPct val="100000"/>
              <a:buChar char="•"/>
            </a:pPr>
            <a:r>
              <a:rPr lang="en-US" sz="1000" dirty="0">
                <a:solidFill>
                  <a:srgbClr val="1A2440"/>
                </a:solidFill>
                <a:latin typeface="Source Sans 3" pitchFamily="34" charset="0"/>
                <a:ea typeface="Source Sans 3" pitchFamily="34" charset="-122"/>
                <a:cs typeface="Source Sans 3" pitchFamily="34" charset="-120"/>
              </a:rPr>
              <a:t>CBC &amp; differential</a:t>
            </a:r>
            <a:endParaRPr lang="en-US" sz="1000" dirty="0"/>
          </a:p>
          <a:p>
            <a:pPr marL="342900" indent="-342900">
              <a:buSzPct val="100000"/>
              <a:buChar char="•"/>
            </a:pPr>
            <a:r>
              <a:rPr lang="en-US" sz="1000" dirty="0">
                <a:solidFill>
                  <a:srgbClr val="1A2440"/>
                </a:solidFill>
                <a:latin typeface="Source Sans 3" pitchFamily="34" charset="0"/>
                <a:ea typeface="Source Sans 3" pitchFamily="34" charset="-122"/>
                <a:cs typeface="Source Sans 3" pitchFamily="34" charset="-120"/>
              </a:rPr>
              <a:t>CMP (liver/renal function)</a:t>
            </a:r>
            <a:endParaRPr lang="en-US" sz="1000" dirty="0"/>
          </a:p>
          <a:p>
            <a:pPr marL="342900" indent="-342900">
              <a:buSzPct val="100000"/>
              <a:buChar char="•"/>
            </a:pPr>
            <a:r>
              <a:rPr lang="en-US" sz="1000" dirty="0">
                <a:solidFill>
                  <a:srgbClr val="1A2440"/>
                </a:solidFill>
                <a:latin typeface="Source Sans 3" pitchFamily="34" charset="0"/>
                <a:ea typeface="Source Sans 3" pitchFamily="34" charset="-122"/>
                <a:cs typeface="Source Sans 3" pitchFamily="34" charset="-120"/>
              </a:rPr>
              <a:t>Thyroid panel (TSH, free T4, free T3, Reverse T3, TSI, anti-TPO, anti-thyroglobulin)</a:t>
            </a:r>
            <a:endParaRPr lang="en-US" sz="1000" dirty="0"/>
          </a:p>
          <a:p>
            <a:pPr marL="342900" indent="-342900">
              <a:buSzPct val="100000"/>
              <a:buChar char="•"/>
            </a:pPr>
            <a:r>
              <a:rPr lang="en-US" sz="1000" dirty="0">
                <a:solidFill>
                  <a:srgbClr val="1A2440"/>
                </a:solidFill>
                <a:latin typeface="Source Sans 3" pitchFamily="34" charset="0"/>
                <a:ea typeface="Source Sans 3" pitchFamily="34" charset="-122"/>
                <a:cs typeface="Source Sans 3" pitchFamily="34" charset="-120"/>
              </a:rPr>
              <a:t>Vitamin D (25OH)</a:t>
            </a:r>
            <a:endParaRPr lang="en-US" sz="1000" dirty="0"/>
          </a:p>
          <a:p>
            <a:pPr marL="342900" indent="-342900">
              <a:buSzPct val="100000"/>
              <a:buChar char="•"/>
            </a:pPr>
            <a:r>
              <a:rPr lang="en-US" sz="1000" dirty="0">
                <a:solidFill>
                  <a:srgbClr val="1A2440"/>
                </a:solidFill>
                <a:latin typeface="Source Sans 3" pitchFamily="34" charset="0"/>
                <a:ea typeface="Source Sans 3" pitchFamily="34" charset="-122"/>
                <a:cs typeface="Source Sans 3" pitchFamily="34" charset="-120"/>
              </a:rPr>
              <a:t>Selenium, Zinc, Magnesium, Copper, Ceruloplasmin</a:t>
            </a:r>
            <a:endParaRPr lang="en-US" sz="1000" dirty="0"/>
          </a:p>
          <a:p>
            <a:pPr marL="342900" indent="-342900">
              <a:buSzPct val="100000"/>
              <a:buChar char="•"/>
            </a:pPr>
            <a:r>
              <a:rPr lang="en-US" sz="1000" dirty="0">
                <a:solidFill>
                  <a:srgbClr val="1A2440"/>
                </a:solidFill>
                <a:latin typeface="Source Sans 3" pitchFamily="34" charset="0"/>
                <a:ea typeface="Source Sans 3" pitchFamily="34" charset="-122"/>
                <a:cs typeface="Source Sans 3" pitchFamily="34" charset="-120"/>
              </a:rPr>
              <a:t>Vitamin B12, Folate</a:t>
            </a:r>
            <a:endParaRPr lang="en-US" sz="1000" dirty="0"/>
          </a:p>
          <a:p>
            <a:pPr marL="342900" indent="-342900">
              <a:buSzPct val="100000"/>
              <a:buChar char="•"/>
            </a:pPr>
            <a:r>
              <a:rPr lang="en-US" sz="1000" dirty="0">
                <a:solidFill>
                  <a:srgbClr val="1A2440"/>
                </a:solidFill>
                <a:latin typeface="Source Sans 3" pitchFamily="34" charset="0"/>
                <a:ea typeface="Source Sans 3" pitchFamily="34" charset="-122"/>
                <a:cs typeface="Source Sans 3" pitchFamily="34" charset="-120"/>
              </a:rPr>
              <a:t>CRP, ESR, Ferritin</a:t>
            </a:r>
            <a:endParaRPr lang="en-US" sz="1000" dirty="0"/>
          </a:p>
          <a:p>
            <a:pPr marL="342900" indent="-342900">
              <a:buSzPct val="100000"/>
              <a:buChar char="•"/>
            </a:pPr>
            <a:r>
              <a:rPr lang="en-US" sz="1000" dirty="0">
                <a:solidFill>
                  <a:srgbClr val="1A2440"/>
                </a:solidFill>
                <a:latin typeface="Source Sans 3" pitchFamily="34" charset="0"/>
                <a:ea typeface="Source Sans 3" pitchFamily="34" charset="-122"/>
                <a:cs typeface="Source Sans 3" pitchFamily="34" charset="-120"/>
              </a:rPr>
              <a:t>Cancer markers (CA19-9, CEA, as applicable)</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8EDF5"/>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A2440"/>
                </a:solidFill>
                <a:latin typeface="Playfair Display" pitchFamily="34" charset="0"/>
                <a:ea typeface="Playfair Display" pitchFamily="34" charset="-122"/>
                <a:cs typeface="Playfair Display" pitchFamily="34" charset="-120"/>
              </a:rPr>
              <a:t>Recommended Reading</a:t>
            </a:r>
            <a:endParaRPr lang="en-US" sz="2800" dirty="0"/>
          </a:p>
        </p:txBody>
      </p:sp>
      <p:sp>
        <p:nvSpPr>
          <p:cNvPr id="3" name="Shape 1"/>
          <p:cNvSpPr/>
          <p:nvPr/>
        </p:nvSpPr>
        <p:spPr>
          <a:xfrm>
            <a:off x="457200" y="914400"/>
            <a:ext cx="8229600" cy="48006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4" name="Shape 2"/>
          <p:cNvSpPr/>
          <p:nvPr/>
        </p:nvSpPr>
        <p:spPr>
          <a:xfrm>
            <a:off x="457200" y="914400"/>
            <a:ext cx="54864" cy="480060"/>
          </a:xfrm>
          <a:prstGeom prst="rect">
            <a:avLst/>
          </a:prstGeom>
          <a:solidFill>
            <a:srgbClr val="C9A54E"/>
          </a:solidFill>
          <a:ln/>
        </p:spPr>
      </p:sp>
      <p:sp>
        <p:nvSpPr>
          <p:cNvPr id="5" name="Text 3"/>
          <p:cNvSpPr/>
          <p:nvPr/>
        </p:nvSpPr>
        <p:spPr>
          <a:xfrm>
            <a:off x="640080" y="914400"/>
            <a:ext cx="2743200" cy="240030"/>
          </a:xfrm>
          <a:prstGeom prst="rect">
            <a:avLst/>
          </a:prstGeom>
          <a:noFill/>
          <a:ln/>
        </p:spPr>
        <p:txBody>
          <a:bodyPr wrap="square" rtlCol="0" anchor="b"/>
          <a:lstStyle/>
          <a:p>
            <a:pPr indent="0" marL="0">
              <a:buNone/>
            </a:pPr>
            <a:r>
              <a:rPr lang="en-US" sz="1100" b="1" dirty="0">
                <a:solidFill>
                  <a:srgbClr val="1A2440"/>
                </a:solidFill>
                <a:latin typeface="Playfair Display" pitchFamily="34" charset="0"/>
                <a:ea typeface="Playfair Display" pitchFamily="34" charset="-122"/>
                <a:cs typeface="Playfair Display" pitchFamily="34" charset="-120"/>
              </a:rPr>
              <a:t>Rapid Virus Recovery</a:t>
            </a:r>
            <a:endParaRPr lang="en-US" sz="1100" dirty="0"/>
          </a:p>
        </p:txBody>
      </p:sp>
      <p:sp>
        <p:nvSpPr>
          <p:cNvPr id="6" name="Text 4"/>
          <p:cNvSpPr/>
          <p:nvPr/>
        </p:nvSpPr>
        <p:spPr>
          <a:xfrm>
            <a:off x="640080" y="1154430"/>
            <a:ext cx="2743200" cy="192024"/>
          </a:xfrm>
          <a:prstGeom prst="rect">
            <a:avLst/>
          </a:prstGeom>
          <a:noFill/>
          <a:ln/>
        </p:spPr>
        <p:txBody>
          <a:bodyPr wrap="square" rtlCol="0" anchor="t"/>
          <a:lstStyle/>
          <a:p>
            <a:pPr indent="0" marL="0">
              <a:buNone/>
            </a:pPr>
            <a:r>
              <a:rPr lang="en-US" sz="800" dirty="0">
                <a:solidFill>
                  <a:srgbClr val="C9A54E"/>
                </a:solidFill>
                <a:latin typeface="Source Sans 3" pitchFamily="34" charset="0"/>
                <a:ea typeface="Source Sans 3" pitchFamily="34" charset="-122"/>
                <a:cs typeface="Source Sans 3" pitchFamily="34" charset="-120"/>
              </a:rPr>
              <a:t>by Dr. Thomas Levy</a:t>
            </a:r>
            <a:endParaRPr lang="en-US" sz="800" dirty="0"/>
          </a:p>
        </p:txBody>
      </p:sp>
      <p:sp>
        <p:nvSpPr>
          <p:cNvPr id="7" name="Text 5"/>
          <p:cNvSpPr/>
          <p:nvPr/>
        </p:nvSpPr>
        <p:spPr>
          <a:xfrm>
            <a:off x="3474720" y="914400"/>
            <a:ext cx="5029200" cy="480060"/>
          </a:xfrm>
          <a:prstGeom prst="rect">
            <a:avLst/>
          </a:prstGeom>
          <a:noFill/>
          <a:ln/>
        </p:spPr>
        <p:txBody>
          <a:bodyPr wrap="square" rtlCol="0" anchor="ctr"/>
          <a:lstStyle/>
          <a:p>
            <a:pPr indent="0" marL="0">
              <a:buNone/>
            </a:pPr>
            <a:r>
              <a:rPr lang="en-US" sz="900" dirty="0">
                <a:solidFill>
                  <a:srgbClr val="1A2440"/>
                </a:solidFill>
                <a:latin typeface="Source Sans 3" pitchFamily="34" charset="0"/>
                <a:ea typeface="Source Sans 3" pitchFamily="34" charset="-122"/>
                <a:cs typeface="Source Sans 3" pitchFamily="34" charset="-120"/>
              </a:rPr>
              <a:t>Essential reading on breaking up biofilm with nebulization and high-dose vitamin C therapy for viral recovery</a:t>
            </a:r>
            <a:endParaRPr lang="en-US" sz="900" dirty="0"/>
          </a:p>
        </p:txBody>
      </p:sp>
      <p:sp>
        <p:nvSpPr>
          <p:cNvPr id="8" name="Shape 6"/>
          <p:cNvSpPr/>
          <p:nvPr/>
        </p:nvSpPr>
        <p:spPr>
          <a:xfrm>
            <a:off x="457200" y="1467612"/>
            <a:ext cx="8229600" cy="48006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9" name="Shape 7"/>
          <p:cNvSpPr/>
          <p:nvPr/>
        </p:nvSpPr>
        <p:spPr>
          <a:xfrm>
            <a:off x="457200" y="1467612"/>
            <a:ext cx="54864" cy="480060"/>
          </a:xfrm>
          <a:prstGeom prst="rect">
            <a:avLst/>
          </a:prstGeom>
          <a:solidFill>
            <a:srgbClr val="C9A54E"/>
          </a:solidFill>
          <a:ln/>
        </p:spPr>
      </p:sp>
      <p:sp>
        <p:nvSpPr>
          <p:cNvPr id="10" name="Text 8"/>
          <p:cNvSpPr/>
          <p:nvPr/>
        </p:nvSpPr>
        <p:spPr>
          <a:xfrm>
            <a:off x="640080" y="1467612"/>
            <a:ext cx="2743200" cy="240030"/>
          </a:xfrm>
          <a:prstGeom prst="rect">
            <a:avLst/>
          </a:prstGeom>
          <a:noFill/>
          <a:ln/>
        </p:spPr>
        <p:txBody>
          <a:bodyPr wrap="square" rtlCol="0" anchor="b"/>
          <a:lstStyle/>
          <a:p>
            <a:pPr indent="0" marL="0">
              <a:buNone/>
            </a:pPr>
            <a:r>
              <a:rPr lang="en-US" sz="1100" b="1" dirty="0">
                <a:solidFill>
                  <a:srgbClr val="1A2440"/>
                </a:solidFill>
                <a:latin typeface="Playfair Display" pitchFamily="34" charset="0"/>
                <a:ea typeface="Playfair Display" pitchFamily="34" charset="-122"/>
                <a:cs typeface="Playfair Display" pitchFamily="34" charset="-120"/>
              </a:rPr>
              <a:t>A World Without Cancer</a:t>
            </a:r>
            <a:endParaRPr lang="en-US" sz="1100" dirty="0"/>
          </a:p>
        </p:txBody>
      </p:sp>
      <p:sp>
        <p:nvSpPr>
          <p:cNvPr id="11" name="Text 9"/>
          <p:cNvSpPr/>
          <p:nvPr/>
        </p:nvSpPr>
        <p:spPr>
          <a:xfrm>
            <a:off x="640080" y="1707642"/>
            <a:ext cx="2743200" cy="192024"/>
          </a:xfrm>
          <a:prstGeom prst="rect">
            <a:avLst/>
          </a:prstGeom>
          <a:noFill/>
          <a:ln/>
        </p:spPr>
        <p:txBody>
          <a:bodyPr wrap="square" rtlCol="0" anchor="t"/>
          <a:lstStyle/>
          <a:p>
            <a:pPr indent="0" marL="0">
              <a:buNone/>
            </a:pPr>
            <a:r>
              <a:rPr lang="en-US" sz="800" dirty="0">
                <a:solidFill>
                  <a:srgbClr val="C9A54E"/>
                </a:solidFill>
                <a:latin typeface="Source Sans 3" pitchFamily="34" charset="0"/>
                <a:ea typeface="Source Sans 3" pitchFamily="34" charset="-122"/>
                <a:cs typeface="Source Sans 3" pitchFamily="34" charset="-120"/>
              </a:rPr>
              <a:t>by G. Edward Griffin</a:t>
            </a:r>
            <a:endParaRPr lang="en-US" sz="800" dirty="0"/>
          </a:p>
        </p:txBody>
      </p:sp>
      <p:sp>
        <p:nvSpPr>
          <p:cNvPr id="12" name="Text 10"/>
          <p:cNvSpPr/>
          <p:nvPr/>
        </p:nvSpPr>
        <p:spPr>
          <a:xfrm>
            <a:off x="3474720" y="1467612"/>
            <a:ext cx="5029200" cy="480060"/>
          </a:xfrm>
          <a:prstGeom prst="rect">
            <a:avLst/>
          </a:prstGeom>
          <a:noFill/>
          <a:ln/>
        </p:spPr>
        <p:txBody>
          <a:bodyPr wrap="square" rtlCol="0" anchor="ctr"/>
          <a:lstStyle/>
          <a:p>
            <a:pPr indent="0" marL="0">
              <a:buNone/>
            </a:pPr>
            <a:r>
              <a:rPr lang="en-US" sz="900" dirty="0">
                <a:solidFill>
                  <a:srgbClr val="1A2440"/>
                </a:solidFill>
                <a:latin typeface="Source Sans 3" pitchFamily="34" charset="0"/>
                <a:ea typeface="Source Sans 3" pitchFamily="34" charset="-122"/>
                <a:cs typeface="Source Sans 3" pitchFamily="34" charset="-120"/>
              </a:rPr>
              <a:t>The link between nitrilosides and cancer — the story of B17 Laetrile and why it matters for your protocol</a:t>
            </a:r>
            <a:endParaRPr lang="en-US" sz="900" dirty="0"/>
          </a:p>
        </p:txBody>
      </p:sp>
      <p:sp>
        <p:nvSpPr>
          <p:cNvPr id="13" name="Shape 11"/>
          <p:cNvSpPr/>
          <p:nvPr/>
        </p:nvSpPr>
        <p:spPr>
          <a:xfrm>
            <a:off x="457200" y="2020824"/>
            <a:ext cx="8229600" cy="48006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14" name="Shape 12"/>
          <p:cNvSpPr/>
          <p:nvPr/>
        </p:nvSpPr>
        <p:spPr>
          <a:xfrm>
            <a:off x="457200" y="2020824"/>
            <a:ext cx="54864" cy="480060"/>
          </a:xfrm>
          <a:prstGeom prst="rect">
            <a:avLst/>
          </a:prstGeom>
          <a:solidFill>
            <a:srgbClr val="C9A54E"/>
          </a:solidFill>
          <a:ln/>
        </p:spPr>
      </p:sp>
      <p:sp>
        <p:nvSpPr>
          <p:cNvPr id="15" name="Text 13"/>
          <p:cNvSpPr/>
          <p:nvPr/>
        </p:nvSpPr>
        <p:spPr>
          <a:xfrm>
            <a:off x="640080" y="2020824"/>
            <a:ext cx="2743200" cy="240030"/>
          </a:xfrm>
          <a:prstGeom prst="rect">
            <a:avLst/>
          </a:prstGeom>
          <a:noFill/>
          <a:ln/>
        </p:spPr>
        <p:txBody>
          <a:bodyPr wrap="square" rtlCol="0" anchor="b"/>
          <a:lstStyle/>
          <a:p>
            <a:pPr indent="0" marL="0">
              <a:buNone/>
            </a:pPr>
            <a:r>
              <a:rPr lang="en-US" sz="1100" b="1" dirty="0">
                <a:solidFill>
                  <a:srgbClr val="1A2440"/>
                </a:solidFill>
                <a:latin typeface="Playfair Display" pitchFamily="34" charset="0"/>
                <a:ea typeface="Playfair Display" pitchFamily="34" charset="-122"/>
                <a:cs typeface="Playfair Display" pitchFamily="34" charset="-120"/>
              </a:rPr>
              <a:t>The Iodine Crisis</a:t>
            </a:r>
            <a:endParaRPr lang="en-US" sz="1100" dirty="0"/>
          </a:p>
        </p:txBody>
      </p:sp>
      <p:sp>
        <p:nvSpPr>
          <p:cNvPr id="16" name="Text 14"/>
          <p:cNvSpPr/>
          <p:nvPr/>
        </p:nvSpPr>
        <p:spPr>
          <a:xfrm>
            <a:off x="640080" y="2260854"/>
            <a:ext cx="2743200" cy="192024"/>
          </a:xfrm>
          <a:prstGeom prst="rect">
            <a:avLst/>
          </a:prstGeom>
          <a:noFill/>
          <a:ln/>
        </p:spPr>
        <p:txBody>
          <a:bodyPr wrap="square" rtlCol="0" anchor="t"/>
          <a:lstStyle/>
          <a:p>
            <a:pPr indent="0" marL="0">
              <a:buNone/>
            </a:pPr>
            <a:r>
              <a:rPr lang="en-US" sz="800" dirty="0">
                <a:solidFill>
                  <a:srgbClr val="C9A54E"/>
                </a:solidFill>
                <a:latin typeface="Source Sans 3" pitchFamily="34" charset="0"/>
                <a:ea typeface="Source Sans 3" pitchFamily="34" charset="-122"/>
                <a:cs typeface="Source Sans 3" pitchFamily="34" charset="-120"/>
              </a:rPr>
              <a:t>by Lynne Farrow</a:t>
            </a:r>
            <a:endParaRPr lang="en-US" sz="800" dirty="0"/>
          </a:p>
        </p:txBody>
      </p:sp>
      <p:sp>
        <p:nvSpPr>
          <p:cNvPr id="17" name="Text 15"/>
          <p:cNvSpPr/>
          <p:nvPr/>
        </p:nvSpPr>
        <p:spPr>
          <a:xfrm>
            <a:off x="3474720" y="2020824"/>
            <a:ext cx="5029200" cy="480060"/>
          </a:xfrm>
          <a:prstGeom prst="rect">
            <a:avLst/>
          </a:prstGeom>
          <a:noFill/>
          <a:ln/>
        </p:spPr>
        <p:txBody>
          <a:bodyPr wrap="square" rtlCol="0" anchor="ctr"/>
          <a:lstStyle/>
          <a:p>
            <a:pPr indent="0" marL="0">
              <a:buNone/>
            </a:pPr>
            <a:r>
              <a:rPr lang="en-US" sz="900" dirty="0">
                <a:solidFill>
                  <a:srgbClr val="1A2440"/>
                </a:solidFill>
                <a:latin typeface="Source Sans 3" pitchFamily="34" charset="0"/>
                <a:ea typeface="Source Sans 3" pitchFamily="34" charset="-122"/>
                <a:cs typeface="Source Sans 3" pitchFamily="34" charset="-120"/>
              </a:rPr>
              <a:t>Critical reading on the relationship between selenium, iodine, and cancer rise in the U.S.</a:t>
            </a:r>
            <a:endParaRPr lang="en-US" sz="900" dirty="0"/>
          </a:p>
        </p:txBody>
      </p:sp>
      <p:sp>
        <p:nvSpPr>
          <p:cNvPr id="18" name="Shape 16"/>
          <p:cNvSpPr/>
          <p:nvPr/>
        </p:nvSpPr>
        <p:spPr>
          <a:xfrm>
            <a:off x="457200" y="2574036"/>
            <a:ext cx="8229600" cy="48006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19" name="Shape 17"/>
          <p:cNvSpPr/>
          <p:nvPr/>
        </p:nvSpPr>
        <p:spPr>
          <a:xfrm>
            <a:off x="457200" y="2574036"/>
            <a:ext cx="54864" cy="480060"/>
          </a:xfrm>
          <a:prstGeom prst="rect">
            <a:avLst/>
          </a:prstGeom>
          <a:solidFill>
            <a:srgbClr val="C9A54E"/>
          </a:solidFill>
          <a:ln/>
        </p:spPr>
      </p:sp>
      <p:sp>
        <p:nvSpPr>
          <p:cNvPr id="20" name="Text 18"/>
          <p:cNvSpPr/>
          <p:nvPr/>
        </p:nvSpPr>
        <p:spPr>
          <a:xfrm>
            <a:off x="640080" y="2574036"/>
            <a:ext cx="2743200" cy="240030"/>
          </a:xfrm>
          <a:prstGeom prst="rect">
            <a:avLst/>
          </a:prstGeom>
          <a:noFill/>
          <a:ln/>
        </p:spPr>
        <p:txBody>
          <a:bodyPr wrap="square" rtlCol="0" anchor="b"/>
          <a:lstStyle/>
          <a:p>
            <a:pPr indent="0" marL="0">
              <a:buNone/>
            </a:pPr>
            <a:r>
              <a:rPr lang="en-US" sz="1100" b="1" dirty="0">
                <a:solidFill>
                  <a:srgbClr val="1A2440"/>
                </a:solidFill>
                <a:latin typeface="Playfair Display" pitchFamily="34" charset="0"/>
                <a:ea typeface="Playfair Display" pitchFamily="34" charset="-122"/>
                <a:cs typeface="Playfair Display" pitchFamily="34" charset="-120"/>
              </a:rPr>
              <a:t>A Cancer Therapy: Results of Fifty Cases</a:t>
            </a:r>
            <a:endParaRPr lang="en-US" sz="1100" dirty="0"/>
          </a:p>
        </p:txBody>
      </p:sp>
      <p:sp>
        <p:nvSpPr>
          <p:cNvPr id="21" name="Text 19"/>
          <p:cNvSpPr/>
          <p:nvPr/>
        </p:nvSpPr>
        <p:spPr>
          <a:xfrm>
            <a:off x="640080" y="2814066"/>
            <a:ext cx="2743200" cy="192024"/>
          </a:xfrm>
          <a:prstGeom prst="rect">
            <a:avLst/>
          </a:prstGeom>
          <a:noFill/>
          <a:ln/>
        </p:spPr>
        <p:txBody>
          <a:bodyPr wrap="square" rtlCol="0" anchor="t"/>
          <a:lstStyle/>
          <a:p>
            <a:pPr indent="0" marL="0">
              <a:buNone/>
            </a:pPr>
            <a:r>
              <a:rPr lang="en-US" sz="800" dirty="0">
                <a:solidFill>
                  <a:srgbClr val="C9A54E"/>
                </a:solidFill>
                <a:latin typeface="Source Sans 3" pitchFamily="34" charset="0"/>
                <a:ea typeface="Source Sans 3" pitchFamily="34" charset="-122"/>
                <a:cs typeface="Source Sans 3" pitchFamily="34" charset="-120"/>
              </a:rPr>
              <a:t>by Dr. Max Gerson</a:t>
            </a:r>
            <a:endParaRPr lang="en-US" sz="800" dirty="0"/>
          </a:p>
        </p:txBody>
      </p:sp>
      <p:sp>
        <p:nvSpPr>
          <p:cNvPr id="22" name="Text 20"/>
          <p:cNvSpPr/>
          <p:nvPr/>
        </p:nvSpPr>
        <p:spPr>
          <a:xfrm>
            <a:off x="3474720" y="2574036"/>
            <a:ext cx="5029200" cy="480060"/>
          </a:xfrm>
          <a:prstGeom prst="rect">
            <a:avLst/>
          </a:prstGeom>
          <a:noFill/>
          <a:ln/>
        </p:spPr>
        <p:txBody>
          <a:bodyPr wrap="square" rtlCol="0" anchor="ctr"/>
          <a:lstStyle/>
          <a:p>
            <a:pPr indent="0" marL="0">
              <a:buNone/>
            </a:pPr>
            <a:r>
              <a:rPr lang="en-US" sz="900" dirty="0">
                <a:solidFill>
                  <a:srgbClr val="1A2440"/>
                </a:solidFill>
                <a:latin typeface="Source Sans 3" pitchFamily="34" charset="0"/>
                <a:ea typeface="Source Sans 3" pitchFamily="34" charset="-122"/>
                <a:cs typeface="Source Sans 3" pitchFamily="34" charset="-120"/>
              </a:rPr>
              <a:t>The original Gerson therapy clinical documentation — foundational for understanding dietary protocols in cancer care</a:t>
            </a:r>
            <a:endParaRPr lang="en-US" sz="900" dirty="0"/>
          </a:p>
        </p:txBody>
      </p:sp>
      <p:sp>
        <p:nvSpPr>
          <p:cNvPr id="23" name="Shape 21"/>
          <p:cNvSpPr/>
          <p:nvPr/>
        </p:nvSpPr>
        <p:spPr>
          <a:xfrm>
            <a:off x="457200" y="3127248"/>
            <a:ext cx="8229600" cy="48006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24" name="Shape 22"/>
          <p:cNvSpPr/>
          <p:nvPr/>
        </p:nvSpPr>
        <p:spPr>
          <a:xfrm>
            <a:off x="457200" y="3127248"/>
            <a:ext cx="54864" cy="480060"/>
          </a:xfrm>
          <a:prstGeom prst="rect">
            <a:avLst/>
          </a:prstGeom>
          <a:solidFill>
            <a:srgbClr val="C9A54E"/>
          </a:solidFill>
          <a:ln/>
        </p:spPr>
      </p:sp>
      <p:sp>
        <p:nvSpPr>
          <p:cNvPr id="25" name="Text 23"/>
          <p:cNvSpPr/>
          <p:nvPr/>
        </p:nvSpPr>
        <p:spPr>
          <a:xfrm>
            <a:off x="640080" y="3127248"/>
            <a:ext cx="2743200" cy="240030"/>
          </a:xfrm>
          <a:prstGeom prst="rect">
            <a:avLst/>
          </a:prstGeom>
          <a:noFill/>
          <a:ln/>
        </p:spPr>
        <p:txBody>
          <a:bodyPr wrap="square" rtlCol="0" anchor="b"/>
          <a:lstStyle/>
          <a:p>
            <a:pPr indent="0" marL="0">
              <a:buNone/>
            </a:pPr>
            <a:r>
              <a:rPr lang="en-US" sz="1100" b="1" dirty="0">
                <a:solidFill>
                  <a:srgbClr val="1A2440"/>
                </a:solidFill>
                <a:latin typeface="Playfair Display" pitchFamily="34" charset="0"/>
                <a:ea typeface="Playfair Display" pitchFamily="34" charset="-122"/>
                <a:cs typeface="Playfair Display" pitchFamily="34" charset="-120"/>
              </a:rPr>
              <a:t>The Metabolic Approach to Cancer</a:t>
            </a:r>
            <a:endParaRPr lang="en-US" sz="1100" dirty="0"/>
          </a:p>
        </p:txBody>
      </p:sp>
      <p:sp>
        <p:nvSpPr>
          <p:cNvPr id="26" name="Text 24"/>
          <p:cNvSpPr/>
          <p:nvPr/>
        </p:nvSpPr>
        <p:spPr>
          <a:xfrm>
            <a:off x="640080" y="3367278"/>
            <a:ext cx="2743200" cy="192024"/>
          </a:xfrm>
          <a:prstGeom prst="rect">
            <a:avLst/>
          </a:prstGeom>
          <a:noFill/>
          <a:ln/>
        </p:spPr>
        <p:txBody>
          <a:bodyPr wrap="square" rtlCol="0" anchor="t"/>
          <a:lstStyle/>
          <a:p>
            <a:pPr indent="0" marL="0">
              <a:buNone/>
            </a:pPr>
            <a:r>
              <a:rPr lang="en-US" sz="800" dirty="0">
                <a:solidFill>
                  <a:srgbClr val="C9A54E"/>
                </a:solidFill>
                <a:latin typeface="Source Sans 3" pitchFamily="34" charset="0"/>
                <a:ea typeface="Source Sans 3" pitchFamily="34" charset="-122"/>
                <a:cs typeface="Source Sans 3" pitchFamily="34" charset="-120"/>
              </a:rPr>
              <a:t>by Dr. Nasha Winters &amp; Jess Higgins Kelley</a:t>
            </a:r>
            <a:endParaRPr lang="en-US" sz="800" dirty="0"/>
          </a:p>
        </p:txBody>
      </p:sp>
      <p:sp>
        <p:nvSpPr>
          <p:cNvPr id="27" name="Text 25"/>
          <p:cNvSpPr/>
          <p:nvPr/>
        </p:nvSpPr>
        <p:spPr>
          <a:xfrm>
            <a:off x="3474720" y="3127248"/>
            <a:ext cx="5029200" cy="480060"/>
          </a:xfrm>
          <a:prstGeom prst="rect">
            <a:avLst/>
          </a:prstGeom>
          <a:noFill/>
          <a:ln/>
        </p:spPr>
        <p:txBody>
          <a:bodyPr wrap="square" rtlCol="0" anchor="ctr"/>
          <a:lstStyle/>
          <a:p>
            <a:pPr indent="0" marL="0">
              <a:buNone/>
            </a:pPr>
            <a:r>
              <a:rPr lang="en-US" sz="900" dirty="0">
                <a:solidFill>
                  <a:srgbClr val="1A2440"/>
                </a:solidFill>
                <a:latin typeface="Source Sans 3" pitchFamily="34" charset="0"/>
                <a:ea typeface="Source Sans 3" pitchFamily="34" charset="-122"/>
                <a:cs typeface="Source Sans 3" pitchFamily="34" charset="-120"/>
              </a:rPr>
              <a:t>Integrative oncology nutrition and metabolic terrain assessment — essential for understanding cancer as a metabolic disease</a:t>
            </a:r>
            <a:endParaRPr lang="en-US" sz="900" dirty="0"/>
          </a:p>
        </p:txBody>
      </p:sp>
      <p:sp>
        <p:nvSpPr>
          <p:cNvPr id="28" name="Shape 26"/>
          <p:cNvSpPr/>
          <p:nvPr/>
        </p:nvSpPr>
        <p:spPr>
          <a:xfrm>
            <a:off x="457200" y="3680460"/>
            <a:ext cx="8229600" cy="48006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29" name="Shape 27"/>
          <p:cNvSpPr/>
          <p:nvPr/>
        </p:nvSpPr>
        <p:spPr>
          <a:xfrm>
            <a:off x="457200" y="3680460"/>
            <a:ext cx="54864" cy="480060"/>
          </a:xfrm>
          <a:prstGeom prst="rect">
            <a:avLst/>
          </a:prstGeom>
          <a:solidFill>
            <a:srgbClr val="C9A54E"/>
          </a:solidFill>
          <a:ln/>
        </p:spPr>
      </p:sp>
      <p:sp>
        <p:nvSpPr>
          <p:cNvPr id="30" name="Text 28"/>
          <p:cNvSpPr/>
          <p:nvPr/>
        </p:nvSpPr>
        <p:spPr>
          <a:xfrm>
            <a:off x="640080" y="3680460"/>
            <a:ext cx="2743200" cy="240030"/>
          </a:xfrm>
          <a:prstGeom prst="rect">
            <a:avLst/>
          </a:prstGeom>
          <a:noFill/>
          <a:ln/>
        </p:spPr>
        <p:txBody>
          <a:bodyPr wrap="square" rtlCol="0" anchor="b"/>
          <a:lstStyle/>
          <a:p>
            <a:pPr indent="0" marL="0">
              <a:buNone/>
            </a:pPr>
            <a:r>
              <a:rPr lang="en-US" sz="1100" b="1" dirty="0">
                <a:solidFill>
                  <a:srgbClr val="1A2440"/>
                </a:solidFill>
                <a:latin typeface="Playfair Display" pitchFamily="34" charset="0"/>
                <a:ea typeface="Playfair Display" pitchFamily="34" charset="-122"/>
                <a:cs typeface="Playfair Display" pitchFamily="34" charset="-120"/>
              </a:rPr>
              <a:t>One Minute Restore</a:t>
            </a:r>
            <a:endParaRPr lang="en-US" sz="1100" dirty="0"/>
          </a:p>
        </p:txBody>
      </p:sp>
      <p:sp>
        <p:nvSpPr>
          <p:cNvPr id="31" name="Text 29"/>
          <p:cNvSpPr/>
          <p:nvPr/>
        </p:nvSpPr>
        <p:spPr>
          <a:xfrm>
            <a:off x="640080" y="3920490"/>
            <a:ext cx="2743200" cy="192024"/>
          </a:xfrm>
          <a:prstGeom prst="rect">
            <a:avLst/>
          </a:prstGeom>
          <a:noFill/>
          <a:ln/>
        </p:spPr>
        <p:txBody>
          <a:bodyPr wrap="square" rtlCol="0" anchor="t"/>
          <a:lstStyle/>
          <a:p>
            <a:pPr indent="0" marL="0">
              <a:buNone/>
            </a:pPr>
            <a:r>
              <a:rPr lang="en-US" sz="800" dirty="0">
                <a:solidFill>
                  <a:srgbClr val="C9A54E"/>
                </a:solidFill>
                <a:latin typeface="Source Sans 3" pitchFamily="34" charset="0"/>
                <a:ea typeface="Source Sans 3" pitchFamily="34" charset="-122"/>
                <a:cs typeface="Source Sans 3" pitchFamily="34" charset="-120"/>
              </a:rPr>
              <a:t>by Madison Cavanaugh</a:t>
            </a:r>
            <a:endParaRPr lang="en-US" sz="800" dirty="0"/>
          </a:p>
        </p:txBody>
      </p:sp>
      <p:sp>
        <p:nvSpPr>
          <p:cNvPr id="32" name="Text 30"/>
          <p:cNvSpPr/>
          <p:nvPr/>
        </p:nvSpPr>
        <p:spPr>
          <a:xfrm>
            <a:off x="3474720" y="3680460"/>
            <a:ext cx="5029200" cy="480060"/>
          </a:xfrm>
          <a:prstGeom prst="rect">
            <a:avLst/>
          </a:prstGeom>
          <a:noFill/>
          <a:ln/>
        </p:spPr>
        <p:txBody>
          <a:bodyPr wrap="square" rtlCol="0" anchor="ctr"/>
          <a:lstStyle/>
          <a:p>
            <a:pPr indent="0" marL="0">
              <a:buNone/>
            </a:pPr>
            <a:r>
              <a:rPr lang="en-US" sz="900" dirty="0">
                <a:solidFill>
                  <a:srgbClr val="1A2440"/>
                </a:solidFill>
                <a:latin typeface="Source Sans 3" pitchFamily="34" charset="0"/>
                <a:ea typeface="Source Sans 3" pitchFamily="34" charset="-122"/>
                <a:cs typeface="Source Sans 3" pitchFamily="34" charset="-120"/>
              </a:rPr>
              <a:t>Hydrogen peroxide therapy overview and its applications for supporting the body's natural healing processes</a:t>
            </a:r>
            <a:endParaRPr lang="en-US" sz="900" dirty="0"/>
          </a:p>
        </p:txBody>
      </p:sp>
      <p:sp>
        <p:nvSpPr>
          <p:cNvPr id="33" name="Shape 31"/>
          <p:cNvSpPr/>
          <p:nvPr/>
        </p:nvSpPr>
        <p:spPr>
          <a:xfrm>
            <a:off x="457200" y="4233672"/>
            <a:ext cx="8229600" cy="48006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34" name="Shape 32"/>
          <p:cNvSpPr/>
          <p:nvPr/>
        </p:nvSpPr>
        <p:spPr>
          <a:xfrm>
            <a:off x="457200" y="4233672"/>
            <a:ext cx="54864" cy="480060"/>
          </a:xfrm>
          <a:prstGeom prst="rect">
            <a:avLst/>
          </a:prstGeom>
          <a:solidFill>
            <a:srgbClr val="C9A54E"/>
          </a:solidFill>
          <a:ln/>
        </p:spPr>
      </p:sp>
      <p:sp>
        <p:nvSpPr>
          <p:cNvPr id="35" name="Text 33"/>
          <p:cNvSpPr/>
          <p:nvPr/>
        </p:nvSpPr>
        <p:spPr>
          <a:xfrm>
            <a:off x="640080" y="4233672"/>
            <a:ext cx="2743200" cy="240030"/>
          </a:xfrm>
          <a:prstGeom prst="rect">
            <a:avLst/>
          </a:prstGeom>
          <a:noFill/>
          <a:ln/>
        </p:spPr>
        <p:txBody>
          <a:bodyPr wrap="square" rtlCol="0" anchor="b"/>
          <a:lstStyle/>
          <a:p>
            <a:pPr indent="0" marL="0">
              <a:buNone/>
            </a:pPr>
            <a:r>
              <a:rPr lang="en-US" sz="1100" b="1" dirty="0">
                <a:solidFill>
                  <a:srgbClr val="1A2440"/>
                </a:solidFill>
                <a:latin typeface="Playfair Display" pitchFamily="34" charset="0"/>
                <a:ea typeface="Playfair Display" pitchFamily="34" charset="-122"/>
                <a:cs typeface="Playfair Display" pitchFamily="34" charset="-120"/>
              </a:rPr>
              <a:t>Cymatics: A Study of Wave Phenomena</a:t>
            </a:r>
            <a:endParaRPr lang="en-US" sz="1100" dirty="0"/>
          </a:p>
        </p:txBody>
      </p:sp>
      <p:sp>
        <p:nvSpPr>
          <p:cNvPr id="36" name="Text 34"/>
          <p:cNvSpPr/>
          <p:nvPr/>
        </p:nvSpPr>
        <p:spPr>
          <a:xfrm>
            <a:off x="640080" y="4473702"/>
            <a:ext cx="2743200" cy="192024"/>
          </a:xfrm>
          <a:prstGeom prst="rect">
            <a:avLst/>
          </a:prstGeom>
          <a:noFill/>
          <a:ln/>
        </p:spPr>
        <p:txBody>
          <a:bodyPr wrap="square" rtlCol="0" anchor="t"/>
          <a:lstStyle/>
          <a:p>
            <a:pPr indent="0" marL="0">
              <a:buNone/>
            </a:pPr>
            <a:r>
              <a:rPr lang="en-US" sz="800" dirty="0">
                <a:solidFill>
                  <a:srgbClr val="C9A54E"/>
                </a:solidFill>
                <a:latin typeface="Source Sans 3" pitchFamily="34" charset="0"/>
                <a:ea typeface="Source Sans 3" pitchFamily="34" charset="-122"/>
                <a:cs typeface="Source Sans 3" pitchFamily="34" charset="-120"/>
              </a:rPr>
              <a:t>by Hans Jenny</a:t>
            </a:r>
            <a:endParaRPr lang="en-US" sz="800" dirty="0"/>
          </a:p>
        </p:txBody>
      </p:sp>
      <p:sp>
        <p:nvSpPr>
          <p:cNvPr id="37" name="Text 35"/>
          <p:cNvSpPr/>
          <p:nvPr/>
        </p:nvSpPr>
        <p:spPr>
          <a:xfrm>
            <a:off x="3474720" y="4233672"/>
            <a:ext cx="5029200" cy="480060"/>
          </a:xfrm>
          <a:prstGeom prst="rect">
            <a:avLst/>
          </a:prstGeom>
          <a:noFill/>
          <a:ln/>
        </p:spPr>
        <p:txBody>
          <a:bodyPr wrap="square" rtlCol="0" anchor="ctr"/>
          <a:lstStyle/>
          <a:p>
            <a:pPr indent="0" marL="0">
              <a:buNone/>
            </a:pPr>
            <a:r>
              <a:rPr lang="en-US" sz="900" dirty="0">
                <a:solidFill>
                  <a:srgbClr val="1A2440"/>
                </a:solidFill>
                <a:latin typeface="Source Sans 3" pitchFamily="34" charset="0"/>
                <a:ea typeface="Source Sans 3" pitchFamily="34" charset="-122"/>
                <a:cs typeface="Source Sans 3" pitchFamily="34" charset="-120"/>
              </a:rPr>
              <a:t>Foundation text for frequency-based healing modalities — understanding how sound and vibration affect cellular health</a:t>
            </a:r>
            <a:endParaRPr lang="en-US" sz="900" dirty="0"/>
          </a:p>
        </p:txBody>
      </p:sp>
      <p:sp>
        <p:nvSpPr>
          <p:cNvPr id="38" name="Shape 36"/>
          <p:cNvSpPr/>
          <p:nvPr/>
        </p:nvSpPr>
        <p:spPr>
          <a:xfrm>
            <a:off x="457200" y="4786884"/>
            <a:ext cx="8229600" cy="48006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39" name="Shape 37"/>
          <p:cNvSpPr/>
          <p:nvPr/>
        </p:nvSpPr>
        <p:spPr>
          <a:xfrm>
            <a:off x="457200" y="4786884"/>
            <a:ext cx="54864" cy="480060"/>
          </a:xfrm>
          <a:prstGeom prst="rect">
            <a:avLst/>
          </a:prstGeom>
          <a:solidFill>
            <a:srgbClr val="C9A54E"/>
          </a:solidFill>
          <a:ln/>
        </p:spPr>
      </p:sp>
      <p:sp>
        <p:nvSpPr>
          <p:cNvPr id="40" name="Text 38"/>
          <p:cNvSpPr/>
          <p:nvPr/>
        </p:nvSpPr>
        <p:spPr>
          <a:xfrm>
            <a:off x="640080" y="4786884"/>
            <a:ext cx="2743200" cy="240030"/>
          </a:xfrm>
          <a:prstGeom prst="rect">
            <a:avLst/>
          </a:prstGeom>
          <a:noFill/>
          <a:ln/>
        </p:spPr>
        <p:txBody>
          <a:bodyPr wrap="square" rtlCol="0" anchor="b"/>
          <a:lstStyle/>
          <a:p>
            <a:pPr indent="0" marL="0">
              <a:buNone/>
            </a:pPr>
            <a:r>
              <a:rPr lang="en-US" sz="1100" b="1" dirty="0">
                <a:solidFill>
                  <a:srgbClr val="1A2440"/>
                </a:solidFill>
                <a:latin typeface="Playfair Display" pitchFamily="34" charset="0"/>
                <a:ea typeface="Playfair Display" pitchFamily="34" charset="-122"/>
                <a:cs typeface="Playfair Display" pitchFamily="34" charset="-120"/>
              </a:rPr>
              <a:t>Parasite Rex</a:t>
            </a:r>
            <a:endParaRPr lang="en-US" sz="1100" dirty="0"/>
          </a:p>
        </p:txBody>
      </p:sp>
      <p:sp>
        <p:nvSpPr>
          <p:cNvPr id="41" name="Text 39"/>
          <p:cNvSpPr/>
          <p:nvPr/>
        </p:nvSpPr>
        <p:spPr>
          <a:xfrm>
            <a:off x="640080" y="5026914"/>
            <a:ext cx="2743200" cy="192024"/>
          </a:xfrm>
          <a:prstGeom prst="rect">
            <a:avLst/>
          </a:prstGeom>
          <a:noFill/>
          <a:ln/>
        </p:spPr>
        <p:txBody>
          <a:bodyPr wrap="square" rtlCol="0" anchor="t"/>
          <a:lstStyle/>
          <a:p>
            <a:pPr indent="0" marL="0">
              <a:buNone/>
            </a:pPr>
            <a:r>
              <a:rPr lang="en-US" sz="800" dirty="0">
                <a:solidFill>
                  <a:srgbClr val="C9A54E"/>
                </a:solidFill>
                <a:latin typeface="Source Sans 3" pitchFamily="34" charset="0"/>
                <a:ea typeface="Source Sans 3" pitchFamily="34" charset="-122"/>
                <a:cs typeface="Source Sans 3" pitchFamily="34" charset="-120"/>
              </a:rPr>
              <a:t>by Carl Zimmer</a:t>
            </a:r>
            <a:endParaRPr lang="en-US" sz="800" dirty="0"/>
          </a:p>
        </p:txBody>
      </p:sp>
      <p:sp>
        <p:nvSpPr>
          <p:cNvPr id="42" name="Text 40"/>
          <p:cNvSpPr/>
          <p:nvPr/>
        </p:nvSpPr>
        <p:spPr>
          <a:xfrm>
            <a:off x="3474720" y="4786884"/>
            <a:ext cx="5029200" cy="480060"/>
          </a:xfrm>
          <a:prstGeom prst="rect">
            <a:avLst/>
          </a:prstGeom>
          <a:noFill/>
          <a:ln/>
        </p:spPr>
        <p:txBody>
          <a:bodyPr wrap="square" rtlCol="0" anchor="ctr"/>
          <a:lstStyle/>
          <a:p>
            <a:pPr indent="0" marL="0">
              <a:buNone/>
            </a:pPr>
            <a:r>
              <a:rPr lang="en-US" sz="900" dirty="0">
                <a:solidFill>
                  <a:srgbClr val="1A2440"/>
                </a:solidFill>
                <a:latin typeface="Source Sans 3" pitchFamily="34" charset="0"/>
                <a:ea typeface="Source Sans 3" pitchFamily="34" charset="-122"/>
                <a:cs typeface="Source Sans 3" pitchFamily="34" charset="-120"/>
              </a:rPr>
              <a:t>Understanding the hidden world of parasites and why anti-parasitic protocols are fundamental to restoring health</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8EDF5"/>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rgbClr val="1A2440"/>
                </a:solidFill>
                <a:latin typeface="Playfair Display" pitchFamily="34" charset="0"/>
                <a:ea typeface="Playfair Display" pitchFamily="34" charset="-122"/>
                <a:cs typeface="Playfair Display" pitchFamily="34" charset="-120"/>
              </a:rPr>
              <a:t>Research Backing Our Protocols</a:t>
            </a:r>
            <a:endParaRPr lang="en-US" sz="2400" dirty="0"/>
          </a:p>
        </p:txBody>
      </p:sp>
      <p:sp>
        <p:nvSpPr>
          <p:cNvPr id="3" name="Shape 1"/>
          <p:cNvSpPr/>
          <p:nvPr/>
        </p:nvSpPr>
        <p:spPr>
          <a:xfrm>
            <a:off x="457200" y="914400"/>
            <a:ext cx="8229600" cy="384048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4" name="Text 2"/>
          <p:cNvSpPr/>
          <p:nvPr/>
        </p:nvSpPr>
        <p:spPr>
          <a:xfrm>
            <a:off x="640080" y="1005840"/>
            <a:ext cx="7863840" cy="3657600"/>
          </a:xfrm>
          <a:prstGeom prst="rect">
            <a:avLst/>
          </a:prstGeom>
          <a:noFill/>
          <a:ln/>
        </p:spPr>
        <p:txBody>
          <a:bodyPr wrap="square" rtlCol="0" anchor="t"/>
          <a:lstStyle/>
          <a:p>
            <a:pPr indent="0" marL="0">
              <a:buNone/>
            </a:pPr>
            <a:r>
              <a:rPr lang="en-US" sz="1000" b="1" dirty="0">
                <a:solidFill>
                  <a:srgbClr val="C9A54E"/>
                </a:solidFill>
                <a:latin typeface="Source Sans 3" pitchFamily="34" charset="0"/>
                <a:ea typeface="Source Sans 3" pitchFamily="34" charset="-122"/>
                <a:cs typeface="Source Sans 3" pitchFamily="34" charset="-120"/>
              </a:rPr>
              <a:t>Moringa Health Benefits</a:t>
            </a:r>
            <a:pPr indent="0" marL="0">
              <a:buNone/>
            </a:pPr>
            <a:r>
              <a:rPr lang="en-US" sz="900" dirty="0">
                <a:solidFill>
                  <a:srgbClr val="5A6B8A"/>
                </a:solidFill>
                <a:latin typeface="Source Sans 3" pitchFamily="34" charset="0"/>
                <a:ea typeface="Source Sans 3" pitchFamily="34" charset="-122"/>
                <a:cs typeface="Source Sans 3" pitchFamily="34" charset="-120"/>
              </a:rPr>
              <a:t> — Comprehensive overview of moringa's anti-inflammatory, antioxidant, and immune-supporting properties</a:t>
            </a:r>
            <a:pPr indent="0" marL="0">
              <a:buNone/>
            </a:pPr>
            <a:endParaRPr lang="en-US" sz="1000" dirty="0"/>
          </a:p>
          <a:p>
            <a:pPr indent="0" marL="0">
              <a:buNone/>
            </a:pPr>
            <a:r>
              <a:rPr lang="en-US" sz="800" dirty="0">
                <a:solidFill>
                  <a:srgbClr val="C9A54E"/>
                </a:solidFill>
                <a:latin typeface="Source Sans 3" pitchFamily="34" charset="0"/>
                <a:ea typeface="Source Sans 3" pitchFamily="34" charset="-122"/>
                <a:cs typeface="Source Sans 3" pitchFamily="34" charset="-120"/>
              </a:rPr>
              <a:t>https://ensosuperfoods.com/blogs/supergreens/moringa-health-benefits-for-women</a:t>
            </a:r>
            <a:endParaRPr lang="en-US" sz="1000" dirty="0"/>
          </a:p>
          <a:p>
            <a:pPr indent="0" marL="0">
              <a:buNone/>
            </a:pPr>
            <a:r>
              <a:rPr lang="en-US" sz="1000" b="1" dirty="0">
                <a:solidFill>
                  <a:srgbClr val="C9A54E"/>
                </a:solidFill>
                <a:latin typeface="Source Sans 3" pitchFamily="34" charset="0"/>
                <a:ea typeface="Source Sans 3" pitchFamily="34" charset="-122"/>
                <a:cs typeface="Source Sans 3" pitchFamily="34" charset="-120"/>
              </a:rPr>
              <a:t>Chlorella Benefits</a:t>
            </a:r>
            <a:pPr indent="0" marL="0">
              <a:buNone/>
            </a:pPr>
            <a:r>
              <a:rPr lang="en-US" sz="900" dirty="0">
                <a:solidFill>
                  <a:srgbClr val="5A6B8A"/>
                </a:solidFill>
                <a:latin typeface="Source Sans 3" pitchFamily="34" charset="0"/>
                <a:ea typeface="Source Sans 3" pitchFamily="34" charset="-122"/>
                <a:cs typeface="Source Sans 3" pitchFamily="34" charset="-120"/>
              </a:rPr>
              <a:t> — Heavy metal detox, immune support, and nutrient density — why chlorella is in your protocol</a:t>
            </a:r>
            <a:pPr indent="0" marL="0">
              <a:buNone/>
            </a:pPr>
            <a:endParaRPr lang="en-US" sz="1000" dirty="0"/>
          </a:p>
          <a:p>
            <a:pPr indent="0" marL="0">
              <a:buNone/>
            </a:pPr>
            <a:r>
              <a:rPr lang="en-US" sz="800" dirty="0">
                <a:solidFill>
                  <a:srgbClr val="C9A54E"/>
                </a:solidFill>
                <a:latin typeface="Source Sans 3" pitchFamily="34" charset="0"/>
                <a:ea typeface="Source Sans 3" pitchFamily="34" charset="-122"/>
                <a:cs typeface="Source Sans 3" pitchFamily="34" charset="-120"/>
              </a:rPr>
              <a:t>https://www.healthline.com/nutrition/benefits-of-chlorella</a:t>
            </a:r>
            <a:endParaRPr lang="en-US" sz="1000" dirty="0"/>
          </a:p>
          <a:p>
            <a:pPr indent="0" marL="0">
              <a:buNone/>
            </a:pPr>
            <a:r>
              <a:rPr lang="en-US" sz="1000" b="1" dirty="0">
                <a:solidFill>
                  <a:srgbClr val="C9A54E"/>
                </a:solidFill>
                <a:latin typeface="Source Sans 3" pitchFamily="34" charset="0"/>
                <a:ea typeface="Source Sans 3" pitchFamily="34" charset="-122"/>
                <a:cs typeface="Source Sans 3" pitchFamily="34" charset="-120"/>
              </a:rPr>
              <a:t>Marine Phytoplankton Benefits</a:t>
            </a:r>
            <a:pPr indent="0" marL="0">
              <a:buNone/>
            </a:pPr>
            <a:r>
              <a:rPr lang="en-US" sz="900" dirty="0">
                <a:solidFill>
                  <a:srgbClr val="5A6B8A"/>
                </a:solidFill>
                <a:latin typeface="Source Sans 3" pitchFamily="34" charset="0"/>
                <a:ea typeface="Source Sans 3" pitchFamily="34" charset="-122"/>
                <a:cs typeface="Source Sans 3" pitchFamily="34" charset="-120"/>
              </a:rPr>
              <a:t> — How marine phytoplankton provides bioavailable nutrition at the cellular level</a:t>
            </a:r>
            <a:pPr indent="0" marL="0">
              <a:buNone/>
            </a:pPr>
            <a:endParaRPr lang="en-US" sz="1000" dirty="0"/>
          </a:p>
          <a:p>
            <a:pPr indent="0" marL="0">
              <a:buNone/>
            </a:pPr>
            <a:r>
              <a:rPr lang="en-US" sz="800" dirty="0">
                <a:solidFill>
                  <a:srgbClr val="C9A54E"/>
                </a:solidFill>
                <a:latin typeface="Source Sans 3" pitchFamily="34" charset="0"/>
                <a:ea typeface="Source Sans 3" pitchFamily="34" charset="-122"/>
                <a:cs typeface="Source Sans 3" pitchFamily="34" charset="-120"/>
              </a:rPr>
              <a:t>https://flexhealthandwellness.com/blogs/blog/marine-phytoplankton-improves-human-health</a:t>
            </a:r>
            <a:endParaRPr lang="en-US" sz="1000" dirty="0"/>
          </a:p>
          <a:p>
            <a:pPr indent="0" marL="0">
              <a:buNone/>
            </a:pPr>
            <a:r>
              <a:rPr lang="en-US" sz="1000" b="1" dirty="0">
                <a:solidFill>
                  <a:srgbClr val="C9A54E"/>
                </a:solidFill>
                <a:latin typeface="Source Sans 3" pitchFamily="34" charset="0"/>
                <a:ea typeface="Source Sans 3" pitchFamily="34" charset="-122"/>
                <a:cs typeface="Source Sans 3" pitchFamily="34" charset="-120"/>
              </a:rPr>
              <a:t>Sirtuins and Atherosclerosis Reduction</a:t>
            </a:r>
            <a:pPr indent="0" marL="0">
              <a:buNone/>
            </a:pPr>
            <a:r>
              <a:rPr lang="en-US" sz="900" dirty="0">
                <a:solidFill>
                  <a:srgbClr val="5A6B8A"/>
                </a:solidFill>
                <a:latin typeface="Source Sans 3" pitchFamily="34" charset="0"/>
                <a:ea typeface="Source Sans 3" pitchFamily="34" charset="-122"/>
                <a:cs typeface="Source Sans 3" pitchFamily="34" charset="-120"/>
              </a:rPr>
              <a:t> — Peer-reviewed research on how sirtuin activation reduces atherosclerosis — the science behind our NAD+ protocols</a:t>
            </a:r>
            <a:pPr indent="0" marL="0">
              <a:buNone/>
            </a:pPr>
            <a:endParaRPr lang="en-US" sz="1000" dirty="0"/>
          </a:p>
          <a:p>
            <a:pPr indent="0" marL="0">
              <a:buNone/>
            </a:pPr>
            <a:r>
              <a:rPr lang="en-US" sz="800" dirty="0">
                <a:solidFill>
                  <a:srgbClr val="C9A54E"/>
                </a:solidFill>
                <a:latin typeface="Source Sans 3" pitchFamily="34" charset="0"/>
                <a:ea typeface="Source Sans 3" pitchFamily="34" charset="-122"/>
                <a:cs typeface="Source Sans 3" pitchFamily="34" charset="-120"/>
              </a:rPr>
              <a:t>https://www.ahajournals.org/doi/10.1161/CIRCRESAHA.118.312498</a:t>
            </a:r>
            <a:endParaRPr lang="en-US" sz="1000" dirty="0"/>
          </a:p>
          <a:p>
            <a:pPr indent="0" marL="0">
              <a:buNone/>
            </a:pPr>
            <a:r>
              <a:rPr lang="en-US" sz="1000" b="1" dirty="0">
                <a:solidFill>
                  <a:srgbClr val="C9A54E"/>
                </a:solidFill>
                <a:latin typeface="Source Sans 3" pitchFamily="34" charset="0"/>
                <a:ea typeface="Source Sans 3" pitchFamily="34" charset="-122"/>
                <a:cs typeface="Source Sans 3" pitchFamily="34" charset="-120"/>
              </a:rPr>
              <a:t>DMSO IV for Plaque Reduction</a:t>
            </a:r>
            <a:pPr indent="0" marL="0">
              <a:buNone/>
            </a:pPr>
            <a:r>
              <a:rPr lang="en-US" sz="900" dirty="0">
                <a:solidFill>
                  <a:srgbClr val="5A6B8A"/>
                </a:solidFill>
                <a:latin typeface="Source Sans 3" pitchFamily="34" charset="0"/>
                <a:ea typeface="Source Sans 3" pitchFamily="34" charset="-122"/>
                <a:cs typeface="Source Sans 3" pitchFamily="34" charset="-120"/>
              </a:rPr>
              <a:t> — How DMSO IV therapy supports plaque reduction and cardiovascular health</a:t>
            </a:r>
            <a:pPr indent="0" marL="0">
              <a:buNone/>
            </a:pPr>
            <a:endParaRPr lang="en-US" sz="1000" dirty="0"/>
          </a:p>
          <a:p>
            <a:pPr indent="0" marL="0">
              <a:buNone/>
            </a:pPr>
            <a:r>
              <a:rPr lang="en-US" sz="800" dirty="0">
                <a:solidFill>
                  <a:srgbClr val="C9A54E"/>
                </a:solidFill>
                <a:latin typeface="Source Sans 3" pitchFamily="34" charset="0"/>
                <a:ea typeface="Source Sans 3" pitchFamily="34" charset="-122"/>
                <a:cs typeface="Source Sans 3" pitchFamily="34" charset="-120"/>
              </a:rPr>
              <a:t>https://www.lifeextension.com/magazine/2007/7/cover_dmso</a:t>
            </a:r>
            <a:endParaRPr lang="en-US" sz="1000" dirty="0"/>
          </a:p>
          <a:p>
            <a:pPr indent="0" marL="0">
              <a:buNone/>
            </a:pPr>
            <a:r>
              <a:rPr lang="en-US" sz="1000" b="1" dirty="0">
                <a:solidFill>
                  <a:srgbClr val="C9A54E"/>
                </a:solidFill>
                <a:latin typeface="Source Sans 3" pitchFamily="34" charset="0"/>
                <a:ea typeface="Source Sans 3" pitchFamily="34" charset="-122"/>
                <a:cs typeface="Source Sans 3" pitchFamily="34" charset="-120"/>
              </a:rPr>
              <a:t>Hydrogen Peroxide for Clogged Arteries</a:t>
            </a:r>
            <a:pPr indent="0" marL="0">
              <a:buNone/>
            </a:pPr>
            <a:r>
              <a:rPr lang="en-US" sz="900" dirty="0">
                <a:solidFill>
                  <a:srgbClr val="5A6B8A"/>
                </a:solidFill>
                <a:latin typeface="Source Sans 3" pitchFamily="34" charset="0"/>
                <a:ea typeface="Source Sans 3" pitchFamily="34" charset="-122"/>
                <a:cs typeface="Source Sans 3" pitchFamily="34" charset="-120"/>
              </a:rPr>
              <a:t> — How hydrogen peroxide therapy supports arterial clearance and cardiovascular function</a:t>
            </a:r>
            <a:pPr indent="0" marL="0">
              <a:buNone/>
            </a:pPr>
            <a:endParaRPr lang="en-US" sz="1000" dirty="0"/>
          </a:p>
          <a:p>
            <a:pPr indent="0" marL="0">
              <a:buNone/>
            </a:pPr>
            <a:r>
              <a:rPr lang="en-US" sz="800" dirty="0">
                <a:solidFill>
                  <a:srgbClr val="C9A54E"/>
                </a:solidFill>
                <a:latin typeface="Source Sans 3" pitchFamily="34" charset="0"/>
                <a:ea typeface="Source Sans 3" pitchFamily="34" charset="-122"/>
                <a:cs typeface="Source Sans 3" pitchFamily="34" charset="-120"/>
              </a:rPr>
              <a:t>https://rmcgeorgia.com/how-hydrogen-peroxide-helps-clear-clogged-arteries/</a:t>
            </a:r>
            <a:endParaRPr lang="en-US" sz="1000" dirty="0"/>
          </a:p>
          <a:p>
            <a:pPr indent="0" marL="0">
              <a:buNone/>
            </a:pPr>
            <a:r>
              <a:rPr lang="en-US" sz="1000" b="1" dirty="0">
                <a:solidFill>
                  <a:srgbClr val="C9A54E"/>
                </a:solidFill>
                <a:latin typeface="Source Sans 3" pitchFamily="34" charset="0"/>
                <a:ea typeface="Source Sans 3" pitchFamily="34" charset="-122"/>
                <a:cs typeface="Source Sans 3" pitchFamily="34" charset="-120"/>
              </a:rPr>
              <a:t>Fenbendazole and Cancer: Research Overview</a:t>
            </a:r>
            <a:pPr indent="0" marL="0">
              <a:buNone/>
            </a:pPr>
            <a:r>
              <a:rPr lang="en-US" sz="900" dirty="0">
                <a:solidFill>
                  <a:srgbClr val="5A6B8A"/>
                </a:solidFill>
                <a:latin typeface="Source Sans 3" pitchFamily="34" charset="0"/>
                <a:ea typeface="Source Sans 3" pitchFamily="34" charset="-122"/>
                <a:cs typeface="Source Sans 3" pitchFamily="34" charset="-120"/>
              </a:rPr>
              <a:t> — Anti-parasitic compounds showing documented anti-tumor properties in preclinical studies</a:t>
            </a:r>
            <a:pPr indent="0" marL="0">
              <a:buNone/>
            </a:pPr>
            <a:endParaRPr lang="en-US" sz="1000" dirty="0"/>
          </a:p>
          <a:p>
            <a:pPr indent="0" marL="0">
              <a:buNone/>
            </a:pPr>
            <a:r>
              <a:rPr lang="en-US" sz="800" dirty="0">
                <a:solidFill>
                  <a:srgbClr val="C9A54E"/>
                </a:solidFill>
                <a:latin typeface="Source Sans 3" pitchFamily="34" charset="0"/>
                <a:ea typeface="Source Sans 3" pitchFamily="34" charset="-122"/>
                <a:cs typeface="Source Sans 3" pitchFamily="34" charset="-120"/>
              </a:rPr>
              <a:t>https://www.ncbi.nlm.nih.gov/pmc/articles/PMC7523519/</a:t>
            </a:r>
            <a:endParaRPr lang="en-US" sz="1000" dirty="0"/>
          </a:p>
          <a:p>
            <a:pPr indent="0" marL="0">
              <a:buNone/>
            </a:pPr>
            <a:r>
              <a:rPr lang="en-US" sz="1000" b="1" dirty="0">
                <a:solidFill>
                  <a:srgbClr val="C9A54E"/>
                </a:solidFill>
                <a:latin typeface="Source Sans 3" pitchFamily="34" charset="0"/>
                <a:ea typeface="Source Sans 3" pitchFamily="34" charset="-122"/>
                <a:cs typeface="Source Sans 3" pitchFamily="34" charset="-120"/>
              </a:rPr>
              <a:t>High-Dose Vitamin C in Cancer Protocol</a:t>
            </a:r>
            <a:pPr indent="0" marL="0">
              <a:buNone/>
            </a:pPr>
            <a:r>
              <a:rPr lang="en-US" sz="900" dirty="0">
                <a:solidFill>
                  <a:srgbClr val="5A6B8A"/>
                </a:solidFill>
                <a:latin typeface="Source Sans 3" pitchFamily="34" charset="0"/>
                <a:ea typeface="Source Sans 3" pitchFamily="34" charset="-122"/>
                <a:cs typeface="Source Sans 3" pitchFamily="34" charset="-120"/>
              </a:rPr>
              <a:t> — Peer-reviewed evidence for IV vitamin C as adjunctive cancer therapy</a:t>
            </a:r>
            <a:pPr indent="0" marL="0">
              <a:buNone/>
            </a:pPr>
            <a:endParaRPr lang="en-US" sz="1000" dirty="0"/>
          </a:p>
          <a:p>
            <a:pPr indent="0" marL="0">
              <a:buNone/>
            </a:pPr>
            <a:r>
              <a:rPr lang="en-US" sz="800" dirty="0">
                <a:solidFill>
                  <a:srgbClr val="C9A54E"/>
                </a:solidFill>
                <a:latin typeface="Source Sans 3" pitchFamily="34" charset="0"/>
                <a:ea typeface="Source Sans 3" pitchFamily="34" charset="-122"/>
                <a:cs typeface="Source Sans 3" pitchFamily="34" charset="-120"/>
              </a:rPr>
              <a:t>https://www.ncbi.nlm.nih.gov/pmc/articles/PMC5927785/</a:t>
            </a:r>
            <a:endParaRPr lang="en-US" sz="1000" dirty="0"/>
          </a:p>
          <a:p>
            <a:pPr indent="0" marL="0">
              <a:buNone/>
            </a:pPr>
            <a:r>
              <a:rPr lang="en-US" sz="1000" b="1" dirty="0">
                <a:solidFill>
                  <a:srgbClr val="C9A54E"/>
                </a:solidFill>
                <a:latin typeface="Source Sans 3" pitchFamily="34" charset="0"/>
                <a:ea typeface="Source Sans 3" pitchFamily="34" charset="-122"/>
                <a:cs typeface="Source Sans 3" pitchFamily="34" charset="-120"/>
              </a:rPr>
              <a:t>Endocannabinoid System and Immune Regulation</a:t>
            </a:r>
            <a:pPr indent="0" marL="0">
              <a:buNone/>
            </a:pPr>
            <a:r>
              <a:rPr lang="en-US" sz="900" dirty="0">
                <a:solidFill>
                  <a:srgbClr val="5A6B8A"/>
                </a:solidFill>
                <a:latin typeface="Source Sans 3" pitchFamily="34" charset="0"/>
                <a:ea typeface="Source Sans 3" pitchFamily="34" charset="-122"/>
                <a:cs typeface="Source Sans 3" pitchFamily="34" charset="-120"/>
              </a:rPr>
              <a:t> — How the ECS modulates immune response — the science behind our CBD/CBG protocols</a:t>
            </a:r>
            <a:pPr indent="0" marL="0">
              <a:buNone/>
            </a:pPr>
            <a:endParaRPr lang="en-US" sz="1000" dirty="0"/>
          </a:p>
          <a:p>
            <a:pPr indent="0" marL="0">
              <a:buNone/>
            </a:pPr>
            <a:r>
              <a:rPr lang="en-US" sz="800" dirty="0">
                <a:solidFill>
                  <a:srgbClr val="C9A54E"/>
                </a:solidFill>
                <a:latin typeface="Source Sans 3" pitchFamily="34" charset="0"/>
                <a:ea typeface="Source Sans 3" pitchFamily="34" charset="-122"/>
                <a:cs typeface="Source Sans 3" pitchFamily="34" charset="-120"/>
              </a:rPr>
              <a:t>https://www.ncbi.nlm.nih.gov/pmc/articles/PMC7023045/</a:t>
            </a:r>
            <a:endParaRPr lang="en-US" sz="1000" dirty="0"/>
          </a:p>
          <a:p>
            <a:pPr indent="0" marL="0">
              <a:buNone/>
            </a:pPr>
            <a:r>
              <a:rPr lang="en-US" sz="1000" b="1" dirty="0">
                <a:solidFill>
                  <a:srgbClr val="C9A54E"/>
                </a:solidFill>
                <a:latin typeface="Source Sans 3" pitchFamily="34" charset="0"/>
                <a:ea typeface="Source Sans 3" pitchFamily="34" charset="-122"/>
                <a:cs typeface="Source Sans 3" pitchFamily="34" charset="-120"/>
              </a:rPr>
              <a:t>Iodine Deficiency and Thyroid/Cancer Connection</a:t>
            </a:r>
            <a:pPr indent="0" marL="0">
              <a:buNone/>
            </a:pPr>
            <a:r>
              <a:rPr lang="en-US" sz="900" dirty="0">
                <a:solidFill>
                  <a:srgbClr val="5A6B8A"/>
                </a:solidFill>
                <a:latin typeface="Source Sans 3" pitchFamily="34" charset="0"/>
                <a:ea typeface="Source Sans 3" pitchFamily="34" charset="-122"/>
                <a:cs typeface="Source Sans 3" pitchFamily="34" charset="-120"/>
              </a:rPr>
              <a:t> — Relationship between iodine deficiency, thyroid dysfunction, and cancer risk</a:t>
            </a:r>
            <a:pPr indent="0" marL="0">
              <a:buNone/>
            </a:pPr>
            <a:endParaRPr lang="en-US" sz="1000" dirty="0"/>
          </a:p>
          <a:p>
            <a:pPr indent="0" marL="0">
              <a:buNone/>
            </a:pPr>
            <a:r>
              <a:rPr lang="en-US" sz="800" dirty="0">
                <a:solidFill>
                  <a:srgbClr val="C9A54E"/>
                </a:solidFill>
                <a:latin typeface="Source Sans 3" pitchFamily="34" charset="0"/>
                <a:ea typeface="Source Sans 3" pitchFamily="34" charset="-122"/>
                <a:cs typeface="Source Sans 3" pitchFamily="34" charset="-120"/>
              </a:rPr>
              <a:t>https://www.ncbi.nlm.nih.gov/pmc/articles/PMC3752513/</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8EDF5"/>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lIns="0" tIns="0" rIns="0" bIns="0" rtlCol="0" anchor="ctr"/>
          <a:lstStyle/>
          <a:p>
            <a:pPr indent="0" marL="0">
              <a:buNone/>
            </a:pPr>
            <a:r>
              <a:rPr lang="en-US" sz="2200" b="1" dirty="0">
                <a:solidFill>
                  <a:srgbClr val="1A2440"/>
                </a:solidFill>
                <a:latin typeface="Playfair Display" pitchFamily="34" charset="0"/>
                <a:ea typeface="Playfair Display" pitchFamily="34" charset="-122"/>
                <a:cs typeface="Playfair Display" pitchFamily="34" charset="-120"/>
              </a:rPr>
              <a:t>Additional Research and Google Drive Links</a:t>
            </a:r>
            <a:endParaRPr lang="en-US" sz="2200" dirty="0"/>
          </a:p>
        </p:txBody>
      </p:sp>
      <p:sp>
        <p:nvSpPr>
          <p:cNvPr id="3" name="Shape 1"/>
          <p:cNvSpPr/>
          <p:nvPr/>
        </p:nvSpPr>
        <p:spPr>
          <a:xfrm>
            <a:off x="457200" y="914400"/>
            <a:ext cx="8229600" cy="274320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4" name="Text 2"/>
          <p:cNvSpPr/>
          <p:nvPr/>
        </p:nvSpPr>
        <p:spPr>
          <a:xfrm>
            <a:off x="640080" y="960120"/>
            <a:ext cx="7863840" cy="274320"/>
          </a:xfrm>
          <a:prstGeom prst="rect">
            <a:avLst/>
          </a:prstGeom>
          <a:noFill/>
          <a:ln/>
        </p:spPr>
        <p:txBody>
          <a:bodyPr wrap="square" rtlCol="0" anchor="ctr"/>
          <a:lstStyle/>
          <a:p>
            <a:pPr indent="0" marL="0">
              <a:buNone/>
            </a:pPr>
            <a:r>
              <a:rPr lang="en-US" sz="1100" dirty="0">
                <a:solidFill>
                  <a:srgbClr val="5A6B8A"/>
                </a:solidFill>
                <a:latin typeface="Source Sans 3" pitchFamily="34" charset="0"/>
                <a:ea typeface="Source Sans 3" pitchFamily="34" charset="-122"/>
                <a:cs typeface="Source Sans 3" pitchFamily="34" charset="-120"/>
              </a:rPr>
              <a:t>Links to Daily Schedule, Library and Research, Detox Baths, and 5 Day fasting instructions</a:t>
            </a:r>
            <a:endParaRPr lang="en-US" sz="1100" dirty="0"/>
          </a:p>
        </p:txBody>
      </p:sp>
      <p:sp>
        <p:nvSpPr>
          <p:cNvPr id="5" name="Text 3"/>
          <p:cNvSpPr/>
          <p:nvPr/>
        </p:nvSpPr>
        <p:spPr>
          <a:xfrm>
            <a:off x="640080" y="1280160"/>
            <a:ext cx="7863840" cy="2286000"/>
          </a:xfrm>
          <a:prstGeom prst="rect">
            <a:avLst/>
          </a:prstGeom>
          <a:noFill/>
          <a:ln/>
        </p:spPr>
        <p:txBody>
          <a:bodyPr wrap="square" rtlCol="0" anchor="t"/>
          <a:lstStyle/>
          <a:p>
            <a:pPr indent="0" marL="0">
              <a:buNone/>
            </a:pPr>
            <a:r>
              <a:rPr lang="en-US" sz="1000" b="1" dirty="0">
                <a:solidFill>
                  <a:srgbClr val="1A2440"/>
                </a:solidFill>
                <a:latin typeface="Source Sans 3" pitchFamily="34" charset="0"/>
                <a:ea typeface="Source Sans 3" pitchFamily="34" charset="-122"/>
                <a:cs typeface="Source Sans 3" pitchFamily="34" charset="-120"/>
              </a:rPr>
              <a:t>FF Research Document Library</a:t>
            </a:r>
            <a:pPr indent="0" marL="0">
              <a:buNone/>
            </a:pPr>
            <a:r>
              <a:rPr lang="en-US" sz="900" dirty="0">
                <a:solidFill>
                  <a:srgbClr val="5A6B8A"/>
                </a:solidFill>
                <a:latin typeface="Source Sans 3" pitchFamily="34" charset="0"/>
                <a:ea typeface="Source Sans 3" pitchFamily="34" charset="-122"/>
                <a:cs typeface="Source Sans 3" pitchFamily="34" charset="-120"/>
              </a:rPr>
              <a:t> — Complete research library — peer-reviewed papers, clinical protocols, and educational materials</a:t>
            </a:r>
            <a:pPr indent="0" marL="0">
              <a:buNone/>
            </a:pPr>
            <a:endParaRPr lang="en-US" sz="1000" dirty="0"/>
          </a:p>
          <a:p>
            <a:pPr indent="0" marL="0">
              <a:buNone/>
            </a:pPr>
            <a:r>
              <a:rPr lang="en-US" sz="800" dirty="0">
                <a:solidFill>
                  <a:srgbClr val="C9A54E"/>
                </a:solidFill>
                <a:latin typeface="Source Sans 3" pitchFamily="34" charset="0"/>
                <a:ea typeface="Source Sans 3" pitchFamily="34" charset="-122"/>
                <a:cs typeface="Source Sans 3" pitchFamily="34" charset="-120"/>
              </a:rPr>
              <a:t>https://drive.google.com/drive/folders/1HfK-h2NemdU2ew9L9ZwJCXUMLTI8Q-Rn?usp=drive_link</a:t>
            </a:r>
            <a:endParaRPr lang="en-US" sz="1000" dirty="0"/>
          </a:p>
          <a:p>
            <a:pPr indent="0" marL="0">
              <a:buNone/>
            </a:pPr>
            <a:r>
              <a:rPr lang="en-US" sz="1000" b="1" dirty="0">
                <a:solidFill>
                  <a:srgbClr val="1A2440"/>
                </a:solidFill>
                <a:latin typeface="Source Sans 3" pitchFamily="34" charset="0"/>
                <a:ea typeface="Source Sans 3" pitchFamily="34" charset="-122"/>
                <a:cs typeface="Source Sans 3" pitchFamily="34" charset="-120"/>
              </a:rPr>
              <a:t>FF Main Library</a:t>
            </a:r>
            <a:pPr indent="0" marL="0">
              <a:buNone/>
            </a:pPr>
            <a:r>
              <a:rPr lang="en-US" sz="900" dirty="0">
                <a:solidFill>
                  <a:srgbClr val="5A6B8A"/>
                </a:solidFill>
                <a:latin typeface="Source Sans 3" pitchFamily="34" charset="0"/>
                <a:ea typeface="Source Sans 3" pitchFamily="34" charset="-122"/>
                <a:cs typeface="Source Sans 3" pitchFamily="34" charset="-120"/>
              </a:rPr>
              <a:t> — Master resource folder — all protocol guides, templates, and educational materials</a:t>
            </a:r>
            <a:pPr indent="0" marL="0">
              <a:buNone/>
            </a:pPr>
            <a:endParaRPr lang="en-US" sz="1000" dirty="0"/>
          </a:p>
          <a:p>
            <a:pPr indent="0" marL="0">
              <a:buNone/>
            </a:pPr>
            <a:r>
              <a:rPr lang="en-US" sz="800" dirty="0">
                <a:solidFill>
                  <a:srgbClr val="C9A54E"/>
                </a:solidFill>
                <a:latin typeface="Source Sans 3" pitchFamily="34" charset="0"/>
                <a:ea typeface="Source Sans 3" pitchFamily="34" charset="-122"/>
                <a:cs typeface="Source Sans 3" pitchFamily="34" charset="-120"/>
              </a:rPr>
              <a:t>https://drive.google.com/drive/folders/1s6EdFtZ7dZY7utr8J843CFxyAjuuwHPX?usp=drive_link</a:t>
            </a:r>
            <a:endParaRPr lang="en-US" sz="1000" dirty="0"/>
          </a:p>
          <a:p>
            <a:pPr indent="0" marL="0">
              <a:buNone/>
            </a:pPr>
            <a:r>
              <a:rPr lang="en-US" sz="1000" b="1" dirty="0">
                <a:solidFill>
                  <a:srgbClr val="1A2440"/>
                </a:solidFill>
                <a:latin typeface="Source Sans 3" pitchFamily="34" charset="0"/>
                <a:ea typeface="Source Sans 3" pitchFamily="34" charset="-122"/>
                <a:cs typeface="Source Sans 3" pitchFamily="34" charset="-120"/>
              </a:rPr>
              <a:t>5 Day Fast Protocol</a:t>
            </a:r>
            <a:pPr indent="0" marL="0">
              <a:buNone/>
            </a:pPr>
            <a:r>
              <a:rPr lang="en-US" sz="900" dirty="0">
                <a:solidFill>
                  <a:srgbClr val="5A6B8A"/>
                </a:solidFill>
                <a:latin typeface="Source Sans 3" pitchFamily="34" charset="0"/>
                <a:ea typeface="Source Sans 3" pitchFamily="34" charset="-122"/>
                <a:cs typeface="Source Sans 3" pitchFamily="34" charset="-120"/>
              </a:rPr>
              <a:t> — Guided 5-day fasting protocol for deep cellular repair, autophagy, and immune reset</a:t>
            </a:r>
            <a:pPr indent="0" marL="0">
              <a:buNone/>
            </a:pPr>
            <a:endParaRPr lang="en-US" sz="1000" dirty="0"/>
          </a:p>
          <a:p>
            <a:pPr indent="0" marL="0">
              <a:buNone/>
            </a:pPr>
            <a:r>
              <a:rPr lang="en-US" sz="800" dirty="0">
                <a:solidFill>
                  <a:srgbClr val="C9A54E"/>
                </a:solidFill>
                <a:latin typeface="Source Sans 3" pitchFamily="34" charset="0"/>
                <a:ea typeface="Source Sans 3" pitchFamily="34" charset="-122"/>
                <a:cs typeface="Source Sans 3" pitchFamily="34" charset="-120"/>
              </a:rPr>
              <a:t>https://docs.google.com/document/d/1NqvmXbq4fh3j6AqAVKnCtnaD8vuTjXv3feV43KJdJGg/edit?usp=sharing</a:t>
            </a:r>
            <a:endParaRPr lang="en-US" sz="1000" dirty="0"/>
          </a:p>
          <a:p>
            <a:pPr indent="0" marL="0">
              <a:buNone/>
            </a:pPr>
            <a:r>
              <a:rPr lang="en-US" sz="1000" b="1" dirty="0">
                <a:solidFill>
                  <a:srgbClr val="1A2440"/>
                </a:solidFill>
                <a:latin typeface="Source Sans 3" pitchFamily="34" charset="0"/>
                <a:ea typeface="Source Sans 3" pitchFamily="34" charset="-122"/>
                <a:cs typeface="Source Sans 3" pitchFamily="34" charset="-120"/>
              </a:rPr>
              <a:t>Daily Schedule &amp; Routine Template</a:t>
            </a:r>
            <a:pPr indent="0" marL="0">
              <a:buNone/>
            </a:pPr>
            <a:r>
              <a:rPr lang="en-US" sz="900" dirty="0">
                <a:solidFill>
                  <a:srgbClr val="5A6B8A"/>
                </a:solidFill>
                <a:latin typeface="Source Sans 3" pitchFamily="34" charset="0"/>
                <a:ea typeface="Source Sans 3" pitchFamily="34" charset="-122"/>
                <a:cs typeface="Source Sans 3" pitchFamily="34" charset="-120"/>
              </a:rPr>
              <a:t> — Master daily routine template — timing for supplements, peptides, and therapies</a:t>
            </a:r>
            <a:pPr indent="0" marL="0">
              <a:buNone/>
            </a:pPr>
            <a:endParaRPr lang="en-US" sz="1000" dirty="0"/>
          </a:p>
          <a:p>
            <a:pPr indent="0" marL="0">
              <a:buNone/>
            </a:pPr>
            <a:r>
              <a:rPr lang="en-US" sz="800" dirty="0">
                <a:solidFill>
                  <a:srgbClr val="C9A54E"/>
                </a:solidFill>
                <a:latin typeface="Source Sans 3" pitchFamily="34" charset="0"/>
                <a:ea typeface="Source Sans 3" pitchFamily="34" charset="-122"/>
                <a:cs typeface="Source Sans 3" pitchFamily="34" charset="-120"/>
              </a:rPr>
              <a:t>https://docs.google.com/document/d/1K_36WNxm-dAwDHKqz8juGMHJHzRRzBp2OSwiMA1Wx-Q/edit?usp=sharing</a:t>
            </a:r>
            <a:endParaRPr lang="en-US" sz="1000" dirty="0"/>
          </a:p>
          <a:p>
            <a:pPr indent="0" marL="0">
              <a:buNone/>
            </a:pPr>
            <a:r>
              <a:rPr lang="en-US" sz="1000" b="1" dirty="0">
                <a:solidFill>
                  <a:srgbClr val="1A2440"/>
                </a:solidFill>
                <a:latin typeface="Source Sans 3" pitchFamily="34" charset="0"/>
                <a:ea typeface="Source Sans 3" pitchFamily="34" charset="-122"/>
                <a:cs typeface="Source Sans 3" pitchFamily="34" charset="-120"/>
              </a:rPr>
              <a:t>Detox Bath Protocol</a:t>
            </a:r>
            <a:pPr indent="0" marL="0">
              <a:buNone/>
            </a:pPr>
            <a:r>
              <a:rPr lang="en-US" sz="900" dirty="0">
                <a:solidFill>
                  <a:srgbClr val="5A6B8A"/>
                </a:solidFill>
                <a:latin typeface="Source Sans 3" pitchFamily="34" charset="0"/>
                <a:ea typeface="Source Sans 3" pitchFamily="34" charset="-122"/>
                <a:cs typeface="Source Sans 3" pitchFamily="34" charset="-120"/>
              </a:rPr>
              <a:t> — Baking soda, bentonite clay, and Epsom salt detox bath instructions — 3x/week minimum for chelation support</a:t>
            </a:r>
            <a:pPr indent="0" marL="0">
              <a:buNone/>
            </a:pPr>
            <a:endParaRPr lang="en-US" sz="1000" dirty="0"/>
          </a:p>
          <a:p>
            <a:pPr indent="0" marL="0">
              <a:buNone/>
            </a:pPr>
            <a:r>
              <a:rPr lang="en-US" sz="800" dirty="0">
                <a:solidFill>
                  <a:srgbClr val="C9A54E"/>
                </a:solidFill>
                <a:latin typeface="Source Sans 3" pitchFamily="34" charset="0"/>
                <a:ea typeface="Source Sans 3" pitchFamily="34" charset="-122"/>
                <a:cs typeface="Source Sans 3" pitchFamily="34" charset="-120"/>
              </a:rPr>
              <a:t>https://docs.google.com/document/d/1eTxPg5XQj8R_vJ2kHJ5ZqN9dLfMwY3CaU8PnxC6mkfI/edit?usp=sharing</a:t>
            </a:r>
            <a:endParaRPr lang="en-US" sz="1000" dirty="0"/>
          </a:p>
          <a:p>
            <a:pPr indent="0" marL="0">
              <a:buNone/>
            </a:pPr>
            <a:r>
              <a:rPr lang="en-US" sz="1000" b="1" dirty="0">
                <a:solidFill>
                  <a:srgbClr val="1A2440"/>
                </a:solidFill>
                <a:latin typeface="Source Sans 3" pitchFamily="34" charset="0"/>
                <a:ea typeface="Source Sans 3" pitchFamily="34" charset="-122"/>
                <a:cs typeface="Source Sans 3" pitchFamily="34" charset="-120"/>
              </a:rPr>
              <a:t>Liver &amp; Gallbladder Cleanse Guide</a:t>
            </a:r>
            <a:pPr indent="0" marL="0">
              <a:buNone/>
            </a:pPr>
            <a:r>
              <a:rPr lang="en-US" sz="900" dirty="0">
                <a:solidFill>
                  <a:srgbClr val="5A6B8A"/>
                </a:solidFill>
                <a:latin typeface="Source Sans 3" pitchFamily="34" charset="0"/>
                <a:ea typeface="Source Sans 3" pitchFamily="34" charset="-122"/>
                <a:cs typeface="Source Sans 3" pitchFamily="34" charset="-120"/>
              </a:rPr>
              <a:t> — Step-by-step liver/gallbladder cleanse protocol — flush preparation, execution, and recovery phases</a:t>
            </a:r>
            <a:pPr indent="0" marL="0">
              <a:buNone/>
            </a:pPr>
            <a:endParaRPr lang="en-US" sz="1000" dirty="0"/>
          </a:p>
          <a:p>
            <a:pPr indent="0" marL="0">
              <a:buNone/>
            </a:pPr>
            <a:r>
              <a:rPr lang="en-US" sz="800" dirty="0">
                <a:solidFill>
                  <a:srgbClr val="C9A54E"/>
                </a:solidFill>
                <a:latin typeface="Source Sans 3" pitchFamily="34" charset="0"/>
                <a:ea typeface="Source Sans 3" pitchFamily="34" charset="-122"/>
                <a:cs typeface="Source Sans 3" pitchFamily="34" charset="-120"/>
              </a:rPr>
              <a:t>https://docs.google.com/document/d/1RmT4kQv5nJ9bH2cFgY7LwXpZ3sDqEfNvK8AhJm6wT0U/edit?usp=sharing</a:t>
            </a:r>
            <a:endParaRPr lang="en-US" sz="1000" dirty="0"/>
          </a:p>
        </p:txBody>
      </p:sp>
      <p:sp>
        <p:nvSpPr>
          <p:cNvPr id="6" name="Shape 4"/>
          <p:cNvSpPr/>
          <p:nvPr/>
        </p:nvSpPr>
        <p:spPr>
          <a:xfrm>
            <a:off x="457200" y="3840480"/>
            <a:ext cx="8229600" cy="1005840"/>
          </a:xfrm>
          <a:prstGeom prst="rect">
            <a:avLst/>
          </a:prstGeom>
          <a:solidFill>
            <a:srgbClr val="FFFFFF"/>
          </a:solidFill>
          <a:ln/>
          <a:effectLst>
            <a:outerShdw sx="100000" sy="100000" kx="0" ky="0" algn="bl" rotWithShape="0" blurRad="76200" dist="25400" dir="8100000">
              <a:srgbClr val="000000">
                <a:alpha val="15000"/>
              </a:srgbClr>
            </a:outerShdw>
          </a:effectLst>
        </p:spPr>
      </p:sp>
      <p:sp>
        <p:nvSpPr>
          <p:cNvPr id="7" name="Text 5"/>
          <p:cNvSpPr/>
          <p:nvPr/>
        </p:nvSpPr>
        <p:spPr>
          <a:xfrm>
            <a:off x="640080" y="3886200"/>
            <a:ext cx="7863840" cy="914400"/>
          </a:xfrm>
          <a:prstGeom prst="rect">
            <a:avLst/>
          </a:prstGeom>
          <a:noFill/>
          <a:ln/>
        </p:spPr>
        <p:txBody>
          <a:bodyPr wrap="square" rtlCol="0" anchor="t"/>
          <a:lstStyle/>
          <a:p>
            <a:pPr indent="0" marL="0">
              <a:buNone/>
            </a:pPr>
            <a:r>
              <a:rPr lang="en-US" sz="1000" b="1" dirty="0">
                <a:solidFill>
                  <a:srgbClr val="1A2440"/>
                </a:solidFill>
                <a:latin typeface="Source Sans 3" pitchFamily="34" charset="0"/>
                <a:ea typeface="Source Sans 3" pitchFamily="34" charset="-122"/>
                <a:cs typeface="Source Sans 3" pitchFamily="34" charset="-120"/>
              </a:rPr>
              <a:t>Jason Stephenson — Sleep Talk Downs</a:t>
            </a:r>
            <a:pPr indent="0" marL="0">
              <a:buNone/>
            </a:pPr>
            <a:r>
              <a:rPr lang="en-US" sz="900" dirty="0">
                <a:solidFill>
                  <a:srgbClr val="5A6B8A"/>
                </a:solidFill>
                <a:latin typeface="Source Sans 3" pitchFamily="34" charset="0"/>
                <a:ea typeface="Source Sans 3" pitchFamily="34" charset="-122"/>
                <a:cs typeface="Source Sans 3" pitchFamily="34" charset="-120"/>
              </a:rPr>
              <a:t> — Guided sleep meditations and talk-downs for restful, restorative sleep — essential for healing</a:t>
            </a:r>
            <a:pPr indent="0" marL="0">
              <a:buNone/>
            </a:pPr>
            <a:endParaRPr lang="en-US" sz="1000" dirty="0"/>
          </a:p>
          <a:p>
            <a:pPr indent="0" marL="0">
              <a:buNone/>
            </a:pPr>
            <a:r>
              <a:rPr lang="en-US" sz="800" dirty="0">
                <a:solidFill>
                  <a:srgbClr val="C9A54E"/>
                </a:solidFill>
                <a:latin typeface="Source Sans 3" pitchFamily="34" charset="0"/>
                <a:ea typeface="Source Sans 3" pitchFamily="34" charset="-122"/>
                <a:cs typeface="Source Sans 3" pitchFamily="34" charset="-120"/>
              </a:rPr>
              <a:t>https://www.youtube.com/@jasonstephensonmeditation</a:t>
            </a:r>
            <a:endParaRPr lang="en-US" sz="1000" dirty="0"/>
          </a:p>
          <a:p>
            <a:pPr indent="0" marL="0">
              <a:buNone/>
            </a:pPr>
            <a:r>
              <a:rPr lang="en-US" sz="1000" b="1" dirty="0">
                <a:solidFill>
                  <a:srgbClr val="1A2440"/>
                </a:solidFill>
                <a:latin typeface="Source Sans 3" pitchFamily="34" charset="0"/>
                <a:ea typeface="Source Sans 3" pitchFamily="34" charset="-122"/>
                <a:cs typeface="Source Sans 3" pitchFamily="34" charset="-120"/>
              </a:rPr>
              <a:t>PowerThoughts Meditation Club — Healing Frequencies</a:t>
            </a:r>
            <a:pPr indent="0" marL="0">
              <a:buNone/>
            </a:pPr>
            <a:r>
              <a:rPr lang="en-US" sz="900" dirty="0">
                <a:solidFill>
                  <a:srgbClr val="5A6B8A"/>
                </a:solidFill>
                <a:latin typeface="Source Sans 3" pitchFamily="34" charset="0"/>
                <a:ea typeface="Source Sans 3" pitchFamily="34" charset="-122"/>
                <a:cs typeface="Source Sans 3" pitchFamily="34" charset="-120"/>
              </a:rPr>
              <a:t> — Frequency healing work, binaural beats, and solfeggio frequencies for cellular regeneration</a:t>
            </a:r>
            <a:pPr indent="0" marL="0">
              <a:buNone/>
            </a:pPr>
            <a:endParaRPr lang="en-US" sz="1000" dirty="0"/>
          </a:p>
          <a:p>
            <a:pPr indent="0" marL="0">
              <a:buNone/>
            </a:pPr>
            <a:r>
              <a:rPr lang="en-US" sz="800" dirty="0">
                <a:solidFill>
                  <a:srgbClr val="C9A54E"/>
                </a:solidFill>
                <a:latin typeface="Source Sans 3" pitchFamily="34" charset="0"/>
                <a:ea typeface="Source Sans 3" pitchFamily="34" charset="-122"/>
                <a:cs typeface="Source Sans 3" pitchFamily="34" charset="-120"/>
              </a:rPr>
              <a:t>https://www.youtube.com/@PowerThoughtsclub</a:t>
            </a:r>
            <a:endParaRPr lang="en-US" sz="1000" dirty="0"/>
          </a:p>
          <a:p>
            <a:pPr indent="0" marL="0">
              <a:buNone/>
            </a:pPr>
            <a:r>
              <a:rPr lang="en-US" sz="1000" b="1" dirty="0">
                <a:solidFill>
                  <a:srgbClr val="1A2440"/>
                </a:solidFill>
                <a:latin typeface="Source Sans 3" pitchFamily="34" charset="0"/>
                <a:ea typeface="Source Sans 3" pitchFamily="34" charset="-122"/>
                <a:cs typeface="Source Sans 3" pitchFamily="34" charset="-120"/>
              </a:rPr>
              <a:t>Dr. Rachel Knox — The Endocannabinoid System (TED Talk)</a:t>
            </a:r>
            <a:pPr indent="0" marL="0">
              <a:buNone/>
            </a:pPr>
            <a:r>
              <a:rPr lang="en-US" sz="900" dirty="0">
                <a:solidFill>
                  <a:srgbClr val="5A6B8A"/>
                </a:solidFill>
                <a:latin typeface="Source Sans 3" pitchFamily="34" charset="0"/>
                <a:ea typeface="Source Sans 3" pitchFamily="34" charset="-122"/>
                <a:cs typeface="Source Sans 3" pitchFamily="34" charset="-120"/>
              </a:rPr>
              <a:t> — Understanding the ECS — the master regulatory system your body uses for homeostasis</a:t>
            </a:r>
            <a:pPr indent="0" marL="0">
              <a:buNone/>
            </a:pPr>
            <a:endParaRPr lang="en-US" sz="1000" dirty="0"/>
          </a:p>
          <a:p>
            <a:pPr indent="0" marL="0">
              <a:buNone/>
            </a:pPr>
            <a:r>
              <a:rPr lang="en-US" sz="800" dirty="0">
                <a:solidFill>
                  <a:srgbClr val="C9A54E"/>
                </a:solidFill>
                <a:latin typeface="Source Sans 3" pitchFamily="34" charset="0"/>
                <a:ea typeface="Source Sans 3" pitchFamily="34" charset="-122"/>
                <a:cs typeface="Source Sans 3" pitchFamily="34" charset="-120"/>
              </a:rPr>
              <a:t>https://www.youtube.com/watch?v=lWGirZAhDGM</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A0E1A"/>
        </a:solidFill>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C9A54E"/>
                </a:solidFill>
                <a:latin typeface="Playfair Display" pitchFamily="34" charset="0"/>
                <a:ea typeface="Playfair Display" pitchFamily="34" charset="-122"/>
                <a:cs typeface="Playfair Display" pitchFamily="34" charset="-120"/>
              </a:rPr>
              <a:t>My Commitment to You</a:t>
            </a:r>
            <a:endParaRPr lang="en-US" sz="2800" dirty="0"/>
          </a:p>
        </p:txBody>
      </p:sp>
      <p:sp>
        <p:nvSpPr>
          <p:cNvPr id="3" name="Text 1"/>
          <p:cNvSpPr/>
          <p:nvPr/>
        </p:nvSpPr>
        <p:spPr>
          <a:xfrm>
            <a:off x="640080" y="914400"/>
            <a:ext cx="7863840" cy="2926080"/>
          </a:xfrm>
          <a:prstGeom prst="rect">
            <a:avLst/>
          </a:prstGeom>
          <a:noFill/>
          <a:ln/>
        </p:spPr>
        <p:txBody>
          <a:bodyPr wrap="square" rtlCol="0" anchor="t"/>
          <a:lstStyle/>
          <a:p>
            <a:pPr indent="0" marL="0">
              <a:buNone/>
            </a:pPr>
            <a:r>
              <a:rPr lang="en-US" sz="1100" dirty="0">
                <a:solidFill>
                  <a:srgbClr val="FFFFFF"/>
                </a:solidFill>
                <a:latin typeface="Source Sans 3" pitchFamily="34" charset="0"/>
                <a:ea typeface="Source Sans 3" pitchFamily="34" charset="-122"/>
                <a:cs typeface="Source Sans 3" pitchFamily="34" charset="-120"/>
              </a:rPr>
              <a:t>I will do everything in my power and knowledge to focus on the root of all problems. Most doctors focus only on the symptoms, not the underlying cause of the disease or issue. We will not give up on you, but you need to work with us on every step of this protocol.</a:t>
            </a:r>
            <a:endParaRPr lang="en-US" sz="1100" dirty="0"/>
          </a:p>
          <a:p>
            <a:pPr indent="0" marL="0">
              <a:buNone/>
            </a:pPr>
            <a:endParaRPr lang="en-US" sz="1100" dirty="0"/>
          </a:p>
          <a:p>
            <a:pPr indent="0" marL="0">
              <a:buNone/>
            </a:pPr>
            <a:r>
              <a:rPr lang="en-US" sz="1100" dirty="0">
                <a:solidFill>
                  <a:srgbClr val="FFFFFF"/>
                </a:solidFill>
                <a:latin typeface="Source Sans 3" pitchFamily="34" charset="0"/>
                <a:ea typeface="Source Sans 3" pitchFamily="34" charset="-122"/>
                <a:cs typeface="Source Sans 3" pitchFamily="34" charset="-120"/>
              </a:rPr>
              <a:t>Don't lose hope and don't give up! There is no single pill or capsule that will fix this. Only a commitment to follow the steps laid herein — if you choose to do so, the ECS, the gut, and your body will take care of itself. Homeostasis is about balance in the body.</a:t>
            </a:r>
            <a:endParaRPr lang="en-US" sz="1100" dirty="0"/>
          </a:p>
          <a:p>
            <a:pPr indent="0" marL="0">
              <a:buNone/>
            </a:pPr>
            <a:endParaRPr lang="en-US" sz="1100" dirty="0"/>
          </a:p>
          <a:p>
            <a:pPr indent="0" marL="0">
              <a:buNone/>
            </a:pPr>
            <a:r>
              <a:rPr lang="en-US" sz="1100" dirty="0">
                <a:solidFill>
                  <a:srgbClr val="FFFFFF"/>
                </a:solidFill>
                <a:latin typeface="Source Sans 3" pitchFamily="34" charset="0"/>
                <a:ea typeface="Source Sans 3" pitchFamily="34" charset="-122"/>
                <a:cs typeface="Source Sans 3" pitchFamily="34" charset="-120"/>
              </a:rPr>
              <a:t>We have provided the educational tools and research to help guide you through your journey. Please utilize these resources. These are extremely specific formulations that only a handful of folks know how to do — it's my lifelong work.</a:t>
            </a:r>
            <a:endParaRPr lang="en-US" sz="1100" dirty="0"/>
          </a:p>
          <a:p>
            <a:pPr indent="0" marL="0">
              <a:buNone/>
            </a:pPr>
            <a:endParaRPr lang="en-US" sz="1100" dirty="0"/>
          </a:p>
          <a:p>
            <a:pPr indent="0" marL="0">
              <a:buNone/>
            </a:pPr>
            <a:r>
              <a:rPr lang="en-US" sz="1200" i="1" dirty="0">
                <a:solidFill>
                  <a:srgbClr val="C9A54E"/>
                </a:solidFill>
                <a:latin typeface="Source Sans 3" pitchFamily="34" charset="0"/>
                <a:ea typeface="Source Sans 3" pitchFamily="34" charset="-122"/>
                <a:cs typeface="Source Sans 3" pitchFamily="34" charset="-120"/>
              </a:rPr>
              <a:t>Hope is coming and a solution is in route. There is no doubt in my mind about the efficacy of our formulations and our 5 steps to health and wellness.</a:t>
            </a:r>
            <a:endParaRPr lang="en-US" sz="1100" dirty="0"/>
          </a:p>
          <a:p>
            <a:pPr indent="0" marL="0">
              <a:buNone/>
            </a:pPr>
            <a:endParaRPr lang="en-US" sz="1100" dirty="0"/>
          </a:p>
          <a:p>
            <a:pPr indent="0" marL="0">
              <a:buNone/>
            </a:pPr>
            <a:r>
              <a:rPr lang="en-US" sz="1100" dirty="0">
                <a:solidFill>
                  <a:srgbClr val="FFFFFF"/>
                </a:solidFill>
                <a:latin typeface="Source Sans 3" pitchFamily="34" charset="0"/>
                <a:ea typeface="Source Sans 3" pitchFamily="34" charset="-122"/>
                <a:cs typeface="Source Sans 3" pitchFamily="34" charset="-120"/>
              </a:rPr>
              <a:t>Thank you for giving us this opportunity. We are looking forward to healing you.</a:t>
            </a:r>
            <a:endParaRPr lang="en-US" sz="1100" dirty="0"/>
          </a:p>
        </p:txBody>
      </p:sp>
      <p:sp>
        <p:nvSpPr>
          <p:cNvPr id="4" name="Text 2"/>
          <p:cNvSpPr/>
          <p:nvPr/>
        </p:nvSpPr>
        <p:spPr>
          <a:xfrm>
            <a:off x="0" y="4023360"/>
            <a:ext cx="9144000" cy="365760"/>
          </a:xfrm>
          <a:prstGeom prst="rect">
            <a:avLst/>
          </a:prstGeom>
          <a:noFill/>
          <a:ln/>
        </p:spPr>
        <p:txBody>
          <a:bodyPr wrap="square" rtlCol="0" anchor="ctr"/>
          <a:lstStyle/>
          <a:p>
            <a:pPr algn="ctr" indent="0" marL="0">
              <a:buNone/>
            </a:pPr>
            <a:r>
              <a:rPr lang="en-US" sz="1600" b="1" dirty="0">
                <a:solidFill>
                  <a:srgbClr val="FFFFFF"/>
                </a:solidFill>
                <a:latin typeface="Playfair Display" pitchFamily="34" charset="0"/>
                <a:ea typeface="Playfair Display" pitchFamily="34" charset="-122"/>
                <a:cs typeface="Playfair Display" pitchFamily="34" charset="-120"/>
              </a:rPr>
              <a:t>Michael Blake</a:t>
            </a:r>
            <a:endParaRPr lang="en-US" sz="1600" dirty="0"/>
          </a:p>
        </p:txBody>
      </p:sp>
      <p:sp>
        <p:nvSpPr>
          <p:cNvPr id="5" name="Text 3"/>
          <p:cNvSpPr/>
          <p:nvPr/>
        </p:nvSpPr>
        <p:spPr>
          <a:xfrm>
            <a:off x="0" y="4389120"/>
            <a:ext cx="9144000" cy="274320"/>
          </a:xfrm>
          <a:prstGeom prst="rect">
            <a:avLst/>
          </a:prstGeom>
          <a:noFill/>
          <a:ln/>
        </p:spPr>
        <p:txBody>
          <a:bodyPr wrap="square" rtlCol="0" anchor="ctr"/>
          <a:lstStyle/>
          <a:p>
            <a:pPr algn="ctr" indent="0" marL="0">
              <a:buNone/>
            </a:pPr>
            <a:r>
              <a:rPr lang="en-US" sz="1200" dirty="0">
                <a:solidFill>
                  <a:srgbClr val="C9A54E"/>
                </a:solidFill>
                <a:latin typeface="Source Sans 3" pitchFamily="34" charset="0"/>
                <a:ea typeface="Source Sans 3" pitchFamily="34" charset="-122"/>
                <a:cs typeface="Source Sans 3" pitchFamily="34" charset="-120"/>
              </a:rPr>
              <a:t>FF Founder and Medical Trustee</a:t>
            </a:r>
            <a:endParaRPr lang="en-US" sz="1200" dirty="0"/>
          </a:p>
        </p:txBody>
      </p:sp>
      <p:sp>
        <p:nvSpPr>
          <p:cNvPr id="6" name="Text 4"/>
          <p:cNvSpPr/>
          <p:nvPr/>
        </p:nvSpPr>
        <p:spPr>
          <a:xfrm>
            <a:off x="914400" y="4663440"/>
            <a:ext cx="7315200" cy="365760"/>
          </a:xfrm>
          <a:prstGeom prst="rect">
            <a:avLst/>
          </a:prstGeom>
          <a:noFill/>
          <a:ln/>
        </p:spPr>
        <p:txBody>
          <a:bodyPr wrap="square" rtlCol="0" anchor="ctr"/>
          <a:lstStyle/>
          <a:p>
            <a:pPr algn="ctr" indent="0" marL="0">
              <a:buNone/>
            </a:pPr>
            <a:r>
              <a:rPr lang="en-US" sz="900" i="1" dirty="0">
                <a:solidFill>
                  <a:srgbClr val="8A95B0"/>
                </a:solidFill>
                <a:latin typeface="Source Sans 3" pitchFamily="34" charset="0"/>
                <a:ea typeface="Source Sans 3" pitchFamily="34" charset="-122"/>
                <a:cs typeface="Source Sans 3" pitchFamily="34" charset="-120"/>
              </a:rPr>
              <a:t>"Before you heal someone, ask him if he's willing to give up the things that make him sick"</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Annette Gomer — Member Protocol 2026</dc:title>
  <dc:subject>Structural template derived from Trustee reference PPTX (Drive: 1Tc_hVN7M6c2Q41151GXsvrH8OWAZ7hPL). Color theme: Navy (#1A2440/#0A0E1A) + Gold (#C9A54E) + Lavender (#E8EDF5/#C8CFE0). Fonts: Playfair Display (headers) + Source Sans 3 (body). Based on Trustee_Protocol_Template_UPDATE_1773744290526.pptx.</dc:subject>
  <dc:creator>Forgotten Formula PMA — DR. FORMULA</dc:creator>
  <cp:lastModifiedBy>Forgotten Formula PMA — DR. FORMULA</cp:lastModifiedBy>
  <cp:revision>1</cp:revision>
  <dcterms:created xsi:type="dcterms:W3CDTF">2026-03-17T11:16:12Z</dcterms:created>
  <dcterms:modified xsi:type="dcterms:W3CDTF">2026-03-17T11:16:12Z</dcterms:modified>
</cp:coreProperties>
</file>