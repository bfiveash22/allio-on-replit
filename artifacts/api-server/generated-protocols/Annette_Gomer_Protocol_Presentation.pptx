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orgottenformula.com/sho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hyperlink" Target="https://peptide-chat.abacusai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9144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FORGOTTEN FORMULA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155448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PRIVATE MEMBER ASSOCIATION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0" y="2194560"/>
            <a:ext cx="2743200" cy="0"/>
          </a:xfrm>
          <a:prstGeom prst="line">
            <a:avLst/>
          </a:prstGeom>
          <a:noFill/>
          <a:ln w="25400">
            <a:solidFill>
              <a:srgbClr val="C9A5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0" y="24688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Member Protocol  2026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0" y="31089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Annette Gomer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0" y="3566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95B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Prepared by: FF Trustee Michael Blake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926080" y="3931920"/>
            <a:ext cx="3291840" cy="320040"/>
          </a:xfrm>
          <a:prstGeom prst="rect">
            <a:avLst/>
          </a:prstGeom>
          <a:solidFill>
            <a:srgbClr val="1A0A0A"/>
          </a:solidFill>
          <a:ln/>
        </p:spPr>
      </p:sp>
      <p:sp>
        <p:nvSpPr>
          <p:cNvPr id="11" name="Text 9"/>
          <p:cNvSpPr/>
          <p:nvPr/>
        </p:nvSpPr>
        <p:spPr>
          <a:xfrm>
            <a:off x="292608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4444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CANCER-SPECIFIC PROTOCOL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71600" y="43891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95B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"Before you heal someone, ask him if he's willing to give up the things that make him sick"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— Hippocrates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ABOUT OUR ASSOCIATION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Is Forgotten Formula PMA?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Forgotten Formula PMA is a Private Members Association operating at the constitutional level — providing medical freedom through natural therapies, peptide protocols, and regenerative modalities.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Supreme Court has upheld the constitutional right to private association, allowing members to access modalities and therapeutic formulations outside of conventional regulation.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2651760" cy="128016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606040"/>
            <a:ext cx="26517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2743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Constitutional Protection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30632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Operating above state-level regulation under the right to private association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291840" y="2606040"/>
            <a:ext cx="2651760" cy="128016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1" name="Shape 9"/>
          <p:cNvSpPr/>
          <p:nvPr/>
        </p:nvSpPr>
        <p:spPr>
          <a:xfrm>
            <a:off x="3291840" y="2606040"/>
            <a:ext cx="26517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2743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In-House Manufacturing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429000" y="30632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Custom peptide compounding and bioregulator formulation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26480" y="2606040"/>
            <a:ext cx="2651760" cy="128016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5" name="Shape 13"/>
          <p:cNvSpPr/>
          <p:nvPr/>
        </p:nvSpPr>
        <p:spPr>
          <a:xfrm>
            <a:off x="6126480" y="2606040"/>
            <a:ext cx="26517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6" name="Text 14"/>
          <p:cNvSpPr/>
          <p:nvPr/>
        </p:nvSpPr>
        <p:spPr>
          <a:xfrm>
            <a:off x="6263640" y="2743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AI-Powered Research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63640" y="30632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DR. FORMULA protocol assembly backed by published PubMed research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40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95B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"We hold these truths to be self-evident…" — Declaration of Independence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PROTOCOL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What We'll Cover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023360" cy="73152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" y="10972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PMA Foundation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51560" y="14630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Constitutional framework &amp; philosophy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4023360" cy="73152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09728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49240" y="10972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Root-Cause Analysis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49240" y="14630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Diagnostic methodology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1965960"/>
            <a:ext cx="4023360" cy="73152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9659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51560" y="19659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Peptide Therapy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5156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Injectable, oral &amp; bioregulator protocols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754880" y="1965960"/>
            <a:ext cx="4023360" cy="73152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196596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349240" y="19659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HBOT &amp; IV Systems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349240" y="2331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Hyperbaric &amp; infusion therapy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2834640"/>
            <a:ext cx="4023360" cy="73152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83464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51560" y="2834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Detoxification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51560" y="3200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Heavy metal, pathogen &amp; gut protocols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54880" y="2834640"/>
            <a:ext cx="4023360" cy="73152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5" name="Text 23"/>
          <p:cNvSpPr/>
          <p:nvPr/>
        </p:nvSpPr>
        <p:spPr>
          <a:xfrm>
            <a:off x="4846320" y="283464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349240" y="2834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ECS Optimization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49240" y="32004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Endocannabinoid system support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703320"/>
            <a:ext cx="4023360" cy="73152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370332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051560" y="3703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Diet &amp; Nutrition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51560" y="4069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Phased dietary protocol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754880" y="3703320"/>
            <a:ext cx="4023360" cy="73152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33" name="Text 31"/>
          <p:cNvSpPr/>
          <p:nvPr/>
        </p:nvSpPr>
        <p:spPr>
          <a:xfrm>
            <a:off x="4846320" y="370332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08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349240" y="3703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49240" y="4069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Follow-up labs &amp; milestones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PHILOSOPHY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Root-Cause Approach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"Illness is the summation of experience" — every symptom traces back to a disrupted foundation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8229600" cy="6400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54480"/>
            <a:ext cx="54864" cy="6400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5448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CarbonCycle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1840" y="155448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Environmental toxin accumulation disrupts cellular energy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8229600" cy="6400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331720"/>
            <a:ext cx="54864" cy="6400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33172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MicrobiotaShift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91840" y="233172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Gut flora dysbiosis triggers systemic immune dysfunction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10896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MitochondrialDrift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291840" y="310896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ATP production failure leads to chronic fatigue and degeneration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229600" cy="6400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3886200"/>
            <a:ext cx="54864" cy="6400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8620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AutoimmuneLoop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91840" y="3886200"/>
            <a:ext cx="5212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Chronic inflammation creates self-perpetuating tissue damage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95B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"The body was designed to heal itself — given the proper conditions" — Hippocrates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5 R's to Healing at FF PMA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6858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05840"/>
            <a:ext cx="73152" cy="68580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05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1: REMOVE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Weeks 1-3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840480" y="100584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Aggressive elimination of cancer triggers, toxins, and pathogen burdens. Initiate anti-parasite protocol and comprehensive detox toolkit while beginning anti-cancer IV and peptide therapies.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8229600" cy="6858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783080"/>
            <a:ext cx="73152" cy="68580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830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2: RESTORE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Weeks 4-6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0" y="178308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Recalibrate immune system (Th1/Th2), rebalance microbiome, and stabilize thyroid function (with close lab monitoring).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6858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560320"/>
            <a:ext cx="73152" cy="685800"/>
          </a:xfrm>
          <a:prstGeom prst="rect">
            <a:avLst/>
          </a:prstGeom>
          <a:solidFill>
            <a:srgbClr val="C8CFE0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560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CFE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3: REPLENISH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880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Weeks 7-8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840480" y="256032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Deep nutritional repletion, mitochondrial renewal, and energetic upregulation to support cellular apoptosis and tissue repair.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3337560"/>
            <a:ext cx="8229600" cy="6858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3337560"/>
            <a:ext cx="73152" cy="68580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337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4: REGENERATE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3657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Weeks 9-10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40480" y="333756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Tissue and immune system regeneration; guided exosome therapy and cellular rejuvenation.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4114800"/>
            <a:ext cx="8229600" cy="6858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4114800"/>
            <a:ext cx="73152" cy="6858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1148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05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5: REBALANCE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44348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Weeks 11-13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840480" y="4114800"/>
            <a:ext cx="4663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Long-term immune and metabolic homeostasis; establish sustainable anti-cancer and anti-autoimmune maintenance stack.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DIAGNOSTIC FRAMEWORK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Three Systems of Focus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2651760" cy="329184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26517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2344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P53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Tumor Suppressor Pathways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94360" y="2057400"/>
            <a:ext cx="2377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P53 gene is the body's master cancer defense. When disrupted by toxins, oxidative stress, or chronic inflammation, malignant cells escape surveillance.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3566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Key Peptides: PNC-27, FOXO4-DRI, MENK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91840" y="1097280"/>
            <a:ext cx="2651760" cy="329184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1" name="Shape 9"/>
          <p:cNvSpPr/>
          <p:nvPr/>
        </p:nvSpPr>
        <p:spPr>
          <a:xfrm>
            <a:off x="3291840" y="1097280"/>
            <a:ext cx="26517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12344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ATP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429000" y="1691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Mitochondrial Function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429000" y="2057400"/>
            <a:ext cx="2377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Mitochondria produce cellular energy. Dysfunction leads to fatigue, neurodegeneration, and metabolic collapse. Supporting ATP production is foundational.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29000" y="3566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Key Peptides: SS-31, MOTS-c, Epithalon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7280"/>
            <a:ext cx="2651760" cy="329184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7" name="Shape 15"/>
          <p:cNvSpPr/>
          <p:nvPr/>
        </p:nvSpPr>
        <p:spPr>
          <a:xfrm>
            <a:off x="6126480" y="1097280"/>
            <a:ext cx="26517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8" name="Text 16"/>
          <p:cNvSpPr/>
          <p:nvPr/>
        </p:nvSpPr>
        <p:spPr>
          <a:xfrm>
            <a:off x="6263640" y="12344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ECS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263640" y="1691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Endocannabinoid System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63640" y="2057400"/>
            <a:ext cx="2377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ECS regulates pain, mood, immunity, and homeostasis. Deficiency drives chronic illness. Targeted cannabinoid ratios restore balance.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263640" y="35661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Key Compounds: CBD, CBG, CBN, THC, DMSO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PROGRAM STRUCTURE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90-Day Protocol + Phase 4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103120" cy="36576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Shape 3"/>
          <p:cNvSpPr/>
          <p:nvPr/>
        </p:nvSpPr>
        <p:spPr>
          <a:xfrm>
            <a:off x="274320" y="1097280"/>
            <a:ext cx="2103120" cy="36576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28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1 — Foundation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Days 1–30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1828800"/>
            <a:ext cx="19202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Detox IV protocol (5-step)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Begin oral peptides &amp; bioregulators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ECS suppository introduction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Dietary elimination phase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Baseline labs &amp; imaging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514600" y="1097280"/>
            <a:ext cx="2103120" cy="36576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0" name="Shape 8"/>
          <p:cNvSpPr/>
          <p:nvPr/>
        </p:nvSpPr>
        <p:spPr>
          <a:xfrm>
            <a:off x="2514600" y="1097280"/>
            <a:ext cx="210312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1" name="Text 9"/>
          <p:cNvSpPr/>
          <p:nvPr/>
        </p:nvSpPr>
        <p:spPr>
          <a:xfrm>
            <a:off x="260604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2 — Build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06040" y="155448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Days 31–60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06040" y="1828800"/>
            <a:ext cx="19202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Add injectable peptides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HBOT sessions begin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Increase cannabinoid ratios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Gut flora optimization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Nutrient repletion protocols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754880" y="1097280"/>
            <a:ext cx="2103120" cy="36576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5" name="Shape 13"/>
          <p:cNvSpPr/>
          <p:nvPr/>
        </p:nvSpPr>
        <p:spPr>
          <a:xfrm>
            <a:off x="4754880" y="1097280"/>
            <a:ext cx="2103120" cy="36576"/>
          </a:xfrm>
          <a:prstGeom prst="rect">
            <a:avLst/>
          </a:prstGeom>
          <a:solidFill>
            <a:srgbClr val="C8CFE0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8CFE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3 — Optimize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Days 61–90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846320" y="1828800"/>
            <a:ext cx="19202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Full-spectrum modality stack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Advanced sirtuin/mito support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Exosome therapy if indicated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Re-assess labs &amp; markers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Transition planning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995160" y="1097280"/>
            <a:ext cx="2103120" cy="36576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95160" y="1097280"/>
            <a:ext cx="2103120" cy="36576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7086600" y="123444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4 — Maintain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086600" y="1554480"/>
            <a:ext cx="19202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Ongoing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086600" y="1828800"/>
            <a:ext cx="19202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Maintenance peptide cycles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Quarterly lab monitoring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Lifestyle integration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Community support access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Ongoing ECS optimization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MEMBER INTAKE — SECTION 1 OF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Personal Information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840480"/>
          </a:xfrm>
          <a:prstGeom prst="rect">
            <a:avLst>
              <a:gd name="adj" fmla="val 2381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Full Legal Name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Annette Gomer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0" y="118872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Date of Birth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0" y="14173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MM / DD / YYYY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20574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Phone Number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22860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(___) ___-____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0" y="20574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Email Address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0" y="228600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email@example.com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292608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Mailing Address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1546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United States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0" y="292608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Emergency Contact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0" y="315468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Name &amp; phone number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7947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Height / Weight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40233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___ft ___in / ___lbs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0" y="379476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Gender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0" y="402336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female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MEMBER INTAKE — SECTION 2 OF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Health History &amp; Current Conditions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840480"/>
          </a:xfrm>
          <a:prstGeom prst="rect">
            <a:avLst>
              <a:gd name="adj" fmla="val 2381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Primary Health Concern(s)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Metastatic adenocarcinoma — active cancer requiring comprehensive protocol, Graves' disease — hyperthyroid autoimmune condition, Hashimoto's thyroiditis — concurrent autoimmune thyroid destruction, Dual autoimmune thyroid disorder — paradoxical Graves/Hashimoto coexistence, Fatigue and declining energy, Immune system dysfunction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Previous Assessments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9659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Metastatic adenocarcinoma, Graves' disease, Hashimoto's thyroiditis, Chronic autoimmune thyroid disorder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Current Medications &amp; Supplements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Thyroid medication (type and dose to be confirmed at intake)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97180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Known Allergies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31546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Medications, foods, environmental...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56616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Family History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749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Cancer, autoimmune, cardiovascular...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416052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Prior Surgeries / Procedures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43434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List with approximate dates...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MEMBER INTAKE — SECTION 3 OF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Symptoms, Lifestyle &amp; Goals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2286000"/>
          </a:xfrm>
          <a:prstGeom prst="rect">
            <a:avLst>
              <a:gd name="adj" fmla="val 4000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515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Current Symptoms (check all that apply)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Chronic fatigue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Joint/muscle pain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Brain fog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Digestive issues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Insomnia / poor sleep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40080" y="274320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Weight gain/loss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468880" y="137160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Skin issues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468880" y="164592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Mood / anxiety / depression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468880" y="19202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Hormonal imbalance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468880" y="219456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Autoimmune flare-ups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468880" y="24688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Frequent infections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468880" y="274320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Chemical sensitivity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754880" y="1005840"/>
            <a:ext cx="3931920" cy="2286000"/>
          </a:xfrm>
          <a:prstGeom prst="rect">
            <a:avLst>
              <a:gd name="adj" fmla="val 4000"/>
            </a:avLst>
          </a:prstGeom>
          <a:solidFill>
            <a:srgbClr val="243055"/>
          </a:solidFill>
          <a:ln/>
        </p:spPr>
      </p:sp>
      <p:sp>
        <p:nvSpPr>
          <p:cNvPr id="20" name="Text 18"/>
          <p:cNvSpPr/>
          <p:nvPr/>
        </p:nvSpPr>
        <p:spPr>
          <a:xfrm>
            <a:off x="4937760" y="10515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Lifestyle &amp; Environmental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37760" y="141732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Diet Type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937760" y="158191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Standard / Keto / Paleo / Vegan...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192024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Exercise Frequency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937760" y="208483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None / 1-2x / 3-5x / Daily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937760" y="242316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Toxic Exposures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937760" y="258775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Lifetime environmental exposure to be assessed at intake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37760" y="2926080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Stress Level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937760" y="309067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Low / Moderate / High / Severe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474720"/>
            <a:ext cx="8229600" cy="1371600"/>
          </a:xfrm>
          <a:prstGeom prst="rect">
            <a:avLst>
              <a:gd name="adj" fmla="val 6667"/>
            </a:avLst>
          </a:prstGeom>
          <a:solidFill>
            <a:srgbClr val="243055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52044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Health Goals &amp; Desired Outcomes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80" y="38404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What are your top health goals for this 90-day program?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37160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PEPTIDE THERAPY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1031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14 Custom Peptides — Injectable, Oral &amp; Bioregulator Protocols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0" y="2834640"/>
            <a:ext cx="2743200" cy="0"/>
          </a:xfrm>
          <a:prstGeom prst="line">
            <a:avLst/>
          </a:prstGeom>
          <a:noFill/>
          <a:ln w="19050">
            <a:solidFill>
              <a:srgbClr val="C9A5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31089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5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371600" y="3611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Injectable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31920" y="31089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4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931920" y="3611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Oral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92240" y="310896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5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492240" y="3611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Bioregulators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PEPTIDE PROTOCOLS — IMMUNE SUPPORT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Immune Surveillance &amp; Defense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920240" cy="3749040"/>
          </a:xfrm>
          <a:prstGeom prst="rect">
            <a:avLst>
              <a:gd name="adj" fmla="val 4762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Thymosin Alpha-1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280160" y="2834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1.6mg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Route: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32004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3566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2x weekly (SubQ); increase to 4x weekly during acute immune need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" y="3931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Cycle: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3931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12 weeks (90 days)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60320" y="1005840"/>
            <a:ext cx="1920240" cy="3749040"/>
          </a:xfrm>
          <a:prstGeom prst="rect">
            <a:avLst>
              <a:gd name="adj" fmla="val 4762"/>
            </a:avLst>
          </a:prstGeom>
          <a:solidFill>
            <a:srgbClr val="243055"/>
          </a:solidFill>
          <a:ln/>
        </p:spPr>
      </p:sp>
      <p:sp>
        <p:nvSpPr>
          <p:cNvPr id="16" name="Text 14"/>
          <p:cNvSpPr/>
          <p:nvPr/>
        </p:nvSpPr>
        <p:spPr>
          <a:xfrm>
            <a:off x="2651760" y="10972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KPV (Anti-Inflammatory Peptide)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5176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83280" y="2834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500mcg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Route: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383280" y="32004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383280" y="3566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2x daily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651760" y="3931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Cycle: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383280" y="3931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90 days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63440" y="1005840"/>
            <a:ext cx="1920240" cy="3749040"/>
          </a:xfrm>
          <a:prstGeom prst="rect">
            <a:avLst>
              <a:gd name="adj" fmla="val 4762"/>
            </a:avLst>
          </a:prstGeom>
          <a:solidFill>
            <a:srgbClr val="243055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10972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Thymosin Alpha-1 (Oral)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5488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86400" y="2834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 capsule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5488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Route: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486400" y="32004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75488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86400" y="3566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daily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754880" y="3931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Cycle: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486400" y="3931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8 weeks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PEPTIDE PROTOCOLS — LONGEVITY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Anti-Aging &amp; Cellular Longevity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31920" cy="3749040"/>
          </a:xfrm>
          <a:prstGeom prst="rect">
            <a:avLst>
              <a:gd name="adj" fmla="val 2439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Heart Bioregulator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280160" y="28346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 capsules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Route: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320040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35661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daily x 30 days, then 10 days monthly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" y="3931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Cycle: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39319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90 days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PEPTIDE PROTOCOLS — ADDITIONAL PEPTIDES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Additional Peptide Protocols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920240" cy="3749040"/>
          </a:xfrm>
          <a:prstGeom prst="rect">
            <a:avLst>
              <a:gd name="adj" fmla="val 4762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ARA 290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280160" y="2834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4mg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Route: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32004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3566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daily x 28 days, then 2mg 3x/week maintenance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48640" y="3931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Cycle: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3931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8 weeks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60320" y="1005840"/>
            <a:ext cx="1920240" cy="3749040"/>
          </a:xfrm>
          <a:prstGeom prst="rect">
            <a:avLst>
              <a:gd name="adj" fmla="val 4762"/>
            </a:avLst>
          </a:prstGeom>
          <a:solidFill>
            <a:srgbClr val="243055"/>
          </a:solidFill>
          <a:ln/>
        </p:spPr>
      </p:sp>
      <p:sp>
        <p:nvSpPr>
          <p:cNvPr id="16" name="Text 14"/>
          <p:cNvSpPr/>
          <p:nvPr/>
        </p:nvSpPr>
        <p:spPr>
          <a:xfrm>
            <a:off x="2651760" y="10972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GHK-Cu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65176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83280" y="2834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2mg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65176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Route: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383280" y="32004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383280" y="3566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daily SubQ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651760" y="3931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Cycle: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3383280" y="3931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4-8 weeks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63440" y="1005840"/>
            <a:ext cx="1920240" cy="3749040"/>
          </a:xfrm>
          <a:prstGeom prst="rect">
            <a:avLst>
              <a:gd name="adj" fmla="val 4762"/>
            </a:avLst>
          </a:prstGeom>
          <a:solidFill>
            <a:srgbClr val="243055"/>
          </a:solidFill>
          <a:ln/>
        </p:spPr>
      </p:sp>
      <p:sp>
        <p:nvSpPr>
          <p:cNvPr id="26" name="Text 24"/>
          <p:cNvSpPr/>
          <p:nvPr/>
        </p:nvSpPr>
        <p:spPr>
          <a:xfrm>
            <a:off x="4754880" y="10972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MOTS-C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5488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86400" y="2834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5mg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75488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Route: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486400" y="32004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75488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86400" y="3566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2x/week SubQ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754880" y="3931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Cycle: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486400" y="3931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8 weeks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766560" y="1005840"/>
            <a:ext cx="1920240" cy="3749040"/>
          </a:xfrm>
          <a:prstGeom prst="rect">
            <a:avLst>
              <a:gd name="adj" fmla="val 4762"/>
            </a:avLst>
          </a:prstGeom>
          <a:solidFill>
            <a:srgbClr val="243055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0" y="109728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BPC-157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589520" y="28346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500mcg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858000" y="32004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Route: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 or oral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858000" y="35661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589520" y="356616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SubQ daily or oral for GI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858000" y="393192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Cycle: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589520" y="3931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8-12 weeks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+ 6 additional peptides in this category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HBOT THERAPY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Hyperbaric Oxygen Therapy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HBOT delivers 100% oxygen under increased atmospheric pressure, driving oxygen deep into tissues, plasma, and cerebrospinal fluid. This accelerates wound healing, reduces inflammation, stimulates stem cell mobilization, and enhances mitochondrial function.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FFPMA operates its own HBOT Systems Division with medical-grade chambers available to members.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1965960" cy="10972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468880"/>
            <a:ext cx="19659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606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Neovascularization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28803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Stimulates new blood vessel growth in damaged tissues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606040" y="2468880"/>
            <a:ext cx="1965960" cy="10972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1" name="Shape 9"/>
          <p:cNvSpPr/>
          <p:nvPr/>
        </p:nvSpPr>
        <p:spPr>
          <a:xfrm>
            <a:off x="2606040" y="2468880"/>
            <a:ext cx="19659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2" name="Text 10"/>
          <p:cNvSpPr/>
          <p:nvPr/>
        </p:nvSpPr>
        <p:spPr>
          <a:xfrm>
            <a:off x="2697480" y="2606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Stem Cell Release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97480" y="28803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Up to 8x increase in circulating stem cells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754880" y="2468880"/>
            <a:ext cx="1965960" cy="10972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5" name="Shape 13"/>
          <p:cNvSpPr/>
          <p:nvPr/>
        </p:nvSpPr>
        <p:spPr>
          <a:xfrm>
            <a:off x="4754880" y="2468880"/>
            <a:ext cx="19659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2606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Anti-Inflammatory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28803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Reduces cytokine storms and systemic inflammation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903720" y="2468880"/>
            <a:ext cx="1965960" cy="10972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9" name="Shape 17"/>
          <p:cNvSpPr/>
          <p:nvPr/>
        </p:nvSpPr>
        <p:spPr>
          <a:xfrm>
            <a:off x="6903720" y="2468880"/>
            <a:ext cx="1965960" cy="36576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20" name="Text 18"/>
          <p:cNvSpPr/>
          <p:nvPr/>
        </p:nvSpPr>
        <p:spPr>
          <a:xfrm>
            <a:off x="6995160" y="260604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Neuroprotection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95160" y="288036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Enhances brain oxygenation and cognitive recovery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57200" y="3840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FFPMA HBOT Systems Division — Contact us for availability and member pricing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HBOT SYSTEMS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Chamber Options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2697480" cy="3840480"/>
          </a:xfrm>
          <a:prstGeom prst="rect">
            <a:avLst>
              <a:gd name="adj" fmla="val 3390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9728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HE5000 Plus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Premium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Clinical-grade hard-shell chamber with full 1.5 ATA capability. Walk-in design seats 5 people. Ideal for families, clinics, and high-volume use.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1.5 ATA maximum pressure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48640" y="324612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Walk-in, 5-person capacity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48640" y="356616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Medical-grade oxygen concentrator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48640" y="388620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Built-in cooling system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337560" y="1005840"/>
            <a:ext cx="2697480" cy="3840480"/>
          </a:xfrm>
          <a:prstGeom prst="rect">
            <a:avLst>
              <a:gd name="adj" fmla="val 3390"/>
            </a:avLst>
          </a:prstGeom>
          <a:solidFill>
            <a:srgbClr val="243055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09728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Vitaeris 320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429000" y="14173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Standard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691640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Portable soft-shell chamber rated to 1.3 ATA. Single-person design, easy setup. Perfect for daily home use and maintenance protocols.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429000" y="292608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1.3 ATA maximum pressure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429000" y="324612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Single-person portable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3429000" y="356616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Easy home setup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429000" y="388620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Quiet operation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217920" y="1005840"/>
            <a:ext cx="2697480" cy="3840480"/>
          </a:xfrm>
          <a:prstGeom prst="rect">
            <a:avLst>
              <a:gd name="adj" fmla="val 3390"/>
            </a:avLst>
          </a:prstGeom>
          <a:solidFill>
            <a:srgbClr val="243055"/>
          </a:solidFill>
          <a:ln/>
        </p:spPr>
      </p:sp>
      <p:sp>
        <p:nvSpPr>
          <p:cNvPr id="22" name="Text 20"/>
          <p:cNvSpPr/>
          <p:nvPr/>
        </p:nvSpPr>
        <p:spPr>
          <a:xfrm>
            <a:off x="6309360" y="109728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Military Grade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09360" y="1417320"/>
            <a:ext cx="2514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Professional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09360" y="1691640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Dual-person hard-shell chamber rated to 2.0 ATA. Hospital-grade construction with advanced monitoring. For clinics and serious practitioners.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309360" y="292608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2.0 ATA maximum pressure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309360" y="324612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Dual-person capacity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309360" y="356616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Hospital-grade construction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309360" y="3886200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Advanced pressure monitoring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DETOXIFICATION PROTOCOLS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5-Step Detox IV Sequence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Administered sequentially in-clinic to chelate heavy metals, replenish nutrients, and support detox pathways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rgbClr val="C9A54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13716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EDTA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88720" y="16916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Chelation therapy — binds and removes lead, mercury, cadmium, arsenic from bloodstream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2148840"/>
            <a:ext cx="457200" cy="457200"/>
          </a:xfrm>
          <a:prstGeom prst="ellipse">
            <a:avLst/>
          </a:prstGeom>
          <a:solidFill>
            <a:srgbClr val="C9A54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148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188720" y="21031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Myers' Cocktail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88720" y="24231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Magnesium, calcium, B-vitamins, vitamin C — replenishes minerals depleted by chelation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C9A54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28346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Glutathione Push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88720" y="31546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Master antioxidant — supports liver detox pathways, protects cells during chelation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3611880"/>
            <a:ext cx="457200" cy="457200"/>
          </a:xfrm>
          <a:prstGeom prst="ellipse">
            <a:avLst/>
          </a:prstGeom>
          <a:solidFill>
            <a:srgbClr val="C9A54E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188720" y="3566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High-Dose Vitamin 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88720" y="3886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25–75g IV — generates hydrogen peroxide in cancer cells, spares healthy tissue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4343400"/>
            <a:ext cx="457200" cy="457200"/>
          </a:xfrm>
          <a:prstGeom prst="ellipse">
            <a:avLst/>
          </a:prstGeom>
          <a:solidFill>
            <a:srgbClr val="C9A54E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343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0E1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188720" y="42976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Phosphatidylcholine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88720" y="46177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Cell membrane repair — restores lipid bilayer integrity damaged by toxins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HOME PROTOCOLS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At-Home Therapeutic Protocols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97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Detox Baths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Epsom salt, bentonite clay, and essential oil baths — 3x per week for lymphatic drainage and toxin elimination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754880" y="109728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09728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097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Castor Oil Packs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13716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Apply to liver area 30–60 min, 3–4x/week to stimulate lymphatic flow and reduce inflammation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210312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Coffee Enemas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23774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Organic coffee retention enemas for glutathione production and bile duct cleansing — per protocol schedule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754880" y="210312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210312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2103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Nebulization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23774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Colloidal silver, glutathione, or hydrogen peroxide nebulization for respiratory and immune support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310896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108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Red Light Therapy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3383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NIR/red light panel sessions for mitochondrial support, wound healing, and inflammation reduction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754880" y="310896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5" name="Shape 23"/>
          <p:cNvSpPr/>
          <p:nvPr/>
        </p:nvSpPr>
        <p:spPr>
          <a:xfrm>
            <a:off x="4754880" y="310896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26" name="Text 24"/>
          <p:cNvSpPr/>
          <p:nvPr/>
        </p:nvSpPr>
        <p:spPr>
          <a:xfrm>
            <a:off x="4937760" y="3108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Grounding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0" y="3383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Barefoot earthing 20+ min/day for inflammation reduction and circadian rhythm regulation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6282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CRITICAL PREREQUISITE — BIOLOGICAL DENTISTRY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Dental Dangers &amp; Disease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"Fix the roof before it rains — amalgam, cavitations, and root canals are silent drivers of systemic disease"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1005840"/>
          </a:xfrm>
          <a:prstGeom prst="rect">
            <a:avLst>
              <a:gd name="adj" fmla="val 9091"/>
            </a:avLst>
          </a:prstGeom>
          <a:solidFill>
            <a:srgbClr val="243055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544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Mercury Amalgam Fillings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87452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Each amalgam filling contains ~50% mercury — a potent neurotoxin. Mercury vapor is released 24/7, accumulating in brain, kidneys, and gut. Safe removal by IAOMT-certified dentist required.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651760"/>
            <a:ext cx="8229600" cy="1005840"/>
          </a:xfrm>
          <a:prstGeom prst="rect">
            <a:avLst>
              <a:gd name="adj" fmla="val 9091"/>
            </a:avLst>
          </a:prstGeom>
          <a:solidFill>
            <a:srgbClr val="243055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7432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6282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Root Canals &amp; Cavitations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0632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Dead teeth harbor anaerobic bacteria that produce potent toxins (thioethers). These drain into the bloodstream, contributing to autoimmune disease, cancer, and chronic inflammation.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3840480"/>
            <a:ext cx="8229600" cy="1005840"/>
          </a:xfrm>
          <a:prstGeom prst="rect">
            <a:avLst>
              <a:gd name="adj" fmla="val 9091"/>
            </a:avLst>
          </a:prstGeom>
          <a:solidFill>
            <a:srgbClr val="243055"/>
          </a:solidFill>
          <a:ln w="19050">
            <a:solidFill>
              <a:srgbClr val="C9A5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931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Galvanic Currents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42519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Mixed metals in the mouth create battery-like electrical currents that disrupt the nervous system and accelerate mercury release from amalgam fillings.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8E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Dietary Protocol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731520"/>
            <a:ext cx="54864" cy="118872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772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Phase 1: Elimination (Weeks 1-3)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Remove all cancer- and autoimmunity–potentiating foods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6282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Eliminate: gluten, dairy, soy, grain, legume, refined sugar, seed oils, nightshades if sensitive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Emphasize: grass-fed protein, wild-caught fish, healthy fats (olive/coconut), organic greens and crucifers, fermented vegetables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2011680"/>
            <a:ext cx="54864" cy="118872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05740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Phase 2: Anti-inflammatory repletion (Weeks 4-6)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Replete micronutrients and antioxidants; bolster GI lining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6282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Eliminate: allergen triggers, processed food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Emphasize: colored vegetables, berries, broth, beta-glucan mushrooms, seaweed, nori, kelp (modulate for iodine sensitivity)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3291840"/>
            <a:ext cx="54864" cy="11887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3756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Phase 3: Mitochondrial upregulation (Weeks 7-8)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Increase mitochondrial density, improve tissue resilience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6282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Eliminate: none (unless identified food triggers)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Emphasize: adaptogenic herbs (avoid immune stimulants), dark greens, sulfur vegetables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457200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4572000"/>
            <a:ext cx="54864" cy="1188720"/>
          </a:xfrm>
          <a:prstGeom prst="rect">
            <a:avLst/>
          </a:prstGeom>
          <a:solidFill>
            <a:srgbClr val="1A2440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6177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Phase 4: Regeneration (Weeks 9-10)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High-protein, ketogenic-plant blend to support repair and cancer suppression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6282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Eliminate: returns to baseline anti-inflammatory protocol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Emphasize: collagen-rich foods, cruciferous, ferments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5852160"/>
            <a:ext cx="8229600" cy="1188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5852160"/>
            <a:ext cx="54864" cy="1188720"/>
          </a:xfrm>
          <a:prstGeom prst="rect">
            <a:avLst/>
          </a:prstGeom>
          <a:solidFill>
            <a:srgbClr val="1A244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89788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Phase 5: Rebalancing (Weeks 11-13)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Periodic carb feeding for metabolic flexibility and thyroid support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C62828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Eliminate: none unless specific intolerances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Emphasize: Low-glycemic fruits, fiber, broth, anti-inflammatory fats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713232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0080" y="717804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Intermittent Fasting: 14:10 or 16:8 (as tolerated) </a:t>
            </a:r>
            <a:pPr indent="0" marL="0">
              <a:buNone/>
            </a:pPr>
            <a:r>
              <a:rPr lang="en-US" sz="9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— Start at 12:12, titrate up gently (Enhance mitochondrial and immune adaptation; avoid excessive fasts in active cancer)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ADVANCED MODALITIES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Additional Therapeutic Stack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97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Liposomal Supplements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0" y="10972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Curcumin+6 Nano, HEPA D•TOX, Astaxanthin w/ Vitamin C, Vitamin D + Vitamin K, Selenium + Magnesium &amp;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754880" y="109728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0" y="109728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1" name="Text 9"/>
          <p:cNvSpPr/>
          <p:nvPr/>
        </p:nvSpPr>
        <p:spPr>
          <a:xfrm>
            <a:off x="4937760" y="10972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Nebulization Protocols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138160" y="10972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3716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Nebulized Glutathione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10312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5" name="Shape 13"/>
          <p:cNvSpPr/>
          <p:nvPr/>
        </p:nvSpPr>
        <p:spPr>
          <a:xfrm>
            <a:off x="457200" y="210312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1031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Topical Protocols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840480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23774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DMSO Extended Recovery Cooling Lotion, Kaneh Bosem Ancient Healing Oil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754880" y="210312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0" name="Shape 18"/>
          <p:cNvSpPr/>
          <p:nvPr/>
        </p:nvSpPr>
        <p:spPr>
          <a:xfrm>
            <a:off x="4754880" y="210312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21031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Exosome Therapy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138160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937760" y="23774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100 Billion MSC-Derived Exosomes, 20 Billion Exosomes Nebulizer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10896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5" name="Shape 23"/>
          <p:cNvSpPr/>
          <p:nvPr/>
        </p:nvSpPr>
        <p:spPr>
          <a:xfrm>
            <a:off x="457200" y="310896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1089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Lifestyle Modifications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840480" y="3108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3383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Sleep Optimization, Movement, Hydration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754880" y="3108960"/>
            <a:ext cx="4023360" cy="86868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30" name="Shape 28"/>
          <p:cNvSpPr/>
          <p:nvPr/>
        </p:nvSpPr>
        <p:spPr>
          <a:xfrm>
            <a:off x="4754880" y="3108960"/>
            <a:ext cx="54864" cy="86868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1" name="Text 29"/>
          <p:cNvSpPr/>
          <p:nvPr/>
        </p:nvSpPr>
        <p:spPr>
          <a:xfrm>
            <a:off x="4937760" y="31089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Dietary Guidelines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138160" y="3108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8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937760" y="3383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Eliminate gluten, dairy, soy, legume, processed food, refined sugars, industrial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6459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MITOCHONDRIAL &amp; SIRTUIN SUPPORT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2377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NAD+, GlyNAC, MitoSTAC Complex, Methylation, Cellular Energy Restoration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8E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Sirtuin &amp; Mitochondrial Stack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73152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8229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308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MitoSTAC Complex (Sirtuin Activation)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Resveratrol: 200mg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Pterostilbene: 50mg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Quercetin: 500mg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Fisetin: 500mg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754880" y="73152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937760" y="8229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308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NAD+ &amp; GlyNAC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NMN or NR: 500mg — daily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GlyNAC Protocol: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Glycine: 3g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NAC: 600mg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 daily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560320"/>
            <a:ext cx="859536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" y="260604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308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Mitochondrial Support Stack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CoQ10 (ubiquinol): 200mg — ATP and redox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PQQ: 20mg — Biogenesis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L-carnitine: 500mg — Fatty acid oxidation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D-ribose: 5g — ATP substrate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4023360"/>
            <a:ext cx="85953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4069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308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Methylation Support: </a:t>
            </a:r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Methylcobalamin 2mg IM/wk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MITOCHONDRIAL PATHWAY 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MitoSTAC Activation Cascade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" y="10058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Input Compounds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4320" y="1234440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Oral / IV / Suppository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74320" y="1554480"/>
            <a:ext cx="2286000" cy="502920"/>
          </a:xfrm>
          <a:prstGeom prst="rect">
            <a:avLst>
              <a:gd name="adj" fmla="val 9091"/>
            </a:avLst>
          </a:prstGeom>
          <a:solidFill>
            <a:srgbClr val="24305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5544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NMN / NR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78308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NAD+ precursors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74320" y="2148840"/>
            <a:ext cx="2286000" cy="502920"/>
          </a:xfrm>
          <a:prstGeom prst="rect">
            <a:avLst>
              <a:gd name="adj" fmla="val 9091"/>
            </a:avLst>
          </a:prstGeom>
          <a:solidFill>
            <a:srgbClr val="243055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21488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Resveratrol + Quercetin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237744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STAC activators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2743200"/>
            <a:ext cx="2286000" cy="502920"/>
          </a:xfrm>
          <a:prstGeom prst="rect">
            <a:avLst>
              <a:gd name="adj" fmla="val 9091"/>
            </a:avLst>
          </a:prstGeom>
          <a:solidFill>
            <a:srgbClr val="243055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7432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CoQ10 + PQQ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297180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ETC cofactors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74320" y="3337560"/>
            <a:ext cx="2286000" cy="502920"/>
          </a:xfrm>
          <a:prstGeom prst="rect">
            <a:avLst>
              <a:gd name="adj" fmla="val 9091"/>
            </a:avLst>
          </a:prstGeom>
          <a:solidFill>
            <a:srgbClr val="243055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3375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ALA + Glutathione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356616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Antioxidant shield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274320" y="3931920"/>
            <a:ext cx="2286000" cy="502920"/>
          </a:xfrm>
          <a:prstGeom prst="rect">
            <a:avLst>
              <a:gd name="adj" fmla="val 9091"/>
            </a:avLst>
          </a:prstGeom>
          <a:solidFill>
            <a:srgbClr val="243055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931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Fisetin + Curcumin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16052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Senolytic + NF-kB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651760" y="1737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A54E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2651760" y="2331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A54E"/>
                </a:solidFill>
              </a:rPr>
              <a:t>→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651760" y="29260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9A54E"/>
                </a:solidFill>
              </a:rPr>
              <a:t>→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200400" y="10058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Cellular Targets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00400" y="1554480"/>
            <a:ext cx="2286000" cy="548640"/>
          </a:xfrm>
          <a:prstGeom prst="rect">
            <a:avLst>
              <a:gd name="adj" fmla="val 8333"/>
            </a:avLst>
          </a:prstGeom>
          <a:solidFill>
            <a:srgbClr val="243055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5544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NAD+ Pool ↑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291840" y="182880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Sirtuin activation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200400" y="2240280"/>
            <a:ext cx="2286000" cy="548640"/>
          </a:xfrm>
          <a:prstGeom prst="rect">
            <a:avLst>
              <a:gd name="adj" fmla="val 8333"/>
            </a:avLst>
          </a:prstGeom>
          <a:solidFill>
            <a:srgbClr val="243055"/>
          </a:solidFill>
          <a:ln/>
        </p:spPr>
      </p:sp>
      <p:sp>
        <p:nvSpPr>
          <p:cNvPr id="30" name="Text 28"/>
          <p:cNvSpPr/>
          <p:nvPr/>
        </p:nvSpPr>
        <p:spPr>
          <a:xfrm>
            <a:off x="3291840" y="22402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ETC Efficiency ↑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291840" y="251460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ATP production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200400" y="2926080"/>
            <a:ext cx="2286000" cy="548640"/>
          </a:xfrm>
          <a:prstGeom prst="rect">
            <a:avLst>
              <a:gd name="adj" fmla="val 8333"/>
            </a:avLst>
          </a:prstGeom>
          <a:solidFill>
            <a:srgbClr val="243055"/>
          </a:solidFill>
          <a:ln/>
        </p:spPr>
      </p:sp>
      <p:sp>
        <p:nvSpPr>
          <p:cNvPr id="33" name="Text 31"/>
          <p:cNvSpPr/>
          <p:nvPr/>
        </p:nvSpPr>
        <p:spPr>
          <a:xfrm>
            <a:off x="3291840" y="29260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Senescent Cell ↓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291840" y="320040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Zombie cell clearance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200400" y="3611880"/>
            <a:ext cx="2286000" cy="548640"/>
          </a:xfrm>
          <a:prstGeom prst="rect">
            <a:avLst>
              <a:gd name="adj" fmla="val 8333"/>
            </a:avLst>
          </a:prstGeom>
          <a:solidFill>
            <a:srgbClr val="243055"/>
          </a:solidFill>
          <a:ln/>
        </p:spPr>
      </p:sp>
      <p:sp>
        <p:nvSpPr>
          <p:cNvPr id="36" name="Text 34"/>
          <p:cNvSpPr/>
          <p:nvPr/>
        </p:nvSpPr>
        <p:spPr>
          <a:xfrm>
            <a:off x="3291840" y="3611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Inflammation ↓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91840" y="388620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NF-kB suppression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6217920" y="10058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Outcomes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17920" y="1371600"/>
            <a:ext cx="2560320" cy="3200400"/>
          </a:xfrm>
          <a:prstGeom prst="rect">
            <a:avLst>
              <a:gd name="adj" fmla="val 3571"/>
            </a:avLst>
          </a:prstGeom>
          <a:solidFill>
            <a:srgbClr val="243055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0" y="15544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↑ Cellular energy (ATP)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400800" y="210312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↑ DNA repair capacity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400800" y="265176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↓ Oxidative stress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400800" y="320040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↓ Biological age markers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00800" y="37490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↑ Telomere maintenance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CANNABINOID LIGAND PATHWAY 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Endocannabinoid System &amp; Ligand Pathways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Source: Cannabinoid Ligand Pathway Research (FFPMA Drive) — CB1/CB2 receptor signaling cascade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114800" cy="3200400"/>
          </a:xfrm>
          <a:prstGeom prst="rect">
            <a:avLst>
              <a:gd name="adj" fmla="val 2857"/>
            </a:avLst>
          </a:prstGeom>
          <a:solidFill>
            <a:srgbClr val="243055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716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CB1 Receptors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Brain, CNS, Nervous System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20116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Pain modulation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Mood &amp; anxiety regulation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" y="27432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Appetite control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Memory &amp; cognition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46320" y="1280160"/>
            <a:ext cx="4114800" cy="3200400"/>
          </a:xfrm>
          <a:prstGeom prst="rect">
            <a:avLst>
              <a:gd name="adj" fmla="val 2857"/>
            </a:avLst>
          </a:prstGeom>
          <a:solidFill>
            <a:srgbClr val="243055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13716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CB2 Receptors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83480" y="169164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Immune System, Periphery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83480" y="20116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Immune modulation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83480" y="23774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Anti-inflammatory signaling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983480" y="27432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Bone density regulation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83480" y="310896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Gut barrier integrity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Use rotation of ECS suppositories with THC:CBD 1:1 (day) and 2:1:1 THC:CBD:CBN (night); goal is maximizing antineoplasti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8E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Forgotten Formula Core Product Line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Every protocol includes these foundational products — available at forgottenformula.com/shop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1605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914400"/>
            <a:ext cx="379476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ECS Suppositories (Day + Night)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CBD/CBG/CBN/THC in cacao butter + DMSO — rectal delivery for 80%+ bioavailability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Elixir for Everything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12 non-psychoactive cannabinoids sublingual tincture — full ECS activation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Nascent Iodine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1-3 drops titrating up — thyroid, breast tissue, whole-body repletion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MitoStac (Sirtuin Activator)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Resveratrol + Pterostilbene + Quercetin + Fisetin — mitochondrial longevity complex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90 Essential Nutrients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Dr. Wallach framework — complete mineral, vitamin, amino acid, and fatty acid repletion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Bio-Vitamin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Whole-food bioavailable vitamin complex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Mighty Blue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Antioxidant superfood blend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09160" y="868680"/>
            <a:ext cx="416052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92040" y="914400"/>
            <a:ext cx="379476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Reds + Greens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Organic phytonutrient powder — alkalizing and nutrient-dense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GlyNAC (Glycine + NAC)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Glutathione precursors — master antioxidant production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Liposomal Glutathione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Enhanced absorption — detox, immune, and cellular defense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Liposomal Curcumin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Anti-inflammatory — NF-kB suppression, joint and tissue support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Liposomal Vitamin C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High-dose bioavailable C — immune, collagen, antioxidant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Liposomal D3/K2 + Astaxanthin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Bone, immune, and cardiovascular support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Kaneh Bosem (Ancient Healing Oil)</a:t>
            </a: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Topical CBD/CBG/DMSO blend — targeted transdermal delivery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Shop: https://www.forgottenformula.com/shop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6459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ECS PROTOCOL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3774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Endocannabinoid System Optimization — Suppositories, Tinctures &amp; Targeted Ratios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8E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ECS Protocol — Endocannabinoid System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Use rotation of ECS suppositories with THC:CBD 1:1 (day) and 2:1:1 THC:CBD:CBN (night); goal is maximizing antineoplastic synergy, reducing autoimmunity, and improving sleep/recovery. The Elixir for Everything covers broad-spectrum ECS stimulation as backup.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3716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DAYTIME SUPPOSITORY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CBD: 50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CBG: 10-25mg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DMSO: 50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Base: cacao butter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Delivery: rectal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280160"/>
            <a:ext cx="411480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3716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NIGHTTIME SUPPOSITORY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CBD: 60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THC: 30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CBN: 30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DMSO: 50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Base: cacao butter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3108960"/>
            <a:ext cx="859536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3154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Elixir for Everything: </a:t>
            </a:r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0.5ml morning/bedtime — CBD, CBG, CBC, CBDV, CBN, THCV, CBDA, CBGA, CBCA, THCA, CBDVA, CBCVA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4320" y="3931920"/>
            <a:ext cx="859536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" y="39776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TARGETED CANNABINOID RATIOS</a:t>
            </a:r>
            <a:endParaRPr lang="en-US" sz="11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Cancer/Autoimmunity: </a:t>
            </a:r>
            <a:pPr indent="0" marL="0">
              <a:buNone/>
            </a:pPr>
            <a:r>
              <a:rPr lang="en-US" sz="9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Day: 1:1 (THC:CBD); Night: 2:1:1 (THC:CBD:CBN) — Evidence for cytotoxicity; anti-inflammatory synergy, sleep support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8E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Suppository Protocols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82296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FF PMA Suppositories (nighttime)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Formula: CBD:THC:CBN (2:1:1) + DMSO + Cacao Butter | Base: Cacao butter | Freq: Nightly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Purpose: Anti-cancer, anti-inflammatory, sleep support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ECS Suppositories (daytime)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Formula: CBD:THC (1:1, 50mg:50mg) + DMSO | Base: Cacao butter | Freq: Daily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Purpose: Immune modulation, daytime anti-cancer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Probiotic Suppository (as-needed)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Formula: 18-strain, 30B CFUs | Base: Cocoa butter | Freq: 2-3x/week alternate with oral probiotics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Purpose: Restore colon flora, strengthen gut-immune axis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8E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Liposomal Supplements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Enhanced bioavailability through phospholipid encapsulation — 5-10x absorption vs standard oral supplements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05840"/>
            <a:ext cx="78638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Curcumin+6 Nano</a:t>
            </a:r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1 tbsp (morning)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  Purpose: Suppress NF-κB inflammation, support immunity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HEPA D•TOX</a:t>
            </a:r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1 tbsp (evening)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  Purpose: Liver and detox support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Astaxanthin w/ Vitamin C</a:t>
            </a:r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1 tbsp (morning)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  Purpose: Antioxidant, anti-cancer, skin/immune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Vitamin D + Vitamin K</a:t>
            </a:r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1 tbsp (5000iu/200mcg) (evening)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  Purpose: Immune and cancer/autoimmune modulation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Selenium + Magnesium &amp; Zinc</a:t>
            </a:r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1 tbsp (morning)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  Purpose: Critical thyroid/immune minerals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E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Nebulization Protocols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Direct pulmonary delivery — bypasses GI tract for immediate systemic absorption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05840"/>
            <a:ext cx="7863840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Nebulized Glutathione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Solution: Glutathione 200mg + normal saline | Dose: 5ml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 3x/week (if airway inflammation or symptoms are present) | Duration: 8 weeks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Purpose: Reduce oxidative stress, repair airway, systemic antioxidant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8E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Topical Protocols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82296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DMSO Extended Recovery Cooling Lotion (lotion)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Application: Apply 2-3x/day to inflamed or painful areas | Frequency: as-needed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Purpose: Deep tissue repair, anti-inflammatory, pain management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Kaneh Bosem Ancient Healing Oil (oil)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Application: Massage into affected sites 2x daily | Frequency: as-needed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Purpose: Pain/inflammation, skin support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8E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Nascent Iodine Protocol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Thyroid, breast tissue, and whole-body iodine repletion — the most universally deficient mineral in modern populations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1148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18872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NASCENT IODINE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Product: Nascent Iodine (Detoxified Form)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Starting Dose: 1-3 drops in water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Titration: Increase by 1 drop every 3-5 days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Target: 12-50mg daily (condition-dependent)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Timing: Morning on empty stomach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Why Nascent: Atomic form (I²) is immediately bioavailable — no conversion needed by thyroid peroxidase enzyme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097280"/>
            <a:ext cx="41148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937760" y="118872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SELENIUM COMPANION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Product: Selenium (as selenomethionine or liposomal)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Dose: 200mcg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Timing: morning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CRITICAL: Always pair iodine with selenium — selenium activates glutathione peroxidase (GPx) which neutralizes H₂O₂ generated during iodine uptake by thyroid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Also supports: Thyroid hormone T4→T3 conversion, heavy metal chelation, immune modulation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" y="3840480"/>
            <a:ext cx="859536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393192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IODINE LOADING PROTOCOL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1-2: 1-3 drops nascent iodine AM  |  Week 3-4: 5-7 drops  |  Week 5+: Titrate to therapeutic dose per labs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Monitor: 24-hour iodine loading test (urinary iodine) every 90 days  |  TSH, Free T3/T4 at baseline and 6 weeks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8E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4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Exosome Therapy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411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822960"/>
            <a:ext cx="78638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100 Billion MSC-Derived Exosomes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Source: Human MSC | 100B/5ml | Route: IV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 1x per protocol (consider at week 9-10)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Purpose: Cellular/immune regeneration, anti-inflammatory, tissue repair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20 Billion Exosomes Nebulizer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Source: Human MSC | 20B/3ml | Route: Inhalation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Frequency: 3 sessions in week 10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Purpose: Systemic immune and airway mucosal support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PROTOCOL BUILDER — MODALITY SELECTION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Build Your Custom Protocol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Select all modalities and products for this member's program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4114800" cy="1737360"/>
          </a:xfrm>
          <a:prstGeom prst="rect">
            <a:avLst>
              <a:gd name="adj" fmla="val 5263"/>
            </a:avLst>
          </a:prstGeom>
          <a:solidFill>
            <a:srgbClr val="243055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716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Peptide Selection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69164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☑ Thymosin Alpha-1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594360" y="1892808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☑ ARA 290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4360" y="2093976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☑ GHK-Cu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2295144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☑ MOTS-C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94360" y="2496312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☑ BPC-157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94360" y="269748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☑ BPC-157 Pure (Immediate Release)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846320" y="1280160"/>
            <a:ext cx="4114800" cy="1737360"/>
          </a:xfrm>
          <a:prstGeom prst="rect">
            <a:avLst>
              <a:gd name="adj" fmla="val 5263"/>
            </a:avLst>
          </a:prstGeom>
          <a:solidFill>
            <a:srgbClr val="243055"/>
          </a:solidFill>
          <a:ln/>
        </p:spPr>
      </p:sp>
      <p:sp>
        <p:nvSpPr>
          <p:cNvPr id="15" name="Text 13"/>
          <p:cNvSpPr/>
          <p:nvPr/>
        </p:nvSpPr>
        <p:spPr>
          <a:xfrm>
            <a:off x="4983480" y="137160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HBOT Chamber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83480" y="169164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HE5000 Plus (1.5 ATA)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983480" y="1892808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Vitaeris 320 (1.3 ATA)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983480" y="2093976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Military Grade (2.0 ATA)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3200400"/>
            <a:ext cx="4114800" cy="1737360"/>
          </a:xfrm>
          <a:prstGeom prst="rect">
            <a:avLst>
              <a:gd name="adj" fmla="val 5263"/>
            </a:avLst>
          </a:prstGeom>
          <a:solidFill>
            <a:srgbClr val="243055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29184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IV Protocols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94360" y="361188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EDTA Chelation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94360" y="3813048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☑ Myers' Cocktail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94360" y="4014216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Glutathione Push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94360" y="4215384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High-Dose Vit C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94360" y="4416552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Phosphatidylcholine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846320" y="3200400"/>
            <a:ext cx="4114800" cy="1737360"/>
          </a:xfrm>
          <a:prstGeom prst="rect">
            <a:avLst>
              <a:gd name="adj" fmla="val 5263"/>
            </a:avLst>
          </a:prstGeom>
          <a:solidFill>
            <a:srgbClr val="243055"/>
          </a:solidFill>
          <a:ln/>
        </p:spPr>
      </p:sp>
      <p:sp>
        <p:nvSpPr>
          <p:cNvPr id="27" name="Text 25"/>
          <p:cNvSpPr/>
          <p:nvPr/>
        </p:nvSpPr>
        <p:spPr>
          <a:xfrm>
            <a:off x="4983480" y="329184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Additional Modalities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983480" y="3611880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Detox Bath Protocol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983480" y="3813048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Biological Dentistry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983480" y="4014216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5-Day Fast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983480" y="4215384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Cannabinoid Pathway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983480" y="4416552"/>
            <a:ext cx="3840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☐ MitoSTAC Stack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8E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4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Daily Schedule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965960" cy="320040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MORNING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280160"/>
            <a:ext cx="18745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Hydration — 16oz filtered water + 1/4 tsp French Celtic salt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Bio-Vitamin All-in-One Liquid — 1 tbsp daily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Complete REDS powder — 1 scoop in water or smoothie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Adaptogen Greens powder — 1 scoop in water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Selenium + Magnesium &amp; Zinc (Liposomal) — 1 tbsp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Curcumin+6 Nano (Liposomal) — 1 tbsp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Astaxanthin w/ Vitamin C (Liposomal) — 1 tbsp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Elixir for Everything tincture — 0.5ml sublingual, hold 90 sec, swallow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Mitochondrial support stack — CoQ10 200mg, PQQ 20mg, D-ribose 5g, L-carnitine 500mg, Resveratrol 200mg, Pterostilbene 50mg, Quercetin 500mg, Fisetin 500mg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GlyNAC protocol — Glycine 3g + NAC 600mg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560320" y="914400"/>
            <a:ext cx="1965960" cy="32004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8" name="Text 6"/>
          <p:cNvSpPr/>
          <p:nvPr/>
        </p:nvSpPr>
        <p:spPr>
          <a:xfrm>
            <a:off x="2560320" y="91440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MIDDAY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0" y="123444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06040" y="1280160"/>
            <a:ext cx="18745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Probiotics — 100B+ CFU broad spectrum (capsules or suppository alternating)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Lunch — Nutrient-dense, anti-inflammatory meal (see dietary guidelines).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Oral Peptide — CerebroPep or CogniPep (1 capsule) if fatigue/cognitive symptoms present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663440" y="914400"/>
            <a:ext cx="1965960" cy="320040"/>
          </a:xfrm>
          <a:prstGeom prst="rect">
            <a:avLst/>
          </a:prstGeom>
          <a:solidFill>
            <a:srgbClr val="1A2440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91440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EVENING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23444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09160" y="1280160"/>
            <a:ext cx="18745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Liposomal D3/K2 — 1 tablespoon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HEPA D•TOX (Liposomal Liver Support) — 1 tablespoon with evening meal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Mighty Blue — 1 capsule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Epsom Salt/Bentonite Clay Detox Bath — 20-40 minutes 2-3x/week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Castor oil pack — Apply over liver area 3-5x/week for 45min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Evening ECS Suppository — THC:CBD 2:1 + CBN in cacao butter, with DMSO base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DMSO Extended Recovery Lotion and/or Kaneh Bosem — Apply topically to affected/painful areas as needed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766560" y="914400"/>
            <a:ext cx="1965960" cy="320040"/>
          </a:xfrm>
          <a:prstGeom prst="rect">
            <a:avLst/>
          </a:prstGeom>
          <a:solidFill>
            <a:srgbClr val="0A0E1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914400"/>
            <a:ext cx="1965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BEDTIME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66560" y="1234440"/>
            <a:ext cx="196596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12280" y="1280160"/>
            <a:ext cx="187452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PinealPep — 1 capsule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ECS Nighttime Suppository — THC:CBD 2:1 + CBN, cacao butter base, insert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Detox Bath (when scheduled) — Always after bath, hydrate with water/electrolytes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1A244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Breathwork + 528Hz/741Hz Solfeggio frequency — 15 minutes for DNA repair/grounding/detox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PROGRAM TIMELINE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90-Day Schedule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103120" cy="3840480"/>
          </a:xfrm>
          <a:prstGeom prst="rect">
            <a:avLst>
              <a:gd name="adj" fmla="val 4348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0972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Weeks 1–4: Foundation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1: Intake + labs + detox bath begins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2: First IV sequence + immune peptides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65760" y="28346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3: 5-day fast (supervised)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34747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4: Liver cleanse + HBOT starts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468880" y="1005840"/>
            <a:ext cx="2103120" cy="3840480"/>
          </a:xfrm>
          <a:prstGeom prst="rect">
            <a:avLst>
              <a:gd name="adj" fmla="val 4348"/>
            </a:avLst>
          </a:prstGeom>
          <a:solidFill>
            <a:srgbClr val="243055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10972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Weeks 5–8: Rebuild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560320" y="1554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5: Full peptide stack active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560320" y="21945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6: Daily HBOT sessions begin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560320" y="28346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7: Mid-protocol labs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560320" y="34747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8: Bioregulator cycle starts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2103120" cy="3840480"/>
          </a:xfrm>
          <a:prstGeom prst="rect">
            <a:avLst>
              <a:gd name="adj" fmla="val 4348"/>
            </a:avLst>
          </a:prstGeom>
          <a:solidFill>
            <a:srgbClr val="243055"/>
          </a:solidFill>
          <a:ln/>
        </p:spPr>
      </p:sp>
      <p:sp>
        <p:nvSpPr>
          <p:cNvPr id="18" name="Text 16"/>
          <p:cNvSpPr/>
          <p:nvPr/>
        </p:nvSpPr>
        <p:spPr>
          <a:xfrm>
            <a:off x="4754880" y="10972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Weeks 9–12: Optimize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754880" y="1554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9: Advanced modalities introduced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54880" y="21945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10: MitoSTAC activation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54880" y="28346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11: Cannabinoid pathway tuning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754880" y="34747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12: Final labs + protocol review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858000" y="1005840"/>
            <a:ext cx="2103120" cy="3840480"/>
          </a:xfrm>
          <a:prstGeom prst="rect">
            <a:avLst>
              <a:gd name="adj" fmla="val 4348"/>
            </a:avLst>
          </a:prstGeom>
          <a:solidFill>
            <a:srgbClr val="243055"/>
          </a:solidFill>
          <a:ln/>
        </p:spPr>
      </p:sp>
      <p:sp>
        <p:nvSpPr>
          <p:cNvPr id="24" name="Text 22"/>
          <p:cNvSpPr/>
          <p:nvPr/>
        </p:nvSpPr>
        <p:spPr>
          <a:xfrm>
            <a:off x="6949440" y="109728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Phase 4: Maintain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949440" y="155448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Monthly HBOT maintenance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949440" y="219456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Quarterly lab monitoring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949440" y="283464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Bioregulator cycling continues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949440" y="3474720"/>
            <a:ext cx="19202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Lifestyle protocol maintenance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MONITORING &amp; FOLLOW-UP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Progress Tracking &amp; Lab Schedule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2560320"/>
          </a:xfrm>
          <a:prstGeom prst="rect">
            <a:avLst>
              <a:gd name="adj" fmla="val 3571"/>
            </a:avLst>
          </a:prstGeom>
          <a:solidFill>
            <a:srgbClr val="24305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0515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Lab Work Schedule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141732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Baseline Labs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286000" y="141732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17520" y="141732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CBC, CMP, thyroid panel, hormone panel, inflammatory markers (CRP, ESR), heavy metals, mycotoxins, vitamin D, B12, folate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40080" y="19202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Mid-Protocol Labs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86000" y="192024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6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17520" y="19202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Repeat inflammatory markers, metabolic panel, hormone re-check, liver enzymes, kidney function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640080" y="24231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Final Labs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286000" y="242316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Week 12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017520" y="242316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Full repeat of baseline panel, before/after comparison, P53 markers, telomere length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640080" y="29260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Maintenance Labs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286000" y="292608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Quarterly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017520" y="292608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Inflammatory markers, metabolic panel, vitamin levels, hormone panel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57200" y="3749040"/>
            <a:ext cx="8229600" cy="1097280"/>
          </a:xfrm>
          <a:prstGeom prst="rect">
            <a:avLst>
              <a:gd name="adj" fmla="val 8333"/>
            </a:avLst>
          </a:prstGeom>
          <a:solidFill>
            <a:srgbClr val="24305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7947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Follow-Up Schedule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11480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[object Object]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40080" y="429768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[object Object]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448056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[object Object]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0080" y="4663440"/>
            <a:ext cx="7863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▸ [object Object]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AI RESEARCH TOOL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Peptide Chat — AI Assistant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146304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8872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Access our custom AI research assistant trained on thousands of peptide studies, clinical trials, and mechanism-of-action papers.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Ask questions about any peptide in your protocol — interactions, dosing rationale, mechanism of action, supporting research.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2834640"/>
            <a:ext cx="7315200" cy="36576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834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"What is the mechanism of PNC-27 against pancreatic cancer?"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14400" y="3291840"/>
            <a:ext cx="7315200" cy="36576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9" name="Text 7"/>
          <p:cNvSpPr/>
          <p:nvPr/>
        </p:nvSpPr>
        <p:spPr>
          <a:xfrm>
            <a:off x="1097280" y="32918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"Can LL-37 and KPV be taken simultaneously?"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14400" y="3749040"/>
            <a:ext cx="7315200" cy="36576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37490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"Show me clinical trials for Epithalon and telomere extension"</a:t>
            </a:r>
            <a:endParaRPr lang="en-US" sz="900" dirty="0"/>
          </a:p>
        </p:txBody>
      </p:sp>
      <p:sp>
        <p:nvSpPr>
          <p:cNvPr id="12" name="Text 10">
            <a:hlinkClick r:id="rId1" tooltip=""/>
          </p:cNvPr>
          <p:cNvSpPr/>
          <p:nvPr/>
        </p:nvSpPr>
        <p:spPr>
          <a:xfrm>
            <a:off x="2743200" y="43891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Launch Peptide Chat →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8ED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244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Research Backing Our Protocols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8229600" cy="38404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1005840"/>
            <a:ext cx="78638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Moringa Health Benefits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Comprehensive overview of moringa's anti-inflammatory, antioxidant, and immune-supporting properties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https://ensosuperfoods.com/blogs/supergreens/moringa-health-benefits-for-women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Chlorella Benefits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Heavy metal detox, immune support, and nutrient density — why chlorella is in your protocol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https://www.healthline.com/nutrition/benefits-of-chlorella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Marine Phytoplankton Benefits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How marine phytoplankton provides bioavailable nutrition at the cellular level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https://flexhealthandwellness.com/blogs/blog/marine-phytoplankton-improves-human-health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Sirtuins and Atherosclerosis Reduction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Peer-reviewed research on how sirtuin activation reduces atherosclerosis — the science behind our NAD+ protocols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https://www.ahajournals.org/doi/10.1161/CIRCRESAHA.118.312498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Fenbendazole and Cancer: Research Overview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Anti-parasitic compounds showing documented anti-tumor properties in preclinical studies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https://www.ncbi.nlm.nih.gov/pmc/articles/PMC7523519/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High-Dose Vitamin C in Cancer Protocol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Peer-reviewed evidence for IV vitamin C as adjunctive cancer therapy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https://www.ncbi.nlm.nih.gov/pmc/articles/PMC5927785/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Endocannabinoid System and Immune Regulation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How the ECS modulates immune response — the science behind our CBD/CBG protocols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https://www.ncbi.nlm.nih.gov/pmc/articles/PMC7023045/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Iodine Deficiency and Thyroid/Cancer Connection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Relationship between iodine deficiency, thyroid dysfunction, and cancer risk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https://www.ncbi.nlm.nih.gov/pmc/articles/PMC3752513/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Gut Microbiome and Systemic Health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How gut dysbiosis drives systemic inflammation and chronic disease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https://www.ncbi.nlm.nih.gov/pmc/articles/PMC7510518/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BPC-157 Healing Properties</a:t>
            </a:r>
            <a:pPr indent="0" marL="0">
              <a:buNone/>
            </a:pPr>
            <a:r>
              <a:rPr lang="en-US" sz="9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— Comprehensive review of BPC-157's tissue repair, anti-inflammatory, and gut healing properties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8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https://www.ncbi.nlm.nih.gov/pmc/articles/PMC5333585/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3716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LIBRARY &amp; RESOURCES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Protocol Library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All books, research documents, schedules, and protocol guides in one place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80160"/>
            <a:ext cx="3931920" cy="3200400"/>
          </a:xfrm>
          <a:prstGeom prst="rect">
            <a:avLst>
              <a:gd name="adj" fmla="val 2857"/>
            </a:avLst>
          </a:prstGeom>
          <a:solidFill>
            <a:srgbClr val="24305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Recommended Reading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17373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Rapid Virus Recovery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Essential reading on breaking up biofilm with nebulization and high-dose vitamin C therapy for viral recovery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40080" y="21945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World Without Cancer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link between nitrilosides and cancer — the story of B17 Laetrile and why it matters for your protocol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40080" y="2651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Iodine Crisis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8346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Critical reading on the relationship between selenium, iodine, and cancer rise in the U.S.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0080" y="3108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Cancer Therapy: Results of Fifty Cases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32918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original Gerson therapy clinical documentation — foundational for understanding dietary protocols in cancer care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The Metabolic Approach to Cancer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40080" y="37490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Integrative oncology nutrition and metabolic terrain assessment — essential for understanding cancer as a metabolic disease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640080" y="40233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One Minute Restore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420624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Hydrogen peroxide therapy overview and its applications for supporting the body's natural healing processes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754880" y="1280160"/>
            <a:ext cx="3931920" cy="3200400"/>
          </a:xfrm>
          <a:prstGeom prst="rect">
            <a:avLst>
              <a:gd name="adj" fmla="val 2857"/>
            </a:avLst>
          </a:prstGeom>
          <a:solidFill>
            <a:srgbClr val="243055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1371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54E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Drive Resources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937760" y="17373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Protocol documents, research papers, and guides will be shared via Google Drive after onboarding.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PROTOCOL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Custom Protocol — At a Glance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97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Member Name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17520" y="1097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Annette Gomer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Start Date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17520" y="1645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2026-03-15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94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Selected Peptides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17520" y="21945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Thymosin Alpha-1, ARA 290, GHK-Cu, MOTS-C, BPC-157, BPC-157 Pure (Immediate Release)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7432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Duration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17520" y="2743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90 days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2918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Key Modalities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17520" y="32918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IV Therapy, IM Injections, ECS Optimization, Sirtuin/Mito Support, HBOT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solidFill>
            <a:srgbClr val="24305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840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Dietary Focus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017520" y="38404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Phase 1: Elimination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9A54E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0972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Your Healing Begins Here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 root-cause approach to regeneration — customized for your body, backed by science, protected by constitutional right.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0" y="2651760"/>
            <a:ext cx="2743200" cy="0"/>
          </a:xfrm>
          <a:prstGeom prst="line">
            <a:avLst/>
          </a:prstGeom>
          <a:noFill/>
          <a:ln w="19050">
            <a:solidFill>
              <a:srgbClr val="C9A5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017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Contact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forgottenformulapma.com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0" y="3017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0" y="32918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peptide-chat.abacusai.app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0" y="3017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HBOT Systems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0" y="32918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8CFE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FFPMA Division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71600" y="41148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A95B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"Before you heal someone, ask him if he's willing to give up the things that make him sick"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C9A54E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— Hippocrates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0" y="46634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B8A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Confidential — Private Members Association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Annette Gomer — Member Protocol 2026</dc:title>
  <dc:subject>Structural template derived from Trustee FINAL reference PPTX (Drive: 1Tc_hVN7M6c2Q41151GXsvrH8OWAZ7hPL). Color theme: Navy (#1A2440/#0A0E1A) + Gold (#C9A54E) + Lavender (#E8EDF5/#C8CFE0). Fonts: Playfair Display (headers) + Source Sans 3 (body). Based on Trustee_FFPMA_Protocol_Final_Template_1773763070654.pptx. 34-slide structure.</dc:subject>
  <dc:creator>Forgotten Formula PMA — DR. FORMULA</dc:creator>
  <cp:lastModifiedBy>Forgotten Formula PMA — DR. FORMULA</cp:lastModifiedBy>
  <cp:revision>1</cp:revision>
  <dcterms:created xsi:type="dcterms:W3CDTF">2026-03-19T04:10:59Z</dcterms:created>
  <dcterms:modified xsi:type="dcterms:W3CDTF">2026-03-19T04:10:59Z</dcterms:modified>
</cp:coreProperties>
</file>