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forgottenformula.com/shop"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54E"/>
          </a:solidFill>
          <a:ln/>
        </p:spPr>
      </p:sp>
      <p:sp>
        <p:nvSpPr>
          <p:cNvPr id="3" name="Shape 1"/>
          <p:cNvSpPr/>
          <p:nvPr/>
        </p:nvSpPr>
        <p:spPr>
          <a:xfrm>
            <a:off x="0" y="5088636"/>
            <a:ext cx="9144000" cy="54864"/>
          </a:xfrm>
          <a:prstGeom prst="rect">
            <a:avLst/>
          </a:prstGeom>
          <a:solidFill>
            <a:srgbClr val="C9A54E"/>
          </a:solidFill>
          <a:ln/>
        </p:spPr>
      </p:sp>
      <p:sp>
        <p:nvSpPr>
          <p:cNvPr id="4" name="Text 2"/>
          <p:cNvSpPr/>
          <p:nvPr/>
        </p:nvSpPr>
        <p:spPr>
          <a:xfrm>
            <a:off x="0" y="914400"/>
            <a:ext cx="9144000" cy="731520"/>
          </a:xfrm>
          <a:prstGeom prst="rect">
            <a:avLst/>
          </a:prstGeom>
          <a:noFill/>
          <a:ln/>
        </p:spPr>
        <p:txBody>
          <a:bodyPr wrap="square" rtlCol="0" anchor="ctr"/>
          <a:lstStyle/>
          <a:p>
            <a:pPr algn="ctr" indent="0" marL="0">
              <a:buNone/>
            </a:pPr>
            <a:r>
              <a:rPr lang="en-US" sz="3600" b="1" dirty="0">
                <a:solidFill>
                  <a:srgbClr val="FFFFFF"/>
                </a:solidFill>
                <a:latin typeface="Playfair Display" pitchFamily="34" charset="0"/>
                <a:ea typeface="Playfair Display" pitchFamily="34" charset="-122"/>
                <a:cs typeface="Playfair Display" pitchFamily="34" charset="-120"/>
              </a:rPr>
              <a:t>FORGOTTEN FORMULA</a:t>
            </a:r>
            <a:endParaRPr lang="en-US" sz="3600" dirty="0"/>
          </a:p>
        </p:txBody>
      </p:sp>
      <p:sp>
        <p:nvSpPr>
          <p:cNvPr id="5" name="Text 3"/>
          <p:cNvSpPr/>
          <p:nvPr/>
        </p:nvSpPr>
        <p:spPr>
          <a:xfrm>
            <a:off x="0" y="1554480"/>
            <a:ext cx="9144000" cy="457200"/>
          </a:xfrm>
          <a:prstGeom prst="rect">
            <a:avLst/>
          </a:prstGeom>
          <a:noFill/>
          <a:ln/>
        </p:spPr>
        <p:txBody>
          <a:bodyPr wrap="square" rtlCol="0" anchor="ctr"/>
          <a:lstStyle/>
          <a:p>
            <a:pPr algn="ctr" indent="0" marL="0">
              <a:buNone/>
            </a:pPr>
            <a:r>
              <a:rPr lang="en-US" sz="1400" dirty="0">
                <a:solidFill>
                  <a:srgbClr val="C9A54E"/>
                </a:solidFill>
                <a:latin typeface="Source Sans 3" pitchFamily="34" charset="0"/>
                <a:ea typeface="Source Sans 3" pitchFamily="34" charset="-122"/>
                <a:cs typeface="Source Sans 3" pitchFamily="34" charset="-120"/>
              </a:rPr>
              <a:t>PRIVATE MEMBER ASSOCIATION</a:t>
            </a:r>
            <a:endParaRPr lang="en-US" sz="1400" dirty="0"/>
          </a:p>
        </p:txBody>
      </p:sp>
      <p:sp>
        <p:nvSpPr>
          <p:cNvPr id="6" name="Shape 4"/>
          <p:cNvSpPr/>
          <p:nvPr/>
        </p:nvSpPr>
        <p:spPr>
          <a:xfrm>
            <a:off x="3200400" y="2194560"/>
            <a:ext cx="2743200" cy="0"/>
          </a:xfrm>
          <a:prstGeom prst="line">
            <a:avLst/>
          </a:prstGeom>
          <a:noFill/>
          <a:ln w="25400">
            <a:solidFill>
              <a:srgbClr val="C9A54E"/>
            </a:solidFill>
            <a:prstDash val="solid"/>
          </a:ln>
        </p:spPr>
      </p:sp>
      <p:sp>
        <p:nvSpPr>
          <p:cNvPr id="7" name="Text 5"/>
          <p:cNvSpPr/>
          <p:nvPr/>
        </p:nvSpPr>
        <p:spPr>
          <a:xfrm>
            <a:off x="0" y="2468880"/>
            <a:ext cx="9144000" cy="640080"/>
          </a:xfrm>
          <a:prstGeom prst="rect">
            <a:avLst/>
          </a:prstGeom>
          <a:noFill/>
          <a:ln/>
        </p:spPr>
        <p:txBody>
          <a:bodyPr wrap="square" rtlCol="0" anchor="ctr"/>
          <a:lstStyle/>
          <a:p>
            <a:pPr algn="ctr" indent="0" marL="0">
              <a:buNone/>
            </a:pPr>
            <a:r>
              <a:rPr lang="en-US" sz="2800" dirty="0">
                <a:solidFill>
                  <a:srgbClr val="C9A54E"/>
                </a:solidFill>
                <a:latin typeface="Playfair Display" pitchFamily="34" charset="0"/>
                <a:ea typeface="Playfair Display" pitchFamily="34" charset="-122"/>
                <a:cs typeface="Playfair Display" pitchFamily="34" charset="-120"/>
              </a:rPr>
              <a:t>Member Protocol  2026</a:t>
            </a:r>
            <a:endParaRPr lang="en-US" sz="2800" dirty="0"/>
          </a:p>
        </p:txBody>
      </p:sp>
      <p:sp>
        <p:nvSpPr>
          <p:cNvPr id="8" name="Text 6"/>
          <p:cNvSpPr/>
          <p:nvPr/>
        </p:nvSpPr>
        <p:spPr>
          <a:xfrm>
            <a:off x="0" y="3108960"/>
            <a:ext cx="9144000" cy="457200"/>
          </a:xfrm>
          <a:prstGeom prst="rect">
            <a:avLst/>
          </a:prstGeom>
          <a:noFill/>
          <a:ln/>
        </p:spPr>
        <p:txBody>
          <a:bodyPr wrap="square" rtlCol="0" anchor="ctr"/>
          <a:lstStyle/>
          <a:p>
            <a:pPr algn="ctr" indent="0" marL="0">
              <a:buNone/>
            </a:pPr>
            <a:r>
              <a:rPr lang="en-US" sz="2000" dirty="0">
                <a:solidFill>
                  <a:srgbClr val="C8CFE0"/>
                </a:solidFill>
                <a:latin typeface="Source Sans 3" pitchFamily="34" charset="0"/>
                <a:ea typeface="Source Sans 3" pitchFamily="34" charset="-122"/>
                <a:cs typeface="Source Sans 3" pitchFamily="34" charset="-120"/>
              </a:rPr>
              <a:t>John D.</a:t>
            </a:r>
            <a:endParaRPr lang="en-US" sz="2000" dirty="0"/>
          </a:p>
        </p:txBody>
      </p:sp>
      <p:sp>
        <p:nvSpPr>
          <p:cNvPr id="9" name="Text 7"/>
          <p:cNvSpPr/>
          <p:nvPr/>
        </p:nvSpPr>
        <p:spPr>
          <a:xfrm>
            <a:off x="0" y="3566160"/>
            <a:ext cx="9144000" cy="365760"/>
          </a:xfrm>
          <a:prstGeom prst="rect">
            <a:avLst/>
          </a:prstGeom>
          <a:noFill/>
          <a:ln/>
        </p:spPr>
        <p:txBody>
          <a:bodyPr wrap="square" rtlCol="0" anchor="ctr"/>
          <a:lstStyle/>
          <a:p>
            <a:pPr algn="ctr" indent="0" marL="0">
              <a:buNone/>
            </a:pPr>
            <a:r>
              <a:rPr lang="en-US" sz="1100" dirty="0">
                <a:solidFill>
                  <a:srgbClr val="8A95B0"/>
                </a:solidFill>
                <a:latin typeface="Source Sans 3" pitchFamily="34" charset="0"/>
                <a:ea typeface="Source Sans 3" pitchFamily="34" charset="-122"/>
                <a:cs typeface="Source Sans 3" pitchFamily="34" charset="-120"/>
              </a:rPr>
              <a:t>Prepared by: FF Trustee Michael Blake</a:t>
            </a:r>
            <a:endParaRPr lang="en-US" sz="1100" dirty="0"/>
          </a:p>
        </p:txBody>
      </p:sp>
      <p:sp>
        <p:nvSpPr>
          <p:cNvPr id="10" name="Text 8"/>
          <p:cNvSpPr/>
          <p:nvPr/>
        </p:nvSpPr>
        <p:spPr>
          <a:xfrm>
            <a:off x="1371600" y="4389120"/>
            <a:ext cx="6400800" cy="548640"/>
          </a:xfrm>
          <a:prstGeom prst="rect">
            <a:avLst/>
          </a:prstGeom>
          <a:noFill/>
          <a:ln/>
        </p:spPr>
        <p:txBody>
          <a:bodyPr wrap="square" rtlCol="0" anchor="ctr"/>
          <a:lstStyle/>
          <a:p>
            <a:pPr algn="ctr" indent="0" marL="0">
              <a:buNone/>
            </a:pPr>
            <a:r>
              <a:rPr lang="en-US" sz="900" i="1" dirty="0">
                <a:solidFill>
                  <a:srgbClr val="8A95B0"/>
                </a:solidFill>
                <a:latin typeface="Source Sans 3" pitchFamily="34" charset="0"/>
                <a:ea typeface="Source Sans 3" pitchFamily="34" charset="-122"/>
                <a:cs typeface="Source Sans 3" pitchFamily="34" charset="-120"/>
              </a:rPr>
              <a:t>"Before you heal someone, ask him if he's willing to give up the things that make him sick"</a:t>
            </a:r>
            <a:endParaRPr lang="en-US" sz="900" dirty="0"/>
          </a:p>
          <a:p>
            <a:pPr algn="ctr" indent="0" marL="0">
              <a:buNone/>
            </a:pPr>
            <a:r>
              <a:rPr lang="en-US" sz="900" dirty="0">
                <a:solidFill>
                  <a:srgbClr val="C9A54E"/>
                </a:solidFill>
                <a:latin typeface="Source Sans 3" pitchFamily="34" charset="0"/>
                <a:ea typeface="Source Sans 3" pitchFamily="34" charset="-122"/>
                <a:cs typeface="Source Sans 3" pitchFamily="34" charset="-120"/>
              </a:rPr>
              <a:t>— Hippocrates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Presentation Summary</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731520" y="1005840"/>
            <a:ext cx="7680960" cy="2286000"/>
          </a:xfrm>
          <a:prstGeom prst="rect">
            <a:avLst/>
          </a:prstGeom>
          <a:noFill/>
          <a:ln/>
        </p:spPr>
        <p:txBody>
          <a:bodyPr wrap="square" rtlCol="0" anchor="t"/>
          <a:lstStyle/>
          <a:p>
            <a:pPr indent="0" marL="0">
              <a:buNone/>
            </a:pPr>
            <a:r>
              <a:rPr lang="en-US" sz="1300" dirty="0">
                <a:solidFill>
                  <a:srgbClr val="1A2440"/>
                </a:solidFill>
                <a:latin typeface="Source Sans 3" pitchFamily="34" charset="0"/>
                <a:ea typeface="Source Sans 3" pitchFamily="34" charset="-122"/>
                <a:cs typeface="Source Sans 3" pitchFamily="34" charset="-120"/>
              </a:rPr>
              <a:t>This 90-day protocol targets root-cause repair for chronic kidney disease and decades of pesticide/heavy metal toxicity. The approach is phased to gently mobilize and excrete latent toxins, repair renal tissues, restore the microbiome, and reignite mitochondrial vitality—while protecting the kidneys at every step. All therapies and doses are selected with renal safety and cumulative toxicity risk in mind.</a:t>
            </a:r>
            <a:endParaRPr lang="en-US" sz="1300" dirty="0"/>
          </a:p>
        </p:txBody>
      </p:sp>
      <p:sp>
        <p:nvSpPr>
          <p:cNvPr id="5" name="Text 3"/>
          <p:cNvSpPr/>
          <p:nvPr/>
        </p:nvSpPr>
        <p:spPr>
          <a:xfrm>
            <a:off x="731520" y="3200400"/>
            <a:ext cx="7680960" cy="1371600"/>
          </a:xfrm>
          <a:prstGeom prst="rect">
            <a:avLst/>
          </a:prstGeom>
          <a:noFill/>
          <a:ln/>
        </p:spPr>
        <p:txBody>
          <a:bodyPr wrap="square" rtlCol="0" anchor="t"/>
          <a:lstStyle/>
          <a:p>
            <a:pPr marL="342900" indent="-342900">
              <a:buSzPct val="100000"/>
              <a:buChar char="•"/>
            </a:pPr>
            <a:r>
              <a:rPr lang="en-US" sz="1200" dirty="0">
                <a:solidFill>
                  <a:srgbClr val="1A2440"/>
                </a:solidFill>
                <a:latin typeface="Source Sans 3" pitchFamily="34" charset="0"/>
                <a:ea typeface="Source Sans 3" pitchFamily="34" charset="-122"/>
                <a:cs typeface="Source Sans 3" pitchFamily="34" charset="-120"/>
              </a:rPr>
              <a:t>Addresses toxin exposure, gut health, and nutrient deficiencies</a:t>
            </a:r>
            <a:endParaRPr lang="en-US" sz="1200" dirty="0"/>
          </a:p>
          <a:p>
            <a:pPr marL="342900" indent="-342900">
              <a:buSzPct val="100000"/>
              <a:buChar char="•"/>
            </a:pPr>
            <a:r>
              <a:rPr lang="en-US" sz="1200" dirty="0">
                <a:solidFill>
                  <a:srgbClr val="1A2440"/>
                </a:solidFill>
                <a:latin typeface="Source Sans 3" pitchFamily="34" charset="0"/>
                <a:ea typeface="Source Sans 3" pitchFamily="34" charset="-122"/>
                <a:cs typeface="Source Sans 3" pitchFamily="34" charset="-120"/>
              </a:rPr>
              <a:t>5 Stages of Wellness to achieve balance</a:t>
            </a:r>
            <a:endParaRPr lang="en-US" sz="1200" dirty="0"/>
          </a:p>
          <a:p>
            <a:pPr marL="342900" indent="-342900">
              <a:buSzPct val="100000"/>
              <a:buChar char="•"/>
            </a:pPr>
            <a:r>
              <a:rPr lang="en-US" sz="1200" dirty="0">
                <a:solidFill>
                  <a:srgbClr val="1A2440"/>
                </a:solidFill>
                <a:latin typeface="Source Sans 3" pitchFamily="34" charset="0"/>
                <a:ea typeface="Source Sans 3" pitchFamily="34" charset="-122"/>
                <a:cs typeface="Source Sans 3" pitchFamily="34" charset="-120"/>
              </a:rPr>
              <a:t>Emphasizes holistic approach focusing on inflammation, viral load, parasite load, and metabolic functionality</a:t>
            </a:r>
            <a:endParaRPr lang="en-US" sz="1200" dirty="0"/>
          </a:p>
        </p:txBody>
      </p:sp>
      <p:sp>
        <p:nvSpPr>
          <p:cNvPr id="6" name="Text 4"/>
          <p:cNvSpPr/>
          <p:nvPr/>
        </p:nvSpPr>
        <p:spPr>
          <a:xfrm>
            <a:off x="914400" y="4572000"/>
            <a:ext cx="7315200" cy="457200"/>
          </a:xfrm>
          <a:prstGeom prst="rect">
            <a:avLst/>
          </a:prstGeom>
          <a:noFill/>
          <a:ln/>
        </p:spPr>
        <p:txBody>
          <a:bodyPr wrap="square" rtlCol="0" anchor="ctr"/>
          <a:lstStyle/>
          <a:p>
            <a:pPr algn="ctr" indent="0" marL="0">
              <a:buNone/>
            </a:pPr>
            <a:r>
              <a:rPr lang="en-US" sz="1000" i="1" dirty="0">
                <a:solidFill>
                  <a:srgbClr val="C9A54E"/>
                </a:solidFill>
                <a:latin typeface="Source Sans 3" pitchFamily="34" charset="0"/>
                <a:ea typeface="Source Sans 3" pitchFamily="34" charset="-122"/>
                <a:cs typeface="Source Sans 3" pitchFamily="34" charset="-120"/>
              </a:rPr>
              <a:t>"The natural healing force within each of us is the greatest force in getting well"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Member Information</a:t>
            </a:r>
            <a:endParaRPr lang="en-US" sz="2800" dirty="0"/>
          </a:p>
        </p:txBody>
      </p:sp>
      <p:sp>
        <p:nvSpPr>
          <p:cNvPr id="3" name="Shape 1"/>
          <p:cNvSpPr/>
          <p:nvPr/>
        </p:nvSpPr>
        <p:spPr>
          <a:xfrm>
            <a:off x="457200" y="868680"/>
            <a:ext cx="384048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3474720" cy="1828800"/>
          </a:xfrm>
          <a:prstGeom prst="rect">
            <a:avLst/>
          </a:prstGeom>
          <a:noFill/>
          <a:ln/>
        </p:spPr>
        <p:txBody>
          <a:bodyPr wrap="square" rtlCol="0" anchor="t"/>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Name: </a:t>
            </a:r>
            <a:pPr indent="0" marL="0">
              <a:buNone/>
            </a:pPr>
            <a:r>
              <a:rPr lang="en-US" sz="1100" dirty="0">
                <a:solidFill>
                  <a:srgbClr val="1A2440"/>
                </a:solidFill>
                <a:latin typeface="Source Sans 3" pitchFamily="34" charset="0"/>
                <a:ea typeface="Source Sans 3" pitchFamily="34" charset="-122"/>
                <a:cs typeface="Source Sans 3" pitchFamily="34" charset="-120"/>
              </a:rPr>
              <a:t>John D.</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Age: </a:t>
            </a:r>
            <a:pPr indent="0" marL="0">
              <a:buNone/>
            </a:pPr>
            <a:r>
              <a:rPr lang="en-US" sz="1100" dirty="0">
                <a:solidFill>
                  <a:srgbClr val="1A2440"/>
                </a:solidFill>
                <a:latin typeface="Source Sans 3" pitchFamily="34" charset="0"/>
                <a:ea typeface="Source Sans 3" pitchFamily="34" charset="-122"/>
                <a:cs typeface="Source Sans 3" pitchFamily="34" charset="-120"/>
              </a:rPr>
              <a:t>80</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Gender: </a:t>
            </a:r>
            <a:pPr indent="0" marL="0">
              <a:buNone/>
            </a:pPr>
            <a:r>
              <a:rPr lang="en-US" sz="1100" dirty="0">
                <a:solidFill>
                  <a:srgbClr val="1A2440"/>
                </a:solidFill>
                <a:latin typeface="Source Sans 3" pitchFamily="34" charset="0"/>
                <a:ea typeface="Source Sans 3" pitchFamily="34" charset="-122"/>
                <a:cs typeface="Source Sans 3" pitchFamily="34" charset="-120"/>
              </a:rPr>
              <a:t>male</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Location: </a:t>
            </a:r>
            <a:pPr indent="0" marL="0">
              <a:buNone/>
            </a:pPr>
            <a:r>
              <a:rPr lang="en-US" sz="1100" dirty="0">
                <a:solidFill>
                  <a:srgbClr val="1A2440"/>
                </a:solidFill>
                <a:latin typeface="Source Sans 3" pitchFamily="34" charset="0"/>
                <a:ea typeface="Source Sans 3" pitchFamily="34" charset="-122"/>
                <a:cs typeface="Source Sans 3" pitchFamily="34" charset="-120"/>
              </a:rPr>
              <a:t>Rural United States</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Protocol Duration: </a:t>
            </a:r>
            <a:pPr indent="0" marL="0">
              <a:buNone/>
            </a:pPr>
            <a:r>
              <a:rPr lang="en-US" sz="1100" dirty="0">
                <a:solidFill>
                  <a:srgbClr val="1A2440"/>
                </a:solidFill>
                <a:latin typeface="Source Sans 3" pitchFamily="34" charset="0"/>
                <a:ea typeface="Source Sans 3" pitchFamily="34" charset="-122"/>
                <a:cs typeface="Source Sans 3" pitchFamily="34" charset="-120"/>
              </a:rPr>
              <a:t>90 days</a:t>
            </a:r>
            <a:endParaRPr lang="en-US" sz="1100" dirty="0"/>
          </a:p>
        </p:txBody>
      </p:sp>
      <p:sp>
        <p:nvSpPr>
          <p:cNvPr id="5" name="Shape 3"/>
          <p:cNvSpPr/>
          <p:nvPr/>
        </p:nvSpPr>
        <p:spPr>
          <a:xfrm>
            <a:off x="4572000" y="868680"/>
            <a:ext cx="411480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4754880" y="914400"/>
            <a:ext cx="3749040" cy="274320"/>
          </a:xfrm>
          <a:prstGeom prst="rect">
            <a:avLst/>
          </a:prstGeom>
          <a:noFill/>
          <a:ln/>
        </p:spPr>
        <p:txBody>
          <a:bodyPr wrap="square" rtlCol="0" anchor="ctr"/>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Current Assessments:</a:t>
            </a:r>
            <a:endParaRPr lang="en-US" sz="1100" dirty="0"/>
          </a:p>
        </p:txBody>
      </p:sp>
      <p:sp>
        <p:nvSpPr>
          <p:cNvPr id="7" name="Text 5"/>
          <p:cNvSpPr/>
          <p:nvPr/>
        </p:nvSpPr>
        <p:spPr>
          <a:xfrm>
            <a:off x="4754880" y="1188720"/>
            <a:ext cx="3749040" cy="82296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Chronic kidney disease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Pesticide toxicity syndrome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Heavy metal burden</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Renal insufficiency</a:t>
            </a:r>
            <a:endParaRPr lang="en-US" sz="1000" dirty="0"/>
          </a:p>
        </p:txBody>
      </p:sp>
      <p:sp>
        <p:nvSpPr>
          <p:cNvPr id="8" name="Text 6"/>
          <p:cNvSpPr/>
          <p:nvPr/>
        </p:nvSpPr>
        <p:spPr>
          <a:xfrm>
            <a:off x="4754880" y="2011680"/>
            <a:ext cx="3749040" cy="274320"/>
          </a:xfrm>
          <a:prstGeom prst="rect">
            <a:avLst/>
          </a:prstGeom>
          <a:noFill/>
          <a:ln/>
        </p:spPr>
        <p:txBody>
          <a:bodyPr wrap="square" rtlCol="0" anchor="ctr"/>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Symptoms:</a:t>
            </a:r>
            <a:endParaRPr lang="en-US" sz="1100" dirty="0"/>
          </a:p>
        </p:txBody>
      </p:sp>
      <p:sp>
        <p:nvSpPr>
          <p:cNvPr id="9" name="Text 7"/>
          <p:cNvSpPr/>
          <p:nvPr/>
        </p:nvSpPr>
        <p:spPr>
          <a:xfrm>
            <a:off x="4754880" y="2286000"/>
            <a:ext cx="3749040" cy="54864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Chronic kidney disease — renal function decline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Decades of pesticide exposure from crop dusting career</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Heavy metal accumulation from aerial chemical application</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Declining energy and vitality</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Toxin-induced organ damage</a:t>
            </a:r>
            <a:endParaRPr lang="en-US" sz="1000" dirty="0"/>
          </a:p>
        </p:txBody>
      </p:sp>
      <p:sp>
        <p:nvSpPr>
          <p:cNvPr id="10" name="Shape 8"/>
          <p:cNvSpPr/>
          <p:nvPr/>
        </p:nvSpPr>
        <p:spPr>
          <a:xfrm>
            <a:off x="457200" y="3063240"/>
            <a:ext cx="8229600" cy="1828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3108960"/>
            <a:ext cx="7863840" cy="274320"/>
          </a:xfrm>
          <a:prstGeom prst="rect">
            <a:avLst/>
          </a:prstGeom>
          <a:noFill/>
          <a:ln/>
        </p:spPr>
        <p:txBody>
          <a:bodyPr wrap="square" rtlCol="0" anchor="ctr"/>
          <a:lstStyle/>
          <a:p>
            <a:pPr indent="0" marL="0">
              <a:buNone/>
            </a:pPr>
            <a:r>
              <a:rPr lang="en-US" sz="1200" b="1" dirty="0">
                <a:solidFill>
                  <a:srgbClr val="C9A54E"/>
                </a:solidFill>
                <a:latin typeface="Playfair Display" pitchFamily="34" charset="0"/>
                <a:ea typeface="Playfair Display" pitchFamily="34" charset="-122"/>
                <a:cs typeface="Playfair Display" pitchFamily="34" charset="-120"/>
              </a:rPr>
              <a:t>Recommended Starter Books:</a:t>
            </a:r>
            <a:endParaRPr lang="en-US" sz="1200" dirty="0"/>
          </a:p>
        </p:txBody>
      </p:sp>
      <p:sp>
        <p:nvSpPr>
          <p:cNvPr id="12" name="Text 10"/>
          <p:cNvSpPr/>
          <p:nvPr/>
        </p:nvSpPr>
        <p:spPr>
          <a:xfrm>
            <a:off x="640080" y="3429000"/>
            <a:ext cx="7863840" cy="1371600"/>
          </a:xfrm>
          <a:prstGeom prst="rect">
            <a:avLst/>
          </a:prstGeom>
          <a:noFill/>
          <a:ln/>
        </p:spPr>
        <p:txBody>
          <a:bodyPr wrap="square" rtlCol="0" anchor="t"/>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Rapid Virus Recovery</a:t>
            </a:r>
            <a:pPr indent="0" marL="0">
              <a:buNone/>
            </a:pPr>
            <a:r>
              <a:rPr lang="en-US" sz="900" dirty="0">
                <a:solidFill>
                  <a:srgbClr val="5A6B8A"/>
                </a:solidFill>
                <a:latin typeface="Source Sans 3" pitchFamily="34" charset="0"/>
                <a:ea typeface="Source Sans 3" pitchFamily="34" charset="-122"/>
                <a:cs typeface="Source Sans 3" pitchFamily="34" charset="-120"/>
              </a:rPr>
              <a:t> — Essential reading on breaking up biofilm with nebulization and high-dose vitamin C therapy for viral recovery</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Dental Dangers</a:t>
            </a:r>
            <a:pPr indent="0" marL="0">
              <a:buNone/>
            </a:pPr>
            <a:r>
              <a:rPr lang="en-US" sz="900" dirty="0">
                <a:solidFill>
                  <a:srgbClr val="5A6B8A"/>
                </a:solidFill>
                <a:latin typeface="Source Sans 3" pitchFamily="34" charset="0"/>
                <a:ea typeface="Source Sans 3" pitchFamily="34" charset="-122"/>
                <a:cs typeface="Source Sans 3" pitchFamily="34" charset="-120"/>
              </a:rPr>
              <a:t> — Please read over Dental Dangers as amalgam issues and periodontal problems can significantly hurt longevity goals</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The Iodine Crisis</a:t>
            </a:r>
            <a:pPr indent="0" marL="0">
              <a:buNone/>
            </a:pPr>
            <a:r>
              <a:rPr lang="en-US" sz="900" dirty="0">
                <a:solidFill>
                  <a:srgbClr val="5A6B8A"/>
                </a:solidFill>
                <a:latin typeface="Source Sans 3" pitchFamily="34" charset="0"/>
                <a:ea typeface="Source Sans 3" pitchFamily="34" charset="-122"/>
                <a:cs typeface="Source Sans 3" pitchFamily="34" charset="-120"/>
              </a:rPr>
              <a:t> — Critical reading on the relationship between selenium, iodine, and cancer rise in the U.S.</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One Minute Restore</a:t>
            </a:r>
            <a:pPr indent="0" marL="0">
              <a:buNone/>
            </a:pPr>
            <a:r>
              <a:rPr lang="en-US" sz="900" dirty="0">
                <a:solidFill>
                  <a:srgbClr val="5A6B8A"/>
                </a:solidFill>
                <a:latin typeface="Source Sans 3" pitchFamily="34" charset="0"/>
                <a:ea typeface="Source Sans 3" pitchFamily="34" charset="-122"/>
                <a:cs typeface="Source Sans 3" pitchFamily="34" charset="-120"/>
              </a:rPr>
              <a:t> — Hydrogen peroxide therapy overview and its applications for supporting the body's natural healing processes</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Cymatics: A Study of Wave Phenomena</a:t>
            </a:r>
            <a:pPr indent="0" marL="0">
              <a:buNone/>
            </a:pPr>
            <a:r>
              <a:rPr lang="en-US" sz="900" dirty="0">
                <a:solidFill>
                  <a:srgbClr val="5A6B8A"/>
                </a:solidFill>
                <a:latin typeface="Source Sans 3" pitchFamily="34" charset="0"/>
                <a:ea typeface="Source Sans 3" pitchFamily="34" charset="-122"/>
                <a:cs typeface="Source Sans 3" pitchFamily="34" charset="-120"/>
              </a:rPr>
              <a:t> — Foundation text for frequency-based healing modalities — understanding how sound and vibration affect cellular health</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Toxic Dentistry Exposed</a:t>
            </a:r>
            <a:pPr indent="0" marL="0">
              <a:buNone/>
            </a:pPr>
            <a:r>
              <a:rPr lang="en-US" sz="900" dirty="0">
                <a:solidFill>
                  <a:srgbClr val="5A6B8A"/>
                </a:solidFill>
                <a:latin typeface="Source Sans 3" pitchFamily="34" charset="0"/>
                <a:ea typeface="Source Sans 3" pitchFamily="34" charset="-122"/>
                <a:cs typeface="Source Sans 3" pitchFamily="34" charset="-120"/>
              </a:rPr>
              <a:t> — Understanding how mercury amalgam fillings and root canals create systemic toxicity that undermines your healing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Member Timeline</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20s-60s</a:t>
            </a:r>
            <a:pPr indent="0" marL="0">
              <a:buNone/>
            </a:pPr>
            <a:r>
              <a:rPr lang="en-US" sz="1100" dirty="0">
                <a:solidFill>
                  <a:srgbClr val="1A2440"/>
                </a:solidFill>
                <a:latin typeface="Source Sans 3" pitchFamily="34" charset="0"/>
                <a:ea typeface="Source Sans 3" pitchFamily="34" charset="-122"/>
                <a:cs typeface="Source Sans 3" pitchFamily="34" charset="-120"/>
              </a:rPr>
              <a:t> — Career crop duster — decades of pesticide/herbicide exposure</a:t>
            </a:r>
            <a:pPr indent="0" marL="0">
              <a:buNone/>
            </a:pPr>
            <a:r>
              <a:rPr lang="en-US" sz="900" dirty="0">
                <a:solidFill>
                  <a:srgbClr val="5A6B8A"/>
                </a:solidFill>
                <a:latin typeface="Source Sans 3" pitchFamily="34" charset="0"/>
                <a:ea typeface="Source Sans 3" pitchFamily="34" charset="-122"/>
                <a:cs typeface="Source Sans 3" pitchFamily="34" charset="-120"/>
              </a:rPr>
              <a:t> (Massive occupational exposure to organophosphates, glyphosate, 2,4-D, and other agricultural chemicals — primary root cause of systemic toxicity)</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60s-70s</a:t>
            </a:r>
            <a:pPr indent="0" marL="0">
              <a:buNone/>
            </a:pPr>
            <a:r>
              <a:rPr lang="en-US" sz="1100" dirty="0">
                <a:solidFill>
                  <a:srgbClr val="1A2440"/>
                </a:solidFill>
                <a:latin typeface="Source Sans 3" pitchFamily="34" charset="0"/>
                <a:ea typeface="Source Sans 3" pitchFamily="34" charset="-122"/>
                <a:cs typeface="Source Sans 3" pitchFamily="34" charset="-120"/>
              </a:rPr>
              <a:t> — Kidney function decline noted</a:t>
            </a:r>
            <a:pPr indent="0" marL="0">
              <a:buNone/>
            </a:pPr>
            <a:r>
              <a:rPr lang="en-US" sz="900" dirty="0">
                <a:solidFill>
                  <a:srgbClr val="5A6B8A"/>
                </a:solidFill>
                <a:latin typeface="Source Sans 3" pitchFamily="34" charset="0"/>
                <a:ea typeface="Source Sans 3" pitchFamily="34" charset="-122"/>
                <a:cs typeface="Source Sans 3" pitchFamily="34" charset="-120"/>
              </a:rPr>
              <a:t> (Renal damage from decades of filtering pesticide metabolites and heavy metals)</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70s</a:t>
            </a:r>
            <a:pPr indent="0" marL="0">
              <a:buNone/>
            </a:pPr>
            <a:r>
              <a:rPr lang="en-US" sz="1100" dirty="0">
                <a:solidFill>
                  <a:srgbClr val="1A2440"/>
                </a:solidFill>
                <a:latin typeface="Source Sans 3" pitchFamily="34" charset="0"/>
                <a:ea typeface="Source Sans 3" pitchFamily="34" charset="-122"/>
                <a:cs typeface="Source Sans 3" pitchFamily="34" charset="-120"/>
              </a:rPr>
              <a:t> — Heavy metal testing reveals elevated levels</a:t>
            </a:r>
            <a:pPr indent="0" marL="0">
              <a:buNone/>
            </a:pPr>
            <a:r>
              <a:rPr lang="en-US" sz="900" dirty="0">
                <a:solidFill>
                  <a:srgbClr val="5A6B8A"/>
                </a:solidFill>
                <a:latin typeface="Source Sans 3" pitchFamily="34" charset="0"/>
                <a:ea typeface="Source Sans 3" pitchFamily="34" charset="-122"/>
                <a:cs typeface="Source Sans 3" pitchFamily="34" charset="-120"/>
              </a:rPr>
              <a:t> (Mercury, lead, arsenic, and cadmium accumulated from pesticide formulations and aerial application)</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80</a:t>
            </a:r>
            <a:pPr indent="0" marL="0">
              <a:buNone/>
            </a:pPr>
            <a:r>
              <a:rPr lang="en-US" sz="1100" dirty="0">
                <a:solidFill>
                  <a:srgbClr val="1A2440"/>
                </a:solidFill>
                <a:latin typeface="Source Sans 3" pitchFamily="34" charset="0"/>
                <a:ea typeface="Source Sans 3" pitchFamily="34" charset="-122"/>
                <a:cs typeface="Source Sans 3" pitchFamily="34" charset="-120"/>
              </a:rPr>
              <a:t> — Presenting for comprehensive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(Seeking root cause resolution after conventional medicine failed to address toxin burden)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Trustee's Analysis</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dirty="0">
                <a:solidFill>
                  <a:srgbClr val="1A2440"/>
                </a:solidFill>
                <a:latin typeface="Source Sans 3" pitchFamily="34" charset="0"/>
                <a:ea typeface="Source Sans 3" pitchFamily="34" charset="-122"/>
                <a:cs typeface="Source Sans 3" pitchFamily="34" charset="-120"/>
              </a:rPr>
              <a:t>This 90-day protocol targets root-cause repair for chronic kidney disease and decades of pesticide/heavy metal toxicity. The approach is phased to gently mobilize and excrete latent toxins, repair renal tissues, restore the microbiome, and reignite mitochondrial vitality—while protecting the kidneys at every step. All therapies and doses are selected with renal safety and cumulative toxicity risk in mind.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Root Cause Analysis</a:t>
            </a:r>
            <a:endParaRPr lang="en-US" sz="2800" dirty="0"/>
          </a:p>
        </p:txBody>
      </p:sp>
      <p:sp>
        <p:nvSpPr>
          <p:cNvPr id="3" name="Shape 1"/>
          <p:cNvSpPr/>
          <p:nvPr/>
        </p:nvSpPr>
        <p:spPr>
          <a:xfrm>
            <a:off x="457200" y="91440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914400"/>
            <a:ext cx="73152" cy="731520"/>
          </a:xfrm>
          <a:prstGeom prst="rect">
            <a:avLst/>
          </a:prstGeom>
          <a:solidFill>
            <a:srgbClr val="C62828"/>
          </a:solidFill>
          <a:ln/>
        </p:spPr>
      </p:sp>
      <p:sp>
        <p:nvSpPr>
          <p:cNvPr id="5" name="Text 3"/>
          <p:cNvSpPr/>
          <p:nvPr/>
        </p:nvSpPr>
        <p:spPr>
          <a:xfrm>
            <a:off x="640080" y="91440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1. Chronic organophosphate pesticide exposure</a:t>
            </a:r>
            <a:endParaRPr lang="en-US" sz="1200" dirty="0"/>
          </a:p>
        </p:txBody>
      </p:sp>
      <p:sp>
        <p:nvSpPr>
          <p:cNvPr id="6" name="Text 4"/>
          <p:cNvSpPr/>
          <p:nvPr/>
        </p:nvSpPr>
        <p:spPr>
          <a:xfrm>
            <a:off x="640080" y="1243584"/>
            <a:ext cx="1828800" cy="292608"/>
          </a:xfrm>
          <a:prstGeom prst="rect">
            <a:avLst/>
          </a:prstGeom>
          <a:noFill/>
          <a:ln/>
        </p:spPr>
        <p:txBody>
          <a:bodyPr wrap="square" rtlCol="0" anchor="t"/>
          <a:lstStyle/>
          <a:p>
            <a:pPr indent="0" marL="0">
              <a:buNone/>
            </a:pPr>
            <a:r>
              <a:rPr lang="en-US" sz="800" dirty="0">
                <a:solidFill>
                  <a:srgbClr val="C62828"/>
                </a:solidFill>
                <a:latin typeface="Source Sans 3" pitchFamily="34" charset="0"/>
                <a:ea typeface="Source Sans 3" pitchFamily="34" charset="-122"/>
                <a:cs typeface="Source Sans 3" pitchFamily="34" charset="-120"/>
              </a:rPr>
              <a:t>PRIMARY</a:t>
            </a:r>
            <a:endParaRPr lang="en-US" sz="800" dirty="0"/>
          </a:p>
        </p:txBody>
      </p:sp>
      <p:sp>
        <p:nvSpPr>
          <p:cNvPr id="7" name="Text 5"/>
          <p:cNvSpPr/>
          <p:nvPr/>
        </p:nvSpPr>
        <p:spPr>
          <a:xfrm>
            <a:off x="3200400" y="91440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Lifetime career as a crop duster exposed John to immense organophosphate, glyphosate, and 2,4-D burden, causing renal, immune, and mitochondrial injury.</a:t>
            </a:r>
            <a:endParaRPr lang="en-US" sz="1000" dirty="0"/>
          </a:p>
        </p:txBody>
      </p:sp>
      <p:sp>
        <p:nvSpPr>
          <p:cNvPr id="8" name="Shape 6"/>
          <p:cNvSpPr/>
          <p:nvPr/>
        </p:nvSpPr>
        <p:spPr>
          <a:xfrm>
            <a:off x="457200" y="173736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737360"/>
            <a:ext cx="73152" cy="731520"/>
          </a:xfrm>
          <a:prstGeom prst="rect">
            <a:avLst/>
          </a:prstGeom>
          <a:solidFill>
            <a:srgbClr val="C9A54E"/>
          </a:solidFill>
          <a:ln/>
        </p:spPr>
      </p:sp>
      <p:sp>
        <p:nvSpPr>
          <p:cNvPr id="10" name="Text 8"/>
          <p:cNvSpPr/>
          <p:nvPr/>
        </p:nvSpPr>
        <p:spPr>
          <a:xfrm>
            <a:off x="640080" y="173736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2. Heavy metal accumulation</a:t>
            </a:r>
            <a:endParaRPr lang="en-US" sz="1200" dirty="0"/>
          </a:p>
        </p:txBody>
      </p:sp>
      <p:sp>
        <p:nvSpPr>
          <p:cNvPr id="11" name="Text 9"/>
          <p:cNvSpPr/>
          <p:nvPr/>
        </p:nvSpPr>
        <p:spPr>
          <a:xfrm>
            <a:off x="640080" y="2066544"/>
            <a:ext cx="1828800" cy="292608"/>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SECONDARY</a:t>
            </a:r>
            <a:endParaRPr lang="en-US" sz="800" dirty="0"/>
          </a:p>
        </p:txBody>
      </p:sp>
      <p:sp>
        <p:nvSpPr>
          <p:cNvPr id="12" name="Text 10"/>
          <p:cNvSpPr/>
          <p:nvPr/>
        </p:nvSpPr>
        <p:spPr>
          <a:xfrm>
            <a:off x="3200400" y="173736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40+ years of agrochemical work accumulated mercury, arsenic, cadmium, and lead, compounding glomerular and tubular damage.</a:t>
            </a:r>
            <a:endParaRPr lang="en-US" sz="1000" dirty="0"/>
          </a:p>
        </p:txBody>
      </p:sp>
      <p:sp>
        <p:nvSpPr>
          <p:cNvPr id="13" name="Shape 11"/>
          <p:cNvSpPr/>
          <p:nvPr/>
        </p:nvSpPr>
        <p:spPr>
          <a:xfrm>
            <a:off x="457200" y="256032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560320"/>
            <a:ext cx="73152" cy="731520"/>
          </a:xfrm>
          <a:prstGeom prst="rect">
            <a:avLst/>
          </a:prstGeom>
          <a:solidFill>
            <a:srgbClr val="C8CFE0"/>
          </a:solidFill>
          <a:ln/>
        </p:spPr>
      </p:sp>
      <p:sp>
        <p:nvSpPr>
          <p:cNvPr id="15" name="Text 13"/>
          <p:cNvSpPr/>
          <p:nvPr/>
        </p:nvSpPr>
        <p:spPr>
          <a:xfrm>
            <a:off x="640080" y="256032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3. Renal tubular damage and filtration collapse</a:t>
            </a:r>
            <a:endParaRPr lang="en-US" sz="1200" dirty="0"/>
          </a:p>
        </p:txBody>
      </p:sp>
      <p:sp>
        <p:nvSpPr>
          <p:cNvPr id="16" name="Text 14"/>
          <p:cNvSpPr/>
          <p:nvPr/>
        </p:nvSpPr>
        <p:spPr>
          <a:xfrm>
            <a:off x="640080" y="2889504"/>
            <a:ext cx="1828800" cy="292608"/>
          </a:xfrm>
          <a:prstGeom prst="rect">
            <a:avLst/>
          </a:prstGeom>
          <a:noFill/>
          <a:ln/>
        </p:spPr>
        <p:txBody>
          <a:bodyPr wrap="square" rtlCol="0" anchor="t"/>
          <a:lstStyle/>
          <a:p>
            <a:pPr indent="0" marL="0">
              <a:buNone/>
            </a:pPr>
            <a:r>
              <a:rPr lang="en-US" sz="800" dirty="0">
                <a:solidFill>
                  <a:srgbClr val="C8CFE0"/>
                </a:solidFill>
                <a:latin typeface="Source Sans 3" pitchFamily="34" charset="0"/>
                <a:ea typeface="Source Sans 3" pitchFamily="34" charset="-122"/>
                <a:cs typeface="Source Sans 3" pitchFamily="34" charset="-120"/>
              </a:rPr>
              <a:t>TERTIARY</a:t>
            </a:r>
            <a:endParaRPr lang="en-US" sz="800" dirty="0"/>
          </a:p>
        </p:txBody>
      </p:sp>
      <p:sp>
        <p:nvSpPr>
          <p:cNvPr id="17" name="Text 15"/>
          <p:cNvSpPr/>
          <p:nvPr/>
        </p:nvSpPr>
        <p:spPr>
          <a:xfrm>
            <a:off x="3200400" y="256032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Decades of chemical and heavy metal filtration led to loss of nephron function and progressive kidney failure.</a:t>
            </a:r>
            <a:endParaRPr lang="en-US" sz="1000" dirty="0"/>
          </a:p>
        </p:txBody>
      </p:sp>
      <p:sp>
        <p:nvSpPr>
          <p:cNvPr id="18" name="Shape 16"/>
          <p:cNvSpPr/>
          <p:nvPr/>
        </p:nvSpPr>
        <p:spPr>
          <a:xfrm>
            <a:off x="457200" y="338328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Shape 17"/>
          <p:cNvSpPr/>
          <p:nvPr/>
        </p:nvSpPr>
        <p:spPr>
          <a:xfrm>
            <a:off x="457200" y="3383280"/>
            <a:ext cx="73152" cy="731520"/>
          </a:xfrm>
          <a:prstGeom prst="rect">
            <a:avLst/>
          </a:prstGeom>
          <a:solidFill>
            <a:srgbClr val="2E7D32"/>
          </a:solidFill>
          <a:ln/>
        </p:spPr>
      </p:sp>
      <p:sp>
        <p:nvSpPr>
          <p:cNvPr id="20" name="Text 18"/>
          <p:cNvSpPr/>
          <p:nvPr/>
        </p:nvSpPr>
        <p:spPr>
          <a:xfrm>
            <a:off x="640080" y="338328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4. Glyphosate-induced microbiome destruction</a:t>
            </a:r>
            <a:endParaRPr lang="en-US" sz="1200" dirty="0"/>
          </a:p>
        </p:txBody>
      </p:sp>
      <p:sp>
        <p:nvSpPr>
          <p:cNvPr id="21" name="Text 19"/>
          <p:cNvSpPr/>
          <p:nvPr/>
        </p:nvSpPr>
        <p:spPr>
          <a:xfrm>
            <a:off x="640080" y="3712464"/>
            <a:ext cx="1828800" cy="292608"/>
          </a:xfrm>
          <a:prstGeom prst="rect">
            <a:avLst/>
          </a:prstGeom>
          <a:noFill/>
          <a:ln/>
        </p:spPr>
        <p:txBody>
          <a:bodyPr wrap="square" rtlCol="0" anchor="t"/>
          <a:lstStyle/>
          <a:p>
            <a:pPr indent="0" marL="0">
              <a:buNone/>
            </a:pPr>
            <a:r>
              <a:rPr lang="en-US" sz="800" dirty="0">
                <a:solidFill>
                  <a:srgbClr val="2E7D32"/>
                </a:solidFill>
                <a:latin typeface="Source Sans 3" pitchFamily="34" charset="0"/>
                <a:ea typeface="Source Sans 3" pitchFamily="34" charset="-122"/>
                <a:cs typeface="Source Sans 3" pitchFamily="34" charset="-120"/>
              </a:rPr>
              <a:t>QUATERNARY</a:t>
            </a:r>
            <a:endParaRPr lang="en-US" sz="800" dirty="0"/>
          </a:p>
        </p:txBody>
      </p:sp>
      <p:sp>
        <p:nvSpPr>
          <p:cNvPr id="22" name="Text 20"/>
          <p:cNvSpPr/>
          <p:nvPr/>
        </p:nvSpPr>
        <p:spPr>
          <a:xfrm>
            <a:off x="3200400" y="338328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Widespread glyphosate exposure suppressed beneficial flora, impaired immune signaling, and allowed leaky gut/systemic inflammation.</a:t>
            </a:r>
            <a:endParaRPr lang="en-US" sz="1000" dirty="0"/>
          </a:p>
        </p:txBody>
      </p:sp>
      <p:sp>
        <p:nvSpPr>
          <p:cNvPr id="23" name="Shape 21"/>
          <p:cNvSpPr/>
          <p:nvPr/>
        </p:nvSpPr>
        <p:spPr>
          <a:xfrm>
            <a:off x="457200" y="420624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457200" y="4206240"/>
            <a:ext cx="73152" cy="731520"/>
          </a:xfrm>
          <a:prstGeom prst="rect">
            <a:avLst/>
          </a:prstGeom>
          <a:solidFill>
            <a:srgbClr val="243055"/>
          </a:solidFill>
          <a:ln/>
        </p:spPr>
      </p:sp>
      <p:sp>
        <p:nvSpPr>
          <p:cNvPr id="25" name="Text 23"/>
          <p:cNvSpPr/>
          <p:nvPr/>
        </p:nvSpPr>
        <p:spPr>
          <a:xfrm>
            <a:off x="640080" y="420624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5. Mitochondrial dysfunction from pesticide exposure</a:t>
            </a:r>
            <a:endParaRPr lang="en-US" sz="1200" dirty="0"/>
          </a:p>
        </p:txBody>
      </p:sp>
      <p:sp>
        <p:nvSpPr>
          <p:cNvPr id="26" name="Text 24"/>
          <p:cNvSpPr/>
          <p:nvPr/>
        </p:nvSpPr>
        <p:spPr>
          <a:xfrm>
            <a:off x="640080" y="4535424"/>
            <a:ext cx="1828800" cy="292608"/>
          </a:xfrm>
          <a:prstGeom prst="rect">
            <a:avLst/>
          </a:prstGeom>
          <a:noFill/>
          <a:ln/>
        </p:spPr>
        <p:txBody>
          <a:bodyPr wrap="square" rtlCol="0" anchor="t"/>
          <a:lstStyle/>
          <a:p>
            <a:pPr indent="0" marL="0">
              <a:buNone/>
            </a:pPr>
            <a:r>
              <a:rPr lang="en-US" sz="800" dirty="0">
                <a:solidFill>
                  <a:srgbClr val="243055"/>
                </a:solidFill>
                <a:latin typeface="Source Sans 3" pitchFamily="34" charset="0"/>
                <a:ea typeface="Source Sans 3" pitchFamily="34" charset="-122"/>
                <a:cs typeface="Source Sans 3" pitchFamily="34" charset="-120"/>
              </a:rPr>
              <a:t>QUINARY</a:t>
            </a:r>
            <a:endParaRPr lang="en-US" sz="800" dirty="0"/>
          </a:p>
        </p:txBody>
      </p:sp>
      <p:sp>
        <p:nvSpPr>
          <p:cNvPr id="27" name="Text 25"/>
          <p:cNvSpPr/>
          <p:nvPr/>
        </p:nvSpPr>
        <p:spPr>
          <a:xfrm>
            <a:off x="3200400" y="420624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Chemical/metal burden injured cell respiration pathways, magnifying age-related mitochondrial energy loss and fatigue.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5 R's to Healing at FF PMA</a:t>
            </a:r>
            <a:endParaRPr lang="en-US" sz="2800" dirty="0"/>
          </a:p>
        </p:txBody>
      </p:sp>
      <p:sp>
        <p:nvSpPr>
          <p:cNvPr id="3" name="Shape 1"/>
          <p:cNvSpPr/>
          <p:nvPr/>
        </p:nvSpPr>
        <p:spPr>
          <a:xfrm>
            <a:off x="457200" y="1005840"/>
            <a:ext cx="8229600" cy="685800"/>
          </a:xfrm>
          <a:prstGeom prst="rect">
            <a:avLst/>
          </a:prstGeom>
          <a:solidFill>
            <a:srgbClr val="243055"/>
          </a:solidFill>
          <a:ln/>
        </p:spPr>
      </p:sp>
      <p:sp>
        <p:nvSpPr>
          <p:cNvPr id="4" name="Shape 2"/>
          <p:cNvSpPr/>
          <p:nvPr/>
        </p:nvSpPr>
        <p:spPr>
          <a:xfrm>
            <a:off x="457200" y="1005840"/>
            <a:ext cx="73152" cy="685800"/>
          </a:xfrm>
          <a:prstGeom prst="rect">
            <a:avLst/>
          </a:prstGeom>
          <a:solidFill>
            <a:srgbClr val="C62828"/>
          </a:solidFill>
          <a:ln/>
        </p:spPr>
      </p:sp>
      <p:sp>
        <p:nvSpPr>
          <p:cNvPr id="5" name="Text 3"/>
          <p:cNvSpPr/>
          <p:nvPr/>
        </p:nvSpPr>
        <p:spPr>
          <a:xfrm>
            <a:off x="640080" y="1005840"/>
            <a:ext cx="3200400" cy="320040"/>
          </a:xfrm>
          <a:prstGeom prst="rect">
            <a:avLst/>
          </a:prstGeom>
          <a:noFill/>
          <a:ln/>
        </p:spPr>
        <p:txBody>
          <a:bodyPr wrap="square" rtlCol="0" anchor="ctr"/>
          <a:lstStyle/>
          <a:p>
            <a:pPr indent="0" marL="0">
              <a:buNone/>
            </a:pPr>
            <a:r>
              <a:rPr lang="en-US" sz="1300" b="1" dirty="0">
                <a:solidFill>
                  <a:srgbClr val="C62828"/>
                </a:solidFill>
                <a:latin typeface="Playfair Display" pitchFamily="34" charset="0"/>
                <a:ea typeface="Playfair Display" pitchFamily="34" charset="-122"/>
                <a:cs typeface="Playfair Display" pitchFamily="34" charset="-120"/>
              </a:rPr>
              <a:t>Phase 1: REMOVE – Gentle Toxin &amp; Pathogen Mobilization</a:t>
            </a:r>
            <a:endParaRPr lang="en-US" sz="1300" dirty="0"/>
          </a:p>
        </p:txBody>
      </p:sp>
      <p:sp>
        <p:nvSpPr>
          <p:cNvPr id="6" name="Text 4"/>
          <p:cNvSpPr/>
          <p:nvPr/>
        </p:nvSpPr>
        <p:spPr>
          <a:xfrm>
            <a:off x="640080" y="132588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1-3</a:t>
            </a:r>
            <a:endParaRPr lang="en-US" sz="900" dirty="0"/>
          </a:p>
        </p:txBody>
      </p:sp>
      <p:sp>
        <p:nvSpPr>
          <p:cNvPr id="7" name="Text 5"/>
          <p:cNvSpPr/>
          <p:nvPr/>
        </p:nvSpPr>
        <p:spPr>
          <a:xfrm>
            <a:off x="3840480" y="100584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Safely open elimination pathways, start low-and-slow chelation, and initiate broad antimicrobial and antiparasitic clearance.</a:t>
            </a:r>
            <a:endParaRPr lang="en-US" sz="1000" dirty="0"/>
          </a:p>
        </p:txBody>
      </p:sp>
      <p:sp>
        <p:nvSpPr>
          <p:cNvPr id="8" name="Shape 6"/>
          <p:cNvSpPr/>
          <p:nvPr/>
        </p:nvSpPr>
        <p:spPr>
          <a:xfrm>
            <a:off x="457200" y="1783080"/>
            <a:ext cx="8229600" cy="685800"/>
          </a:xfrm>
          <a:prstGeom prst="rect">
            <a:avLst/>
          </a:prstGeom>
          <a:solidFill>
            <a:srgbClr val="243055"/>
          </a:solidFill>
          <a:ln/>
        </p:spPr>
      </p:sp>
      <p:sp>
        <p:nvSpPr>
          <p:cNvPr id="9" name="Shape 7"/>
          <p:cNvSpPr/>
          <p:nvPr/>
        </p:nvSpPr>
        <p:spPr>
          <a:xfrm>
            <a:off x="457200" y="1783080"/>
            <a:ext cx="73152" cy="685800"/>
          </a:xfrm>
          <a:prstGeom prst="rect">
            <a:avLst/>
          </a:prstGeom>
          <a:solidFill>
            <a:srgbClr val="C9A54E"/>
          </a:solidFill>
          <a:ln/>
        </p:spPr>
      </p:sp>
      <p:sp>
        <p:nvSpPr>
          <p:cNvPr id="10" name="Text 8"/>
          <p:cNvSpPr/>
          <p:nvPr/>
        </p:nvSpPr>
        <p:spPr>
          <a:xfrm>
            <a:off x="640080" y="1783080"/>
            <a:ext cx="3200400" cy="320040"/>
          </a:xfrm>
          <a:prstGeom prst="rect">
            <a:avLst/>
          </a:prstGeom>
          <a:noFill/>
          <a:ln/>
        </p:spPr>
        <p:txBody>
          <a:bodyPr wrap="square" rtlCol="0" anchor="ctr"/>
          <a:lstStyle/>
          <a:p>
            <a:pPr indent="0" marL="0">
              <a:buNone/>
            </a:pPr>
            <a:r>
              <a:rPr lang="en-US" sz="1300" b="1" dirty="0">
                <a:solidFill>
                  <a:srgbClr val="C9A54E"/>
                </a:solidFill>
                <a:latin typeface="Playfair Display" pitchFamily="34" charset="0"/>
                <a:ea typeface="Playfair Display" pitchFamily="34" charset="-122"/>
                <a:cs typeface="Playfair Display" pitchFamily="34" charset="-120"/>
              </a:rPr>
              <a:t>Phase 2: RESTORE – Microbiome &amp; Gut Wall</a:t>
            </a:r>
            <a:endParaRPr lang="en-US" sz="1300" dirty="0"/>
          </a:p>
        </p:txBody>
      </p:sp>
      <p:sp>
        <p:nvSpPr>
          <p:cNvPr id="11" name="Text 9"/>
          <p:cNvSpPr/>
          <p:nvPr/>
        </p:nvSpPr>
        <p:spPr>
          <a:xfrm>
            <a:off x="640080" y="210312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4-5</a:t>
            </a:r>
            <a:endParaRPr lang="en-US" sz="900" dirty="0"/>
          </a:p>
        </p:txBody>
      </p:sp>
      <p:sp>
        <p:nvSpPr>
          <p:cNvPr id="12" name="Text 10"/>
          <p:cNvSpPr/>
          <p:nvPr/>
        </p:nvSpPr>
        <p:spPr>
          <a:xfrm>
            <a:off x="3840480" y="178308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Rapid reinnoculation and sealing of gut, support kidney and liver detox conjugation, reduce systemic inflammation.</a:t>
            </a:r>
            <a:endParaRPr lang="en-US" sz="1000" dirty="0"/>
          </a:p>
        </p:txBody>
      </p:sp>
      <p:sp>
        <p:nvSpPr>
          <p:cNvPr id="13" name="Shape 11"/>
          <p:cNvSpPr/>
          <p:nvPr/>
        </p:nvSpPr>
        <p:spPr>
          <a:xfrm>
            <a:off x="457200" y="2560320"/>
            <a:ext cx="8229600" cy="685800"/>
          </a:xfrm>
          <a:prstGeom prst="rect">
            <a:avLst/>
          </a:prstGeom>
          <a:solidFill>
            <a:srgbClr val="243055"/>
          </a:solidFill>
          <a:ln/>
        </p:spPr>
      </p:sp>
      <p:sp>
        <p:nvSpPr>
          <p:cNvPr id="14" name="Shape 12"/>
          <p:cNvSpPr/>
          <p:nvPr/>
        </p:nvSpPr>
        <p:spPr>
          <a:xfrm>
            <a:off x="457200" y="2560320"/>
            <a:ext cx="73152" cy="685800"/>
          </a:xfrm>
          <a:prstGeom prst="rect">
            <a:avLst/>
          </a:prstGeom>
          <a:solidFill>
            <a:srgbClr val="C8CFE0"/>
          </a:solidFill>
          <a:ln/>
        </p:spPr>
      </p:sp>
      <p:sp>
        <p:nvSpPr>
          <p:cNvPr id="15" name="Text 13"/>
          <p:cNvSpPr/>
          <p:nvPr/>
        </p:nvSpPr>
        <p:spPr>
          <a:xfrm>
            <a:off x="640080" y="2560320"/>
            <a:ext cx="3200400" cy="320040"/>
          </a:xfrm>
          <a:prstGeom prst="rect">
            <a:avLst/>
          </a:prstGeom>
          <a:noFill/>
          <a:ln/>
        </p:spPr>
        <p:txBody>
          <a:bodyPr wrap="square" rtlCol="0" anchor="ctr"/>
          <a:lstStyle/>
          <a:p>
            <a:pPr indent="0" marL="0">
              <a:buNone/>
            </a:pPr>
            <a:r>
              <a:rPr lang="en-US" sz="1300" b="1" dirty="0">
                <a:solidFill>
                  <a:srgbClr val="C8CFE0"/>
                </a:solidFill>
                <a:latin typeface="Playfair Display" pitchFamily="34" charset="0"/>
                <a:ea typeface="Playfair Display" pitchFamily="34" charset="-122"/>
                <a:cs typeface="Playfair Display" pitchFamily="34" charset="-120"/>
              </a:rPr>
              <a:t>Phase 3: REPLENISH – Essential Nutrient &amp; Mitochondrial Reset</a:t>
            </a:r>
            <a:endParaRPr lang="en-US" sz="1300" dirty="0"/>
          </a:p>
        </p:txBody>
      </p:sp>
      <p:sp>
        <p:nvSpPr>
          <p:cNvPr id="16" name="Text 14"/>
          <p:cNvSpPr/>
          <p:nvPr/>
        </p:nvSpPr>
        <p:spPr>
          <a:xfrm>
            <a:off x="640080" y="288036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6-7</a:t>
            </a:r>
            <a:endParaRPr lang="en-US" sz="900" dirty="0"/>
          </a:p>
        </p:txBody>
      </p:sp>
      <p:sp>
        <p:nvSpPr>
          <p:cNvPr id="17" name="Text 15"/>
          <p:cNvSpPr/>
          <p:nvPr/>
        </p:nvSpPr>
        <p:spPr>
          <a:xfrm>
            <a:off x="3840480" y="256032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Aggressive replenishment of depleted minerals, vitamins, sirtuins stack, mitochondrial and liver/kidney repair peptides.</a:t>
            </a:r>
            <a:endParaRPr lang="en-US" sz="1000" dirty="0"/>
          </a:p>
        </p:txBody>
      </p:sp>
      <p:sp>
        <p:nvSpPr>
          <p:cNvPr id="18" name="Shape 16"/>
          <p:cNvSpPr/>
          <p:nvPr/>
        </p:nvSpPr>
        <p:spPr>
          <a:xfrm>
            <a:off x="457200" y="3337560"/>
            <a:ext cx="8229600" cy="685800"/>
          </a:xfrm>
          <a:prstGeom prst="rect">
            <a:avLst/>
          </a:prstGeom>
          <a:solidFill>
            <a:srgbClr val="243055"/>
          </a:solidFill>
          <a:ln/>
        </p:spPr>
      </p:sp>
      <p:sp>
        <p:nvSpPr>
          <p:cNvPr id="19" name="Shape 17"/>
          <p:cNvSpPr/>
          <p:nvPr/>
        </p:nvSpPr>
        <p:spPr>
          <a:xfrm>
            <a:off x="457200" y="3337560"/>
            <a:ext cx="73152" cy="685800"/>
          </a:xfrm>
          <a:prstGeom prst="rect">
            <a:avLst/>
          </a:prstGeom>
          <a:solidFill>
            <a:srgbClr val="2E7D32"/>
          </a:solidFill>
          <a:ln/>
        </p:spPr>
      </p:sp>
      <p:sp>
        <p:nvSpPr>
          <p:cNvPr id="20" name="Text 18"/>
          <p:cNvSpPr/>
          <p:nvPr/>
        </p:nvSpPr>
        <p:spPr>
          <a:xfrm>
            <a:off x="640080" y="3337560"/>
            <a:ext cx="3200400" cy="320040"/>
          </a:xfrm>
          <a:prstGeom prst="rect">
            <a:avLst/>
          </a:prstGeom>
          <a:noFill/>
          <a:ln/>
        </p:spPr>
        <p:txBody>
          <a:bodyPr wrap="square" rtlCol="0" anchor="ctr"/>
          <a:lstStyle/>
          <a:p>
            <a:pPr indent="0" marL="0">
              <a:buNone/>
            </a:pPr>
            <a:r>
              <a:rPr lang="en-US" sz="1300" b="1" dirty="0">
                <a:solidFill>
                  <a:srgbClr val="2E7D32"/>
                </a:solidFill>
                <a:latin typeface="Playfair Display" pitchFamily="34" charset="0"/>
                <a:ea typeface="Playfair Display" pitchFamily="34" charset="-122"/>
                <a:cs typeface="Playfair Display" pitchFamily="34" charset="-120"/>
              </a:rPr>
              <a:t>Phase 4: REGENERATE – Renal, Hepatic, and Neuro Repair</a:t>
            </a:r>
            <a:endParaRPr lang="en-US" sz="1300" dirty="0"/>
          </a:p>
        </p:txBody>
      </p:sp>
      <p:sp>
        <p:nvSpPr>
          <p:cNvPr id="21" name="Text 19"/>
          <p:cNvSpPr/>
          <p:nvPr/>
        </p:nvSpPr>
        <p:spPr>
          <a:xfrm>
            <a:off x="640080" y="365760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8-10</a:t>
            </a:r>
            <a:endParaRPr lang="en-US" sz="900" dirty="0"/>
          </a:p>
        </p:txBody>
      </p:sp>
      <p:sp>
        <p:nvSpPr>
          <p:cNvPr id="22" name="Text 20"/>
          <p:cNvSpPr/>
          <p:nvPr/>
        </p:nvSpPr>
        <p:spPr>
          <a:xfrm>
            <a:off x="3840480" y="333756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Stack kidney-targeted bioregulators/peptides, support neural/mitochondrial regrowth, maintain all detox support.</a:t>
            </a:r>
            <a:endParaRPr lang="en-US" sz="1000" dirty="0"/>
          </a:p>
        </p:txBody>
      </p:sp>
      <p:sp>
        <p:nvSpPr>
          <p:cNvPr id="23" name="Shape 21"/>
          <p:cNvSpPr/>
          <p:nvPr/>
        </p:nvSpPr>
        <p:spPr>
          <a:xfrm>
            <a:off x="457200" y="4114800"/>
            <a:ext cx="8229600" cy="685800"/>
          </a:xfrm>
          <a:prstGeom prst="rect">
            <a:avLst/>
          </a:prstGeom>
          <a:solidFill>
            <a:srgbClr val="243055"/>
          </a:solidFill>
          <a:ln/>
        </p:spPr>
      </p:sp>
      <p:sp>
        <p:nvSpPr>
          <p:cNvPr id="24" name="Shape 22"/>
          <p:cNvSpPr/>
          <p:nvPr/>
        </p:nvSpPr>
        <p:spPr>
          <a:xfrm>
            <a:off x="457200" y="4114800"/>
            <a:ext cx="73152" cy="685800"/>
          </a:xfrm>
          <a:prstGeom prst="rect">
            <a:avLst/>
          </a:prstGeom>
          <a:solidFill>
            <a:srgbClr val="243055"/>
          </a:solidFill>
          <a:ln/>
        </p:spPr>
      </p:sp>
      <p:sp>
        <p:nvSpPr>
          <p:cNvPr id="25" name="Text 23"/>
          <p:cNvSpPr/>
          <p:nvPr/>
        </p:nvSpPr>
        <p:spPr>
          <a:xfrm>
            <a:off x="640080" y="4114800"/>
            <a:ext cx="3200400" cy="320040"/>
          </a:xfrm>
          <a:prstGeom prst="rect">
            <a:avLst/>
          </a:prstGeom>
          <a:noFill/>
          <a:ln/>
        </p:spPr>
        <p:txBody>
          <a:bodyPr wrap="square" rtlCol="0" anchor="ctr"/>
          <a:lstStyle/>
          <a:p>
            <a:pPr indent="0" marL="0">
              <a:buNone/>
            </a:pPr>
            <a:r>
              <a:rPr lang="en-US" sz="1300" b="1" dirty="0">
                <a:solidFill>
                  <a:srgbClr val="243055"/>
                </a:solidFill>
                <a:latin typeface="Playfair Display" pitchFamily="34" charset="0"/>
                <a:ea typeface="Playfair Display" pitchFamily="34" charset="-122"/>
                <a:cs typeface="Playfair Display" pitchFamily="34" charset="-120"/>
              </a:rPr>
              <a:t>Phase 5: REBALANCE – Integration, Maintenance &amp; Functional Return</a:t>
            </a:r>
            <a:endParaRPr lang="en-US" sz="1300" dirty="0"/>
          </a:p>
        </p:txBody>
      </p:sp>
      <p:sp>
        <p:nvSpPr>
          <p:cNvPr id="26" name="Text 24"/>
          <p:cNvSpPr/>
          <p:nvPr/>
        </p:nvSpPr>
        <p:spPr>
          <a:xfrm>
            <a:off x="640080" y="443484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11-13</a:t>
            </a:r>
            <a:endParaRPr lang="en-US" sz="900" dirty="0"/>
          </a:p>
        </p:txBody>
      </p:sp>
      <p:sp>
        <p:nvSpPr>
          <p:cNvPr id="27" name="Text 25"/>
          <p:cNvSpPr/>
          <p:nvPr/>
        </p:nvSpPr>
        <p:spPr>
          <a:xfrm>
            <a:off x="3840480" y="411480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Lock in gains, shift to sustainable weekly protocols, broaden diet, and perform full functional reassessment.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Daily Schedule</a:t>
            </a:r>
            <a:endParaRPr lang="en-US" sz="2800" dirty="0"/>
          </a:p>
        </p:txBody>
      </p:sp>
      <p:sp>
        <p:nvSpPr>
          <p:cNvPr id="3" name="Shape 1"/>
          <p:cNvSpPr/>
          <p:nvPr/>
        </p:nvSpPr>
        <p:spPr>
          <a:xfrm>
            <a:off x="457200" y="914400"/>
            <a:ext cx="1965960" cy="320040"/>
          </a:xfrm>
          <a:prstGeom prst="rect">
            <a:avLst/>
          </a:prstGeom>
          <a:solidFill>
            <a:srgbClr val="C9A54E"/>
          </a:solidFill>
          <a:ln/>
        </p:spPr>
      </p:sp>
      <p:sp>
        <p:nvSpPr>
          <p:cNvPr id="4" name="Text 2"/>
          <p:cNvSpPr/>
          <p:nvPr/>
        </p:nvSpPr>
        <p:spPr>
          <a:xfrm>
            <a:off x="45720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MORNING</a:t>
            </a:r>
            <a:endParaRPr lang="en-US" sz="1100" dirty="0"/>
          </a:p>
        </p:txBody>
      </p:sp>
      <p:sp>
        <p:nvSpPr>
          <p:cNvPr id="5" name="Shape 3"/>
          <p:cNvSpPr/>
          <p:nvPr/>
        </p:nvSpPr>
        <p:spPr>
          <a:xfrm>
            <a:off x="45720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50292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Bio-Vitamin All-in-One — 1 tbsp with 8oz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Elixir For Everything (Original) — 0.5ml sublingual</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MitoSTAC (see stack below) — Take sirtuin/mitochondrial stack with breakfast</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Adaptogen Greens with Digestive Enzymes — 1 scoop in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5-Amino-1MQ (oral) — 1 capsule</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Astaxanthin w/ Vitamin C (Liposomal) — 1 tbsp</a:t>
            </a:r>
            <a:endParaRPr lang="en-US" sz="800" dirty="0"/>
          </a:p>
        </p:txBody>
      </p:sp>
      <p:sp>
        <p:nvSpPr>
          <p:cNvPr id="7" name="Shape 5"/>
          <p:cNvSpPr/>
          <p:nvPr/>
        </p:nvSpPr>
        <p:spPr>
          <a:xfrm>
            <a:off x="2560320" y="914400"/>
            <a:ext cx="1965960" cy="320040"/>
          </a:xfrm>
          <a:prstGeom prst="rect">
            <a:avLst/>
          </a:prstGeom>
          <a:solidFill>
            <a:srgbClr val="243055"/>
          </a:solidFill>
          <a:ln/>
        </p:spPr>
      </p:sp>
      <p:sp>
        <p:nvSpPr>
          <p:cNvPr id="8" name="Text 6"/>
          <p:cNvSpPr/>
          <p:nvPr/>
        </p:nvSpPr>
        <p:spPr>
          <a:xfrm>
            <a:off x="256032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MIDDAY</a:t>
            </a:r>
            <a:endParaRPr lang="en-US" sz="1100" dirty="0"/>
          </a:p>
        </p:txBody>
      </p:sp>
      <p:sp>
        <p:nvSpPr>
          <p:cNvPr id="9" name="Shape 7"/>
          <p:cNvSpPr/>
          <p:nvPr/>
        </p:nvSpPr>
        <p:spPr>
          <a:xfrm>
            <a:off x="256032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8"/>
          <p:cNvSpPr/>
          <p:nvPr/>
        </p:nvSpPr>
        <p:spPr>
          <a:xfrm>
            <a:off x="260604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Complete REDS — 1 scoop in 12oz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French Celtic Salt — 1/4 tsp in 16oz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Liposomal D3/K2 — 1 tbsp with meal</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Lunch—see Diet Protocol</a:t>
            </a:r>
            <a:endParaRPr lang="en-US" sz="800" dirty="0"/>
          </a:p>
        </p:txBody>
      </p:sp>
      <p:sp>
        <p:nvSpPr>
          <p:cNvPr id="11" name="Shape 9"/>
          <p:cNvSpPr/>
          <p:nvPr/>
        </p:nvSpPr>
        <p:spPr>
          <a:xfrm>
            <a:off x="4663440" y="914400"/>
            <a:ext cx="1965960" cy="320040"/>
          </a:xfrm>
          <a:prstGeom prst="rect">
            <a:avLst/>
          </a:prstGeom>
          <a:solidFill>
            <a:srgbClr val="1A2440"/>
          </a:solidFill>
          <a:ln/>
        </p:spPr>
      </p:sp>
      <p:sp>
        <p:nvSpPr>
          <p:cNvPr id="12" name="Text 10"/>
          <p:cNvSpPr/>
          <p:nvPr/>
        </p:nvSpPr>
        <p:spPr>
          <a:xfrm>
            <a:off x="466344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EVENING</a:t>
            </a:r>
            <a:endParaRPr lang="en-US" sz="1100" dirty="0"/>
          </a:p>
        </p:txBody>
      </p:sp>
      <p:sp>
        <p:nvSpPr>
          <p:cNvPr id="13" name="Shape 11"/>
          <p:cNvSpPr/>
          <p:nvPr/>
        </p:nvSpPr>
        <p:spPr>
          <a:xfrm>
            <a:off x="466344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Text 12"/>
          <p:cNvSpPr/>
          <p:nvPr/>
        </p:nvSpPr>
        <p:spPr>
          <a:xfrm>
            <a:off x="470916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Gut Feeling (Vegan GI Formula) — 1 scoop in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KPV (oral) — 1 capsule</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GlyNAC blend (see stack) — With dinner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Dinner—see Diet Protocol</a:t>
            </a:r>
            <a:endParaRPr lang="en-US" sz="800" dirty="0"/>
          </a:p>
        </p:txBody>
      </p:sp>
      <p:sp>
        <p:nvSpPr>
          <p:cNvPr id="15" name="Shape 13"/>
          <p:cNvSpPr/>
          <p:nvPr/>
        </p:nvSpPr>
        <p:spPr>
          <a:xfrm>
            <a:off x="6766560" y="914400"/>
            <a:ext cx="1965960" cy="320040"/>
          </a:xfrm>
          <a:prstGeom prst="rect">
            <a:avLst/>
          </a:prstGeom>
          <a:solidFill>
            <a:srgbClr val="0A0E1A"/>
          </a:solidFill>
          <a:ln/>
        </p:spPr>
      </p:sp>
      <p:sp>
        <p:nvSpPr>
          <p:cNvPr id="16" name="Text 14"/>
          <p:cNvSpPr/>
          <p:nvPr/>
        </p:nvSpPr>
        <p:spPr>
          <a:xfrm>
            <a:off x="676656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BEDTIME</a:t>
            </a:r>
            <a:endParaRPr lang="en-US" sz="1100" dirty="0"/>
          </a:p>
        </p:txBody>
      </p:sp>
      <p:sp>
        <p:nvSpPr>
          <p:cNvPr id="17" name="Shape 15"/>
          <p:cNvSpPr/>
          <p:nvPr/>
        </p:nvSpPr>
        <p:spPr>
          <a:xfrm>
            <a:off x="676656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Text 16"/>
          <p:cNvSpPr/>
          <p:nvPr/>
        </p:nvSpPr>
        <p:spPr>
          <a:xfrm>
            <a:off x="681228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ECS Nighttime Suppository — CBD:CBN:low THC:CBG, DMSO, in cacao butter; insert rectally after bowel movement while lying down for 15 min</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PinealPep — 1 capsule 30-60 min before sleep</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KPV Ultra Spray — 2 sprays sublingual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Therapeutics: Forgotten Formula Products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200400"/>
          </a:xfrm>
          <a:prstGeom prst="rect">
            <a:avLst/>
          </a:prstGeom>
          <a:noFill/>
          <a:ln/>
        </p:spPr>
        <p:txBody>
          <a:bodyPr wrap="square" rtlCol="0" anchor="t"/>
          <a:lstStyle/>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Bio-Vitamin All-in-One — 1 tbsp (morning)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Elixir for Everything (Original) — 0.5ml (morning)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MitoSTAC stack — see stack (morning)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Complete REDS — 1 scoop (midday)</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Adaptogen Greens with Enzymes — 1 scoop (morning)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Astaxanthin w/ Vitamin C (Liposomal) — 1 tbsp (morning)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French Celtic Salt — 1/4 tsp in water (midday)</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Liposomal D3/K2 — 1 tbsp (midday meal)</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Gut Feeling GI formula — 1 scoop (evening)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GlyNAC (glycine + NAC combo) — Glycine 3g + NAC 600mg (with dinner)</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CoQ10 (IM/Oral) — 100mg IM biweekly or 200mg oral daily (with meal)</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Comprehensive Detox Toolkit — Clay/Epsom/Ginger/H2O2 detox baths, castor oil packs, sauna</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Coffee Enema — Rectal enema</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Infrared Sauna — Low temp, short duration</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Dry Brushing — Pre-bath/sauna</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EDTA Chelation Protocol — IV Chelation</a:t>
            </a:r>
            <a:endParaRPr lang="en-US" sz="1100" dirty="0"/>
          </a:p>
        </p:txBody>
      </p:sp>
      <p:sp>
        <p:nvSpPr>
          <p:cNvPr id="5" name="Text 3">
            <a:hlinkClick r:id="rId1" tooltip=""/>
          </p:cNvPr>
          <p:cNvSpPr/>
          <p:nvPr/>
        </p:nvSpPr>
        <p:spPr>
          <a:xfrm>
            <a:off x="640080" y="4297680"/>
            <a:ext cx="7863840" cy="365760"/>
          </a:xfrm>
          <a:prstGeom prst="rect">
            <a:avLst/>
          </a:prstGeom>
          <a:noFill/>
          <a:ln/>
        </p:spPr>
        <p:txBody>
          <a:bodyPr wrap="square" rtlCol="0" anchor="ctr"/>
          <a:lstStyle/>
          <a:p>
            <a:pPr indent="0" marL="0">
              <a:buNone/>
            </a:pPr>
            <a:r>
              <a:rPr lang="en-US" sz="1000" u="sng" dirty="0">
                <a:solidFill>
                  <a:srgbClr val="C9A54E"/>
                </a:solidFill>
                <a:latin typeface="Source Sans 3" pitchFamily="34" charset="0"/>
                <a:ea typeface="Source Sans 3" pitchFamily="34" charset="-122"/>
                <a:cs typeface="Source Sans 3" pitchFamily="34" charset="-120"/>
                <a:hlinkClick r:id="rId1" invalidUrl="" action="" tgtFrame="" tooltip="" history="1" highlightClick="0" endSnd="0">
                  <a:extLst>
                    <a:ext uri="{A12FA001-AC4F-418D-AE19-62706E023703}">
                      <ahyp:hlinkClr xmlns:ahyp="http://schemas.microsoft.com/office/drawing/2018/hyperlinkcolor" val="tx"/>
                    </a:ext>
                  </a:extLst>
                </a:hlinkClick>
              </a:rPr>
              <a:t>Shop: https://www.forgottenformula.com/shop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C9A54E"/>
                </a:solidFill>
                <a:latin typeface="Playfair Display" pitchFamily="34" charset="0"/>
                <a:ea typeface="Playfair Display" pitchFamily="34" charset="-122"/>
                <a:cs typeface="Playfair Display" pitchFamily="34" charset="-120"/>
              </a:rPr>
              <a:t>Therapeutics: Injectable Peptide Protocol</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371600"/>
                <a:gridCol w="1645920"/>
                <a:gridCol w="1097280"/>
                <a:gridCol w="1097280"/>
                <a:gridCol w="914400"/>
                <a:gridCol w="2468880"/>
              </a:tblGrid>
              <a:tr h="0">
                <a:tc>
                  <a:txBody>
                    <a:bodyPr/>
                    <a:lstStyle/>
                    <a:p>
                      <a:pPr indent="0" marL="0">
                        <a:buNone/>
                      </a:pPr>
                      <a:r>
                        <a:rPr lang="en-US" sz="900" b="1" dirty="0">
                          <a:solidFill>
                            <a:srgbClr val="0A0E1A"/>
                          </a:solidFill>
                        </a:rPr>
                        <a:t>Peptide</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Vial/Recon</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Dose</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Frequency</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Duration</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Purpose</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r>
              <a:tr h="0">
                <a:tc>
                  <a:txBody>
                    <a:bodyPr/>
                    <a:lstStyle/>
                    <a:p>
                      <a:pPr indent="0" marL="0">
                        <a:buNone/>
                      </a:pPr>
                      <a:r>
                        <a:rPr lang="en-US" sz="800" b="1" dirty="0">
                          <a:solidFill>
                            <a:srgbClr val="C9A54E"/>
                          </a:solidFill>
                        </a:rPr>
                        <a:t>BPC-157</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C8CFE0"/>
                          </a:solidFill>
                        </a:rPr>
                        <a:t>5mg</a:t>
                      </a:r>
                      <a:endParaRPr lang="en-US" sz="700" dirty="0"/>
                    </a:p>
                    <a:p>
                      <a:pPr indent="0" marL="0">
                        <a:buNone/>
                      </a:pPr>
                      <a:r>
                        <a:rPr lang="en-US" sz="700" dirty="0">
                          <a:solidFill>
                            <a:srgbClr val="C8CFE0"/>
                          </a:solidFill>
                        </a:rPr>
                        <a:t>1mL BAC water (5mg/mL)</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250mcg</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daily SubQ (alternate days near kidney/flank, rest systemic)</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8 weeks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8A95B0"/>
                          </a:solidFill>
                        </a:rPr>
                        <a:t>Tissue repair—renal, GI, vascular</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r>
              <a:tr h="0">
                <a:tc>
                  <a:txBody>
                    <a:bodyPr/>
                    <a:lstStyle/>
                    <a:p>
                      <a:pPr indent="0" marL="0">
                        <a:buNone/>
                      </a:pPr>
                      <a:r>
                        <a:rPr lang="en-US" sz="800" b="1" dirty="0">
                          <a:solidFill>
                            <a:srgbClr val="C9A54E"/>
                          </a:solidFill>
                        </a:rPr>
                        <a:t>GHK-Cu</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C8CFE0"/>
                          </a:solidFill>
                        </a:rPr>
                        <a:t>50mg</a:t>
                      </a:r>
                      <a:endParaRPr lang="en-US" sz="700" dirty="0"/>
                    </a:p>
                    <a:p>
                      <a:pPr indent="0" marL="0">
                        <a:buNone/>
                      </a:pPr>
                      <a:r>
                        <a:rPr lang="en-US" sz="700" dirty="0">
                          <a:solidFill>
                            <a:srgbClr val="C8CFE0"/>
                          </a:solidFill>
                        </a:rPr>
                        <a:t>2mL BAC water (25mg/mL)</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1mg</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SubQ daily or topical to low back over kidneys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6 weeks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8A95B0"/>
                          </a:solidFill>
                        </a:rPr>
                        <a:t>Renal and vascular regeneration, anti-fibrotic</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r>
              <a:tr h="0">
                <a:tc>
                  <a:txBody>
                    <a:bodyPr/>
                    <a:lstStyle/>
                    <a:p>
                      <a:pPr indent="0" marL="0">
                        <a:buNone/>
                      </a:pPr>
                      <a:r>
                        <a:rPr lang="en-US" sz="800" b="1" dirty="0">
                          <a:solidFill>
                            <a:srgbClr val="C9A54E"/>
                          </a:solidFill>
                        </a:rPr>
                        <a:t>TB-500</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C8CFE0"/>
                          </a:solidFill>
                        </a:rPr>
                        <a:t>5mg</a:t>
                      </a:r>
                      <a:endParaRPr lang="en-US" sz="700" dirty="0"/>
                    </a:p>
                    <a:p>
                      <a:pPr indent="0" marL="0">
                        <a:buNone/>
                      </a:pPr>
                      <a:r>
                        <a:rPr lang="en-US" sz="700" dirty="0">
                          <a:solidFill>
                            <a:srgbClr val="C8CFE0"/>
                          </a:solidFill>
                        </a:rPr>
                        <a:t>1mL BAC water (5mg/mL)</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2.5mg</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SubQ weekly, divided into 2-3 doses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6 weeks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8A95B0"/>
                          </a:solidFill>
                        </a:rPr>
                        <a:t>Systemic tissue/vascular/renal repair</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Therapeutics: Oral Peptides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1A2440"/>
                </a:solidFill>
                <a:latin typeface="Source Sans 3" pitchFamily="34" charset="0"/>
                <a:ea typeface="Source Sans 3" pitchFamily="34" charset="-122"/>
                <a:cs typeface="Source Sans 3" pitchFamily="34" charset="-120"/>
              </a:rPr>
              <a:t>BPC-157 Delayed-Release</a:t>
            </a:r>
            <a:pPr indent="0" marL="0">
              <a:buNone/>
            </a:pPr>
            <a:r>
              <a:rPr lang="en-US" sz="1000" dirty="0">
                <a:solidFill>
                  <a:srgbClr val="5A6B8A"/>
                </a:solidFill>
                <a:latin typeface="Source Sans 3" pitchFamily="34" charset="0"/>
                <a:ea typeface="Source Sans 3" pitchFamily="34" charset="-122"/>
                <a:cs typeface="Source Sans 3" pitchFamily="34" charset="-120"/>
              </a:rPr>
              <a:t> — 500mcg | daily, am | 8 weeks</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GI healing, anti-inflammatory, support detox</a:t>
            </a:r>
            <a:endParaRPr lang="en-US" sz="1200" dirty="0"/>
          </a:p>
          <a:p>
            <a:pPr indent="0" marL="0">
              <a:buNone/>
            </a:pPr>
            <a:r>
              <a:rPr lang="en-US" sz="1200" b="1" dirty="0">
                <a:solidFill>
                  <a:srgbClr val="1A2440"/>
                </a:solidFill>
                <a:latin typeface="Source Sans 3" pitchFamily="34" charset="0"/>
                <a:ea typeface="Source Sans 3" pitchFamily="34" charset="-122"/>
                <a:cs typeface="Source Sans 3" pitchFamily="34" charset="-120"/>
              </a:rPr>
              <a:t>KPV oral capsule</a:t>
            </a:r>
            <a:pPr indent="0" marL="0">
              <a:buNone/>
            </a:pPr>
            <a:r>
              <a:rPr lang="en-US" sz="1000" dirty="0">
                <a:solidFill>
                  <a:srgbClr val="5A6B8A"/>
                </a:solidFill>
                <a:latin typeface="Source Sans 3" pitchFamily="34" charset="0"/>
                <a:ea typeface="Source Sans 3" pitchFamily="34" charset="-122"/>
                <a:cs typeface="Source Sans 3" pitchFamily="34" charset="-120"/>
              </a:rPr>
              <a:t> — 500mcg | daily, pm | 8 weeks</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Anti-inflammatory, renal and gut modulation</a:t>
            </a:r>
            <a:endParaRPr lang="en-US" sz="1200" dirty="0"/>
          </a:p>
          <a:p>
            <a:pPr indent="0" marL="0">
              <a:buNone/>
            </a:pPr>
            <a:r>
              <a:rPr lang="en-US" sz="1200" b="1" dirty="0">
                <a:solidFill>
                  <a:srgbClr val="1A2440"/>
                </a:solidFill>
                <a:latin typeface="Source Sans 3" pitchFamily="34" charset="0"/>
                <a:ea typeface="Source Sans 3" pitchFamily="34" charset="-122"/>
                <a:cs typeface="Source Sans 3" pitchFamily="34" charset="-120"/>
              </a:rPr>
              <a:t>TB4-Frag Max</a:t>
            </a:r>
            <a:pPr indent="0" marL="0">
              <a:buNone/>
            </a:pPr>
            <a:r>
              <a:rPr lang="en-US" sz="1000" dirty="0">
                <a:solidFill>
                  <a:srgbClr val="5A6B8A"/>
                </a:solidFill>
                <a:latin typeface="Source Sans 3" pitchFamily="34" charset="0"/>
                <a:ea typeface="Source Sans 3" pitchFamily="34" charset="-122"/>
                <a:cs typeface="Source Sans 3" pitchFamily="34" charset="-120"/>
              </a:rPr>
              <a:t> — 2 capsules | daily | 8 weeks</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Systemic tissue repair, mitochondria, kidney</a:t>
            </a:r>
            <a:endParaRPr lang="en-US" sz="1200" dirty="0"/>
          </a:p>
          <a:p>
            <a:pPr indent="0" marL="0">
              <a:buNone/>
            </a:pPr>
            <a:r>
              <a:rPr lang="en-US" sz="1200" b="1" dirty="0">
                <a:solidFill>
                  <a:srgbClr val="1A2440"/>
                </a:solidFill>
                <a:latin typeface="Source Sans 3" pitchFamily="34" charset="0"/>
                <a:ea typeface="Source Sans 3" pitchFamily="34" charset="-122"/>
                <a:cs typeface="Source Sans 3" pitchFamily="34" charset="-120"/>
              </a:rPr>
              <a:t>PinealPep</a:t>
            </a:r>
            <a:pPr indent="0" marL="0">
              <a:buNone/>
            </a:pPr>
            <a:r>
              <a:rPr lang="en-US" sz="1000" dirty="0">
                <a:solidFill>
                  <a:srgbClr val="5A6B8A"/>
                </a:solidFill>
                <a:latin typeface="Source Sans 3" pitchFamily="34" charset="0"/>
                <a:ea typeface="Source Sans 3" pitchFamily="34" charset="-122"/>
                <a:cs typeface="Source Sans 3" pitchFamily="34" charset="-120"/>
              </a:rPr>
              <a:t> — 1 capsule | bedtime | entire protocol</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Pineal, sleep, circadian repair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Therapeutics: Forgotten Formula Oral Bioregulators</a:t>
            </a:r>
            <a:endParaRPr lang="en-US" sz="22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60120"/>
            <a:ext cx="7863840" cy="274320"/>
          </a:xfrm>
          <a:prstGeom prst="rect">
            <a:avLst/>
          </a:prstGeom>
          <a:noFill/>
          <a:ln/>
        </p:spPr>
        <p:txBody>
          <a:bodyPr wrap="square" rtlCol="0" anchor="ctr"/>
          <a:lstStyle/>
          <a:p>
            <a:pPr indent="0" marL="0">
              <a:buNone/>
            </a:pPr>
            <a:r>
              <a:rPr lang="en-US" sz="1100" dirty="0">
                <a:solidFill>
                  <a:srgbClr val="5A6B8A"/>
                </a:solidFill>
                <a:latin typeface="Source Sans 3" pitchFamily="34" charset="0"/>
                <a:ea typeface="Source Sans 3" pitchFamily="34" charset="-122"/>
                <a:cs typeface="Source Sans 3" pitchFamily="34" charset="-120"/>
              </a:rPr>
              <a:t>The following bioregulators run for the entire 90-day protocol:</a:t>
            </a:r>
            <a:endParaRPr lang="en-US" sz="1100" dirty="0"/>
          </a:p>
        </p:txBody>
      </p:sp>
      <p:sp>
        <p:nvSpPr>
          <p:cNvPr id="5" name="Text 3"/>
          <p:cNvSpPr/>
          <p:nvPr/>
        </p:nvSpPr>
        <p:spPr>
          <a:xfrm>
            <a:off x="640080" y="1371600"/>
            <a:ext cx="7863840" cy="3200400"/>
          </a:xfrm>
          <a:prstGeom prst="rect">
            <a:avLst/>
          </a:prstGeom>
          <a:noFill/>
          <a:ln/>
        </p:spPr>
        <p:txBody>
          <a:bodyPr wrap="square" rtlCol="0" anchor="t"/>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Kidney Bioregulator</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Kidneys | 2 capsules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Liver Bioregulator</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Liver | 2 capsules | daily | 60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Livagen</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Liver | 1 capsule | daily | 60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Ovagen</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Kidneys/Lower GI | 1 capsule | daily | 60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Pineal Bioregulator</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Pineal gland | 1 capsule | bedtime | 30 days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Some of your Supplements Explained</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Bio-Vitamin All-in-One</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(morning)</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Micronutrient repletion</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Elixir for Everything (Original)</a:t>
            </a:r>
            <a:pPr indent="0" marL="0">
              <a:buNone/>
            </a:pPr>
            <a:r>
              <a:rPr lang="en-US" sz="1000" dirty="0">
                <a:solidFill>
                  <a:srgbClr val="1A2440"/>
                </a:solidFill>
                <a:latin typeface="Source Sans 3" pitchFamily="34" charset="0"/>
                <a:ea typeface="Source Sans 3" pitchFamily="34" charset="-122"/>
                <a:cs typeface="Source Sans 3" pitchFamily="34" charset="-120"/>
              </a:rPr>
              <a:t> — 0.5ml (morning)</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ECS/endocannabinoid optimization, inflammation, toxin response</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MitoSTAC stack</a:t>
            </a:r>
            <a:pPr indent="0" marL="0">
              <a:buNone/>
            </a:pPr>
            <a:r>
              <a:rPr lang="en-US" sz="1000" dirty="0">
                <a:solidFill>
                  <a:srgbClr val="1A2440"/>
                </a:solidFill>
                <a:latin typeface="Source Sans 3" pitchFamily="34" charset="0"/>
                <a:ea typeface="Source Sans 3" pitchFamily="34" charset="-122"/>
                <a:cs typeface="Source Sans 3" pitchFamily="34" charset="-120"/>
              </a:rPr>
              <a:t> — see stack (morning)</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Sirtuin, DNA repair, mitochondrial longevity</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Complete REDS</a:t>
            </a:r>
            <a:pPr indent="0" marL="0">
              <a:buNone/>
            </a:pPr>
            <a:r>
              <a:rPr lang="en-US" sz="1000" dirty="0">
                <a:solidFill>
                  <a:srgbClr val="1A2440"/>
                </a:solidFill>
                <a:latin typeface="Source Sans 3" pitchFamily="34" charset="0"/>
                <a:ea typeface="Source Sans 3" pitchFamily="34" charset="-122"/>
                <a:cs typeface="Source Sans 3" pitchFamily="34" charset="-120"/>
              </a:rPr>
              <a:t> — 1 scoop (midday)</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Nitric oxide support, antioxidants, renal and vascular repair</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Adaptogen Greens with Enzymes</a:t>
            </a:r>
            <a:pPr indent="0" marL="0">
              <a:buNone/>
            </a:pPr>
            <a:r>
              <a:rPr lang="en-US" sz="1000" dirty="0">
                <a:solidFill>
                  <a:srgbClr val="1A2440"/>
                </a:solidFill>
                <a:latin typeface="Source Sans 3" pitchFamily="34" charset="0"/>
                <a:ea typeface="Source Sans 3" pitchFamily="34" charset="-122"/>
                <a:cs typeface="Source Sans 3" pitchFamily="34" charset="-120"/>
              </a:rPr>
              <a:t> — 1 scoop (morning)</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Detox, digestion and stress resilience</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Astaxanthin w/ Vitamin C (Liposomal)</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(morning)</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Antioxidant, renal and mitochondrial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French Celtic Salt</a:t>
            </a:r>
            <a:pPr indent="0" marL="0">
              <a:buNone/>
            </a:pPr>
            <a:r>
              <a:rPr lang="en-US" sz="1000" dirty="0">
                <a:solidFill>
                  <a:srgbClr val="1A2440"/>
                </a:solidFill>
                <a:latin typeface="Source Sans 3" pitchFamily="34" charset="0"/>
                <a:ea typeface="Source Sans 3" pitchFamily="34" charset="-122"/>
                <a:cs typeface="Source Sans 3" pitchFamily="34" charset="-120"/>
              </a:rPr>
              <a:t> — 1/4 tsp in water (midday)</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Trace minerals, electrolyte and renal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Liposomal D3/K2</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(midday meal)</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Immune and kidney support, calcium balance</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Gut Feeling GI formula</a:t>
            </a:r>
            <a:pPr indent="0" marL="0">
              <a:buNone/>
            </a:pPr>
            <a:r>
              <a:rPr lang="en-US" sz="1000" dirty="0">
                <a:solidFill>
                  <a:srgbClr val="1A2440"/>
                </a:solidFill>
                <a:latin typeface="Source Sans 3" pitchFamily="34" charset="0"/>
                <a:ea typeface="Source Sans 3" pitchFamily="34" charset="-122"/>
                <a:cs typeface="Source Sans 3" pitchFamily="34" charset="-120"/>
              </a:rPr>
              <a:t> — 1 scoop (evening)</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Heal gut lining, feed microbiome</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GlyNAC (glycine + NAC combo)</a:t>
            </a:r>
            <a:pPr indent="0" marL="0">
              <a:buNone/>
            </a:pPr>
            <a:r>
              <a:rPr lang="en-US" sz="1000" dirty="0">
                <a:solidFill>
                  <a:srgbClr val="1A2440"/>
                </a:solidFill>
                <a:latin typeface="Source Sans 3" pitchFamily="34" charset="0"/>
                <a:ea typeface="Source Sans 3" pitchFamily="34" charset="-122"/>
                <a:cs typeface="Source Sans 3" pitchFamily="34" charset="-120"/>
              </a:rPr>
              <a:t> — Glycine 3g + NAC 600mg (with dinner)</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Glutathione support, mitochondrial/renal repair</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CoQ10 (IM/Oral)</a:t>
            </a:r>
            <a:pPr indent="0" marL="0">
              <a:buNone/>
            </a:pPr>
            <a:r>
              <a:rPr lang="en-US" sz="1000" dirty="0">
                <a:solidFill>
                  <a:srgbClr val="1A2440"/>
                </a:solidFill>
                <a:latin typeface="Source Sans 3" pitchFamily="34" charset="0"/>
                <a:ea typeface="Source Sans 3" pitchFamily="34" charset="-122"/>
                <a:cs typeface="Source Sans 3" pitchFamily="34" charset="-120"/>
              </a:rPr>
              <a:t> — 100mg IM biweekly or 200mg oral daily (with meal)</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Renal mitochondrial support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Supplement Timing Guide</a:t>
            </a:r>
            <a:endParaRPr lang="en-US" sz="24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100" i="1" dirty="0">
                <a:solidFill>
                  <a:srgbClr val="5A6B8A"/>
                </a:solidFill>
                <a:latin typeface="Source Sans 3" pitchFamily="34" charset="0"/>
                <a:ea typeface="Source Sans 3" pitchFamily="34" charset="-122"/>
                <a:cs typeface="Source Sans 3" pitchFamily="34" charset="-120"/>
              </a:rPr>
              <a:t>Proper timing maximizes absorption and minimizes interactions</a:t>
            </a:r>
            <a:endParaRPr lang="en-US" sz="1100" dirty="0"/>
          </a:p>
        </p:txBody>
      </p:sp>
      <p:sp>
        <p:nvSpPr>
          <p:cNvPr id="4" name="Shape 2"/>
          <p:cNvSpPr/>
          <p:nvPr/>
        </p:nvSpPr>
        <p:spPr>
          <a:xfrm>
            <a:off x="457200" y="1097280"/>
            <a:ext cx="8229600" cy="274320"/>
          </a:xfrm>
          <a:prstGeom prst="rect">
            <a:avLst/>
          </a:prstGeom>
          <a:solidFill>
            <a:srgbClr val="1A2440"/>
          </a:solidFill>
          <a:ln/>
        </p:spPr>
      </p:sp>
      <p:sp>
        <p:nvSpPr>
          <p:cNvPr id="5" name="Text 3"/>
          <p:cNvSpPr/>
          <p:nvPr/>
        </p:nvSpPr>
        <p:spPr>
          <a:xfrm>
            <a:off x="640080" y="1097280"/>
            <a:ext cx="7863840" cy="274320"/>
          </a:xfrm>
          <a:prstGeom prst="rect">
            <a:avLst/>
          </a:prstGeom>
          <a:noFill/>
          <a:ln/>
        </p:spPr>
        <p:txBody>
          <a:bodyPr wrap="square" rtlCol="0" anchor="ctr"/>
          <a:lstStyle/>
          <a:p>
            <a:pPr indent="0" marL="0">
              <a:buNone/>
            </a:pPr>
            <a:r>
              <a:rPr lang="en-US" sz="1100" b="1" dirty="0">
                <a:solidFill>
                  <a:srgbClr val="FFFFFF"/>
                </a:solidFill>
                <a:latin typeface="Source Sans 3" pitchFamily="34" charset="0"/>
                <a:ea typeface="Source Sans 3" pitchFamily="34" charset="-122"/>
                <a:cs typeface="Source Sans 3" pitchFamily="34" charset="-120"/>
              </a:rPr>
              <a:t>Morning (Empty Stomach)</a:t>
            </a:r>
            <a:endParaRPr lang="en-US" sz="1100" dirty="0"/>
          </a:p>
        </p:txBody>
      </p:sp>
      <p:sp>
        <p:nvSpPr>
          <p:cNvPr id="6" name="Shape 4"/>
          <p:cNvSpPr/>
          <p:nvPr/>
        </p:nvSpPr>
        <p:spPr>
          <a:xfrm>
            <a:off x="457200" y="1417320"/>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1417320"/>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Bio-Vitamin (liposomal)</a:t>
            </a:r>
            <a:pPr indent="0" marL="0">
              <a:buNone/>
            </a:pPr>
            <a:r>
              <a:rPr lang="en-US" sz="900" dirty="0">
                <a:solidFill>
                  <a:srgbClr val="5A6B8A"/>
                </a:solidFill>
                <a:latin typeface="Source Sans 3" pitchFamily="34" charset="0"/>
                <a:ea typeface="Source Sans 3" pitchFamily="34" charset="-122"/>
                <a:cs typeface="Source Sans 3" pitchFamily="34" charset="-120"/>
              </a:rPr>
              <a:t> — 1 tbsp</a:t>
            </a:r>
            <a:endParaRPr lang="en-US" sz="1000" dirty="0"/>
          </a:p>
        </p:txBody>
      </p:sp>
      <p:sp>
        <p:nvSpPr>
          <p:cNvPr id="8" name="Shape 6"/>
          <p:cNvSpPr/>
          <p:nvPr/>
        </p:nvSpPr>
        <p:spPr>
          <a:xfrm>
            <a:off x="457200" y="1764792"/>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640080" y="1764792"/>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Astaxanthin w/ Vitamin C (liposomal)</a:t>
            </a:r>
            <a:pPr indent="0" marL="0">
              <a:buNone/>
            </a:pPr>
            <a:r>
              <a:rPr lang="en-US" sz="900" dirty="0">
                <a:solidFill>
                  <a:srgbClr val="5A6B8A"/>
                </a:solidFill>
                <a:latin typeface="Source Sans 3" pitchFamily="34" charset="0"/>
                <a:ea typeface="Source Sans 3" pitchFamily="34" charset="-122"/>
                <a:cs typeface="Source Sans 3" pitchFamily="34" charset="-120"/>
              </a:rPr>
              <a:t> — 1 tbsp</a:t>
            </a:r>
            <a:endParaRPr lang="en-US" sz="1000" dirty="0"/>
          </a:p>
        </p:txBody>
      </p:sp>
      <p:sp>
        <p:nvSpPr>
          <p:cNvPr id="10" name="Shape 8"/>
          <p:cNvSpPr/>
          <p:nvPr/>
        </p:nvSpPr>
        <p:spPr>
          <a:xfrm>
            <a:off x="457200" y="2203704"/>
            <a:ext cx="8229600" cy="274320"/>
          </a:xfrm>
          <a:prstGeom prst="rect">
            <a:avLst/>
          </a:prstGeom>
          <a:solidFill>
            <a:srgbClr val="1A2440"/>
          </a:solidFill>
          <a:ln/>
        </p:spPr>
      </p:sp>
      <p:sp>
        <p:nvSpPr>
          <p:cNvPr id="11" name="Text 9"/>
          <p:cNvSpPr/>
          <p:nvPr/>
        </p:nvSpPr>
        <p:spPr>
          <a:xfrm>
            <a:off x="640080" y="2203704"/>
            <a:ext cx="7863840" cy="274320"/>
          </a:xfrm>
          <a:prstGeom prst="rect">
            <a:avLst/>
          </a:prstGeom>
          <a:noFill/>
          <a:ln/>
        </p:spPr>
        <p:txBody>
          <a:bodyPr wrap="square" rtlCol="0" anchor="ctr"/>
          <a:lstStyle/>
          <a:p>
            <a:pPr indent="0" marL="0">
              <a:buNone/>
            </a:pPr>
            <a:r>
              <a:rPr lang="en-US" sz="1100" b="1" dirty="0">
                <a:solidFill>
                  <a:srgbClr val="FFFFFF"/>
                </a:solidFill>
                <a:latin typeface="Source Sans 3" pitchFamily="34" charset="0"/>
                <a:ea typeface="Source Sans 3" pitchFamily="34" charset="-122"/>
                <a:cs typeface="Source Sans 3" pitchFamily="34" charset="-120"/>
              </a:rPr>
              <a:t>With Breakfast</a:t>
            </a:r>
            <a:endParaRPr lang="en-US" sz="1100" dirty="0"/>
          </a:p>
        </p:txBody>
      </p:sp>
      <p:sp>
        <p:nvSpPr>
          <p:cNvPr id="12" name="Shape 10"/>
          <p:cNvSpPr/>
          <p:nvPr/>
        </p:nvSpPr>
        <p:spPr>
          <a:xfrm>
            <a:off x="457200" y="2523744"/>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1"/>
          <p:cNvSpPr/>
          <p:nvPr/>
        </p:nvSpPr>
        <p:spPr>
          <a:xfrm>
            <a:off x="640080" y="2523744"/>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Bio-Vitamin All-in-One</a:t>
            </a:r>
            <a:pPr indent="0" marL="0">
              <a:buNone/>
            </a:pPr>
            <a:r>
              <a:rPr lang="en-US" sz="900" dirty="0">
                <a:solidFill>
                  <a:srgbClr val="5A6B8A"/>
                </a:solidFill>
                <a:latin typeface="Source Sans 3" pitchFamily="34" charset="0"/>
                <a:ea typeface="Source Sans 3" pitchFamily="34" charset="-122"/>
                <a:cs typeface="Source Sans 3" pitchFamily="34" charset="-120"/>
              </a:rPr>
              <a:t> — 1 tbsp</a:t>
            </a:r>
            <a:endParaRPr lang="en-US" sz="1000" dirty="0"/>
          </a:p>
        </p:txBody>
      </p:sp>
      <p:sp>
        <p:nvSpPr>
          <p:cNvPr id="14" name="Shape 12"/>
          <p:cNvSpPr/>
          <p:nvPr/>
        </p:nvSpPr>
        <p:spPr>
          <a:xfrm>
            <a:off x="457200" y="2871216"/>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5" name="Text 13"/>
          <p:cNvSpPr/>
          <p:nvPr/>
        </p:nvSpPr>
        <p:spPr>
          <a:xfrm>
            <a:off x="640080" y="2871216"/>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Elixir for Everything (Original)</a:t>
            </a:r>
            <a:pPr indent="0" marL="0">
              <a:buNone/>
            </a:pPr>
            <a:r>
              <a:rPr lang="en-US" sz="900" dirty="0">
                <a:solidFill>
                  <a:srgbClr val="5A6B8A"/>
                </a:solidFill>
                <a:latin typeface="Source Sans 3" pitchFamily="34" charset="0"/>
                <a:ea typeface="Source Sans 3" pitchFamily="34" charset="-122"/>
                <a:cs typeface="Source Sans 3" pitchFamily="34" charset="-120"/>
              </a:rPr>
              <a:t> — 0.5ml</a:t>
            </a:r>
            <a:endParaRPr lang="en-US" sz="1000" dirty="0"/>
          </a:p>
        </p:txBody>
      </p:sp>
      <p:sp>
        <p:nvSpPr>
          <p:cNvPr id="16" name="Shape 14"/>
          <p:cNvSpPr/>
          <p:nvPr/>
        </p:nvSpPr>
        <p:spPr>
          <a:xfrm>
            <a:off x="457200" y="3218688"/>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Text 15"/>
          <p:cNvSpPr/>
          <p:nvPr/>
        </p:nvSpPr>
        <p:spPr>
          <a:xfrm>
            <a:off x="640080" y="3218688"/>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MitoSTAC stack</a:t>
            </a:r>
            <a:pPr indent="0" marL="0">
              <a:buNone/>
            </a:pPr>
            <a:r>
              <a:rPr lang="en-US" sz="900" dirty="0">
                <a:solidFill>
                  <a:srgbClr val="5A6B8A"/>
                </a:solidFill>
                <a:latin typeface="Source Sans 3" pitchFamily="34" charset="0"/>
                <a:ea typeface="Source Sans 3" pitchFamily="34" charset="-122"/>
                <a:cs typeface="Source Sans 3" pitchFamily="34" charset="-120"/>
              </a:rPr>
              <a:t> — see stack</a:t>
            </a:r>
            <a:endParaRPr lang="en-US" sz="1000" dirty="0"/>
          </a:p>
        </p:txBody>
      </p:sp>
      <p:sp>
        <p:nvSpPr>
          <p:cNvPr id="18" name="Shape 16"/>
          <p:cNvSpPr/>
          <p:nvPr/>
        </p:nvSpPr>
        <p:spPr>
          <a:xfrm>
            <a:off x="457200" y="3566160"/>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Text 17"/>
          <p:cNvSpPr/>
          <p:nvPr/>
        </p:nvSpPr>
        <p:spPr>
          <a:xfrm>
            <a:off x="640080" y="3566160"/>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Adaptogen Greens with Enzymes</a:t>
            </a:r>
            <a:pPr indent="0" marL="0">
              <a:buNone/>
            </a:pPr>
            <a:r>
              <a:rPr lang="en-US" sz="900" dirty="0">
                <a:solidFill>
                  <a:srgbClr val="5A6B8A"/>
                </a:solidFill>
                <a:latin typeface="Source Sans 3" pitchFamily="34" charset="0"/>
                <a:ea typeface="Source Sans 3" pitchFamily="34" charset="-122"/>
                <a:cs typeface="Source Sans 3" pitchFamily="34" charset="-120"/>
              </a:rPr>
              <a:t> — 1 scoop</a:t>
            </a:r>
            <a:endParaRPr lang="en-US" sz="1000" dirty="0"/>
          </a:p>
        </p:txBody>
      </p:sp>
      <p:sp>
        <p:nvSpPr>
          <p:cNvPr id="20" name="Shape 18"/>
          <p:cNvSpPr/>
          <p:nvPr/>
        </p:nvSpPr>
        <p:spPr>
          <a:xfrm>
            <a:off x="457200" y="4005072"/>
            <a:ext cx="8229600" cy="274320"/>
          </a:xfrm>
          <a:prstGeom prst="rect">
            <a:avLst/>
          </a:prstGeom>
          <a:solidFill>
            <a:srgbClr val="1A2440"/>
          </a:solidFill>
          <a:ln/>
        </p:spPr>
      </p:sp>
      <p:sp>
        <p:nvSpPr>
          <p:cNvPr id="21" name="Text 19"/>
          <p:cNvSpPr/>
          <p:nvPr/>
        </p:nvSpPr>
        <p:spPr>
          <a:xfrm>
            <a:off x="640080" y="4005072"/>
            <a:ext cx="7863840" cy="274320"/>
          </a:xfrm>
          <a:prstGeom prst="rect">
            <a:avLst/>
          </a:prstGeom>
          <a:noFill/>
          <a:ln/>
        </p:spPr>
        <p:txBody>
          <a:bodyPr wrap="square" rtlCol="0" anchor="ctr"/>
          <a:lstStyle/>
          <a:p>
            <a:pPr indent="0" marL="0">
              <a:buNone/>
            </a:pPr>
            <a:r>
              <a:rPr lang="en-US" sz="1100" b="1" dirty="0">
                <a:solidFill>
                  <a:srgbClr val="FFFFFF"/>
                </a:solidFill>
                <a:latin typeface="Source Sans 3" pitchFamily="34" charset="0"/>
                <a:ea typeface="Source Sans 3" pitchFamily="34" charset="-122"/>
                <a:cs typeface="Source Sans 3" pitchFamily="34" charset="-120"/>
              </a:rPr>
              <a:t>Midday</a:t>
            </a:r>
            <a:endParaRPr lang="en-US" sz="1100" dirty="0"/>
          </a:p>
        </p:txBody>
      </p:sp>
      <p:sp>
        <p:nvSpPr>
          <p:cNvPr id="22" name="Shape 20"/>
          <p:cNvSpPr/>
          <p:nvPr/>
        </p:nvSpPr>
        <p:spPr>
          <a:xfrm>
            <a:off x="457200" y="4325112"/>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3" name="Text 21"/>
          <p:cNvSpPr/>
          <p:nvPr/>
        </p:nvSpPr>
        <p:spPr>
          <a:xfrm>
            <a:off x="640080" y="4325112"/>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Complete REDS</a:t>
            </a:r>
            <a:pPr indent="0" marL="0">
              <a:buNone/>
            </a:pPr>
            <a:r>
              <a:rPr lang="en-US" sz="900" dirty="0">
                <a:solidFill>
                  <a:srgbClr val="5A6B8A"/>
                </a:solidFill>
                <a:latin typeface="Source Sans 3" pitchFamily="34" charset="0"/>
                <a:ea typeface="Source Sans 3" pitchFamily="34" charset="-122"/>
                <a:cs typeface="Source Sans 3" pitchFamily="34" charset="-120"/>
              </a:rPr>
              <a:t> — 1 scoop</a:t>
            </a:r>
            <a:endParaRPr lang="en-US" sz="1000" dirty="0"/>
          </a:p>
        </p:txBody>
      </p:sp>
      <p:sp>
        <p:nvSpPr>
          <p:cNvPr id="24" name="Shape 22"/>
          <p:cNvSpPr/>
          <p:nvPr/>
        </p:nvSpPr>
        <p:spPr>
          <a:xfrm>
            <a:off x="457200" y="4672584"/>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5" name="Text 23"/>
          <p:cNvSpPr/>
          <p:nvPr/>
        </p:nvSpPr>
        <p:spPr>
          <a:xfrm>
            <a:off x="640080" y="4672584"/>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French Celtic Salt</a:t>
            </a:r>
            <a:pPr indent="0" marL="0">
              <a:buNone/>
            </a:pPr>
            <a:r>
              <a:rPr lang="en-US" sz="900" dirty="0">
                <a:solidFill>
                  <a:srgbClr val="5A6B8A"/>
                </a:solidFill>
                <a:latin typeface="Source Sans 3" pitchFamily="34" charset="0"/>
                <a:ea typeface="Source Sans 3" pitchFamily="34" charset="-122"/>
                <a:cs typeface="Source Sans 3" pitchFamily="34" charset="-120"/>
              </a:rPr>
              <a:t> — 1/4 tsp in water</a:t>
            </a:r>
            <a:endParaRPr lang="en-US" sz="1000" dirty="0"/>
          </a:p>
        </p:txBody>
      </p:sp>
      <p:sp>
        <p:nvSpPr>
          <p:cNvPr id="26" name="Shape 24"/>
          <p:cNvSpPr/>
          <p:nvPr/>
        </p:nvSpPr>
        <p:spPr>
          <a:xfrm>
            <a:off x="457200" y="5020056"/>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7" name="Text 25"/>
          <p:cNvSpPr/>
          <p:nvPr/>
        </p:nvSpPr>
        <p:spPr>
          <a:xfrm>
            <a:off x="640080" y="5020056"/>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Liposomal D3/K2</a:t>
            </a:r>
            <a:pPr indent="0" marL="0">
              <a:buNone/>
            </a:pPr>
            <a:r>
              <a:rPr lang="en-US" sz="900" dirty="0">
                <a:solidFill>
                  <a:srgbClr val="5A6B8A"/>
                </a:solidFill>
                <a:latin typeface="Source Sans 3" pitchFamily="34" charset="0"/>
                <a:ea typeface="Source Sans 3" pitchFamily="34" charset="-122"/>
                <a:cs typeface="Source Sans 3" pitchFamily="34" charset="-120"/>
              </a:rPr>
              <a:t> — 1 tbsp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Therapeutics: IV &amp; IM Therapy Schedule</a:t>
            </a:r>
            <a:endParaRPr lang="en-US" sz="24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300" b="1" dirty="0">
                <a:solidFill>
                  <a:srgbClr val="C9A54E"/>
                </a:solidFill>
                <a:latin typeface="Source Sans 3" pitchFamily="34" charset="0"/>
                <a:ea typeface="Source Sans 3" pitchFamily="34" charset="-122"/>
                <a:cs typeface="Source Sans 3" pitchFamily="34" charset="-120"/>
              </a:rPr>
              <a:t>IV Therapies:</a:t>
            </a:r>
            <a:endParaRPr lang="en-US" sz="1300" dirty="0"/>
          </a:p>
        </p:txBody>
      </p:sp>
      <p:sp>
        <p:nvSpPr>
          <p:cNvPr id="4" name="Shape 2"/>
          <p:cNvSpPr/>
          <p:nvPr/>
        </p:nvSpPr>
        <p:spPr>
          <a:xfrm>
            <a:off x="457200" y="123444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Text 3"/>
          <p:cNvSpPr/>
          <p:nvPr/>
        </p:nvSpPr>
        <p:spPr>
          <a:xfrm>
            <a:off x="640080" y="123444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IV Glutathione Push — 1x/week, titrate as tolerated (start 200mg, max 500mg per session) for entire protocol | Replenish antioxidant defenses, protect kidneys, support chelation</a:t>
            </a:r>
            <a:endParaRPr lang="en-US" sz="1000" dirty="0"/>
          </a:p>
        </p:txBody>
      </p:sp>
      <p:sp>
        <p:nvSpPr>
          <p:cNvPr id="6" name="Shape 4"/>
          <p:cNvSpPr/>
          <p:nvPr/>
        </p:nvSpPr>
        <p:spPr>
          <a:xfrm>
            <a:off x="457200" y="182880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182880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EDTA Chelation — Every 2 weeks x 6 sessions for 12 weeks | Low/slow heavy metal clearance — renal adjusted</a:t>
            </a:r>
            <a:endParaRPr lang="en-US" sz="1000" dirty="0"/>
          </a:p>
        </p:txBody>
      </p:sp>
      <p:sp>
        <p:nvSpPr>
          <p:cNvPr id="8" name="Shape 6"/>
          <p:cNvSpPr/>
          <p:nvPr/>
        </p:nvSpPr>
        <p:spPr>
          <a:xfrm>
            <a:off x="457200" y="242316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640080" y="242316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Myers' Cocktail — Every week x 8 weeks, then as tolerated for 8-12 weeks | Comprehensive micronutrient/mitochondrial support</a:t>
            </a:r>
            <a:endParaRPr lang="en-US" sz="1000" dirty="0"/>
          </a:p>
        </p:txBody>
      </p:sp>
      <p:sp>
        <p:nvSpPr>
          <p:cNvPr id="10" name="Shape 8"/>
          <p:cNvSpPr/>
          <p:nvPr/>
        </p:nvSpPr>
        <p:spPr>
          <a:xfrm>
            <a:off x="457200" y="301752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301752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Alpha Lipoic Acid IV — Every 2 weeks, alternate with EDTA for 8 weeks | Chelation, heavy metal/renal antioxidant support</a:t>
            </a:r>
            <a:endParaRPr lang="en-US" sz="1000" dirty="0"/>
          </a:p>
        </p:txBody>
      </p:sp>
      <p:sp>
        <p:nvSpPr>
          <p:cNvPr id="12" name="Text 10"/>
          <p:cNvSpPr/>
          <p:nvPr/>
        </p:nvSpPr>
        <p:spPr>
          <a:xfrm>
            <a:off x="457200" y="3794760"/>
            <a:ext cx="8229600" cy="274320"/>
          </a:xfrm>
          <a:prstGeom prst="rect">
            <a:avLst/>
          </a:prstGeom>
          <a:noFill/>
          <a:ln/>
        </p:spPr>
        <p:txBody>
          <a:bodyPr wrap="square" rtlCol="0" anchor="ctr"/>
          <a:lstStyle/>
          <a:p>
            <a:pPr indent="0" marL="0">
              <a:buNone/>
            </a:pPr>
            <a:r>
              <a:rPr lang="en-US" sz="1300" b="1" dirty="0">
                <a:solidFill>
                  <a:srgbClr val="C9A54E"/>
                </a:solidFill>
                <a:latin typeface="Source Sans 3" pitchFamily="34" charset="0"/>
                <a:ea typeface="Source Sans 3" pitchFamily="34" charset="-122"/>
                <a:cs typeface="Source Sans 3" pitchFamily="34" charset="-120"/>
              </a:rPr>
              <a:t>IM Therapies:</a:t>
            </a:r>
            <a:endParaRPr lang="en-US" sz="1300" dirty="0"/>
          </a:p>
        </p:txBody>
      </p:sp>
      <p:sp>
        <p:nvSpPr>
          <p:cNvPr id="13" name="Shape 11"/>
          <p:cNvSpPr/>
          <p:nvPr/>
        </p:nvSpPr>
        <p:spPr>
          <a:xfrm>
            <a:off x="457200" y="411480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Text 12"/>
          <p:cNvSpPr/>
          <p:nvPr/>
        </p:nvSpPr>
        <p:spPr>
          <a:xfrm>
            <a:off x="640080" y="411480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CoQ10 IM — 100mg | twice weekly | Renal and mitochondrial repair</a:t>
            </a:r>
            <a:endParaRPr lang="en-US" sz="1000" dirty="0"/>
          </a:p>
        </p:txBody>
      </p:sp>
      <p:sp>
        <p:nvSpPr>
          <p:cNvPr id="15" name="Shape 13"/>
          <p:cNvSpPr/>
          <p:nvPr/>
        </p:nvSpPr>
        <p:spPr>
          <a:xfrm>
            <a:off x="457200" y="470916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Text 14"/>
          <p:cNvSpPr/>
          <p:nvPr/>
        </p:nvSpPr>
        <p:spPr>
          <a:xfrm>
            <a:off x="640080" y="470916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Vitamin B12 (Methylcobalamin) — 1000mcg | weekly | Neurological, kidney function, methylation</a:t>
            </a:r>
            <a:endParaRPr lang="en-US" sz="1000" dirty="0"/>
          </a:p>
        </p:txBody>
      </p:sp>
      <p:sp>
        <p:nvSpPr>
          <p:cNvPr id="17" name="Shape 15"/>
          <p:cNvSpPr/>
          <p:nvPr/>
        </p:nvSpPr>
        <p:spPr>
          <a:xfrm>
            <a:off x="457200" y="530352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Text 16"/>
          <p:cNvSpPr/>
          <p:nvPr/>
        </p:nvSpPr>
        <p:spPr>
          <a:xfrm>
            <a:off x="640080" y="530352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Vitamin D3 IM — 50,000 IU | monthly | Immune/renal support</a:t>
            </a:r>
            <a:endParaRPr lang="en-US" sz="1000" dirty="0"/>
          </a:p>
        </p:txBody>
      </p:sp>
      <p:sp>
        <p:nvSpPr>
          <p:cNvPr id="19" name="Shape 17"/>
          <p:cNvSpPr/>
          <p:nvPr/>
        </p:nvSpPr>
        <p:spPr>
          <a:xfrm>
            <a:off x="457200" y="589788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0" name="Text 18"/>
          <p:cNvSpPr/>
          <p:nvPr/>
        </p:nvSpPr>
        <p:spPr>
          <a:xfrm>
            <a:off x="640080" y="589788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Lipo-B (Lipotropic) — 1ml IM weekly | weekly | Fat metabolism, liver/renal detox, energy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C9A54E"/>
                </a:solidFill>
                <a:latin typeface="Playfair Display" pitchFamily="34" charset="0"/>
                <a:ea typeface="Playfair Display" pitchFamily="34" charset="-122"/>
                <a:cs typeface="Playfair Display" pitchFamily="34" charset="-120"/>
              </a:rPr>
              <a:t>Detox &amp; Pathogen Support</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Comprehensive Detox Toolkit</a:t>
            </a:r>
            <a:pPr indent="0" marL="0">
              <a:buNone/>
            </a:pPr>
            <a:r>
              <a:rPr lang="en-US" sz="1000" dirty="0">
                <a:solidFill>
                  <a:srgbClr val="1A2440"/>
                </a:solidFill>
                <a:latin typeface="Source Sans 3" pitchFamily="34" charset="0"/>
                <a:ea typeface="Source Sans 3" pitchFamily="34" charset="-122"/>
                <a:cs typeface="Source Sans 3" pitchFamily="34" charset="-120"/>
              </a:rPr>
              <a:t> — Clay/Epsom/Ginger/H2O2 detox baths, castor oil packs, sauna | Baths: 2-3x/week, Castor oil: 3-4x/week, Sauna: 2x/week (short, gentle) for entire protocol</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See protocol for recipes. All therapies at low intensity for renal safety.</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Coffee Enema</a:t>
            </a:r>
            <a:pPr indent="0" marL="0">
              <a:buNone/>
            </a:pPr>
            <a:r>
              <a:rPr lang="en-US" sz="1000" dirty="0">
                <a:solidFill>
                  <a:srgbClr val="1A2440"/>
                </a:solidFill>
                <a:latin typeface="Source Sans 3" pitchFamily="34" charset="0"/>
                <a:ea typeface="Source Sans 3" pitchFamily="34" charset="-122"/>
                <a:cs typeface="Source Sans 3" pitchFamily="34" charset="-120"/>
              </a:rPr>
              <a:t> — Rectal enema | 1x/week during phases 1-2 for 6 weeks</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Use only if GFR&gt;38 and no acute kidney issues; follow with probiotics.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Infrared Sauna</a:t>
            </a:r>
            <a:pPr indent="0" marL="0">
              <a:buNone/>
            </a:pPr>
            <a:r>
              <a:rPr lang="en-US" sz="1000" dirty="0">
                <a:solidFill>
                  <a:srgbClr val="1A2440"/>
                </a:solidFill>
                <a:latin typeface="Source Sans 3" pitchFamily="34" charset="0"/>
                <a:ea typeface="Source Sans 3" pitchFamily="34" charset="-122"/>
                <a:cs typeface="Source Sans 3" pitchFamily="34" charset="-120"/>
              </a:rPr>
              <a:t> — Low temp, short duration | 2x/week for entire protocol</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Max 20 min, hydrate well, cool shower after</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Dry Brushing</a:t>
            </a:r>
            <a:pPr indent="0" marL="0">
              <a:buNone/>
            </a:pPr>
            <a:r>
              <a:rPr lang="en-US" sz="1000" dirty="0">
                <a:solidFill>
                  <a:srgbClr val="1A2440"/>
                </a:solidFill>
                <a:latin typeface="Source Sans 3" pitchFamily="34" charset="0"/>
                <a:ea typeface="Source Sans 3" pitchFamily="34" charset="-122"/>
                <a:cs typeface="Source Sans 3" pitchFamily="34" charset="-120"/>
              </a:rPr>
              <a:t> — Pre-bath/sauna | 3x/week for entire protocol</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5-10 min before bath or sauna</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EDTA Chelation Protocol</a:t>
            </a:r>
            <a:pPr indent="0" marL="0">
              <a:buNone/>
            </a:pPr>
            <a:r>
              <a:rPr lang="en-US" sz="1000" dirty="0">
                <a:solidFill>
                  <a:srgbClr val="1A2440"/>
                </a:solidFill>
                <a:latin typeface="Source Sans 3" pitchFamily="34" charset="0"/>
                <a:ea typeface="Source Sans 3" pitchFamily="34" charset="-122"/>
                <a:cs typeface="Source Sans 3" pitchFamily="34" charset="-120"/>
              </a:rPr>
              <a:t> — IV Chelation | Weekly during Phase 1-2 for 8-12 sessions</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EDTA IV chelation — must be administered at clinic. Pre-session with glutathione IV. Monitor kidney function and mineral levels throughout.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Parasite &amp; Antiviral Protocols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Menvera (Ivermectin + Mebendazole)</a:t>
            </a:r>
            <a:pPr indent="0" marL="0">
              <a:buNone/>
            </a:pPr>
            <a:r>
              <a:rPr lang="en-US" sz="1000" dirty="0">
                <a:solidFill>
                  <a:srgbClr val="1A2440"/>
                </a:solidFill>
                <a:latin typeface="Source Sans 3" pitchFamily="34" charset="0"/>
                <a:ea typeface="Source Sans 3" pitchFamily="34" charset="-122"/>
                <a:cs typeface="Source Sans 3" pitchFamily="34" charset="-120"/>
              </a:rPr>
              <a:t> — Ivermectin 12mg + Mebendazole 100mg | Day 1, 2, 8, 9, 15 for 15 days</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Systemic parasite, nematode, cestode clearance</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Henben (Fenbendazole)</a:t>
            </a:r>
            <a:pPr indent="0" marL="0">
              <a:buNone/>
            </a:pPr>
            <a:r>
              <a:rPr lang="en-US" sz="1000" dirty="0">
                <a:solidFill>
                  <a:srgbClr val="1A2440"/>
                </a:solidFill>
                <a:latin typeface="Source Sans 3" pitchFamily="34" charset="0"/>
                <a:ea typeface="Source Sans 3" pitchFamily="34" charset="-122"/>
                <a:cs typeface="Source Sans 3" pitchFamily="34" charset="-120"/>
              </a:rPr>
              <a:t> — 444mg capsule | 1 cap daily x 5 days, off 2 days, repeat for 3 weeks for 3 weeks</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Anti-parasitic, microtubule disruption</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Black walnut/wormwood/clove complex</a:t>
            </a:r>
            <a:pPr indent="0" marL="0">
              <a:buNone/>
            </a:pPr>
            <a:r>
              <a:rPr lang="en-US" sz="1000" dirty="0">
                <a:solidFill>
                  <a:srgbClr val="1A2440"/>
                </a:solidFill>
                <a:latin typeface="Source Sans 3" pitchFamily="34" charset="0"/>
                <a:ea typeface="Source Sans 3" pitchFamily="34" charset="-122"/>
                <a:cs typeface="Source Sans 3" pitchFamily="34" charset="-120"/>
              </a:rPr>
              <a:t> — Per product label | Daily for 2 weeks, repeat monthly for Phase 1-2</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Comprehensive parasite elimination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0" y="1645920"/>
            <a:ext cx="9144000" cy="731520"/>
          </a:xfrm>
          <a:prstGeom prst="rect">
            <a:avLst/>
          </a:prstGeom>
          <a:noFill/>
          <a:ln/>
        </p:spPr>
        <p:txBody>
          <a:bodyPr wrap="square" rtlCol="0" anchor="ctr"/>
          <a:lstStyle/>
          <a:p>
            <a:pPr algn="ctr" indent="0" marL="0">
              <a:buNone/>
            </a:pPr>
            <a:r>
              <a:rPr lang="en-US" sz="3600" b="1" dirty="0">
                <a:solidFill>
                  <a:srgbClr val="FFFFFF"/>
                </a:solidFill>
                <a:latin typeface="Playfair Display" pitchFamily="34" charset="0"/>
                <a:ea typeface="Playfair Display" pitchFamily="34" charset="-122"/>
                <a:cs typeface="Playfair Display" pitchFamily="34" charset="-120"/>
              </a:rPr>
              <a:t>ECS PROTOCOL</a:t>
            </a:r>
            <a:endParaRPr lang="en-US" sz="3600" dirty="0"/>
          </a:p>
        </p:txBody>
      </p:sp>
      <p:sp>
        <p:nvSpPr>
          <p:cNvPr id="3" name="Text 1"/>
          <p:cNvSpPr/>
          <p:nvPr/>
        </p:nvSpPr>
        <p:spPr>
          <a:xfrm>
            <a:off x="914400" y="2377440"/>
            <a:ext cx="7315200" cy="548640"/>
          </a:xfrm>
          <a:prstGeom prst="rect">
            <a:avLst/>
          </a:prstGeom>
          <a:noFill/>
          <a:ln/>
        </p:spPr>
        <p:txBody>
          <a:bodyPr wrap="square" rtlCol="0" anchor="ctr"/>
          <a:lstStyle/>
          <a:p>
            <a:pPr algn="ctr" indent="0" marL="0">
              <a:buNone/>
            </a:pPr>
            <a:r>
              <a:rPr lang="en-US" sz="1400" dirty="0">
                <a:solidFill>
                  <a:srgbClr val="C9A54E"/>
                </a:solidFill>
                <a:latin typeface="Source Sans 3" pitchFamily="34" charset="0"/>
                <a:ea typeface="Source Sans 3" pitchFamily="34" charset="-122"/>
                <a:cs typeface="Source Sans 3" pitchFamily="34" charset="-120"/>
              </a:rPr>
              <a:t>Endocannabinoid System Optimization — Suppositories, Tinctures &amp; Targeted Ratios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ECS Protocol — Endocannabinoid System</a:t>
            </a:r>
            <a:endParaRPr lang="en-US" sz="2200" dirty="0"/>
          </a:p>
        </p:txBody>
      </p:sp>
      <p:sp>
        <p:nvSpPr>
          <p:cNvPr id="3" name="Text 1"/>
          <p:cNvSpPr/>
          <p:nvPr/>
        </p:nvSpPr>
        <p:spPr>
          <a:xfrm>
            <a:off x="457200" y="685800"/>
            <a:ext cx="8229600" cy="457200"/>
          </a:xfrm>
          <a:prstGeom prst="rect">
            <a:avLst/>
          </a:prstGeom>
          <a:noFill/>
          <a:ln/>
        </p:spPr>
        <p:txBody>
          <a:bodyPr wrap="square" rtlCol="0" anchor="ctr"/>
          <a:lstStyle/>
          <a:p>
            <a:pPr indent="0" marL="0">
              <a:buNone/>
            </a:pPr>
            <a:r>
              <a:rPr lang="en-US" sz="1000" dirty="0">
                <a:solidFill>
                  <a:srgbClr val="5A6B8A"/>
                </a:solidFill>
                <a:latin typeface="Source Sans 3" pitchFamily="34" charset="0"/>
                <a:ea typeface="Source Sans 3" pitchFamily="34" charset="-122"/>
                <a:cs typeface="Source Sans 3" pitchFamily="34" charset="-120"/>
              </a:rPr>
              <a:t>Endocannabinoid system downregulation of inflammation, support glomeruli and kidney microvasculature, reduce oxidative stress, improve sleep and pain threshold.</a:t>
            </a:r>
            <a:endParaRPr lang="en-US" sz="1000" dirty="0"/>
          </a:p>
        </p:txBody>
      </p:sp>
      <p:sp>
        <p:nvSpPr>
          <p:cNvPr id="4" name="Shape 2"/>
          <p:cNvSpPr/>
          <p:nvPr/>
        </p:nvSpPr>
        <p:spPr>
          <a:xfrm>
            <a:off x="274320" y="128016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Text 3"/>
          <p:cNvSpPr/>
          <p:nvPr/>
        </p:nvSpPr>
        <p:spPr>
          <a:xfrm>
            <a:off x="457200" y="1371600"/>
            <a:ext cx="3749040" cy="1463040"/>
          </a:xfrm>
          <a:prstGeom prst="rect">
            <a:avLst/>
          </a:prstGeom>
          <a:noFill/>
          <a:ln/>
        </p:spPr>
        <p:txBody>
          <a:bodyPr wrap="square" rtlCol="0" anchor="t"/>
          <a:lstStyle/>
          <a:p>
            <a:pPr indent="0" marL="0">
              <a:buNone/>
            </a:pPr>
            <a:r>
              <a:rPr lang="en-US" sz="1200" b="1" dirty="0">
                <a:solidFill>
                  <a:srgbClr val="1A2440"/>
                </a:solidFill>
                <a:latin typeface="Source Sans 3" pitchFamily="34" charset="0"/>
                <a:ea typeface="Source Sans 3" pitchFamily="34" charset="-122"/>
                <a:cs typeface="Source Sans 3" pitchFamily="34" charset="-120"/>
              </a:rPr>
              <a:t>DAYTIME SUPPOSITORY</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CBD: 100</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CBG: 50</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DMSO: true</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Base: cacao butter</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Delivery: rectal suppository</a:t>
            </a:r>
            <a:endParaRPr lang="en-US" sz="1200" dirty="0"/>
          </a:p>
        </p:txBody>
      </p:sp>
      <p:sp>
        <p:nvSpPr>
          <p:cNvPr id="6" name="Shape 4"/>
          <p:cNvSpPr/>
          <p:nvPr/>
        </p:nvSpPr>
        <p:spPr>
          <a:xfrm>
            <a:off x="4754880" y="128016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4937760" y="1371600"/>
            <a:ext cx="3749040" cy="1463040"/>
          </a:xfrm>
          <a:prstGeom prst="rect">
            <a:avLst/>
          </a:prstGeom>
          <a:noFill/>
          <a:ln/>
        </p:spPr>
        <p:txBody>
          <a:bodyPr wrap="square" rtlCol="0" anchor="t"/>
          <a:lstStyle/>
          <a:p>
            <a:pPr indent="0" marL="0">
              <a:buNone/>
            </a:pPr>
            <a:r>
              <a:rPr lang="en-US" sz="1200" b="1" dirty="0">
                <a:solidFill>
                  <a:srgbClr val="1A2440"/>
                </a:solidFill>
                <a:latin typeface="Source Sans 3" pitchFamily="34" charset="0"/>
                <a:ea typeface="Source Sans 3" pitchFamily="34" charset="-122"/>
                <a:cs typeface="Source Sans 3" pitchFamily="34" charset="-120"/>
              </a:rPr>
              <a:t>NIGHTTIME SUPPOSITORY</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CBD: 50</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THC: 2.5</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CBN: 20</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DMSO: true</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Base: cacao butter</a:t>
            </a:r>
            <a:endParaRPr lang="en-US" sz="1200" dirty="0"/>
          </a:p>
        </p:txBody>
      </p:sp>
      <p:sp>
        <p:nvSpPr>
          <p:cNvPr id="8" name="Shape 6"/>
          <p:cNvSpPr/>
          <p:nvPr/>
        </p:nvSpPr>
        <p:spPr>
          <a:xfrm>
            <a:off x="274320" y="3108960"/>
            <a:ext cx="859536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457200" y="3154680"/>
            <a:ext cx="8229600" cy="548640"/>
          </a:xfrm>
          <a:prstGeom prst="rect">
            <a:avLst/>
          </a:prstGeom>
          <a:noFill/>
          <a:ln/>
        </p:spPr>
        <p:txBody>
          <a:bodyPr wrap="square" rtlCol="0" anchor="ctr"/>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Elixir for Everything: </a:t>
            </a:r>
            <a:pPr indent="0" marL="0">
              <a:buNone/>
            </a:pPr>
            <a:r>
              <a:rPr lang="en-US" sz="1000" dirty="0">
                <a:solidFill>
                  <a:srgbClr val="1A2440"/>
                </a:solidFill>
                <a:latin typeface="Source Sans 3" pitchFamily="34" charset="0"/>
                <a:ea typeface="Source Sans 3" pitchFamily="34" charset="-122"/>
                <a:cs typeface="Source Sans 3" pitchFamily="34" charset="-120"/>
              </a:rPr>
              <a:t>0.5-1ml sublingual daily — CBD, CBG, CBC, CBDV, CBN, THCV, CBDA, CBGA, CBCA, THCA, CBDVA, CBCVA</a:t>
            </a:r>
            <a:endParaRPr lang="en-US" sz="1100" dirty="0"/>
          </a:p>
        </p:txBody>
      </p:sp>
      <p:sp>
        <p:nvSpPr>
          <p:cNvPr id="10" name="Shape 8"/>
          <p:cNvSpPr/>
          <p:nvPr/>
        </p:nvSpPr>
        <p:spPr>
          <a:xfrm>
            <a:off x="274320" y="3931920"/>
            <a:ext cx="8595360" cy="10058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457200" y="3977640"/>
            <a:ext cx="8229600" cy="91440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TARGETED CANNABINOID RATIOS</a:t>
            </a:r>
            <a:endParaRPr lang="en-US" sz="11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Renal inflammation/fibrosis: </a:t>
            </a:r>
            <a:pPr indent="0" marL="0">
              <a:buNone/>
            </a:pPr>
            <a:r>
              <a:rPr lang="en-US" sz="900" dirty="0">
                <a:solidFill>
                  <a:srgbClr val="1A2440"/>
                </a:solidFill>
                <a:latin typeface="Source Sans 3" pitchFamily="34" charset="0"/>
                <a:ea typeface="Source Sans 3" pitchFamily="34" charset="-122"/>
                <a:cs typeface="Source Sans 3" pitchFamily="34" charset="-120"/>
              </a:rPr>
              <a:t>CBD:CBG:CBN:THC 10:4:1:0.25 — CBD and CBG synergistically protect tubular/vascular endothelium, CBN for tissue repair, THC microdose for anti-fibrotic and vasodilation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Suppository Protocols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ECS Daytime Suppository (daytime)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CBD 100mg, CBG 50mg, THC 2.5mg, DMSO, cacao butter base | Base: cacao butter | Freq: 1x/day, am</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Reduce inflammation, support kidney and immune modulation</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ECS Nighttime Suppository (nighttime)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CBD 50mg, CBG 20mg, CBN 20mg, THC 2.5mg, DMSO, cacao butter base | Base: cacao butter | Freq: 1x each night</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Sleep, nocturnal kidney repair, muscle relaxation</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FF PMA Suppositories (nighttime)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multi-compound | Base: cacao butter + DMSO | Freq: 2-3x/week, rotate with ECS formulas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Anti-inflammatory, brain/kidney/cancer-preventive, neuroprotective</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Probiotic Suppository (nighttime)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100B CFU, 18-strain blend | Base: cocoa butter | Freq: 3x/week for weeks 4-7</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Repopulate gut microbiome, enhance kidney/gut/immune axis</a:t>
            </a:r>
            <a:endParaRPr lang="en-US" sz="1100" dirty="0"/>
          </a:p>
          <a:p>
            <a:pPr indent="0" marL="0">
              <a:buNone/>
            </a:pP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0" y="1645920"/>
            <a:ext cx="9144000" cy="731520"/>
          </a:xfrm>
          <a:prstGeom prst="rect">
            <a:avLst/>
          </a:prstGeom>
          <a:noFill/>
          <a:ln/>
        </p:spPr>
        <p:txBody>
          <a:bodyPr wrap="square" rtlCol="0" anchor="ctr"/>
          <a:lstStyle/>
          <a:p>
            <a:pPr algn="ctr" indent="0" marL="0">
              <a:buNone/>
            </a:pPr>
            <a:r>
              <a:rPr lang="en-US" sz="3200" b="1" dirty="0">
                <a:solidFill>
                  <a:srgbClr val="FFFFFF"/>
                </a:solidFill>
                <a:latin typeface="Playfair Display" pitchFamily="34" charset="0"/>
                <a:ea typeface="Playfair Display" pitchFamily="34" charset="-122"/>
                <a:cs typeface="Playfair Display" pitchFamily="34" charset="-120"/>
              </a:rPr>
              <a:t>MITOCHONDRIAL &amp; SIRTUIN SUPPORT</a:t>
            </a:r>
            <a:endParaRPr lang="en-US" sz="3200" dirty="0"/>
          </a:p>
        </p:txBody>
      </p:sp>
      <p:sp>
        <p:nvSpPr>
          <p:cNvPr id="3" name="Text 1"/>
          <p:cNvSpPr/>
          <p:nvPr/>
        </p:nvSpPr>
        <p:spPr>
          <a:xfrm>
            <a:off x="914400" y="2377440"/>
            <a:ext cx="7315200" cy="548640"/>
          </a:xfrm>
          <a:prstGeom prst="rect">
            <a:avLst/>
          </a:prstGeom>
          <a:noFill/>
          <a:ln/>
        </p:spPr>
        <p:txBody>
          <a:bodyPr wrap="square" rtlCol="0" anchor="ctr"/>
          <a:lstStyle/>
          <a:p>
            <a:pPr algn="ctr" indent="0" marL="0">
              <a:buNone/>
            </a:pPr>
            <a:r>
              <a:rPr lang="en-US" sz="1400" dirty="0">
                <a:solidFill>
                  <a:srgbClr val="C9A54E"/>
                </a:solidFill>
                <a:latin typeface="Source Sans 3" pitchFamily="34" charset="0"/>
                <a:ea typeface="Source Sans 3" pitchFamily="34" charset="-122"/>
                <a:cs typeface="Source Sans 3" pitchFamily="34" charset="-120"/>
              </a:rPr>
              <a:t>NAD+, GlyNAC, MitoSTAC Complex, Methylation, Cellular Energy Restoration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Sirtuin &amp; Mitochondrial Stack</a:t>
            </a:r>
            <a:endParaRPr lang="en-US" sz="2200" dirty="0"/>
          </a:p>
        </p:txBody>
      </p:sp>
      <p:sp>
        <p:nvSpPr>
          <p:cNvPr id="3" name="Shape 1"/>
          <p:cNvSpPr/>
          <p:nvPr/>
        </p:nvSpPr>
        <p:spPr>
          <a:xfrm>
            <a:off x="274320" y="73152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457200" y="822960"/>
            <a:ext cx="3749040" cy="146304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MitoSTAC Complex (Sirtuin Activation)</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Resveratrol: 250mg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Pterostilbene: 100mg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Quercetin: 250mg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Fisetin: 250mg</a:t>
            </a:r>
            <a:endParaRPr lang="en-US" sz="1100" dirty="0"/>
          </a:p>
        </p:txBody>
      </p:sp>
      <p:sp>
        <p:nvSpPr>
          <p:cNvPr id="5" name="Shape 3"/>
          <p:cNvSpPr/>
          <p:nvPr/>
        </p:nvSpPr>
        <p:spPr>
          <a:xfrm>
            <a:off x="4754880" y="73152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4937760" y="822960"/>
            <a:ext cx="3749040" cy="146304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NAD+ &amp; GlyNAC</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NMN: 500mg — daily, morning</a:t>
            </a:r>
            <a:endParaRPr lang="en-US" sz="1100" dirty="0"/>
          </a:p>
          <a:p>
            <a:pPr indent="0" marL="0">
              <a:buNone/>
            </a:pPr>
            <a:endParaRPr lang="en-US" sz="11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GlyNAC Protocol:</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Glycine: 3g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NAC: 600mg</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Frequency: with dinner, daily</a:t>
            </a:r>
            <a:endParaRPr lang="en-US" sz="1100" dirty="0"/>
          </a:p>
        </p:txBody>
      </p:sp>
      <p:sp>
        <p:nvSpPr>
          <p:cNvPr id="7" name="Shape 5"/>
          <p:cNvSpPr/>
          <p:nvPr/>
        </p:nvSpPr>
        <p:spPr>
          <a:xfrm>
            <a:off x="274320" y="2560320"/>
            <a:ext cx="859536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Text 6"/>
          <p:cNvSpPr/>
          <p:nvPr/>
        </p:nvSpPr>
        <p:spPr>
          <a:xfrm>
            <a:off x="457200" y="2606040"/>
            <a:ext cx="8229600" cy="118872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Mitochondrial Support Stack</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CoQ10/ubiquinol: 200mg — Support ATP, reduce oxidative stress</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PQQ: 20mg/day — Drive mitochondrial biogenesis</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D-ribose: 5g am/pm — ATP substrate for kidney/cardiac repair</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L-carnitine: 1g daily — Fat transport to mitochondria</a:t>
            </a:r>
            <a:endParaRPr lang="en-US" sz="1100" dirty="0"/>
          </a:p>
        </p:txBody>
      </p:sp>
      <p:sp>
        <p:nvSpPr>
          <p:cNvPr id="9" name="Shape 7"/>
          <p:cNvSpPr/>
          <p:nvPr/>
        </p:nvSpPr>
        <p:spPr>
          <a:xfrm>
            <a:off x="274320" y="4023360"/>
            <a:ext cx="8595360" cy="8229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8"/>
          <p:cNvSpPr/>
          <p:nvPr/>
        </p:nvSpPr>
        <p:spPr>
          <a:xfrm>
            <a:off x="457200" y="4069080"/>
            <a:ext cx="8229600" cy="73152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Methylation Support: </a:t>
            </a:r>
            <a:pPr indent="0" marL="0">
              <a:buNone/>
            </a:pPr>
            <a:r>
              <a:rPr lang="en-US" sz="1000" dirty="0">
                <a:solidFill>
                  <a:srgbClr val="1A2440"/>
                </a:solidFill>
                <a:latin typeface="Source Sans 3" pitchFamily="34" charset="0"/>
                <a:ea typeface="Source Sans 3" pitchFamily="34" charset="-122"/>
                <a:cs typeface="Source Sans 3" pitchFamily="34" charset="-120"/>
              </a:rPr>
              <a:t>Methylfolate 400mcg | Methylcobalamin 1000mcg | TMG (betaine) 500mg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Liposomal Supplements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Bio-Vitamin</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(morning)</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Micronutrient absorption for kidney/liver repair</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Astaxanthin w/ Vitamin C</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(morning)</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Antioxidant, tissue repair, anti-fibrosis</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Curcumin+6</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(evening)</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Inflammation reduction, renal/prostate support</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HEPA D•TOX</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(midday)</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Liver and kidney detoxification</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Selenium + Magnesium &amp; Zinc</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(lunch)</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Replenish key depleted minerals for renal function</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Vitamin D + Vitamin K</a:t>
            </a:r>
            <a:pPr indent="0" marL="0">
              <a:buNone/>
            </a:pPr>
            <a:r>
              <a:rPr lang="en-US" sz="1000" dirty="0">
                <a:solidFill>
                  <a:srgbClr val="1A2440"/>
                </a:solidFill>
                <a:latin typeface="Source Sans 3" pitchFamily="34" charset="0"/>
                <a:ea typeface="Source Sans 3" pitchFamily="34" charset="-122"/>
                <a:cs typeface="Source Sans 3" pitchFamily="34" charset="-120"/>
              </a:rPr>
              <a:t> — 1 tbsp (lunch)</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Vitamin D status, bone and immune support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Nebulization Protocols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Nebulized Glutathione</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Solution: 200mg in 3mL saline | Dose: 200mg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Frequency: 3x weekly | Duration: 10-15 minutes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Mycotoxin clearance from respiratory system</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Nebulized Hydrogen Peroxide</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Solution: 0.04% food-grade H2O2 in saline | Dose: 3mL</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Frequency: 2x weekly | Duration: 10 minutes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Antimicrobial respiratory support</a:t>
            </a:r>
            <a:endParaRPr lang="en-US" sz="1100" dirty="0"/>
          </a:p>
          <a:p>
            <a:pPr indent="0" marL="0">
              <a:buNone/>
            </a:pP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Topical Protocols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DMSO Extended Recovery Cooling Lotion (lotion)</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Application: Apply to low back/flanks (over kidneys) 1-2x/day | Frequency: daily or as needed</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Local inflammation and tissue repair</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Kaneh Bosem (oil)</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Application: Massage to back/flank for muscle relaxation and kidney meridian | Frequency: nightly</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Ancient ECS and anti-inflammatory support</a:t>
            </a:r>
            <a:endParaRPr lang="en-US" sz="1100" dirty="0"/>
          </a:p>
          <a:p>
            <a:pPr indent="0" marL="0">
              <a:buNone/>
            </a:pP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Exosome Therapy</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100B MSC-derived exosomes</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Source: human MSCs | 100 billion/5ml | Route: IV</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Frequency: 1x at end of protocol (week 12 or 13)</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Regenerate renal, neural, and immune tissues</a:t>
            </a:r>
            <a:endParaRPr lang="en-US" sz="1100" dirty="0"/>
          </a:p>
          <a:p>
            <a:pPr indent="0" marL="0">
              <a:buNone/>
            </a:pP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Dietary Protocol</a:t>
            </a:r>
            <a:endParaRPr lang="en-US" sz="2200" dirty="0"/>
          </a:p>
        </p:txBody>
      </p:sp>
      <p:sp>
        <p:nvSpPr>
          <p:cNvPr id="3" name="Shape 1"/>
          <p:cNvSpPr/>
          <p:nvPr/>
        </p:nvSpPr>
        <p:spPr>
          <a:xfrm>
            <a:off x="457200" y="73152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731520"/>
            <a:ext cx="54864" cy="1188720"/>
          </a:xfrm>
          <a:prstGeom prst="rect">
            <a:avLst/>
          </a:prstGeom>
          <a:solidFill>
            <a:srgbClr val="C62828"/>
          </a:solidFill>
          <a:ln/>
        </p:spPr>
      </p:sp>
      <p:sp>
        <p:nvSpPr>
          <p:cNvPr id="5" name="Text 3"/>
          <p:cNvSpPr/>
          <p:nvPr/>
        </p:nvSpPr>
        <p:spPr>
          <a:xfrm>
            <a:off x="640080" y="77724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Elimination/Kidney-Safe (Weeks 1-2)</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Reduce toxin and metabolic load on kidneys and gut, anti-inflammatory orientation</a:t>
            </a:r>
            <a:endParaRPr lang="en-US" sz="1100" dirty="0"/>
          </a:p>
          <a:p>
            <a:pPr indent="0" marL="0">
              <a:buNone/>
            </a:pPr>
            <a:r>
              <a:rPr lang="en-US" sz="900" dirty="0">
                <a:solidFill>
                  <a:srgbClr val="C62828"/>
                </a:solidFill>
                <a:latin typeface="Source Sans 3" pitchFamily="34" charset="0"/>
                <a:ea typeface="Source Sans 3" pitchFamily="34" charset="-122"/>
                <a:cs typeface="Source Sans 3" pitchFamily="34" charset="-120"/>
              </a:rPr>
              <a:t>Eliminate: Gluten, Dairy, Sugar, Red meat, Egg yolk, Alcohol, Processed foods</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Bitter greens, Cruciferous vegetables, Berries, Olive oil, Soaked seeds/nuts (as tolerated for potassium), Low-sodium, high-polyphenol foods</a:t>
            </a:r>
            <a:endParaRPr lang="en-US" sz="1100" dirty="0"/>
          </a:p>
        </p:txBody>
      </p:sp>
      <p:sp>
        <p:nvSpPr>
          <p:cNvPr id="6" name="Shape 4"/>
          <p:cNvSpPr/>
          <p:nvPr/>
        </p:nvSpPr>
        <p:spPr>
          <a:xfrm>
            <a:off x="457200" y="201168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Shape 5"/>
          <p:cNvSpPr/>
          <p:nvPr/>
        </p:nvSpPr>
        <p:spPr>
          <a:xfrm>
            <a:off x="457200" y="2011680"/>
            <a:ext cx="54864" cy="1188720"/>
          </a:xfrm>
          <a:prstGeom prst="rect">
            <a:avLst/>
          </a:prstGeom>
          <a:solidFill>
            <a:srgbClr val="C9A54E"/>
          </a:solidFill>
          <a:ln/>
        </p:spPr>
      </p:sp>
      <p:sp>
        <p:nvSpPr>
          <p:cNvPr id="8" name="Text 6"/>
          <p:cNvSpPr/>
          <p:nvPr/>
        </p:nvSpPr>
        <p:spPr>
          <a:xfrm>
            <a:off x="640080" y="205740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Microbiome &amp; Mitochondria Focus (Weeks 3-7)</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Fiber, prebiotics, polyphenols, progressive re-introduction of legumes/grains as tolerated</a:t>
            </a:r>
            <a:endParaRPr lang="en-US" sz="1100" dirty="0"/>
          </a:p>
          <a:p>
            <a:pPr indent="0" marL="0">
              <a:buNone/>
            </a:pPr>
            <a:r>
              <a:rPr lang="en-US" sz="900" dirty="0">
                <a:solidFill>
                  <a:srgbClr val="C62828"/>
                </a:solidFill>
                <a:latin typeface="Source Sans 3" pitchFamily="34" charset="0"/>
                <a:ea typeface="Source Sans 3" pitchFamily="34" charset="-122"/>
                <a:cs typeface="Source Sans 3" pitchFamily="34" charset="-120"/>
              </a:rPr>
              <a:t>Eliminate: Ultra-processed, glyphosate contaminated foods</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Plant diversity (&gt;40 species/week), Resistant starches, Fermented vegetables (small amounts)</a:t>
            </a:r>
            <a:endParaRPr lang="en-US" sz="1100" dirty="0"/>
          </a:p>
        </p:txBody>
      </p:sp>
      <p:sp>
        <p:nvSpPr>
          <p:cNvPr id="9" name="Shape 7"/>
          <p:cNvSpPr/>
          <p:nvPr/>
        </p:nvSpPr>
        <p:spPr>
          <a:xfrm>
            <a:off x="457200" y="329184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457200" y="3291840"/>
            <a:ext cx="54864" cy="1188720"/>
          </a:xfrm>
          <a:prstGeom prst="rect">
            <a:avLst/>
          </a:prstGeom>
          <a:solidFill>
            <a:srgbClr val="2E7D32"/>
          </a:solidFill>
          <a:ln/>
        </p:spPr>
      </p:sp>
      <p:sp>
        <p:nvSpPr>
          <p:cNvPr id="11" name="Text 9"/>
          <p:cNvSpPr/>
          <p:nvPr/>
        </p:nvSpPr>
        <p:spPr>
          <a:xfrm>
            <a:off x="640080" y="333756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Anti-Inflammatory &amp; Renal Repair (Weeks 8-10)</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Focus on maximal kidney/liver repair foods, gradual protein reintroduction, functional fats</a:t>
            </a:r>
            <a:endParaRPr lang="en-US" sz="1100" dirty="0"/>
          </a:p>
          <a:p>
            <a:pPr indent="0" marL="0">
              <a:buNone/>
            </a:pPr>
            <a:r>
              <a:rPr lang="en-US" sz="900" dirty="0">
                <a:solidFill>
                  <a:srgbClr val="C62828"/>
                </a:solidFill>
                <a:latin typeface="Source Sans 3" pitchFamily="34" charset="0"/>
                <a:ea typeface="Source Sans 3" pitchFamily="34" charset="-122"/>
                <a:cs typeface="Source Sans 3" pitchFamily="34" charset="-120"/>
              </a:rPr>
              <a:t>Eliminate: Nightshades (if inflammation flares), High-potassium foods if labs dictate</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Steamed vegetables, Quinoa, buckwheat, Cold-water fish (2-4x/week, &lt;3oz), Flax, chia, hemp seeds</a:t>
            </a:r>
            <a:endParaRPr lang="en-US" sz="1100" dirty="0"/>
          </a:p>
        </p:txBody>
      </p:sp>
      <p:sp>
        <p:nvSpPr>
          <p:cNvPr id="12" name="Shape 10"/>
          <p:cNvSpPr/>
          <p:nvPr/>
        </p:nvSpPr>
        <p:spPr>
          <a:xfrm>
            <a:off x="457200" y="457200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1"/>
          <p:cNvSpPr/>
          <p:nvPr/>
        </p:nvSpPr>
        <p:spPr>
          <a:xfrm>
            <a:off x="457200" y="4572000"/>
            <a:ext cx="54864" cy="1188720"/>
          </a:xfrm>
          <a:prstGeom prst="rect">
            <a:avLst/>
          </a:prstGeom>
          <a:solidFill>
            <a:srgbClr val="1A2440"/>
          </a:solidFill>
          <a:ln/>
        </p:spPr>
      </p:sp>
      <p:sp>
        <p:nvSpPr>
          <p:cNvPr id="14" name="Text 12"/>
          <p:cNvSpPr/>
          <p:nvPr/>
        </p:nvSpPr>
        <p:spPr>
          <a:xfrm>
            <a:off x="640080" y="461772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Reintegration &amp; Broad-Nutrient (Weeks 11-13)</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Safely broaden to Mediterranean/renal-optimized diet for maintenance</a:t>
            </a:r>
            <a:endParaRPr lang="en-US" sz="1100" dirty="0"/>
          </a:p>
          <a:p>
            <a:pPr indent="0" marL="0">
              <a:buNone/>
            </a:pPr>
            <a:r>
              <a:rPr lang="en-US" sz="900" dirty="0">
                <a:solidFill>
                  <a:srgbClr val="C62828"/>
                </a:solidFill>
                <a:latin typeface="Source Sans 3" pitchFamily="34" charset="0"/>
                <a:ea typeface="Source Sans 3" pitchFamily="34" charset="-122"/>
                <a:cs typeface="Source Sans 3" pitchFamily="34" charset="-120"/>
              </a:rPr>
              <a:t>Eliminate: Limit high-sodium canned/processed foods</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Colorful plant-rich meals, Legumes, grains (as tolerated), Small wild fish, organic chicken, Olive oil, nuts, seeds</a:t>
            </a:r>
            <a:endParaRPr lang="en-US" sz="1100" dirty="0"/>
          </a:p>
        </p:txBody>
      </p:sp>
      <p:sp>
        <p:nvSpPr>
          <p:cNvPr id="15" name="Shape 13"/>
          <p:cNvSpPr/>
          <p:nvPr/>
        </p:nvSpPr>
        <p:spPr>
          <a:xfrm>
            <a:off x="457200" y="5852160"/>
            <a:ext cx="822960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Text 14"/>
          <p:cNvSpPr/>
          <p:nvPr/>
        </p:nvSpPr>
        <p:spPr>
          <a:xfrm>
            <a:off x="640080" y="5897880"/>
            <a:ext cx="7863840" cy="45720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Intermittent Fasting: 12:12 or 14:10 time-restricted feeding (as tolerated) </a:t>
            </a:r>
            <a:pPr indent="0" marL="0">
              <a:buNone/>
            </a:pPr>
            <a:r>
              <a:rPr lang="en-US" sz="900" dirty="0">
                <a:solidFill>
                  <a:srgbClr val="1A2440"/>
                </a:solidFill>
                <a:latin typeface="Source Sans 3" pitchFamily="34" charset="0"/>
                <a:ea typeface="Source Sans 3" pitchFamily="34" charset="-122"/>
                <a:cs typeface="Source Sans 3" pitchFamily="34" charset="-120"/>
              </a:rPr>
              <a:t>— Finish last meal by 7:30PM, break fast 12h later (Reduce overnight metabolic load, support autophagy, improve renal recovery)</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Lifestyle &amp; Dietary Guidelines</a:t>
            </a:r>
            <a:endParaRPr lang="en-US" sz="2400" dirty="0"/>
          </a:p>
        </p:txBody>
      </p:sp>
      <p:sp>
        <p:nvSpPr>
          <p:cNvPr id="3" name="Shape 1"/>
          <p:cNvSpPr/>
          <p:nvPr/>
        </p:nvSpPr>
        <p:spPr>
          <a:xfrm>
            <a:off x="457200" y="914400"/>
            <a:ext cx="393192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14400"/>
            <a:ext cx="3566160" cy="274320"/>
          </a:xfrm>
          <a:prstGeom prst="rect">
            <a:avLst/>
          </a:prstGeom>
          <a:noFill/>
          <a:ln/>
        </p:spPr>
        <p:txBody>
          <a:bodyPr wrap="square" rtlCol="0" anchor="ctr"/>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Lifestyle</a:t>
            </a:r>
            <a:endParaRPr lang="en-US" sz="1200" dirty="0"/>
          </a:p>
        </p:txBody>
      </p:sp>
      <p:sp>
        <p:nvSpPr>
          <p:cNvPr id="5" name="Text 3"/>
          <p:cNvSpPr/>
          <p:nvPr/>
        </p:nvSpPr>
        <p:spPr>
          <a:xfrm>
            <a:off x="640080" y="1234440"/>
            <a:ext cx="3566160" cy="3383280"/>
          </a:xfrm>
          <a:prstGeom prst="rect">
            <a:avLst/>
          </a:prstGeom>
          <a:noFill/>
          <a:ln/>
        </p:spPr>
        <p:txBody>
          <a:bodyPr wrap="square" rtlCol="0" anchor="t"/>
          <a:lstStyle/>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Hydration: Drink 70-90oz filtered water daily, always with minerals/electrolytes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Sleep: Target 8-9 hours nightly, use ECS/CBD/CBN and PinealPep for sleep support</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Movement: Gentle walking, stretching, avoid intense exercise in first 4 weeks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EMF/Detox: Grounding daily, reduce EMF, regular exposure to sunlight (morning/evening)</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Frequency Medicine: Listen to solfeggio 528 Hz (DNA repair), 396 Hz (grounding), and 741 Hz (detox) 20min/day</a:t>
            </a:r>
            <a:endParaRPr lang="en-US" sz="900" dirty="0"/>
          </a:p>
        </p:txBody>
      </p:sp>
      <p:sp>
        <p:nvSpPr>
          <p:cNvPr id="6" name="Shape 4"/>
          <p:cNvSpPr/>
          <p:nvPr/>
        </p:nvSpPr>
        <p:spPr>
          <a:xfrm>
            <a:off x="4663440" y="914400"/>
            <a:ext cx="402336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4846320" y="914400"/>
            <a:ext cx="3657600" cy="274320"/>
          </a:xfrm>
          <a:prstGeom prst="rect">
            <a:avLst/>
          </a:prstGeom>
          <a:noFill/>
          <a:ln/>
        </p:spPr>
        <p:txBody>
          <a:bodyPr wrap="square" rtlCol="0" anchor="ctr"/>
          <a:lstStyle/>
          <a:p>
            <a:pPr indent="0" marL="0">
              <a:buNone/>
            </a:pPr>
            <a:r>
              <a:rPr lang="en-US" sz="1200" b="1" dirty="0">
                <a:solidFill>
                  <a:srgbClr val="2E7D32"/>
                </a:solidFill>
                <a:latin typeface="Source Sans 3" pitchFamily="34" charset="0"/>
                <a:ea typeface="Source Sans 3" pitchFamily="34" charset="-122"/>
                <a:cs typeface="Source Sans 3" pitchFamily="34" charset="-120"/>
              </a:rPr>
              <a:t>Dietary Guidelines</a:t>
            </a:r>
            <a:endParaRPr lang="en-US" sz="1200" dirty="0"/>
          </a:p>
        </p:txBody>
      </p:sp>
      <p:sp>
        <p:nvSpPr>
          <p:cNvPr id="8" name="Text 6"/>
          <p:cNvSpPr/>
          <p:nvPr/>
        </p:nvSpPr>
        <p:spPr>
          <a:xfrm>
            <a:off x="4846320" y="1234440"/>
            <a:ext cx="3657600" cy="3383280"/>
          </a:xfrm>
          <a:prstGeom prst="rect">
            <a:avLst/>
          </a:prstGeom>
          <a:noFill/>
          <a:ln/>
        </p:spPr>
        <p:txBody>
          <a:bodyPr wrap="square" rtlCol="0" anchor="t"/>
          <a:lstStyle/>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Low protein (&lt;0.8g/kg for CKD) with plant-based emphasis (beans, tempeh, lentils, moderate portions)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Eliminate processed sugar, gluten, dairy, fried foods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Maximize bitter greens, leafy vegetables, crucifers, beets, berries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Healthy fats: avocado, olive oil, walnuts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Soaked nuts/seeds (limit if high potassium)</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Support phospholipid/bile: small amounts of PC, lecithin</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No alcohol; avoid high-phosphorus processed foods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Follow-Up Plan &amp; Lab Orders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274320"/>
          </a:xfrm>
          <a:prstGeom prst="rect">
            <a:avLst/>
          </a:prstGeom>
          <a:noFill/>
          <a:ln/>
        </p:spPr>
        <p:txBody>
          <a:bodyPr wrap="square" rtlCol="0" anchor="ctr"/>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Follow-Up Schedule:</a:t>
            </a:r>
            <a:endParaRPr lang="en-US" sz="1200" dirty="0"/>
          </a:p>
        </p:txBody>
      </p:sp>
      <p:sp>
        <p:nvSpPr>
          <p:cNvPr id="5" name="Text 3"/>
          <p:cNvSpPr/>
          <p:nvPr/>
        </p:nvSpPr>
        <p:spPr>
          <a:xfrm>
            <a:off x="640080" y="1325880"/>
            <a:ext cx="7863840" cy="137160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4: Repeat full renal/metabolic panel (CMP, GFR, BUN, creatinine); review for chelation tolerance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8: Labs: renal, metals, nutrient panel; clinical reassessment for phase 4-5 adjust</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12: Full protocol review, functional status, and next 90-day design</a:t>
            </a:r>
            <a:endParaRPr lang="en-US" sz="1000" dirty="0"/>
          </a:p>
        </p:txBody>
      </p:sp>
      <p:sp>
        <p:nvSpPr>
          <p:cNvPr id="6" name="Text 4"/>
          <p:cNvSpPr/>
          <p:nvPr/>
        </p:nvSpPr>
        <p:spPr>
          <a:xfrm>
            <a:off x="640080" y="2880360"/>
            <a:ext cx="7863840" cy="274320"/>
          </a:xfrm>
          <a:prstGeom prst="rect">
            <a:avLst/>
          </a:prstGeom>
          <a:noFill/>
          <a:ln/>
        </p:spPr>
        <p:txBody>
          <a:bodyPr wrap="square" rtlCol="0" anchor="ctr"/>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Required Labs:</a:t>
            </a:r>
            <a:endParaRPr lang="en-US" sz="1200" dirty="0"/>
          </a:p>
        </p:txBody>
      </p:sp>
      <p:sp>
        <p:nvSpPr>
          <p:cNvPr id="7" name="Text 5"/>
          <p:cNvSpPr/>
          <p:nvPr/>
        </p:nvSpPr>
        <p:spPr>
          <a:xfrm>
            <a:off x="640080" y="3200400"/>
            <a:ext cx="7863840" cy="137160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CMP w/ eGFR, BUN, creatinine (baseline, then q2w)</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Urine microalbumin:creatinine ratio</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Heavy metal panel—whole blood and urine (pre/post chelation as able)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Vitamin/mineral/nutrient panel (q4w)</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CBC/differential, uric acid, phosphorus, potassium</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Thyroid panel (TSH, fT4, fT3, rT3)</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Fasting insulin, glucose, A1c, homocysteine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Liver function tests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Recommended Reading</a:t>
            </a:r>
            <a:endParaRPr lang="en-US" sz="2800" dirty="0"/>
          </a:p>
        </p:txBody>
      </p:sp>
      <p:sp>
        <p:nvSpPr>
          <p:cNvPr id="3" name="Shape 1"/>
          <p:cNvSpPr/>
          <p:nvPr/>
        </p:nvSpPr>
        <p:spPr>
          <a:xfrm>
            <a:off x="457200" y="914400"/>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914400"/>
            <a:ext cx="54864" cy="480060"/>
          </a:xfrm>
          <a:prstGeom prst="rect">
            <a:avLst/>
          </a:prstGeom>
          <a:solidFill>
            <a:srgbClr val="C9A54E"/>
          </a:solidFill>
          <a:ln/>
        </p:spPr>
      </p:sp>
      <p:sp>
        <p:nvSpPr>
          <p:cNvPr id="5" name="Text 3"/>
          <p:cNvSpPr/>
          <p:nvPr/>
        </p:nvSpPr>
        <p:spPr>
          <a:xfrm>
            <a:off x="640080" y="914400"/>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Rapid Virus Recovery</a:t>
            </a:r>
            <a:endParaRPr lang="en-US" sz="1100" dirty="0"/>
          </a:p>
        </p:txBody>
      </p:sp>
      <p:sp>
        <p:nvSpPr>
          <p:cNvPr id="6" name="Text 4"/>
          <p:cNvSpPr/>
          <p:nvPr/>
        </p:nvSpPr>
        <p:spPr>
          <a:xfrm>
            <a:off x="640080" y="1154430"/>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Thomas Levy</a:t>
            </a:r>
            <a:endParaRPr lang="en-US" sz="800" dirty="0"/>
          </a:p>
        </p:txBody>
      </p:sp>
      <p:sp>
        <p:nvSpPr>
          <p:cNvPr id="7" name="Text 5"/>
          <p:cNvSpPr/>
          <p:nvPr/>
        </p:nvSpPr>
        <p:spPr>
          <a:xfrm>
            <a:off x="3474720" y="914400"/>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Essential reading on breaking up biofilm with nebulization and high-dose vitamin C therapy for viral recovery</a:t>
            </a:r>
            <a:endParaRPr lang="en-US" sz="900" dirty="0"/>
          </a:p>
        </p:txBody>
      </p:sp>
      <p:sp>
        <p:nvSpPr>
          <p:cNvPr id="8" name="Shape 6"/>
          <p:cNvSpPr/>
          <p:nvPr/>
        </p:nvSpPr>
        <p:spPr>
          <a:xfrm>
            <a:off x="457200" y="1467612"/>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467612"/>
            <a:ext cx="54864" cy="480060"/>
          </a:xfrm>
          <a:prstGeom prst="rect">
            <a:avLst/>
          </a:prstGeom>
          <a:solidFill>
            <a:srgbClr val="C9A54E"/>
          </a:solidFill>
          <a:ln/>
        </p:spPr>
      </p:sp>
      <p:sp>
        <p:nvSpPr>
          <p:cNvPr id="10" name="Text 8"/>
          <p:cNvSpPr/>
          <p:nvPr/>
        </p:nvSpPr>
        <p:spPr>
          <a:xfrm>
            <a:off x="640080" y="1467612"/>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Dental Dangers</a:t>
            </a:r>
            <a:endParaRPr lang="en-US" sz="1100" dirty="0"/>
          </a:p>
        </p:txBody>
      </p:sp>
      <p:sp>
        <p:nvSpPr>
          <p:cNvPr id="11" name="Text 9"/>
          <p:cNvSpPr/>
          <p:nvPr/>
        </p:nvSpPr>
        <p:spPr>
          <a:xfrm>
            <a:off x="640080" y="1707642"/>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Bruce Shelton</a:t>
            </a:r>
            <a:endParaRPr lang="en-US" sz="800" dirty="0"/>
          </a:p>
        </p:txBody>
      </p:sp>
      <p:sp>
        <p:nvSpPr>
          <p:cNvPr id="12" name="Text 10"/>
          <p:cNvSpPr/>
          <p:nvPr/>
        </p:nvSpPr>
        <p:spPr>
          <a:xfrm>
            <a:off x="3474720" y="1467612"/>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Please read over Dental Dangers as amalgam issues and periodontal problems can significantly hurt longevity goals</a:t>
            </a:r>
            <a:endParaRPr lang="en-US" sz="900" dirty="0"/>
          </a:p>
        </p:txBody>
      </p:sp>
      <p:sp>
        <p:nvSpPr>
          <p:cNvPr id="13" name="Shape 11"/>
          <p:cNvSpPr/>
          <p:nvPr/>
        </p:nvSpPr>
        <p:spPr>
          <a:xfrm>
            <a:off x="457200" y="2020824"/>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020824"/>
            <a:ext cx="54864" cy="480060"/>
          </a:xfrm>
          <a:prstGeom prst="rect">
            <a:avLst/>
          </a:prstGeom>
          <a:solidFill>
            <a:srgbClr val="C9A54E"/>
          </a:solidFill>
          <a:ln/>
        </p:spPr>
      </p:sp>
      <p:sp>
        <p:nvSpPr>
          <p:cNvPr id="15" name="Text 13"/>
          <p:cNvSpPr/>
          <p:nvPr/>
        </p:nvSpPr>
        <p:spPr>
          <a:xfrm>
            <a:off x="640080" y="2020824"/>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The Iodine Crisis</a:t>
            </a:r>
            <a:endParaRPr lang="en-US" sz="1100" dirty="0"/>
          </a:p>
        </p:txBody>
      </p:sp>
      <p:sp>
        <p:nvSpPr>
          <p:cNvPr id="16" name="Text 14"/>
          <p:cNvSpPr/>
          <p:nvPr/>
        </p:nvSpPr>
        <p:spPr>
          <a:xfrm>
            <a:off x="640080" y="2260854"/>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Lynne Farrow</a:t>
            </a:r>
            <a:endParaRPr lang="en-US" sz="800" dirty="0"/>
          </a:p>
        </p:txBody>
      </p:sp>
      <p:sp>
        <p:nvSpPr>
          <p:cNvPr id="17" name="Text 15"/>
          <p:cNvSpPr/>
          <p:nvPr/>
        </p:nvSpPr>
        <p:spPr>
          <a:xfrm>
            <a:off x="3474720" y="2020824"/>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Critical reading on the relationship between selenium, iodine, and cancer rise in the U.S.</a:t>
            </a:r>
            <a:endParaRPr lang="en-US" sz="900" dirty="0"/>
          </a:p>
        </p:txBody>
      </p:sp>
      <p:sp>
        <p:nvSpPr>
          <p:cNvPr id="18" name="Shape 16"/>
          <p:cNvSpPr/>
          <p:nvPr/>
        </p:nvSpPr>
        <p:spPr>
          <a:xfrm>
            <a:off x="457200" y="2574036"/>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Shape 17"/>
          <p:cNvSpPr/>
          <p:nvPr/>
        </p:nvSpPr>
        <p:spPr>
          <a:xfrm>
            <a:off x="457200" y="2574036"/>
            <a:ext cx="54864" cy="480060"/>
          </a:xfrm>
          <a:prstGeom prst="rect">
            <a:avLst/>
          </a:prstGeom>
          <a:solidFill>
            <a:srgbClr val="C9A54E"/>
          </a:solidFill>
          <a:ln/>
        </p:spPr>
      </p:sp>
      <p:sp>
        <p:nvSpPr>
          <p:cNvPr id="20" name="Text 18"/>
          <p:cNvSpPr/>
          <p:nvPr/>
        </p:nvSpPr>
        <p:spPr>
          <a:xfrm>
            <a:off x="640080" y="2574036"/>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One Minute Restore</a:t>
            </a:r>
            <a:endParaRPr lang="en-US" sz="1100" dirty="0"/>
          </a:p>
        </p:txBody>
      </p:sp>
      <p:sp>
        <p:nvSpPr>
          <p:cNvPr id="21" name="Text 19"/>
          <p:cNvSpPr/>
          <p:nvPr/>
        </p:nvSpPr>
        <p:spPr>
          <a:xfrm>
            <a:off x="640080" y="2814066"/>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Madison Cavanaugh</a:t>
            </a:r>
            <a:endParaRPr lang="en-US" sz="800" dirty="0"/>
          </a:p>
        </p:txBody>
      </p:sp>
      <p:sp>
        <p:nvSpPr>
          <p:cNvPr id="22" name="Text 20"/>
          <p:cNvSpPr/>
          <p:nvPr/>
        </p:nvSpPr>
        <p:spPr>
          <a:xfrm>
            <a:off x="3474720" y="2574036"/>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Hydrogen peroxide therapy overview and its applications for supporting the body's natural healing processes</a:t>
            </a:r>
            <a:endParaRPr lang="en-US" sz="900" dirty="0"/>
          </a:p>
        </p:txBody>
      </p:sp>
      <p:sp>
        <p:nvSpPr>
          <p:cNvPr id="23" name="Shape 21"/>
          <p:cNvSpPr/>
          <p:nvPr/>
        </p:nvSpPr>
        <p:spPr>
          <a:xfrm>
            <a:off x="457200" y="3127248"/>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457200" y="3127248"/>
            <a:ext cx="54864" cy="480060"/>
          </a:xfrm>
          <a:prstGeom prst="rect">
            <a:avLst/>
          </a:prstGeom>
          <a:solidFill>
            <a:srgbClr val="C9A54E"/>
          </a:solidFill>
          <a:ln/>
        </p:spPr>
      </p:sp>
      <p:sp>
        <p:nvSpPr>
          <p:cNvPr id="25" name="Text 23"/>
          <p:cNvSpPr/>
          <p:nvPr/>
        </p:nvSpPr>
        <p:spPr>
          <a:xfrm>
            <a:off x="640080" y="3127248"/>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Cymatics: A Study of Wave Phenomena</a:t>
            </a:r>
            <a:endParaRPr lang="en-US" sz="1100" dirty="0"/>
          </a:p>
        </p:txBody>
      </p:sp>
      <p:sp>
        <p:nvSpPr>
          <p:cNvPr id="26" name="Text 24"/>
          <p:cNvSpPr/>
          <p:nvPr/>
        </p:nvSpPr>
        <p:spPr>
          <a:xfrm>
            <a:off x="640080" y="3367278"/>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Hans Jenny</a:t>
            </a:r>
            <a:endParaRPr lang="en-US" sz="800" dirty="0"/>
          </a:p>
        </p:txBody>
      </p:sp>
      <p:sp>
        <p:nvSpPr>
          <p:cNvPr id="27" name="Text 25"/>
          <p:cNvSpPr/>
          <p:nvPr/>
        </p:nvSpPr>
        <p:spPr>
          <a:xfrm>
            <a:off x="3474720" y="3127248"/>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Foundation text for frequency-based healing modalities — understanding how sound and vibration affect cellular health</a:t>
            </a:r>
            <a:endParaRPr lang="en-US" sz="900" dirty="0"/>
          </a:p>
        </p:txBody>
      </p:sp>
      <p:sp>
        <p:nvSpPr>
          <p:cNvPr id="28" name="Shape 26"/>
          <p:cNvSpPr/>
          <p:nvPr/>
        </p:nvSpPr>
        <p:spPr>
          <a:xfrm>
            <a:off x="457200" y="3680460"/>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9" name="Shape 27"/>
          <p:cNvSpPr/>
          <p:nvPr/>
        </p:nvSpPr>
        <p:spPr>
          <a:xfrm>
            <a:off x="457200" y="3680460"/>
            <a:ext cx="54864" cy="480060"/>
          </a:xfrm>
          <a:prstGeom prst="rect">
            <a:avLst/>
          </a:prstGeom>
          <a:solidFill>
            <a:srgbClr val="C9A54E"/>
          </a:solidFill>
          <a:ln/>
        </p:spPr>
      </p:sp>
      <p:sp>
        <p:nvSpPr>
          <p:cNvPr id="30" name="Text 28"/>
          <p:cNvSpPr/>
          <p:nvPr/>
        </p:nvSpPr>
        <p:spPr>
          <a:xfrm>
            <a:off x="640080" y="3680460"/>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Toxic Dentistry Exposed</a:t>
            </a:r>
            <a:endParaRPr lang="en-US" sz="1100" dirty="0"/>
          </a:p>
        </p:txBody>
      </p:sp>
      <p:sp>
        <p:nvSpPr>
          <p:cNvPr id="31" name="Text 29"/>
          <p:cNvSpPr/>
          <p:nvPr/>
        </p:nvSpPr>
        <p:spPr>
          <a:xfrm>
            <a:off x="640080" y="3920490"/>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Graeme Munro-Hall</a:t>
            </a:r>
            <a:endParaRPr lang="en-US" sz="800" dirty="0"/>
          </a:p>
        </p:txBody>
      </p:sp>
      <p:sp>
        <p:nvSpPr>
          <p:cNvPr id="32" name="Text 30"/>
          <p:cNvSpPr/>
          <p:nvPr/>
        </p:nvSpPr>
        <p:spPr>
          <a:xfrm>
            <a:off x="3474720" y="3680460"/>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Understanding how mercury amalgam fillings and root canals create systemic toxicity that undermines your healing</a:t>
            </a:r>
            <a:endParaRPr lang="en-US" sz="900" dirty="0"/>
          </a:p>
        </p:txBody>
      </p:sp>
      <p:sp>
        <p:nvSpPr>
          <p:cNvPr id="33" name="Shape 31"/>
          <p:cNvSpPr/>
          <p:nvPr/>
        </p:nvSpPr>
        <p:spPr>
          <a:xfrm>
            <a:off x="457200" y="4233672"/>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4" name="Shape 32"/>
          <p:cNvSpPr/>
          <p:nvPr/>
        </p:nvSpPr>
        <p:spPr>
          <a:xfrm>
            <a:off x="457200" y="4233672"/>
            <a:ext cx="54864" cy="480060"/>
          </a:xfrm>
          <a:prstGeom prst="rect">
            <a:avLst/>
          </a:prstGeom>
          <a:solidFill>
            <a:srgbClr val="C9A54E"/>
          </a:solidFill>
          <a:ln/>
        </p:spPr>
      </p:sp>
      <p:sp>
        <p:nvSpPr>
          <p:cNvPr id="35" name="Text 33"/>
          <p:cNvSpPr/>
          <p:nvPr/>
        </p:nvSpPr>
        <p:spPr>
          <a:xfrm>
            <a:off x="640080" y="4233672"/>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The Root Canal Cover-Up</a:t>
            </a:r>
            <a:endParaRPr lang="en-US" sz="1100" dirty="0"/>
          </a:p>
        </p:txBody>
      </p:sp>
      <p:sp>
        <p:nvSpPr>
          <p:cNvPr id="36" name="Text 34"/>
          <p:cNvSpPr/>
          <p:nvPr/>
        </p:nvSpPr>
        <p:spPr>
          <a:xfrm>
            <a:off x="640080" y="4473702"/>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George Meinig</a:t>
            </a:r>
            <a:endParaRPr lang="en-US" sz="800" dirty="0"/>
          </a:p>
        </p:txBody>
      </p:sp>
      <p:sp>
        <p:nvSpPr>
          <p:cNvPr id="37" name="Text 35"/>
          <p:cNvSpPr/>
          <p:nvPr/>
        </p:nvSpPr>
        <p:spPr>
          <a:xfrm>
            <a:off x="3474720" y="4233672"/>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Based on Dr. Weston Price's research — why root canals can harbor bacteria that contribute to chronic disease</a:t>
            </a:r>
            <a:endParaRPr lang="en-US" sz="900" dirty="0"/>
          </a:p>
        </p:txBody>
      </p:sp>
      <p:sp>
        <p:nvSpPr>
          <p:cNvPr id="38" name="Shape 36"/>
          <p:cNvSpPr/>
          <p:nvPr/>
        </p:nvSpPr>
        <p:spPr>
          <a:xfrm>
            <a:off x="457200" y="4786884"/>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9" name="Shape 37"/>
          <p:cNvSpPr/>
          <p:nvPr/>
        </p:nvSpPr>
        <p:spPr>
          <a:xfrm>
            <a:off x="457200" y="4786884"/>
            <a:ext cx="54864" cy="480060"/>
          </a:xfrm>
          <a:prstGeom prst="rect">
            <a:avLst/>
          </a:prstGeom>
          <a:solidFill>
            <a:srgbClr val="C9A54E"/>
          </a:solidFill>
          <a:ln/>
        </p:spPr>
      </p:sp>
      <p:sp>
        <p:nvSpPr>
          <p:cNvPr id="40" name="Text 38"/>
          <p:cNvSpPr/>
          <p:nvPr/>
        </p:nvSpPr>
        <p:spPr>
          <a:xfrm>
            <a:off x="640080" y="4786884"/>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Parasite Rex</a:t>
            </a:r>
            <a:endParaRPr lang="en-US" sz="1100" dirty="0"/>
          </a:p>
        </p:txBody>
      </p:sp>
      <p:sp>
        <p:nvSpPr>
          <p:cNvPr id="41" name="Text 39"/>
          <p:cNvSpPr/>
          <p:nvPr/>
        </p:nvSpPr>
        <p:spPr>
          <a:xfrm>
            <a:off x="640080" y="5026914"/>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Carl Zimmer</a:t>
            </a:r>
            <a:endParaRPr lang="en-US" sz="800" dirty="0"/>
          </a:p>
        </p:txBody>
      </p:sp>
      <p:sp>
        <p:nvSpPr>
          <p:cNvPr id="42" name="Text 40"/>
          <p:cNvSpPr/>
          <p:nvPr/>
        </p:nvSpPr>
        <p:spPr>
          <a:xfrm>
            <a:off x="3474720" y="4786884"/>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Understanding the hidden world of parasites and why anti-parasitic protocols are fundamental to restoring health</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Research Backing Our Protocols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000" b="1" dirty="0">
                <a:solidFill>
                  <a:srgbClr val="C9A54E"/>
                </a:solidFill>
                <a:latin typeface="Source Sans 3" pitchFamily="34" charset="0"/>
                <a:ea typeface="Source Sans 3" pitchFamily="34" charset="-122"/>
                <a:cs typeface="Source Sans 3" pitchFamily="34" charset="-120"/>
              </a:rPr>
              <a:t>Moringa Health Benefits</a:t>
            </a:r>
            <a:pPr indent="0" marL="0">
              <a:buNone/>
            </a:pPr>
            <a:r>
              <a:rPr lang="en-US" sz="900" dirty="0">
                <a:solidFill>
                  <a:srgbClr val="5A6B8A"/>
                </a:solidFill>
                <a:latin typeface="Source Sans 3" pitchFamily="34" charset="0"/>
                <a:ea typeface="Source Sans 3" pitchFamily="34" charset="-122"/>
                <a:cs typeface="Source Sans 3" pitchFamily="34" charset="-120"/>
              </a:rPr>
              <a:t> — Comprehensive overview of moringa's anti-inflammatory, antioxidant, and immune-supporting properties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https://ensosuperfoods.com/blogs/supergreens/moringa-health-benefits-for-women</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Chlorella Benefits</a:t>
            </a:r>
            <a:pPr indent="0" marL="0">
              <a:buNone/>
            </a:pPr>
            <a:r>
              <a:rPr lang="en-US" sz="900" dirty="0">
                <a:solidFill>
                  <a:srgbClr val="5A6B8A"/>
                </a:solidFill>
                <a:latin typeface="Source Sans 3" pitchFamily="34" charset="0"/>
                <a:ea typeface="Source Sans 3" pitchFamily="34" charset="-122"/>
                <a:cs typeface="Source Sans 3" pitchFamily="34" charset="-120"/>
              </a:rPr>
              <a:t> — Heavy metal detox, immune support, and nutrient density — why chlorella is in your protocol</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https://www.healthline.com/nutrition/benefits-of-chlorella</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Marine Phytoplankton Benefits</a:t>
            </a:r>
            <a:pPr indent="0" marL="0">
              <a:buNone/>
            </a:pPr>
            <a:r>
              <a:rPr lang="en-US" sz="900" dirty="0">
                <a:solidFill>
                  <a:srgbClr val="5A6B8A"/>
                </a:solidFill>
                <a:latin typeface="Source Sans 3" pitchFamily="34" charset="0"/>
                <a:ea typeface="Source Sans 3" pitchFamily="34" charset="-122"/>
                <a:cs typeface="Source Sans 3" pitchFamily="34" charset="-120"/>
              </a:rPr>
              <a:t> — How marine phytoplankton provides bioavailable nutrition at the cellular level</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https://flexhealthandwellness.com/blogs/blog/marine-phytoplankton-improves-human-health</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Sirtuins and Atherosclerosis Reduction</a:t>
            </a:r>
            <a:pPr indent="0" marL="0">
              <a:buNone/>
            </a:pPr>
            <a:r>
              <a:rPr lang="en-US" sz="900" dirty="0">
                <a:solidFill>
                  <a:srgbClr val="5A6B8A"/>
                </a:solidFill>
                <a:latin typeface="Source Sans 3" pitchFamily="34" charset="0"/>
                <a:ea typeface="Source Sans 3" pitchFamily="34" charset="-122"/>
                <a:cs typeface="Source Sans 3" pitchFamily="34" charset="-120"/>
              </a:rPr>
              <a:t> — Peer-reviewed research on how sirtuin activation reduces atherosclerosis — the science behind our NAD+ protocols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https://www.ahajournals.org/doi/10.1161/CIRCRESAHA.118.312498</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Mercury Toxicity from Dental Amalgam</a:t>
            </a:r>
            <a:pPr indent="0" marL="0">
              <a:buNone/>
            </a:pPr>
            <a:r>
              <a:rPr lang="en-US" sz="900" dirty="0">
                <a:solidFill>
                  <a:srgbClr val="5A6B8A"/>
                </a:solidFill>
                <a:latin typeface="Source Sans 3" pitchFamily="34" charset="0"/>
                <a:ea typeface="Source Sans 3" pitchFamily="34" charset="-122"/>
                <a:cs typeface="Source Sans 3" pitchFamily="34" charset="-120"/>
              </a:rPr>
              <a:t> — Scientific evidence linking mercury amalgam fillings to systemic toxicity and chronic health conditions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https://www.ncbi.nlm.nih.gov/pmc/articles/PMC3388771/</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Endocannabinoid System and Immune Regulation</a:t>
            </a:r>
            <a:pPr indent="0" marL="0">
              <a:buNone/>
            </a:pPr>
            <a:r>
              <a:rPr lang="en-US" sz="900" dirty="0">
                <a:solidFill>
                  <a:srgbClr val="5A6B8A"/>
                </a:solidFill>
                <a:latin typeface="Source Sans 3" pitchFamily="34" charset="0"/>
                <a:ea typeface="Source Sans 3" pitchFamily="34" charset="-122"/>
                <a:cs typeface="Source Sans 3" pitchFamily="34" charset="-120"/>
              </a:rPr>
              <a:t> — How the ECS modulates immune response — the science behind our CBD/CBG protocols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https://www.ncbi.nlm.nih.gov/pmc/articles/PMC7023045/</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Iodine Deficiency and Thyroid/Cancer Connection</a:t>
            </a:r>
            <a:pPr indent="0" marL="0">
              <a:buNone/>
            </a:pPr>
            <a:r>
              <a:rPr lang="en-US" sz="900" dirty="0">
                <a:solidFill>
                  <a:srgbClr val="5A6B8A"/>
                </a:solidFill>
                <a:latin typeface="Source Sans 3" pitchFamily="34" charset="0"/>
                <a:ea typeface="Source Sans 3" pitchFamily="34" charset="-122"/>
                <a:cs typeface="Source Sans 3" pitchFamily="34" charset="-120"/>
              </a:rPr>
              <a:t> — Relationship between iodine deficiency, thyroid dysfunction, and cancer risk</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https://www.ncbi.nlm.nih.gov/pmc/articles/PMC3752513/</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Gut Microbiome and Systemic Health</a:t>
            </a:r>
            <a:pPr indent="0" marL="0">
              <a:buNone/>
            </a:pPr>
            <a:r>
              <a:rPr lang="en-US" sz="900" dirty="0">
                <a:solidFill>
                  <a:srgbClr val="5A6B8A"/>
                </a:solidFill>
                <a:latin typeface="Source Sans 3" pitchFamily="34" charset="0"/>
                <a:ea typeface="Source Sans 3" pitchFamily="34" charset="-122"/>
                <a:cs typeface="Source Sans 3" pitchFamily="34" charset="-120"/>
              </a:rPr>
              <a:t> — How gut dysbiosis drives systemic inflammation and chronic disease</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https://www.ncbi.nlm.nih.gov/pmc/articles/PMC7510518/</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BPC-157 Healing Properties</a:t>
            </a:r>
            <a:pPr indent="0" marL="0">
              <a:buNone/>
            </a:pPr>
            <a:r>
              <a:rPr lang="en-US" sz="900" dirty="0">
                <a:solidFill>
                  <a:srgbClr val="5A6B8A"/>
                </a:solidFill>
                <a:latin typeface="Source Sans 3" pitchFamily="34" charset="0"/>
                <a:ea typeface="Source Sans 3" pitchFamily="34" charset="-122"/>
                <a:cs typeface="Source Sans 3" pitchFamily="34" charset="-120"/>
              </a:rPr>
              <a:t> — Comprehensive review of BPC-157's tissue repair, anti-inflammatory, and gut healing properties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https://www.ncbi.nlm.nih.gov/pmc/articles/PMC5333585/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Additional Research and Google Drive Links</a:t>
            </a:r>
            <a:endParaRPr lang="en-US" sz="2200" dirty="0"/>
          </a:p>
        </p:txBody>
      </p:sp>
      <p:sp>
        <p:nvSpPr>
          <p:cNvPr id="3" name="Shape 1"/>
          <p:cNvSpPr/>
          <p:nvPr/>
        </p:nvSpPr>
        <p:spPr>
          <a:xfrm>
            <a:off x="457200" y="914400"/>
            <a:ext cx="8229600" cy="27432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60120"/>
            <a:ext cx="7863840" cy="274320"/>
          </a:xfrm>
          <a:prstGeom prst="rect">
            <a:avLst/>
          </a:prstGeom>
          <a:noFill/>
          <a:ln/>
        </p:spPr>
        <p:txBody>
          <a:bodyPr wrap="square" rtlCol="0" anchor="ctr"/>
          <a:lstStyle/>
          <a:p>
            <a:pPr indent="0" marL="0">
              <a:buNone/>
            </a:pPr>
            <a:r>
              <a:rPr lang="en-US" sz="1100" dirty="0">
                <a:solidFill>
                  <a:srgbClr val="5A6B8A"/>
                </a:solidFill>
                <a:latin typeface="Source Sans 3" pitchFamily="34" charset="0"/>
                <a:ea typeface="Source Sans 3" pitchFamily="34" charset="-122"/>
                <a:cs typeface="Source Sans 3" pitchFamily="34" charset="-120"/>
              </a:rPr>
              <a:t>Links to Daily Schedule, Library and Research, Detox Baths, and 5 Day fasting instructions</a:t>
            </a:r>
            <a:endParaRPr lang="en-US" sz="1100" dirty="0"/>
          </a:p>
        </p:txBody>
      </p:sp>
      <p:sp>
        <p:nvSpPr>
          <p:cNvPr id="5" name="Text 3"/>
          <p:cNvSpPr/>
          <p:nvPr/>
        </p:nvSpPr>
        <p:spPr>
          <a:xfrm>
            <a:off x="640080" y="1280160"/>
            <a:ext cx="7863840" cy="2286000"/>
          </a:xfrm>
          <a:prstGeom prst="rect">
            <a:avLst/>
          </a:prstGeom>
          <a:noFill/>
          <a:ln/>
        </p:spPr>
        <p:txBody>
          <a:bodyPr wrap="square" rtlCol="0" anchor="t"/>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FF Research Document Library</a:t>
            </a:r>
            <a:pPr indent="0" marL="0">
              <a:buNone/>
            </a:pPr>
            <a:r>
              <a:rPr lang="en-US" sz="900" dirty="0">
                <a:solidFill>
                  <a:srgbClr val="5A6B8A"/>
                </a:solidFill>
                <a:latin typeface="Source Sans 3" pitchFamily="34" charset="0"/>
                <a:ea typeface="Source Sans 3" pitchFamily="34" charset="-122"/>
                <a:cs typeface="Source Sans 3" pitchFamily="34" charset="-120"/>
              </a:rPr>
              <a:t> — Complete research library — peer-reviewed papers, clinical protocols, and educational materials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https://drive.google.com/drive/folders/1HfK-h2NemdU2ew9L9ZwJCXUMLTI8Q-Rn?usp=drive_link</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FF Main Library</a:t>
            </a:r>
            <a:pPr indent="0" marL="0">
              <a:buNone/>
            </a:pPr>
            <a:r>
              <a:rPr lang="en-US" sz="900" dirty="0">
                <a:solidFill>
                  <a:srgbClr val="5A6B8A"/>
                </a:solidFill>
                <a:latin typeface="Source Sans 3" pitchFamily="34" charset="0"/>
                <a:ea typeface="Source Sans 3" pitchFamily="34" charset="-122"/>
                <a:cs typeface="Source Sans 3" pitchFamily="34" charset="-120"/>
              </a:rPr>
              <a:t> — Master resource folder — all protocol guides, templates, and educational materials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https://drive.google.com/drive/folders/1s6EdFtZ7dZY7utr8J843CFxyAjuuwHPX?usp=drive_link</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5 Day Fast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 Guided 5-day fasting protocol for deep cellular repair, autophagy, and immune reset</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https://docs.google.com/document/d/1NqvmXbq4fh3j6AqAVKnCtnaD8vuTjXv3feV43KJdJGg/edit?usp=sharing</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Daily Schedule &amp; Routine Template</a:t>
            </a:r>
            <a:pPr indent="0" marL="0">
              <a:buNone/>
            </a:pPr>
            <a:r>
              <a:rPr lang="en-US" sz="900" dirty="0">
                <a:solidFill>
                  <a:srgbClr val="5A6B8A"/>
                </a:solidFill>
                <a:latin typeface="Source Sans 3" pitchFamily="34" charset="0"/>
                <a:ea typeface="Source Sans 3" pitchFamily="34" charset="-122"/>
                <a:cs typeface="Source Sans 3" pitchFamily="34" charset="-120"/>
              </a:rPr>
              <a:t> — Master daily routine template — timing for supplements, peptides, and therapies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https://docs.google.com/document/d/1K_36WNxm-dAwDHKqz8juGMHJHzRRzBp2OSwiMA1Wx-Q/edit?usp=sharing</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Detox Bath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 Baking soda, bentonite clay, and Epsom salt detox bath instructions — 3x/week minimum for chelation support</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https://docs.google.com/document/d/1eTxPg5XQj8R_vJ2kHJ5ZqN9dLfMwY3CaU8PnxC6mkfI/edit?usp=sharing</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Liver &amp; Gallbladder Cleanse Guide</a:t>
            </a:r>
            <a:pPr indent="0" marL="0">
              <a:buNone/>
            </a:pPr>
            <a:r>
              <a:rPr lang="en-US" sz="900" dirty="0">
                <a:solidFill>
                  <a:srgbClr val="5A6B8A"/>
                </a:solidFill>
                <a:latin typeface="Source Sans 3" pitchFamily="34" charset="0"/>
                <a:ea typeface="Source Sans 3" pitchFamily="34" charset="-122"/>
                <a:cs typeface="Source Sans 3" pitchFamily="34" charset="-120"/>
              </a:rPr>
              <a:t> — Step-by-step liver/gallbladder cleanse protocol — flush preparation, execution, and recovery phases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https://docs.google.com/document/d/1RmT4kQv5nJ9bH2cFgY7LwXpZ3sDqEfNvK8AhJm6wT0U/edit?usp=sharing</a:t>
            </a:r>
            <a:endParaRPr lang="en-US" sz="1000" dirty="0"/>
          </a:p>
        </p:txBody>
      </p:sp>
      <p:sp>
        <p:nvSpPr>
          <p:cNvPr id="6" name="Shape 4"/>
          <p:cNvSpPr/>
          <p:nvPr/>
        </p:nvSpPr>
        <p:spPr>
          <a:xfrm>
            <a:off x="457200" y="3840480"/>
            <a:ext cx="8229600" cy="10058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3886200"/>
            <a:ext cx="7863840" cy="914400"/>
          </a:xfrm>
          <a:prstGeom prst="rect">
            <a:avLst/>
          </a:prstGeom>
          <a:noFill/>
          <a:ln/>
        </p:spPr>
        <p:txBody>
          <a:bodyPr wrap="square" rtlCol="0" anchor="t"/>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Jason Stephenson — Sleep Talk Downs</a:t>
            </a:r>
            <a:pPr indent="0" marL="0">
              <a:buNone/>
            </a:pPr>
            <a:r>
              <a:rPr lang="en-US" sz="900" dirty="0">
                <a:solidFill>
                  <a:srgbClr val="5A6B8A"/>
                </a:solidFill>
                <a:latin typeface="Source Sans 3" pitchFamily="34" charset="0"/>
                <a:ea typeface="Source Sans 3" pitchFamily="34" charset="-122"/>
                <a:cs typeface="Source Sans 3" pitchFamily="34" charset="-120"/>
              </a:rPr>
              <a:t> — Guided sleep meditations and talk-downs for restful, restorative sleep — essential for healing</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https://www.youtube.com/@jasonstephensonmeditation</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PowerThoughts Meditation Club — Healing Frequencies</a:t>
            </a:r>
            <a:pPr indent="0" marL="0">
              <a:buNone/>
            </a:pPr>
            <a:r>
              <a:rPr lang="en-US" sz="900" dirty="0">
                <a:solidFill>
                  <a:srgbClr val="5A6B8A"/>
                </a:solidFill>
                <a:latin typeface="Source Sans 3" pitchFamily="34" charset="0"/>
                <a:ea typeface="Source Sans 3" pitchFamily="34" charset="-122"/>
                <a:cs typeface="Source Sans 3" pitchFamily="34" charset="-120"/>
              </a:rPr>
              <a:t> — Frequency healing work, binaural beats, and solfeggio frequencies for cellular regeneration</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https://www.youtube.com/@PowerThoughtsclub</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Dr. Rachel Knox — The Endocannabinoid System (TED Talk)</a:t>
            </a:r>
            <a:pPr indent="0" marL="0">
              <a:buNone/>
            </a:pPr>
            <a:r>
              <a:rPr lang="en-US" sz="900" dirty="0">
                <a:solidFill>
                  <a:srgbClr val="5A6B8A"/>
                </a:solidFill>
                <a:latin typeface="Source Sans 3" pitchFamily="34" charset="0"/>
                <a:ea typeface="Source Sans 3" pitchFamily="34" charset="-122"/>
                <a:cs typeface="Source Sans 3" pitchFamily="34" charset="-120"/>
              </a:rPr>
              <a:t> — Understanding the ECS — the master regulatory system your body uses for homeostasis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https://www.youtube.com/watch?v=lWGirZAhDGM</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C9A54E"/>
                </a:solidFill>
                <a:latin typeface="Playfair Display" pitchFamily="34" charset="0"/>
                <a:ea typeface="Playfair Display" pitchFamily="34" charset="-122"/>
                <a:cs typeface="Playfair Display" pitchFamily="34" charset="-120"/>
              </a:rPr>
              <a:t>My Commitment to You</a:t>
            </a:r>
            <a:endParaRPr lang="en-US" sz="2800" dirty="0"/>
          </a:p>
        </p:txBody>
      </p:sp>
      <p:sp>
        <p:nvSpPr>
          <p:cNvPr id="3" name="Text 1"/>
          <p:cNvSpPr/>
          <p:nvPr/>
        </p:nvSpPr>
        <p:spPr>
          <a:xfrm>
            <a:off x="640080" y="914400"/>
            <a:ext cx="7863840" cy="2926080"/>
          </a:xfrm>
          <a:prstGeom prst="rect">
            <a:avLst/>
          </a:prstGeom>
          <a:noFill/>
          <a:ln/>
        </p:spPr>
        <p:txBody>
          <a:bodyPr wrap="square" rtlCol="0" anchor="t"/>
          <a:lstStyle/>
          <a:p>
            <a:pPr indent="0" marL="0">
              <a:buNone/>
            </a:pPr>
            <a:r>
              <a:rPr lang="en-US" sz="1100" dirty="0">
                <a:solidFill>
                  <a:srgbClr val="FFFFFF"/>
                </a:solidFill>
                <a:latin typeface="Source Sans 3" pitchFamily="34" charset="0"/>
                <a:ea typeface="Source Sans 3" pitchFamily="34" charset="-122"/>
                <a:cs typeface="Source Sans 3" pitchFamily="34" charset="-120"/>
              </a:rPr>
              <a:t>I will do everything in my power and knowledge to focus on the root of all problems. Most doctors focus only on the symptoms, not the underlying cause of the disease or issue. We will not give up on you, but you need to work with us on every step of this protocol.</a:t>
            </a:r>
            <a:endParaRPr lang="en-US" sz="1100" dirty="0"/>
          </a:p>
          <a:p>
            <a:pPr indent="0" marL="0">
              <a:buNone/>
            </a:pPr>
            <a:endParaRPr lang="en-US" sz="1100" dirty="0"/>
          </a:p>
          <a:p>
            <a:pPr indent="0" marL="0">
              <a:buNone/>
            </a:pPr>
            <a:r>
              <a:rPr lang="en-US" sz="1100" dirty="0">
                <a:solidFill>
                  <a:srgbClr val="FFFFFF"/>
                </a:solidFill>
                <a:latin typeface="Source Sans 3" pitchFamily="34" charset="0"/>
                <a:ea typeface="Source Sans 3" pitchFamily="34" charset="-122"/>
                <a:cs typeface="Source Sans 3" pitchFamily="34" charset="-120"/>
              </a:rPr>
              <a:t>Don't lose hope and don't give up! There is no single pill or capsule that will fix this. Only a commitment to follow the steps laid herein — if you choose to do so, the ECS, the gut, and your body will take care of itself. Homeostasis is about balance in the body.</a:t>
            </a:r>
            <a:endParaRPr lang="en-US" sz="1100" dirty="0"/>
          </a:p>
          <a:p>
            <a:pPr indent="0" marL="0">
              <a:buNone/>
            </a:pPr>
            <a:endParaRPr lang="en-US" sz="1100" dirty="0"/>
          </a:p>
          <a:p>
            <a:pPr indent="0" marL="0">
              <a:buNone/>
            </a:pPr>
            <a:r>
              <a:rPr lang="en-US" sz="1100" dirty="0">
                <a:solidFill>
                  <a:srgbClr val="FFFFFF"/>
                </a:solidFill>
                <a:latin typeface="Source Sans 3" pitchFamily="34" charset="0"/>
                <a:ea typeface="Source Sans 3" pitchFamily="34" charset="-122"/>
                <a:cs typeface="Source Sans 3" pitchFamily="34" charset="-120"/>
              </a:rPr>
              <a:t>We have provided the educational tools and research to help guide you through your journey. Please utilize these resources. These are extremely specific formulations that only a handful of folks know how to do — it's my lifelong work.</a:t>
            </a:r>
            <a:endParaRPr lang="en-US" sz="1100" dirty="0"/>
          </a:p>
          <a:p>
            <a:pPr indent="0" marL="0">
              <a:buNone/>
            </a:pPr>
            <a:endParaRPr lang="en-US" sz="1100" dirty="0"/>
          </a:p>
          <a:p>
            <a:pPr indent="0" marL="0">
              <a:buNone/>
            </a:pPr>
            <a:r>
              <a:rPr lang="en-US" sz="1200" i="1" dirty="0">
                <a:solidFill>
                  <a:srgbClr val="C9A54E"/>
                </a:solidFill>
                <a:latin typeface="Source Sans 3" pitchFamily="34" charset="0"/>
                <a:ea typeface="Source Sans 3" pitchFamily="34" charset="-122"/>
                <a:cs typeface="Source Sans 3" pitchFamily="34" charset="-120"/>
              </a:rPr>
              <a:t>Hope is coming and a solution is in route. There is no doubt in my mind about the efficacy of our formulations and our 5 steps to health and wellness.</a:t>
            </a:r>
            <a:endParaRPr lang="en-US" sz="1100" dirty="0"/>
          </a:p>
          <a:p>
            <a:pPr indent="0" marL="0">
              <a:buNone/>
            </a:pPr>
            <a:endParaRPr lang="en-US" sz="1100" dirty="0"/>
          </a:p>
          <a:p>
            <a:pPr indent="0" marL="0">
              <a:buNone/>
            </a:pPr>
            <a:r>
              <a:rPr lang="en-US" sz="1100" dirty="0">
                <a:solidFill>
                  <a:srgbClr val="FFFFFF"/>
                </a:solidFill>
                <a:latin typeface="Source Sans 3" pitchFamily="34" charset="0"/>
                <a:ea typeface="Source Sans 3" pitchFamily="34" charset="-122"/>
                <a:cs typeface="Source Sans 3" pitchFamily="34" charset="-120"/>
              </a:rPr>
              <a:t>Thank you for giving us this opportunity. We are looking forward to healing you.</a:t>
            </a:r>
            <a:endParaRPr lang="en-US" sz="1100" dirty="0"/>
          </a:p>
        </p:txBody>
      </p:sp>
      <p:sp>
        <p:nvSpPr>
          <p:cNvPr id="4" name="Text 2"/>
          <p:cNvSpPr/>
          <p:nvPr/>
        </p:nvSpPr>
        <p:spPr>
          <a:xfrm>
            <a:off x="0" y="4023360"/>
            <a:ext cx="9144000" cy="365760"/>
          </a:xfrm>
          <a:prstGeom prst="rect">
            <a:avLst/>
          </a:prstGeom>
          <a:noFill/>
          <a:ln/>
        </p:spPr>
        <p:txBody>
          <a:bodyPr wrap="square" rtlCol="0" anchor="ctr"/>
          <a:lstStyle/>
          <a:p>
            <a:pPr algn="ctr" indent="0" marL="0">
              <a:buNone/>
            </a:pPr>
            <a:r>
              <a:rPr lang="en-US" sz="1600" b="1" dirty="0">
                <a:solidFill>
                  <a:srgbClr val="FFFFFF"/>
                </a:solidFill>
                <a:latin typeface="Playfair Display" pitchFamily="34" charset="0"/>
                <a:ea typeface="Playfair Display" pitchFamily="34" charset="-122"/>
                <a:cs typeface="Playfair Display" pitchFamily="34" charset="-120"/>
              </a:rPr>
              <a:t>Michael Blake</a:t>
            </a:r>
            <a:endParaRPr lang="en-US" sz="1600" dirty="0"/>
          </a:p>
        </p:txBody>
      </p:sp>
      <p:sp>
        <p:nvSpPr>
          <p:cNvPr id="5" name="Text 3"/>
          <p:cNvSpPr/>
          <p:nvPr/>
        </p:nvSpPr>
        <p:spPr>
          <a:xfrm>
            <a:off x="0" y="4389120"/>
            <a:ext cx="9144000" cy="274320"/>
          </a:xfrm>
          <a:prstGeom prst="rect">
            <a:avLst/>
          </a:prstGeom>
          <a:noFill/>
          <a:ln/>
        </p:spPr>
        <p:txBody>
          <a:bodyPr wrap="square" rtlCol="0" anchor="ctr"/>
          <a:lstStyle/>
          <a:p>
            <a:pPr algn="ctr" indent="0" marL="0">
              <a:buNone/>
            </a:pPr>
            <a:r>
              <a:rPr lang="en-US" sz="1200" dirty="0">
                <a:solidFill>
                  <a:srgbClr val="C9A54E"/>
                </a:solidFill>
                <a:latin typeface="Source Sans 3" pitchFamily="34" charset="0"/>
                <a:ea typeface="Source Sans 3" pitchFamily="34" charset="-122"/>
                <a:cs typeface="Source Sans 3" pitchFamily="34" charset="-120"/>
              </a:rPr>
              <a:t>FF Founder and Medical Trustee</a:t>
            </a:r>
            <a:endParaRPr lang="en-US" sz="1200" dirty="0"/>
          </a:p>
        </p:txBody>
      </p:sp>
      <p:sp>
        <p:nvSpPr>
          <p:cNvPr id="6" name="Text 4"/>
          <p:cNvSpPr/>
          <p:nvPr/>
        </p:nvSpPr>
        <p:spPr>
          <a:xfrm>
            <a:off x="914400" y="4663440"/>
            <a:ext cx="7315200" cy="365760"/>
          </a:xfrm>
          <a:prstGeom prst="rect">
            <a:avLst/>
          </a:prstGeom>
          <a:noFill/>
          <a:ln/>
        </p:spPr>
        <p:txBody>
          <a:bodyPr wrap="square" rtlCol="0" anchor="ctr"/>
          <a:lstStyle/>
          <a:p>
            <a:pPr algn="ctr" indent="0" marL="0">
              <a:buNone/>
            </a:pPr>
            <a:r>
              <a:rPr lang="en-US" sz="900" i="1" dirty="0">
                <a:solidFill>
                  <a:srgbClr val="8A95B0"/>
                </a:solidFill>
                <a:latin typeface="Source Sans 3" pitchFamily="34" charset="0"/>
                <a:ea typeface="Source Sans 3" pitchFamily="34" charset="-122"/>
                <a:cs typeface="Source Sans 3" pitchFamily="34" charset="-120"/>
              </a:rPr>
              <a:t>"Before you heal someone, ask him if he's willing to give up the things that make him sick"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John D. — Member Protocol 2026</dc:title>
  <dc:subject>Structural template derived from Trustee reference PPTX (Drive: 1Tc_hVN7M6c2Q41151GXsvrH8OWAZ7hPL). Color theme: Navy (#1A2440/#0A0E1A) + Gold (#C9A54E) + Lavender (#E8EDF5/#C8CFE0). Fonts: Playfair Display (headers) + Source Sans 3 (body). Based on Trustee_Protocol_Template_UPDATE_1773744290526.pptx.</dc:subject>
  <dc:creator>Forgotten Formula PMA — DR. FORMULA</dc:creator>
  <cp:lastModifiedBy>Forgotten Formula PMA — DR. FORMULA</cp:lastModifiedBy>
  <cp:revision>1</cp:revision>
  <dcterms:created xsi:type="dcterms:W3CDTF">2026-03-17T11:18:12Z</dcterms:created>
  <dcterms:modified xsi:type="dcterms:W3CDTF">2026-03-17T11:18:12Z</dcterms:modified>
</cp:coreProperties>
</file>