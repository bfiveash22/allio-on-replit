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peptide-chat.abacusai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9144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FORGOTTEN FORMULA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1554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PRIVATE MEMBER ASSOCIATION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2194560"/>
            <a:ext cx="2743200" cy="0"/>
          </a:xfrm>
          <a:prstGeom prst="line">
            <a:avLst/>
          </a:prstGeom>
          <a:noFill/>
          <a:ln w="25400">
            <a:solidFill>
              <a:srgbClr val="C9A5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24688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Member Protocol  2026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0" y="31089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John D.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0" y="3566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5B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Prepared by: FF Trustee Michael Blake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43891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95B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"Before you heal someone, ask him if he's willing to give up the things that make him sick"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— Hippocrates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ABOUT OUR ASSOCIATION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Is Forgotten Formula PMA?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Forgotten Formula PMA is a Private Members Association operating at the constitutional level — providing medical freedom through natural therapies, peptide protocols, and regenerative modalities.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Supreme Court has upheld the constitutional right to private association, allowing members to access modalities and therapeutic formulations outside of conventional regulation.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2651760" cy="128016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606040"/>
            <a:ext cx="26517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2743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Constitutional Protection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0632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Operating above state-level regulation under the right to private association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91840" y="2606040"/>
            <a:ext cx="2651760" cy="128016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1" name="Shape 9"/>
          <p:cNvSpPr/>
          <p:nvPr/>
        </p:nvSpPr>
        <p:spPr>
          <a:xfrm>
            <a:off x="3291840" y="2606040"/>
            <a:ext cx="26517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2743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In-House Manufacturing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29000" y="30632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Custom peptide compounding and bioregulator formulation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26480" y="2606040"/>
            <a:ext cx="2651760" cy="128016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5" name="Shape 13"/>
          <p:cNvSpPr/>
          <p:nvPr/>
        </p:nvSpPr>
        <p:spPr>
          <a:xfrm>
            <a:off x="6126480" y="2606040"/>
            <a:ext cx="26517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2743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AI-Powered Research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30632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DR. FORMULA protocol assembly backed by published PubMed research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95B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"We hold these truths to be self-evident…" — Declaration of Independence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PROTOCOL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We'll Cover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1097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PMA Foundation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1463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Constitutional framework &amp; philosophy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09728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49240" y="1097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Root-Cause Analysis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49240" y="1463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Diagnostic methodology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96596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9659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51560" y="19659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Peptide Therapy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Injectable, oral &amp; bioregulator protocols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196596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19659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349240" y="19659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HBOT &amp; IV Systems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4924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Hyperbaric &amp; infusion therapy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283464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83464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51560" y="2834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Detoxification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51560" y="3200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Heavy metal, pathogen &amp; gut protocols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0" y="283464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283464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349240" y="2834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ECS Optimization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49240" y="3200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Endocannabinoid system support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70332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370332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51560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Diet &amp; Nutrition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51560" y="4069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Phased dietary protocol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54880" y="370332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33" name="Text 31"/>
          <p:cNvSpPr/>
          <p:nvPr/>
        </p:nvSpPr>
        <p:spPr>
          <a:xfrm>
            <a:off x="4846320" y="370332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349240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49240" y="4069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Follow-up labs &amp; milestones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PHILOSOPHY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Root-Cause Approach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"Illness is the summation of experience" — every symptom traces back to a disrupted foundation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8229600" cy="6400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6400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CarbonCycle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1840" y="155448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Environmental toxin accumulation disrupts cellular energy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8229600" cy="6400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3317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MicrobiotaShift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233172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Gut flora dysbiosis triggers systemic immune dysfunction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089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MitochondrialDrift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310896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ATP production failure leads to chronic fatigue and degeneration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862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AutoimmuneLoop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91840" y="388620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Chronic inflammation creates self-perpetuating tissue damage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95B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"The body was designed to heal itself — given the proper conditions" — Hippocrates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5 R's to Healing at FF PMA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6858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73152" cy="6858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1: REMOVE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1-3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840480" y="100584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Gentle mobilization and binding of pesticides &amp; heavy metals; initiation of bioregulator and peptide therapies for kidney and detox support.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6858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783080"/>
            <a:ext cx="73152" cy="68580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83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2: RESTORE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4-6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0" y="178308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Enhance detox capacity, restore gut/flora, support mitochondrial and renal repair, initiate anti-inflammatory regeneration.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6858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560320"/>
            <a:ext cx="73152" cy="685800"/>
          </a:xfrm>
          <a:prstGeom prst="rect">
            <a:avLst/>
          </a:prstGeom>
          <a:solidFill>
            <a:srgbClr val="C8CFE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560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CFE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3: REPLENISH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880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7-10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840480" y="256032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Nutrient/mineral repletion, further microbiota optimization, begin low-dose intermittent fasting, support cellular energy, advance organ bioregulation.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8229600" cy="6858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3337560"/>
            <a:ext cx="73152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337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4: REGENERATE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3657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11-12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Cellular and mitochondrial rejuvenation, promote nephron, vascular, and liver tissue repair, deeper autophagy, and healing.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4114800"/>
            <a:ext cx="73152" cy="6858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1148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05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5: REBALANCE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4434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13+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840480" y="411480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Long-term organ reserve stabilization, functional recovery, periodic detox, maintenance and monitoring.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DIAGNOSTIC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Three Systems of Focus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329184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26517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344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P53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Tumor Suppressor Pathways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2377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P53 gene is the body's master cancer defense. When disrupted by toxins, oxidative stress, or chronic inflammation, malignant cells escape surveillance.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3566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Key Peptides: PNC-27, FOXO4-DRI, MENK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91840" y="1097280"/>
            <a:ext cx="2651760" cy="329184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1" name="Shape 9"/>
          <p:cNvSpPr/>
          <p:nvPr/>
        </p:nvSpPr>
        <p:spPr>
          <a:xfrm>
            <a:off x="3291840" y="1097280"/>
            <a:ext cx="26517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12344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ATP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429000" y="1691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Mitochondrial Function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29000" y="2057400"/>
            <a:ext cx="2377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Mitochondria produce cellular energy. Dysfunction leads to fatigue, neurodegeneration, and metabolic collapse. Supporting ATP production is foundational.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29000" y="3566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Key Peptides: SS-31, MOTS-c, Epithalon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7280"/>
            <a:ext cx="2651760" cy="329184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7" name="Shape 15"/>
          <p:cNvSpPr/>
          <p:nvPr/>
        </p:nvSpPr>
        <p:spPr>
          <a:xfrm>
            <a:off x="6126480" y="1097280"/>
            <a:ext cx="26517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12344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ECS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263640" y="1691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Endocannabinoid System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63640" y="2057400"/>
            <a:ext cx="2377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ECS regulates pain, mood, immunity, and homeostasis. Deficiency drives chronic illness. Targeted cannabinoid ratios restore balance.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63640" y="3566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Key Compounds: CBD, CBG, CBN, THC, DMSO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PROGRAM 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90-Day Protocol + Phase 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103120" cy="36576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097280"/>
            <a:ext cx="2103120" cy="36576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1 — Foundation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Days 1–30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828800"/>
            <a:ext cx="1920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Detox IV protocol (5-step)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Begin oral peptides &amp; bioregulators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ECS suppository introduction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Dietary elimination phase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Baseline labs &amp; imaging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514600" y="1097280"/>
            <a:ext cx="2103120" cy="36576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0" name="Shape 8"/>
          <p:cNvSpPr/>
          <p:nvPr/>
        </p:nvSpPr>
        <p:spPr>
          <a:xfrm>
            <a:off x="2514600" y="1097280"/>
            <a:ext cx="210312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1" name="Text 9"/>
          <p:cNvSpPr/>
          <p:nvPr/>
        </p:nvSpPr>
        <p:spPr>
          <a:xfrm>
            <a:off x="260604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2 — Build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06040" y="155448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Days 31–60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06040" y="1828800"/>
            <a:ext cx="1920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Add injectable peptides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HBOT sessions begin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Increase cannabinoid ratios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Gut flora optimization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Nutrient repletion protocols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754880" y="1097280"/>
            <a:ext cx="2103120" cy="36576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5" name="Shape 13"/>
          <p:cNvSpPr/>
          <p:nvPr/>
        </p:nvSpPr>
        <p:spPr>
          <a:xfrm>
            <a:off x="4754880" y="1097280"/>
            <a:ext cx="2103120" cy="36576"/>
          </a:xfrm>
          <a:prstGeom prst="rect">
            <a:avLst/>
          </a:prstGeom>
          <a:solidFill>
            <a:srgbClr val="C8CFE0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CFE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3 — Optimize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Days 61–90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846320" y="1828800"/>
            <a:ext cx="1920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Full-spectrum modality stack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Advanced sirtuin/mito support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Exosome therapy if indicated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Re-assess labs &amp; markers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Transition planning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995160" y="1097280"/>
            <a:ext cx="2103120" cy="36576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95160" y="1097280"/>
            <a:ext cx="2103120" cy="3657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708660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4 — Maintain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86600" y="155448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Ongoing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086600" y="1828800"/>
            <a:ext cx="1920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Maintenance peptide cycles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Quarterly lab monitoring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Lifestyle integration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Community support access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Ongoing ECS optimization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MEMBER INTAKE — SECTION 1 OF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Personal Information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840480"/>
          </a:xfrm>
          <a:prstGeom prst="rect">
            <a:avLst>
              <a:gd name="adj" fmla="val 2381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Full Legal Name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John D.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0" y="118872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Date of Birth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0" y="1417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MM / DD / YYYY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0574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Phone Number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22860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(___) ___-____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0" y="20574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Email Address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0" y="22860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email@example.com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260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Mailing Address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1546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Rural United States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0" y="29260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Emergency Contact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0" y="31546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Name &amp; phone number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7947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Height / Weight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40233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___ft ___in / ___lbs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0" y="37947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Gender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0" y="40233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MEMBER INTAKE — SECTION 2 OF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Health History &amp; Current Conditions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840480"/>
          </a:xfrm>
          <a:prstGeom prst="rect">
            <a:avLst>
              <a:gd name="adj" fmla="val 2381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Primary Health Concern(s)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Chronic kidney disease — renal function decline, Decades of pesticide exposure from crop dusting career, Heavy metal accumulation from aerial chemical application, Declining energy and vitality, Toxin-induced organ damage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Previous Assessments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965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Chronic kidney disease, Pesticide toxicity syndrome, Heavy metal burden, Renal insufficiency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Current Medications &amp; Supplements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Kidney support medications (to be confirmed at intake)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97180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Known Allergies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31546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Medications, foods, environmental...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56616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Family History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749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Cancer, autoimmune, cardiovascular...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416052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Prior Surgeries / Procedures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List with approximate dates...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MEMBER INTAKE — SECTION 3 OF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Symptoms, Lifestyle &amp; Goals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2286000"/>
          </a:xfrm>
          <a:prstGeom prst="rect">
            <a:avLst>
              <a:gd name="adj" fmla="val 4000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515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Current Symptoms (check all that apply)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Chronic fatigue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Joint/muscle pain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Brain fog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Digestive issues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Insomnia / poor sleep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40080" y="274320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Weight gain/loss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468880" y="137160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Skin issues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468880" y="164592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Mood / anxiety / depression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468880" y="19202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Hormonal imbalance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468880" y="219456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Autoimmune flare-ups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468880" y="24688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Frequent infections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468880" y="274320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Chemical sensitivity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3931920" cy="2286000"/>
          </a:xfrm>
          <a:prstGeom prst="rect">
            <a:avLst>
              <a:gd name="adj" fmla="val 4000"/>
            </a:avLst>
          </a:prstGeom>
          <a:solidFill>
            <a:srgbClr val="243055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0515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Lifestyle &amp; Environmental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37760" y="141732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Diet Type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937760" y="158191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Standard / Keto / Paleo / Vegan...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192024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Exercise Frequency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937760" y="20848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None / 1-2x / 3-5x / Daily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937760" y="242316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Toxic Exposures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937760" y="25877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Heavy metals, Pesticides, Organophosphate pesticides (chlorpyrifos, malathion, parathion), Glyphosate (Roundup) — extensive exposure, 2,4-D herbicide, Carbamate insecticides, Pyrethroid insecticides, Fumigants and fungicides, Aviation fuel and exhaust particulates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37760" y="292608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Stress Level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937760" y="309067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Low / Moderate / High / Severe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474720"/>
            <a:ext cx="8229600" cy="1371600"/>
          </a:xfrm>
          <a:prstGeom prst="rect">
            <a:avLst>
              <a:gd name="adj" fmla="val 6667"/>
            </a:avLst>
          </a:prstGeom>
          <a:solidFill>
            <a:srgbClr val="243055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5204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Health Goals &amp; Desired Outcomes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" y="38404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What are your top health goals for this 90-day program?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716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PEPTIDE THERAPY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103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9 Custom Peptides — Injectable, Oral &amp; Bioregulator Protocols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0" y="2834640"/>
            <a:ext cx="2743200" cy="0"/>
          </a:xfrm>
          <a:prstGeom prst="line">
            <a:avLst/>
          </a:prstGeom>
          <a:noFill/>
          <a:ln w="19050">
            <a:solidFill>
              <a:srgbClr val="C9A5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31089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371600" y="3611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Injectable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31920" y="31089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931920" y="3611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Oral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92240" y="31089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492240" y="3611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Bioregulators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PEPTIDE PROTOCOLS — IMMUNE SUPPORT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Immune Surveillance &amp; Defense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749040"/>
          </a:xfrm>
          <a:prstGeom prst="rect">
            <a:avLst>
              <a:gd name="adj" fmla="val 2439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Thymosin Alpha-1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280160" y="28346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1.6mg SubQ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32004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35661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2x weekly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39319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12 weeks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754880" y="1005840"/>
            <a:ext cx="3931920" cy="3749040"/>
          </a:xfrm>
          <a:prstGeom prst="rect">
            <a:avLst>
              <a:gd name="adj" fmla="val 2439"/>
            </a:avLst>
          </a:prstGeom>
          <a:solidFill>
            <a:srgbClr val="243055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97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KPV (Anti-Inflammatory Peptide)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77840" y="28346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 capsule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84632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577840" y="32004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84632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577840" y="35661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daily morning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77840" y="39319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12 weeks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PEPTIDE PROTOCOLS — LONGEVITY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Anti-Aging &amp; Cellular Longevity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920240" cy="3749040"/>
          </a:xfrm>
          <a:prstGeom prst="rect">
            <a:avLst>
              <a:gd name="adj" fmla="val 4762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Kidney Bioregulator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28016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 capsules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3200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daily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3931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30 days, then 10 days/month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60320" y="1005840"/>
            <a:ext cx="1920240" cy="3749040"/>
          </a:xfrm>
          <a:prstGeom prst="rect">
            <a:avLst>
              <a:gd name="adj" fmla="val 4762"/>
            </a:avLst>
          </a:prstGeom>
          <a:solidFill>
            <a:srgbClr val="243055"/>
          </a:solidFill>
          <a:ln/>
        </p:spPr>
      </p:sp>
      <p:sp>
        <p:nvSpPr>
          <p:cNvPr id="16" name="Text 14"/>
          <p:cNvSpPr/>
          <p:nvPr/>
        </p:nvSpPr>
        <p:spPr>
          <a:xfrm>
            <a:off x="2651760" y="10972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Liver Bioregulator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5176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8328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 capsules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383280" y="3200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38328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daily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65176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383280" y="3931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30 days, then 10 days/month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63440" y="1005840"/>
            <a:ext cx="1920240" cy="3749040"/>
          </a:xfrm>
          <a:prstGeom prst="rect">
            <a:avLst>
              <a:gd name="adj" fmla="val 4762"/>
            </a:avLst>
          </a:prstGeom>
          <a:solidFill>
            <a:srgbClr val="243055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10972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Blood Vessel Bioregulator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5488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8640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 capsules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5488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486400" y="3200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75488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8640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daily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75488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486400" y="3931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30 days, then 10 days/month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PEPTIDE PROTOCOLS — ADDITIONAL PEPTIDES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Additional Peptide Protocols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920240" cy="3749040"/>
          </a:xfrm>
          <a:prstGeom prst="rect">
            <a:avLst>
              <a:gd name="adj" fmla="val 4762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GHK-Cu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28016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1mg SubQ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3200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daily x 12 weeks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3931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90 days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60320" y="1005840"/>
            <a:ext cx="1920240" cy="3749040"/>
          </a:xfrm>
          <a:prstGeom prst="rect">
            <a:avLst>
              <a:gd name="adj" fmla="val 4762"/>
            </a:avLst>
          </a:prstGeom>
          <a:solidFill>
            <a:srgbClr val="243055"/>
          </a:solidFill>
          <a:ln/>
        </p:spPr>
      </p:sp>
      <p:sp>
        <p:nvSpPr>
          <p:cNvPr id="16" name="Text 14"/>
          <p:cNvSpPr/>
          <p:nvPr/>
        </p:nvSpPr>
        <p:spPr>
          <a:xfrm>
            <a:off x="2651760" y="10972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BPC-157/TB-500 Blend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5176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8328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0.5mL SubQ (2.5mg each)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383280" y="3200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 (abdomen or near lower back)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38328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daily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65176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383280" y="3931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8 weeks, then 2-3x weekly x 4 weeks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63440" y="1005840"/>
            <a:ext cx="1920240" cy="3749040"/>
          </a:xfrm>
          <a:prstGeom prst="rect">
            <a:avLst>
              <a:gd name="adj" fmla="val 4762"/>
            </a:avLst>
          </a:prstGeom>
          <a:solidFill>
            <a:srgbClr val="243055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10972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BPC-157 Pure (Delayed Release)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5488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8640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 capsule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5488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486400" y="3200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75488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8640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daily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75488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486400" y="3931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12 weeks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766560" y="1005840"/>
            <a:ext cx="1920240" cy="3749040"/>
          </a:xfrm>
          <a:prstGeom prst="rect">
            <a:avLst>
              <a:gd name="adj" fmla="val 4762"/>
            </a:avLst>
          </a:prstGeom>
          <a:solidFill>
            <a:srgbClr val="243055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0" y="10972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BPC-157 Pure (Immediate Release)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58952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 capsule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85800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85800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58952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daily evening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85800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589520" y="3931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12 weeks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HBOT THERAPY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Hyperbaric Oxygen Therapy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HBOT delivers 100% oxygen under increased atmospheric pressure, driving oxygen deep into tissues, plasma, and cerebrospinal fluid. This accelerates wound healing, reduces inflammation, stimulates stem cell mobilization, and enhances mitochondrial function.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FFPMA operates its own HBOT Systems Division with medical-grade chambers available to members.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1965960" cy="10972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468880"/>
            <a:ext cx="19659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06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Neovascularization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8803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Stimulates new blood vessel growth in damaged tissues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606040" y="2468880"/>
            <a:ext cx="1965960" cy="10972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1" name="Shape 9"/>
          <p:cNvSpPr/>
          <p:nvPr/>
        </p:nvSpPr>
        <p:spPr>
          <a:xfrm>
            <a:off x="2606040" y="2468880"/>
            <a:ext cx="19659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2" name="Text 10"/>
          <p:cNvSpPr/>
          <p:nvPr/>
        </p:nvSpPr>
        <p:spPr>
          <a:xfrm>
            <a:off x="2697480" y="2606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Stem Cell Release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97480" y="28803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Up to 8x increase in circulating stem cells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754880" y="2468880"/>
            <a:ext cx="1965960" cy="10972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5" name="Shape 13"/>
          <p:cNvSpPr/>
          <p:nvPr/>
        </p:nvSpPr>
        <p:spPr>
          <a:xfrm>
            <a:off x="4754880" y="2468880"/>
            <a:ext cx="19659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2606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Anti-Inflammatory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28803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Reduces cytokine storms and systemic inflammation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03720" y="2468880"/>
            <a:ext cx="1965960" cy="10972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9" name="Shape 17"/>
          <p:cNvSpPr/>
          <p:nvPr/>
        </p:nvSpPr>
        <p:spPr>
          <a:xfrm>
            <a:off x="6903720" y="2468880"/>
            <a:ext cx="19659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20" name="Text 18"/>
          <p:cNvSpPr/>
          <p:nvPr/>
        </p:nvSpPr>
        <p:spPr>
          <a:xfrm>
            <a:off x="6995160" y="2606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Neuroprotection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95160" y="28803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Enhances brain oxygenation and cognitive recovery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FFPMA HBOT Systems Division — Contact us for availability and member pricing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HBOT SYSTEMS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Chamber Options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697480" cy="3840480"/>
          </a:xfrm>
          <a:prstGeom prst="rect">
            <a:avLst>
              <a:gd name="adj" fmla="val 3390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HE5000 Plus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Premium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Clinical-grade hard-shell chamber with full 1.5 ATA capability. Walk-in design seats 5 people. Ideal for families, clinics, and high-volume use.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1.5 ATA maximum pressure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48640" y="324612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Walk-in, 5-person capacity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Medical-grade oxygen concentrator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" y="388620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Built-in cooling system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337560" y="1005840"/>
            <a:ext cx="2697480" cy="3840480"/>
          </a:xfrm>
          <a:prstGeom prst="rect">
            <a:avLst>
              <a:gd name="adj" fmla="val 3390"/>
            </a:avLst>
          </a:prstGeom>
          <a:solidFill>
            <a:srgbClr val="243055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09728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Vitaeris 320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9000" y="14173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Standard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691640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Portable soft-shell chamber rated to 1.3 ATA. Single-person design, easy setup. Perfect for daily home use and maintenance protocols.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429000" y="292608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1.3 ATA maximum pressure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429000" y="324612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Single-person portable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356616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Easy home setup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429000" y="388620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Quiet operation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217920" y="1005840"/>
            <a:ext cx="2697480" cy="3840480"/>
          </a:xfrm>
          <a:prstGeom prst="rect">
            <a:avLst>
              <a:gd name="adj" fmla="val 3390"/>
            </a:avLst>
          </a:prstGeom>
          <a:solidFill>
            <a:srgbClr val="243055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109728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Military Grade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09360" y="14173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Professional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09360" y="1691640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Dual-person hard-shell chamber rated to 2.0 ATA. Hospital-grade construction with advanced monitoring. For clinics and serious practitioners.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309360" y="292608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2.0 ATA maximum pressure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309360" y="324612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Dual-person capacity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309360" y="356616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Hospital-grade construction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309360" y="388620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Advanced pressure monitoring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DETOXIFICATION PROTOCOLS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5-Step Detox IV Sequence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Administered sequentially in-clinic to chelate heavy metals, replenish nutrients, and support detox pathways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rgbClr val="C9A54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13716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EDTA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88720" y="1691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Chelation therapy — binds and removes lead, mercury, cadmium, arsenic from bloodstream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148840"/>
            <a:ext cx="457200" cy="457200"/>
          </a:xfrm>
          <a:prstGeom prst="ellipse">
            <a:avLst/>
          </a:prstGeom>
          <a:solidFill>
            <a:srgbClr val="C9A54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2103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Myers' Cocktail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24231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Magnesium, calcium, B-vitamins, vitamin C — replenishes minerals depleted by chelation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C9A54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2834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Glutathione Push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88720" y="3154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Master antioxidant — supports liver detox pathways, protects cells during chelation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457200" cy="457200"/>
          </a:xfrm>
          <a:prstGeom prst="ellipse">
            <a:avLst/>
          </a:prstGeom>
          <a:solidFill>
            <a:srgbClr val="C9A54E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88720" y="3566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High-Dose Vitamin 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88720" y="3886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25–75g IV — generates hydrogen peroxide in cancer cells, spares healthy tissue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C9A54E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88720" y="4297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Phosphatidylcholine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88720" y="4617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Cell membrane repair — restores lipid bilayer integrity damaged by toxins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HOME PROTOCOLS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At-Home Therapeutic Protocols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Detox Baths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Epsom salt, bentonite clay, and essential oil baths — 3x per week for lymphatic drainage and toxin elimination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09728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097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Castor Oil Packs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13716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Apply to liver area 30–60 min, 3–4x/week to stimulate lymphatic flow and reduce inflammation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10312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Coffee Enemas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23774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Organic coffee retention enemas for glutathione production and bile duct cleansing — per protocol schedule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54880" y="210312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10312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Nebulization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23774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Colloidal silver, glutathione, or hydrogen peroxide nebulization for respiratory and immune support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310896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Red Light Therapy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3383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NIR/red light panel sessions for mitochondrial support, wound healing, and inflammation reduction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54880" y="310896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5" name="Shape 23"/>
          <p:cNvSpPr/>
          <p:nvPr/>
        </p:nvSpPr>
        <p:spPr>
          <a:xfrm>
            <a:off x="4754880" y="310896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26" name="Text 24"/>
          <p:cNvSpPr/>
          <p:nvPr/>
        </p:nvSpPr>
        <p:spPr>
          <a:xfrm>
            <a:off x="493776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Grounding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0" y="3383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Barefoot earthing 20+ min/day for inflammation reduction and circadian rhythm regulation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CRITICAL PREREQUISITE — BIOLOGICAL DENTISTRY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Dental Dangers &amp; Disease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"Fix the roof before it rains — amalgam, cavitations, and root canals are silent drivers of systemic disease"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100584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Mercury Amalgam Fillings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Each amalgam filling contains ~50% mercury — a potent neurotoxin. Mercury vapor is released 24/7, accumulating in brain, kidneys, and gut. Safe removal by IAOMT-certified dentist required.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8229600" cy="100584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7432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Root Canals &amp; Cavitations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Dead teeth harbor anaerobic bacteria that produce potent toxins (thioethers). These drain into the bloodstream, contributing to autoimmune disease, cancer, and chronic inflammation.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8229600" cy="100584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 w="19050">
            <a:solidFill>
              <a:srgbClr val="C9A5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Galvanic Currents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4251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Mixed metals in the mouth create battery-like electrical currents that disrupt the nervous system and accelerate mercury release from amalgam fillings.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Dietary Protocol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731520"/>
            <a:ext cx="54864" cy="118872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772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Elimination/Detox (Weeks 1-2)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Remove nephrotoxic foods, pesticides, and inflammatory triggers; support bowel/renal elimination.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6282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Eliminate: Processed, packaged, or preserved foods, Conventional grains, Glyphosate/chemical-exposed produce and animal products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Emphasize: Low-oxalate, organic leafy greens, cruciferous, clean proteins, low-glycemic berries, Liver/kidney-supportive teas (dandelion, nettle, ginger)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011680"/>
            <a:ext cx="54864" cy="118872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5740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Restore/Repair (Weeks 3-6)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GI/microbiome rehab, gut barrier healing, high plant phytonutrient density.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6282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Eliminate: Refined grains/sugars, excessive sodium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Emphasize: Fermented/probiotic foods, Broth-based soups, bitter greens, Sufficient healthy fats (MCT/olive/avocado)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1887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3756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Replenish (Weeks 7-10)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Micronutrient repletion, intermittent fasting introduction, further organ support.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6282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Eliminate: Snacking between meals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Emphasize: Mineral-rich vegetable stews, bone broth, low-carb fruit, moderate 16:8 fasting (skip breakfast or dinner as individually tolerated)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57200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4572000"/>
            <a:ext cx="54864" cy="1188720"/>
          </a:xfrm>
          <a:prstGeom prst="rect">
            <a:avLst/>
          </a:prstGeom>
          <a:solidFill>
            <a:srgbClr val="1A244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6177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Regenerate (Weeks 11-12)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Cellular repair, further detox, and autophagy support.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6282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Eliminate: Fasting mimicking diet 2 days/week as tolerated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Emphasize: Extra-virgin olive oil, crucifers, sulfurous vegetables, high-phytonutrient colors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85216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5852160"/>
            <a:ext cx="54864" cy="1188720"/>
          </a:xfrm>
          <a:prstGeom prst="rect">
            <a:avLst/>
          </a:prstGeom>
          <a:solidFill>
            <a:srgbClr val="1A244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89788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Rebalance/Maintenance (Weeks 13+)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Anti-inflammatory, periodic fasting, seasonal detox, functional stabilization.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6282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Eliminate: All non-organic foods, persistent toxic exposures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Emphasize: Grow or source real food locally as much as possible, sustain hydration, adjust macros for age and kidney function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713232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080" y="71780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Intermittent Fasting: Start 14:10, progress to 16:8 as energy permits </a:t>
            </a:r>
            <a:pPr indent="0" marL="0">
              <a:buNone/>
            </a:pPr>
            <a:r>
              <a:rPr lang="en-US" sz="9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— Eating window 9AM-7PM, restrict snacking (Insulin sensitivity, repair, autophagy support (without undue renal stress))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ADVANCED MODALITIES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Additional Therapeutic Stack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Liposomal Supplements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0" y="10972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Liposomal Glutathione, Liposomal Curcumin+6 Nano, Liposomal Vitamin D + K2, Astaxanthin w/ Vitamin C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09728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097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Nebulization Protocols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138160" y="10972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3716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Nebulized Glutathione, Nebulized Hydrogen Peroxide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210312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103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Topical Protocols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40480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23774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DMSO Extended Recovery Cooling Lotion, Kaneh Bosem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754880" y="210312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210312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103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Lifestyle Modifications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138160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37760" y="23774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Hydration, Sleep, Movement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10896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310896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1089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Dietary Guidelines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840480" y="3108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10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3383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Eliminate all processed foods, additives, refined sugars, commercial/fried oils,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6459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MITOCHONDRIAL &amp; SIRTUIN SUPPORT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2377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NAD+, GlyNAC, MitoSTAC Complex, Methylation, Cellular Energy Restoration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Sirtuin &amp; Mitochondrial Stack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73152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8229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308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MitoSTAC Complex (Sirtuin Activation)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Resveratrol: 100mg AM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Pterostilbene: 100mg AM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Quercetin: 250mg AM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Fisetin: 150mg AM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754880" y="73152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937760" y="8229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308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NAD+ &amp; GlyNAC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NMN: 250mg — daily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GlyNAC Protocol: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Glycine: 1000mg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NAC: 600mg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 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560320"/>
            <a:ext cx="85953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6060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308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Mitochondrial Support Stack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CoQ10/Ubiquinol: 200mg AM — Kidney and mitochondrial ETC protection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PQQ: 20mg AM — Mitochondrial biogenesis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D-Ribose: 5g PM — Cellular ATP restoration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L-Carnitine: 1000mg AM — Fatty acid oxidation, reduced kidney injury risk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402336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4069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308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Methylation Support: </a:t>
            </a:r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Methyl B12 1000mcg IM weekly | Folate (Active) 800mcg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MITOCHONDRIAL PATHWAY 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MitoSTAC Activation Cascade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Input Compounds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123444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Oral / IV / Suppository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0" y="1554480"/>
            <a:ext cx="2286000" cy="50292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5544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NMN / NR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78308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NAD+ precursors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74320" y="2148840"/>
            <a:ext cx="2286000" cy="50292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1488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Resveratrol + Quercetin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237744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STAC activators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2743200"/>
            <a:ext cx="2286000" cy="50292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7432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CoQ10 + PQQ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9718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ETC cofactors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74320" y="3337560"/>
            <a:ext cx="2286000" cy="50292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337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ALA + Glutathione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356616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Antioxidant shield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274320" y="3931920"/>
            <a:ext cx="2286000" cy="50292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931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Fisetin + Curcumin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1605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Senolytic + NF-kB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651760" y="1737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A54E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651760" y="2331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A54E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651760" y="2926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A54E"/>
                </a:solidFill>
              </a:rPr>
              <a:t>→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00400" y="10058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Cellular Targets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0" y="1554480"/>
            <a:ext cx="2286000" cy="548640"/>
          </a:xfrm>
          <a:prstGeom prst="rect">
            <a:avLst>
              <a:gd name="adj" fmla="val 8333"/>
            </a:avLst>
          </a:prstGeom>
          <a:solidFill>
            <a:srgbClr val="243055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5544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NAD+ Pool ↑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91840" y="18288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Sirtuin activation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200400" y="2240280"/>
            <a:ext cx="2286000" cy="548640"/>
          </a:xfrm>
          <a:prstGeom prst="rect">
            <a:avLst>
              <a:gd name="adj" fmla="val 8333"/>
            </a:avLst>
          </a:prstGeom>
          <a:solidFill>
            <a:srgbClr val="243055"/>
          </a:solidFill>
          <a:ln/>
        </p:spPr>
      </p:sp>
      <p:sp>
        <p:nvSpPr>
          <p:cNvPr id="30" name="Text 28"/>
          <p:cNvSpPr/>
          <p:nvPr/>
        </p:nvSpPr>
        <p:spPr>
          <a:xfrm>
            <a:off x="3291840" y="22402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ETC Efficiency ↑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291840" y="25146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ATP production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200400" y="2926080"/>
            <a:ext cx="2286000" cy="548640"/>
          </a:xfrm>
          <a:prstGeom prst="rect">
            <a:avLst>
              <a:gd name="adj" fmla="val 8333"/>
            </a:avLst>
          </a:prstGeom>
          <a:solidFill>
            <a:srgbClr val="243055"/>
          </a:solidFill>
          <a:ln/>
        </p:spPr>
      </p:sp>
      <p:sp>
        <p:nvSpPr>
          <p:cNvPr id="33" name="Text 31"/>
          <p:cNvSpPr/>
          <p:nvPr/>
        </p:nvSpPr>
        <p:spPr>
          <a:xfrm>
            <a:off x="3291840" y="2926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Senescent Cell ↓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91840" y="32004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Zombie cell clearance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200400" y="3611880"/>
            <a:ext cx="2286000" cy="548640"/>
          </a:xfrm>
          <a:prstGeom prst="rect">
            <a:avLst>
              <a:gd name="adj" fmla="val 8333"/>
            </a:avLst>
          </a:prstGeom>
          <a:solidFill>
            <a:srgbClr val="243055"/>
          </a:solidFill>
          <a:ln/>
        </p:spPr>
      </p:sp>
      <p:sp>
        <p:nvSpPr>
          <p:cNvPr id="36" name="Text 34"/>
          <p:cNvSpPr/>
          <p:nvPr/>
        </p:nvSpPr>
        <p:spPr>
          <a:xfrm>
            <a:off x="3291840" y="3611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Inflammation ↓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91840" y="38862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NF-kB suppression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17920" y="10058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Outcomes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1371600"/>
            <a:ext cx="2560320" cy="3200400"/>
          </a:xfrm>
          <a:prstGeom prst="rect">
            <a:avLst>
              <a:gd name="adj" fmla="val 3571"/>
            </a:avLst>
          </a:prstGeom>
          <a:solidFill>
            <a:srgbClr val="243055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0" y="15544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↑ Cellular energy (ATP)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00800" y="21031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↑ DNA repair capacity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400800" y="26517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↓ Oxidative stress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0800" y="3200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↓ Biological age markers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00800" y="37490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↑ Telomere maintenance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CANNABINOID LIGAND PATHWAY 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Endocannabinoid System &amp; Ligand Pathways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Source: Cannabinoid Ligand Pathway Research (FFPMA Drive) — CB1/CB2 receptor signaling cascade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114800" cy="3200400"/>
          </a:xfrm>
          <a:prstGeom prst="rect">
            <a:avLst>
              <a:gd name="adj" fmla="val 2857"/>
            </a:avLst>
          </a:prstGeom>
          <a:solidFill>
            <a:srgbClr val="243055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716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CB1 Receptors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Brain, CNS, Nervous System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20116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Pain modulation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Mood &amp; anxiety regulation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27432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Appetite control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Memory &amp; cognition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0" y="1280160"/>
            <a:ext cx="4114800" cy="3200400"/>
          </a:xfrm>
          <a:prstGeom prst="rect">
            <a:avLst>
              <a:gd name="adj" fmla="val 2857"/>
            </a:avLst>
          </a:prstGeom>
          <a:solidFill>
            <a:srgbClr val="243055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3716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CB2 Receptors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83480" y="169164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Immune System, Periphery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83480" y="20116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Immune modulation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83480" y="2377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Anti-inflammatory signaling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83480" y="27432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Bone density regulation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83480" y="31089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Gut barrier integrity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Robust modulation of endocannabinoid system for kidney protection, systemic inflammation reduction, neuroprotection and 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PROTOCOL BUILDER — MODALITY SELECTION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Build Your Custom Protocol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Select all modalities and products for this member's program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114800" cy="1737360"/>
          </a:xfrm>
          <a:prstGeom prst="rect">
            <a:avLst>
              <a:gd name="adj" fmla="val 5263"/>
            </a:avLst>
          </a:prstGeom>
          <a:solidFill>
            <a:srgbClr val="243055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716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Peptide Selection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☑ GHK-Cu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4360" y="1892808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☑ BPC-157/TB-500 Blend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" y="2093976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☑ Thymosin Alpha-1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2295144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☑ BPC-157 Pure (Delayed Release)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4360" y="2496312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☑ BPC-157 Pure (Immediate Release)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" y="269748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☑ KPV (Anti-Inflammatory Peptide)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846320" y="1280160"/>
            <a:ext cx="4114800" cy="1737360"/>
          </a:xfrm>
          <a:prstGeom prst="rect">
            <a:avLst>
              <a:gd name="adj" fmla="val 5263"/>
            </a:avLst>
          </a:prstGeom>
          <a:solidFill>
            <a:srgbClr val="243055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3716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HBOT Chamber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83480" y="169164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HE5000 Plus (1.5 ATA)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83480" y="1892808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Vitaeris 320 (1.3 ATA)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83480" y="2093976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Military Grade (2.0 ATA)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3200400"/>
            <a:ext cx="4114800" cy="1737360"/>
          </a:xfrm>
          <a:prstGeom prst="rect">
            <a:avLst>
              <a:gd name="adj" fmla="val 5263"/>
            </a:avLst>
          </a:prstGeom>
          <a:solidFill>
            <a:srgbClr val="243055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29184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IV Protocols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361188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EDTA Chelation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94360" y="3813048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Myers' Cocktail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94360" y="4014216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Glutathione Push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94360" y="4215384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High-Dose Vit C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94360" y="4416552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Phosphatidylcholine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846320" y="3200400"/>
            <a:ext cx="4114800" cy="1737360"/>
          </a:xfrm>
          <a:prstGeom prst="rect">
            <a:avLst>
              <a:gd name="adj" fmla="val 5263"/>
            </a:avLst>
          </a:prstGeom>
          <a:solidFill>
            <a:srgbClr val="243055"/>
          </a:solidFill>
          <a:ln/>
        </p:spPr>
      </p:sp>
      <p:sp>
        <p:nvSpPr>
          <p:cNvPr id="27" name="Text 25"/>
          <p:cNvSpPr/>
          <p:nvPr/>
        </p:nvSpPr>
        <p:spPr>
          <a:xfrm>
            <a:off x="4983480" y="329184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Additional Modalities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83480" y="361188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Detox Bath Protocol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983480" y="3813048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Biological Dentistry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983480" y="4014216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5-Day Fast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983480" y="4215384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Cannabinoid Pathway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983480" y="4416552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MitoSTAC Stack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Daily Schedule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965960" cy="32004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MORNING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280160"/>
            <a:ext cx="18745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Filtered water + French Celtic Salt — 16oz, add 1/8 tsp salt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Bio-Vitamin All-in-One Micronized Liquid — 1 tbsp with breakfast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Adaptogen Greens w/ Digestive Enzymes — 1 scoop in water or smoothie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5-Amino-1MQ Oral — 1 capsule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KPV (Anti-Inflammatory Peptide) Oral — 1 capsule on empty stomach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BPC-157 Pure (Delayed Release) — 1 capsule with 16oz water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GlyNAC stack (Glycine + NAC) — Glycine 1000mg + NAC 600mg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MitoSTAC — 1 capsule (resveratrol, pterostilbene, quercetin, fisetin)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0" y="914400"/>
            <a:ext cx="1965960" cy="32004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8" name="Text 6"/>
          <p:cNvSpPr/>
          <p:nvPr/>
        </p:nvSpPr>
        <p:spPr>
          <a:xfrm>
            <a:off x="2560320" y="91440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MIDDAY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0" y="123444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06040" y="1280160"/>
            <a:ext cx="18745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Filtered water with Trace Mineral Concentrate — 16oz, 20 drops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Complete REDS — 1 scoop in filtered water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Liposomal Curcumin+6 Nano — 1 tbsp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Liposomal Selenium + Magnesium &amp; Zinc — 1 tbsp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Kidney Bioregulator — 2 capsules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Liver Bioregulator — 2 capsules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Blood Vessel Bioregulator — 2 capsules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663440" y="914400"/>
            <a:ext cx="1965960" cy="320040"/>
          </a:xfrm>
          <a:prstGeom prst="rect">
            <a:avLst/>
          </a:prstGeom>
          <a:solidFill>
            <a:srgbClr val="1A2440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91440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EVENING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09160" y="1280160"/>
            <a:ext cx="18745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Filtered water + FF Trace Mineral Concentrate — 16oz, 20 drops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Complete REDS — 1 scoop in filtered water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Gut Feeling (Vegan GI Formula) — 1 scoop in 8-12oz water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BPC-157 Pure (Immediate Release) — 1 capsule on empty stomach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Probiotic (100B+ CFU) — 1 capsule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Elixir for Everything with C60 — 0.5ml sublingual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766560" y="914400"/>
            <a:ext cx="1965960" cy="32004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91440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BEDTIME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66560" y="123444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12280" y="1280160"/>
            <a:ext cx="18745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PinealPep — 1 capsule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Liposomal Vitamin D + K2 — 1 tbsp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Astaxanthin w/ Vitamin C Liposomal — 1 tbsp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ECS Suppository (Nighttime Formula) — Insert rectally after bowel movement, lying for 20 minutes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PROGRAM TIMELINE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90-Day Schedule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103120" cy="3840480"/>
          </a:xfrm>
          <a:prstGeom prst="rect">
            <a:avLst>
              <a:gd name="adj" fmla="val 4348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97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Weeks 1–4: Foundation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1: Intake + labs + detox bath begins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2: First IV sequence + immune peptides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28346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3: 5-day fast (supervised)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34747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4: Liver cleanse + HBOT starts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468880" y="1005840"/>
            <a:ext cx="2103120" cy="3840480"/>
          </a:xfrm>
          <a:prstGeom prst="rect">
            <a:avLst>
              <a:gd name="adj" fmla="val 4348"/>
            </a:avLst>
          </a:prstGeom>
          <a:solidFill>
            <a:srgbClr val="243055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1097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Weeks 5–8: Rebuild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60320" y="1554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5: Full peptide stack active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560320" y="21945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6: Daily HBOT sessions begin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560320" y="28346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7: Mid-protocol labs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560320" y="34747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8: Bioregulator cycle starts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103120" cy="3840480"/>
          </a:xfrm>
          <a:prstGeom prst="rect">
            <a:avLst>
              <a:gd name="adj" fmla="val 4348"/>
            </a:avLst>
          </a:prstGeom>
          <a:solidFill>
            <a:srgbClr val="243055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1097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Weeks 9–12: Optimize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0" y="1554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9: Advanced modalities introduced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54880" y="21945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10: MitoSTAC activation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28346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11: Cannabinoid pathway tuning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34747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12: Final labs + protocol review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858000" y="1005840"/>
            <a:ext cx="2103120" cy="3840480"/>
          </a:xfrm>
          <a:prstGeom prst="rect">
            <a:avLst>
              <a:gd name="adj" fmla="val 4348"/>
            </a:avLst>
          </a:prstGeom>
          <a:solidFill>
            <a:srgbClr val="243055"/>
          </a:solidFill>
          <a:ln/>
        </p:spPr>
      </p:sp>
      <p:sp>
        <p:nvSpPr>
          <p:cNvPr id="24" name="Text 22"/>
          <p:cNvSpPr/>
          <p:nvPr/>
        </p:nvSpPr>
        <p:spPr>
          <a:xfrm>
            <a:off x="6949440" y="1097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4: Maintain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49440" y="1554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Monthly HBOT maintenance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949440" y="21945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Quarterly lab monitoring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949440" y="28346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Bioregulator cycling continues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949440" y="34747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Lifestyle protocol maintenance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MONITORING &amp; FOLLOW-UP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Progress Tracking &amp; Lab Schedule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2560320"/>
          </a:xfrm>
          <a:prstGeom prst="rect">
            <a:avLst>
              <a:gd name="adj" fmla="val 3571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515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Lab Work Schedule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Baseline Labs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14173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17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CBC, CMP, thyroid panel, hormone panel, inflammatory markers (CRP, ESR), heavy metals, mycotoxins, vitamin D, B12, folate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40080" y="19202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Mid-Protocol Labs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19202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17520" y="19202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Repeat inflammatory markers, metabolic panel, hormone re-check, liver enzymes, kidney function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Final Labs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242316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017520" y="24231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Full repeat of baseline panel, before/after comparison, P53 markers, telomere length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640080" y="29260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Maintenance Labs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29260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Quarterly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017520" y="29260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Inflammatory markers, metabolic panel, vitamin levels, hormone panel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57200" y="3749040"/>
            <a:ext cx="8229600" cy="1097280"/>
          </a:xfrm>
          <a:prstGeom prst="rect">
            <a:avLst>
              <a:gd name="adj" fmla="val 8333"/>
            </a:avLst>
          </a:prstGeom>
          <a:solidFill>
            <a:srgbClr val="24305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7947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Follow-Up Schedule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11480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[object Object]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40080" y="429768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[object Object]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448056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[object Object]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" y="466344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[object Object]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AI RESEARCH TOOL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Peptide Chat — AI Assistant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46304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Access our custom AI research assistant trained on thousands of peptide studies, clinical trials, and mechanism-of-action papers.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Ask questions about any peptide in your protocol — interactions, dosing rationale, mechanism of action, supporting research.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2834640"/>
            <a:ext cx="7315200" cy="36576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834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"What is the mechanism of PNC-27 against pancreatic cancer?"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3291840"/>
            <a:ext cx="7315200" cy="36576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2918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"Can LL-37 and KPV be taken simultaneously?"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14400" y="3749040"/>
            <a:ext cx="7315200" cy="36576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7490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"Show me clinical trials for Epithalon and telomere extension"</a:t>
            </a:r>
            <a:endParaRPr lang="en-US" sz="900" dirty="0"/>
          </a:p>
        </p:txBody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274320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 Peptide Chat →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Research Backing Our Protocols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Moringa Health Benefits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Comprehensive overview of moringa's anti-inflammatory, antioxidant, and immune-supporting properties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https://ensosuperfoods.com/blogs/supergreens/moringa-health-benefits-for-women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Chlorella Benefits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Heavy metal detox, immune support, and nutrient density — why chlorella is in your protocol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https://www.healthline.com/nutrition/benefits-of-chlorella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Marine Phytoplankton Benefits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How marine phytoplankton provides bioavailable nutrition at the cellular level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https://flexhealthandwellness.com/blogs/blog/marine-phytoplankton-improves-human-health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Sirtuins and Atherosclerosis Reduction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Peer-reviewed research on how sirtuin activation reduces atherosclerosis — the science behind our NAD+ protocols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https://www.ahajournals.org/doi/10.1161/CIRCRESAHA.118.312498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DMSO IV for Plaque Reduction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How DMSO IV therapy supports plaque reduction and cardiovascular health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https://www.lifeextension.com/magazine/2007/7/cover_dmso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Hydrogen Peroxide for Clogged Arteries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How hydrogen peroxide therapy supports arterial clearance and cardiovascular function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https://rmcgeorgia.com/how-hydrogen-peroxide-helps-clear-clogged-arteries/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Mercury Toxicity from Dental Amalgam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Scientific evidence linking mercury amalgam fillings to systemic toxicity and chronic health conditions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https://www.ncbi.nlm.nih.gov/pmc/articles/PMC3388771/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Endocannabinoid System and Immune Regulation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How the ECS modulates immune response — the science behind our CBD/CBG protocols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https://www.ncbi.nlm.nih.gov/pmc/articles/PMC7023045/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Iodine Deficiency and Thyroid/Cancer Connection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Relationship between iodine deficiency, thyroid dysfunction, and cancer risk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https://www.ncbi.nlm.nih.gov/pmc/articles/PMC3752513/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Gut Microbiome and Systemic Health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How gut dysbiosis drives systemic inflammation and chronic disease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https://www.ncbi.nlm.nih.gov/pmc/articles/PMC7510518/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LIBRARY &amp; RESOURCES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Protocol Library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All books, research documents, schedules, and protocol guides in one place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931920" cy="3200400"/>
          </a:xfrm>
          <a:prstGeom prst="rect">
            <a:avLst>
              <a:gd name="adj" fmla="val 2857"/>
            </a:avLst>
          </a:prstGeom>
          <a:solidFill>
            <a:srgbClr val="24305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Recommended Reading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Rapid Virus Recovery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Essential reading on breaking up biofilm with nebulization and high-dose vitamin C therapy for viral recovery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Dental Dangers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Please read over Dental Dangers as amalgam issues and periodontal problems can significantly hurt longevity goals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Iodine Crisis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8346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Critical reading on the relationship between selenium, iodine, and cancer rise in the U.S.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One Minute Restore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2918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Hydrogen peroxide therapy overview and its applications for supporting the body's natural healing processes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Cymatics: A Study of Wave Phenomena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749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Foundation text for frequency-based healing modalities — understanding how sound and vibration affect cellular health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Toxic Dentistry Exposed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42062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Understanding how mercury amalgam fillings and root canals create systemic toxicity that undermines your healing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754880" y="1280160"/>
            <a:ext cx="3931920" cy="3200400"/>
          </a:xfrm>
          <a:prstGeom prst="rect">
            <a:avLst>
              <a:gd name="adj" fmla="val 2857"/>
            </a:avLst>
          </a:prstGeom>
          <a:solidFill>
            <a:srgbClr val="243055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Drive Resources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17373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Protocol documents, research papers, and guides will be shared via Google Drive after onboarding.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PROTOCOL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Custom Protocol — At a Glance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Member Name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1752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John D.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Start Date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17520" y="1645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2026-03-15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94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Selected Peptides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21945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GHK-Cu, BPC-157/TB-500 Blend, Thymosin Alpha-1, BPC-157 Pure (Delayed Release), BPC-157 Pure (Immediate Release), KPV (Anti-Inflammatory Peptide)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Duration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17520" y="2743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90 days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291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Key Modalities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17520" y="3291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IV Therapy, IM Injections, ECS Optimization, Sirtuin/Mito Support, HBOT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840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Dietary Focus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017520" y="3840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Elimination/Detox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0972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Healing Begins Here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root-cause approach to regeneration — customized for your body, backed by science, protected by constitutional right.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0" y="2651760"/>
            <a:ext cx="2743200" cy="0"/>
          </a:xfrm>
          <a:prstGeom prst="line">
            <a:avLst/>
          </a:prstGeom>
          <a:noFill/>
          <a:ln w="19050">
            <a:solidFill>
              <a:srgbClr val="C9A5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017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Contact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forgottenformulapma.com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0" y="3017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0" y="32918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peptide-chat.abacusai.app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0" y="3017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HBOT Systems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0" y="32918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FFPMA Division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71600" y="41148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95B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"Before you heal someone, ask him if he's willing to give up the things that make him sick"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— Hippocrates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0" y="4663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Confidential — Private Members Association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John D. — Member Protocol 2026</dc:title>
  <dc:subject>Structural template derived from Trustee FINAL reference PPTX (Drive: 1Tc_hVN7M6c2Q41151GXsvrH8OWAZ7hPL). Color theme: Navy (#1A2440/#0A0E1A) + Gold (#C9A54E) + Lavender (#E8EDF5/#C8CFE0). Fonts: Playfair Display (headers) + Source Sans 3 (body). Based on Trustee_FFPMA_Protocol_Final_Template_1773763070654.pptx. 34-slide structure.</dc:subject>
  <dc:creator>Forgotten Formula PMA — DR. FORMULA</dc:creator>
  <cp:lastModifiedBy>Forgotten Formula PMA — DR. FORMULA</cp:lastModifiedBy>
  <cp:revision>1</cp:revision>
  <dcterms:created xsi:type="dcterms:W3CDTF">2026-03-19T03:44:24Z</dcterms:created>
  <dcterms:modified xsi:type="dcterms:W3CDTF">2026-03-19T03:44:24Z</dcterms:modified>
</cp:coreProperties>
</file>