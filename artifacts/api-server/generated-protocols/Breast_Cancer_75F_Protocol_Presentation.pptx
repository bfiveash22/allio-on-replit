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www.forgottenformula.com/shop"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54E"/>
          </a:solidFill>
          <a:ln/>
        </p:spPr>
      </p:sp>
      <p:sp>
        <p:nvSpPr>
          <p:cNvPr id="3" name="Shape 1"/>
          <p:cNvSpPr/>
          <p:nvPr/>
        </p:nvSpPr>
        <p:spPr>
          <a:xfrm>
            <a:off x="0" y="5088636"/>
            <a:ext cx="9144000" cy="54864"/>
          </a:xfrm>
          <a:prstGeom prst="rect">
            <a:avLst/>
          </a:prstGeom>
          <a:solidFill>
            <a:srgbClr val="C9A54E"/>
          </a:solidFill>
          <a:ln/>
        </p:spPr>
      </p:sp>
      <p:sp>
        <p:nvSpPr>
          <p:cNvPr id="4" name="Text 2"/>
          <p:cNvSpPr/>
          <p:nvPr/>
        </p:nvSpPr>
        <p:spPr>
          <a:xfrm>
            <a:off x="0" y="914400"/>
            <a:ext cx="9144000" cy="731520"/>
          </a:xfrm>
          <a:prstGeom prst="rect">
            <a:avLst/>
          </a:prstGeom>
          <a:noFill/>
          <a:ln/>
        </p:spPr>
        <p:txBody>
          <a:bodyPr wrap="square" rtlCol="0" anchor="ctr"/>
          <a:lstStyle/>
          <a:p>
            <a:pPr algn="ctr" indent="0" marL="0">
              <a:buNone/>
            </a:pPr>
            <a:r>
              <a:rPr lang="en-US" sz="3600" b="1" dirty="0">
                <a:solidFill>
                  <a:srgbClr val="FFFFFF"/>
                </a:solidFill>
                <a:latin typeface="Playfair Display" pitchFamily="34" charset="0"/>
                <a:ea typeface="Playfair Display" pitchFamily="34" charset="-122"/>
                <a:cs typeface="Playfair Display" pitchFamily="34" charset="-120"/>
              </a:rPr>
              <a:t>FORGOTTEN FORMULA</a:t>
            </a:r>
            <a:endParaRPr lang="en-US" sz="3600" dirty="0"/>
          </a:p>
        </p:txBody>
      </p:sp>
      <p:sp>
        <p:nvSpPr>
          <p:cNvPr id="5" name="Text 3"/>
          <p:cNvSpPr/>
          <p:nvPr/>
        </p:nvSpPr>
        <p:spPr>
          <a:xfrm>
            <a:off x="0" y="1554480"/>
            <a:ext cx="9144000" cy="457200"/>
          </a:xfrm>
          <a:prstGeom prst="rect">
            <a:avLst/>
          </a:prstGeom>
          <a:noFill/>
          <a:ln/>
        </p:spPr>
        <p:txBody>
          <a:bodyPr wrap="square" rtlCol="0" anchor="ctr"/>
          <a:lstStyle/>
          <a:p>
            <a:pPr algn="ctr" indent="0" marL="0">
              <a:buNone/>
            </a:pPr>
            <a:r>
              <a:rPr lang="en-US" sz="1400" dirty="0">
                <a:solidFill>
                  <a:srgbClr val="C9A54E"/>
                </a:solidFill>
                <a:latin typeface="Source Sans 3" pitchFamily="34" charset="0"/>
                <a:ea typeface="Source Sans 3" pitchFamily="34" charset="-122"/>
                <a:cs typeface="Source Sans 3" pitchFamily="34" charset="-120"/>
              </a:rPr>
              <a:t>PRIVATE MEMBER ASSOCIATION</a:t>
            </a:r>
            <a:endParaRPr lang="en-US" sz="1400" dirty="0"/>
          </a:p>
        </p:txBody>
      </p:sp>
      <p:sp>
        <p:nvSpPr>
          <p:cNvPr id="6" name="Shape 4"/>
          <p:cNvSpPr/>
          <p:nvPr/>
        </p:nvSpPr>
        <p:spPr>
          <a:xfrm>
            <a:off x="3200400" y="2194560"/>
            <a:ext cx="2743200" cy="0"/>
          </a:xfrm>
          <a:prstGeom prst="line">
            <a:avLst/>
          </a:prstGeom>
          <a:noFill/>
          <a:ln w="25400">
            <a:solidFill>
              <a:srgbClr val="C9A54E"/>
            </a:solidFill>
            <a:prstDash val="solid"/>
          </a:ln>
        </p:spPr>
      </p:sp>
      <p:sp>
        <p:nvSpPr>
          <p:cNvPr id="7" name="Text 5"/>
          <p:cNvSpPr/>
          <p:nvPr/>
        </p:nvSpPr>
        <p:spPr>
          <a:xfrm>
            <a:off x="0" y="2468880"/>
            <a:ext cx="9144000" cy="640080"/>
          </a:xfrm>
          <a:prstGeom prst="rect">
            <a:avLst/>
          </a:prstGeom>
          <a:noFill/>
          <a:ln/>
        </p:spPr>
        <p:txBody>
          <a:bodyPr wrap="square" rtlCol="0" anchor="ctr"/>
          <a:lstStyle/>
          <a:p>
            <a:pPr algn="ctr" indent="0" marL="0">
              <a:buNone/>
            </a:pPr>
            <a:r>
              <a:rPr lang="en-US" sz="2800" dirty="0">
                <a:solidFill>
                  <a:srgbClr val="C9A54E"/>
                </a:solidFill>
                <a:latin typeface="Playfair Display" pitchFamily="34" charset="0"/>
                <a:ea typeface="Playfair Display" pitchFamily="34" charset="-122"/>
                <a:cs typeface="Playfair Display" pitchFamily="34" charset="-120"/>
              </a:rPr>
              <a:t>Member Protocol  2026</a:t>
            </a:r>
            <a:endParaRPr lang="en-US" sz="2800" dirty="0"/>
          </a:p>
        </p:txBody>
      </p:sp>
      <p:sp>
        <p:nvSpPr>
          <p:cNvPr id="8" name="Text 6"/>
          <p:cNvSpPr/>
          <p:nvPr/>
        </p:nvSpPr>
        <p:spPr>
          <a:xfrm>
            <a:off x="0" y="3108960"/>
            <a:ext cx="9144000" cy="457200"/>
          </a:xfrm>
          <a:prstGeom prst="rect">
            <a:avLst/>
          </a:prstGeom>
          <a:noFill/>
          <a:ln/>
        </p:spPr>
        <p:txBody>
          <a:bodyPr wrap="square" rtlCol="0" anchor="ctr"/>
          <a:lstStyle/>
          <a:p>
            <a:pPr algn="ctr" indent="0" marL="0">
              <a:buNone/>
            </a:pPr>
            <a:r>
              <a:rPr lang="en-US" sz="2000" dirty="0">
                <a:solidFill>
                  <a:srgbClr val="C8CFE0"/>
                </a:solidFill>
                <a:latin typeface="Source Sans 3" pitchFamily="34" charset="0"/>
                <a:ea typeface="Source Sans 3" pitchFamily="34" charset="-122"/>
                <a:cs typeface="Source Sans 3" pitchFamily="34" charset="-120"/>
              </a:rPr>
              <a:t>Margaret R.</a:t>
            </a:r>
            <a:endParaRPr lang="en-US" sz="2000" dirty="0"/>
          </a:p>
        </p:txBody>
      </p:sp>
      <p:sp>
        <p:nvSpPr>
          <p:cNvPr id="9" name="Text 7"/>
          <p:cNvSpPr/>
          <p:nvPr/>
        </p:nvSpPr>
        <p:spPr>
          <a:xfrm>
            <a:off x="0" y="3566160"/>
            <a:ext cx="9144000" cy="365760"/>
          </a:xfrm>
          <a:prstGeom prst="rect">
            <a:avLst/>
          </a:prstGeom>
          <a:noFill/>
          <a:ln/>
        </p:spPr>
        <p:txBody>
          <a:bodyPr wrap="square" rtlCol="0" anchor="ctr"/>
          <a:lstStyle/>
          <a:p>
            <a:pPr algn="ctr" indent="0" marL="0">
              <a:buNone/>
            </a:pPr>
            <a:r>
              <a:rPr lang="en-US" sz="1100" dirty="0">
                <a:solidFill>
                  <a:srgbClr val="8A95B0"/>
                </a:solidFill>
                <a:latin typeface="Source Sans 3" pitchFamily="34" charset="0"/>
                <a:ea typeface="Source Sans 3" pitchFamily="34" charset="-122"/>
                <a:cs typeface="Source Sans 3" pitchFamily="34" charset="-120"/>
              </a:rPr>
              <a:t>Prepared by: FF Trustee Michael Blake</a:t>
            </a:r>
            <a:endParaRPr lang="en-US" sz="1100" dirty="0"/>
          </a:p>
        </p:txBody>
      </p:sp>
      <p:sp>
        <p:nvSpPr>
          <p:cNvPr id="10" name="Shape 8"/>
          <p:cNvSpPr/>
          <p:nvPr/>
        </p:nvSpPr>
        <p:spPr>
          <a:xfrm>
            <a:off x="2926080" y="3931920"/>
            <a:ext cx="3291840" cy="320040"/>
          </a:xfrm>
          <a:prstGeom prst="rect">
            <a:avLst/>
          </a:prstGeom>
          <a:solidFill>
            <a:srgbClr val="1A0A0A"/>
          </a:solidFill>
          <a:ln/>
        </p:spPr>
      </p:sp>
      <p:sp>
        <p:nvSpPr>
          <p:cNvPr id="11" name="Text 9"/>
          <p:cNvSpPr/>
          <p:nvPr/>
        </p:nvSpPr>
        <p:spPr>
          <a:xfrm>
            <a:off x="2926080" y="3931920"/>
            <a:ext cx="3291840" cy="320040"/>
          </a:xfrm>
          <a:prstGeom prst="rect">
            <a:avLst/>
          </a:prstGeom>
          <a:noFill/>
          <a:ln/>
        </p:spPr>
        <p:txBody>
          <a:bodyPr wrap="square" rtlCol="0" anchor="ctr"/>
          <a:lstStyle/>
          <a:p>
            <a:pPr algn="ctr" indent="0" marL="0">
              <a:buNone/>
            </a:pPr>
            <a:r>
              <a:rPr lang="en-US" sz="1000" dirty="0">
                <a:solidFill>
                  <a:srgbClr val="FF4444"/>
                </a:solidFill>
                <a:latin typeface="Source Sans 3" pitchFamily="34" charset="0"/>
                <a:ea typeface="Source Sans 3" pitchFamily="34" charset="-122"/>
                <a:cs typeface="Source Sans 3" pitchFamily="34" charset="-120"/>
              </a:rPr>
              <a:t>CANCER-SPECIFIC PROTOCOL</a:t>
            </a:r>
            <a:endParaRPr lang="en-US" sz="1000" dirty="0"/>
          </a:p>
        </p:txBody>
      </p:sp>
      <p:sp>
        <p:nvSpPr>
          <p:cNvPr id="12" name="Text 10"/>
          <p:cNvSpPr/>
          <p:nvPr/>
        </p:nvSpPr>
        <p:spPr>
          <a:xfrm>
            <a:off x="1371600" y="4389120"/>
            <a:ext cx="6400800" cy="548640"/>
          </a:xfrm>
          <a:prstGeom prst="rect">
            <a:avLst/>
          </a:prstGeom>
          <a:noFill/>
          <a:ln/>
        </p:spPr>
        <p:txBody>
          <a:bodyPr wrap="square" rtlCol="0" anchor="ctr"/>
          <a:lstStyle/>
          <a:p>
            <a:pPr algn="ctr" indent="0" marL="0">
              <a:buNone/>
            </a:pPr>
            <a:r>
              <a:rPr lang="en-US" sz="900" i="1" dirty="0">
                <a:solidFill>
                  <a:srgbClr val="8A95B0"/>
                </a:solidFill>
                <a:latin typeface="Source Sans 3" pitchFamily="34" charset="0"/>
                <a:ea typeface="Source Sans 3" pitchFamily="34" charset="-122"/>
                <a:cs typeface="Source Sans 3" pitchFamily="34" charset="-120"/>
              </a:rPr>
              <a:t>"Before you heal someone, ask him if he's willing to give up the things that make him sick"</a:t>
            </a:r>
            <a:endParaRPr lang="en-US" sz="900" dirty="0"/>
          </a:p>
          <a:p>
            <a:pPr algn="ctr" indent="0" marL="0">
              <a:buNone/>
            </a:pPr>
            <a:r>
              <a:rPr lang="en-US" sz="900" dirty="0">
                <a:solidFill>
                  <a:srgbClr val="C9A54E"/>
                </a:solidFill>
                <a:latin typeface="Source Sans 3" pitchFamily="34" charset="0"/>
                <a:ea typeface="Source Sans 3" pitchFamily="34" charset="-122"/>
                <a:cs typeface="Source Sans 3" pitchFamily="34" charset="-120"/>
              </a:rPr>
              <a:t>— Hippocrates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A2440"/>
                </a:solidFill>
                <a:latin typeface="Playfair Display" pitchFamily="34" charset="0"/>
                <a:ea typeface="Playfair Display" pitchFamily="34" charset="-122"/>
                <a:cs typeface="Playfair Display" pitchFamily="34" charset="-120"/>
              </a:rPr>
              <a:t>Presentation Summary</a:t>
            </a:r>
            <a:endParaRPr lang="en-US" sz="2800" dirty="0"/>
          </a:p>
        </p:txBody>
      </p:sp>
      <p:sp>
        <p:nvSpPr>
          <p:cNvPr id="3" name="Shape 1"/>
          <p:cNvSpPr/>
          <p:nvPr/>
        </p:nvSpPr>
        <p:spPr>
          <a:xfrm>
            <a:off x="457200" y="868680"/>
            <a:ext cx="8229600" cy="3931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731520" y="1005840"/>
            <a:ext cx="7680960" cy="2286000"/>
          </a:xfrm>
          <a:prstGeom prst="rect">
            <a:avLst/>
          </a:prstGeom>
          <a:noFill/>
          <a:ln/>
        </p:spPr>
        <p:txBody>
          <a:bodyPr wrap="square" rtlCol="0" anchor="t"/>
          <a:lstStyle/>
          <a:p>
            <a:pPr indent="0" marL="0">
              <a:buNone/>
            </a:pPr>
            <a:r>
              <a:rPr lang="en-US" sz="1300" dirty="0">
                <a:solidFill>
                  <a:srgbClr val="1A2440"/>
                </a:solidFill>
                <a:latin typeface="Source Sans 3" pitchFamily="34" charset="0"/>
                <a:ea typeface="Source Sans 3" pitchFamily="34" charset="-122"/>
                <a:cs typeface="Source Sans 3" pitchFamily="34" charset="-120"/>
              </a:rPr>
              <a:t>Margaret’s 90-day protocol targets metastatic breast cancer recurrence, massive mercury burden from 9 amalgam fillings, immune and digestive compromise from multiple surgeries, and chronic deficiencies. The 5-phase (5R) protocol begins with intensive parasite clearance (prerequisite for safe metal chelation), sequences mitochondrial and immune repair, employs advanced detox (IV, IM, oral, topical, and ECS/CBD:THC suppository protocols), restores fat-soluble nutrients (with high-dose ox bile), and incorporates specialized oncologic and female hormone-balancing strategies.</a:t>
            </a:r>
            <a:endParaRPr lang="en-US" sz="1300" dirty="0"/>
          </a:p>
        </p:txBody>
      </p:sp>
      <p:sp>
        <p:nvSpPr>
          <p:cNvPr id="5" name="Text 3"/>
          <p:cNvSpPr/>
          <p:nvPr/>
        </p:nvSpPr>
        <p:spPr>
          <a:xfrm>
            <a:off x="731520" y="3200400"/>
            <a:ext cx="7680960" cy="1371600"/>
          </a:xfrm>
          <a:prstGeom prst="rect">
            <a:avLst/>
          </a:prstGeom>
          <a:noFill/>
          <a:ln/>
        </p:spPr>
        <p:txBody>
          <a:bodyPr wrap="square" rtlCol="0" anchor="t"/>
          <a:lstStyle/>
          <a:p>
            <a:pPr marL="342900" indent="-342900">
              <a:buSzPct val="100000"/>
              <a:buChar char="•"/>
            </a:pPr>
            <a:r>
              <a:rPr lang="en-US" sz="1200" dirty="0">
                <a:solidFill>
                  <a:srgbClr val="1A2440"/>
                </a:solidFill>
                <a:latin typeface="Source Sans 3" pitchFamily="34" charset="0"/>
                <a:ea typeface="Source Sans 3" pitchFamily="34" charset="-122"/>
                <a:cs typeface="Source Sans 3" pitchFamily="34" charset="-120"/>
              </a:rPr>
              <a:t>Addresses toxin exposure, gut health, and nutrient deficiencies</a:t>
            </a:r>
            <a:endParaRPr lang="en-US" sz="1200" dirty="0"/>
          </a:p>
          <a:p>
            <a:pPr marL="342900" indent="-342900">
              <a:buSzPct val="100000"/>
              <a:buChar char="•"/>
            </a:pPr>
            <a:r>
              <a:rPr lang="en-US" sz="1200" dirty="0">
                <a:solidFill>
                  <a:srgbClr val="1A2440"/>
                </a:solidFill>
                <a:latin typeface="Source Sans 3" pitchFamily="34" charset="0"/>
                <a:ea typeface="Source Sans 3" pitchFamily="34" charset="-122"/>
                <a:cs typeface="Source Sans 3" pitchFamily="34" charset="-120"/>
              </a:rPr>
              <a:t>5 Stages of Wellness to achieve balance</a:t>
            </a:r>
            <a:endParaRPr lang="en-US" sz="1200" dirty="0"/>
          </a:p>
          <a:p>
            <a:pPr marL="342900" indent="-342900">
              <a:buSzPct val="100000"/>
              <a:buChar char="•"/>
            </a:pPr>
            <a:r>
              <a:rPr lang="en-US" sz="1200" dirty="0">
                <a:solidFill>
                  <a:srgbClr val="1A2440"/>
                </a:solidFill>
                <a:latin typeface="Source Sans 3" pitchFamily="34" charset="0"/>
                <a:ea typeface="Source Sans 3" pitchFamily="34" charset="-122"/>
                <a:cs typeface="Source Sans 3" pitchFamily="34" charset="-120"/>
              </a:rPr>
              <a:t>Emphasizes holistic approach focusing on inflammation, viral load, parasite load, and metabolic functionality</a:t>
            </a:r>
            <a:endParaRPr lang="en-US" sz="1200" dirty="0"/>
          </a:p>
        </p:txBody>
      </p:sp>
      <p:sp>
        <p:nvSpPr>
          <p:cNvPr id="6" name="Text 4"/>
          <p:cNvSpPr/>
          <p:nvPr/>
        </p:nvSpPr>
        <p:spPr>
          <a:xfrm>
            <a:off x="914400" y="4572000"/>
            <a:ext cx="7315200" cy="457200"/>
          </a:xfrm>
          <a:prstGeom prst="rect">
            <a:avLst/>
          </a:prstGeom>
          <a:noFill/>
          <a:ln/>
        </p:spPr>
        <p:txBody>
          <a:bodyPr wrap="square" rtlCol="0" anchor="ctr"/>
          <a:lstStyle/>
          <a:p>
            <a:pPr algn="ctr" indent="0" marL="0">
              <a:buNone/>
            </a:pPr>
            <a:r>
              <a:rPr lang="en-US" sz="1000" i="1" dirty="0">
                <a:solidFill>
                  <a:srgbClr val="C9A54E"/>
                </a:solidFill>
                <a:latin typeface="Source Sans 3" pitchFamily="34" charset="0"/>
                <a:ea typeface="Source Sans 3" pitchFamily="34" charset="-122"/>
                <a:cs typeface="Source Sans 3" pitchFamily="34" charset="-120"/>
              </a:rPr>
              <a:t>"The natural healing force within each of us is the greatest force in getting well"</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A2440"/>
                </a:solidFill>
                <a:latin typeface="Playfair Display" pitchFamily="34" charset="0"/>
                <a:ea typeface="Playfair Display" pitchFamily="34" charset="-122"/>
                <a:cs typeface="Playfair Display" pitchFamily="34" charset="-120"/>
              </a:rPr>
              <a:t>Member Information</a:t>
            </a:r>
            <a:endParaRPr lang="en-US" sz="2800" dirty="0"/>
          </a:p>
        </p:txBody>
      </p:sp>
      <p:sp>
        <p:nvSpPr>
          <p:cNvPr id="3" name="Shape 1"/>
          <p:cNvSpPr/>
          <p:nvPr/>
        </p:nvSpPr>
        <p:spPr>
          <a:xfrm>
            <a:off x="457200" y="868680"/>
            <a:ext cx="3840480" cy="20116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3474720" cy="1828800"/>
          </a:xfrm>
          <a:prstGeom prst="rect">
            <a:avLst/>
          </a:prstGeom>
          <a:noFill/>
          <a:ln/>
        </p:spPr>
        <p:txBody>
          <a:bodyPr wrap="square" rtlCol="0" anchor="t"/>
          <a:lstStyle/>
          <a:p>
            <a:pPr indent="0" marL="0">
              <a:buNone/>
            </a:pPr>
            <a:r>
              <a:rPr lang="en-US" sz="1100" b="1" dirty="0">
                <a:solidFill>
                  <a:srgbClr val="C9A54E"/>
                </a:solidFill>
                <a:latin typeface="Source Sans 3" pitchFamily="34" charset="0"/>
                <a:ea typeface="Source Sans 3" pitchFamily="34" charset="-122"/>
                <a:cs typeface="Source Sans 3" pitchFamily="34" charset="-120"/>
              </a:rPr>
              <a:t>Name: </a:t>
            </a:r>
            <a:pPr indent="0" marL="0">
              <a:buNone/>
            </a:pPr>
            <a:r>
              <a:rPr lang="en-US" sz="1100" dirty="0">
                <a:solidFill>
                  <a:srgbClr val="1A2440"/>
                </a:solidFill>
                <a:latin typeface="Source Sans 3" pitchFamily="34" charset="0"/>
                <a:ea typeface="Source Sans 3" pitchFamily="34" charset="-122"/>
                <a:cs typeface="Source Sans 3" pitchFamily="34" charset="-120"/>
              </a:rPr>
              <a:t>Margaret R.</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Age: </a:t>
            </a:r>
            <a:pPr indent="0" marL="0">
              <a:buNone/>
            </a:pPr>
            <a:r>
              <a:rPr lang="en-US" sz="1100" dirty="0">
                <a:solidFill>
                  <a:srgbClr val="1A2440"/>
                </a:solidFill>
                <a:latin typeface="Source Sans 3" pitchFamily="34" charset="0"/>
                <a:ea typeface="Source Sans 3" pitchFamily="34" charset="-122"/>
                <a:cs typeface="Source Sans 3" pitchFamily="34" charset="-120"/>
              </a:rPr>
              <a:t>75</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Gender: </a:t>
            </a:r>
            <a:pPr indent="0" marL="0">
              <a:buNone/>
            </a:pPr>
            <a:r>
              <a:rPr lang="en-US" sz="1100" dirty="0">
                <a:solidFill>
                  <a:srgbClr val="1A2440"/>
                </a:solidFill>
                <a:latin typeface="Source Sans 3" pitchFamily="34" charset="0"/>
                <a:ea typeface="Source Sans 3" pitchFamily="34" charset="-122"/>
                <a:cs typeface="Source Sans 3" pitchFamily="34" charset="-120"/>
              </a:rPr>
              <a:t>female</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Location: </a:t>
            </a:r>
            <a:pPr indent="0" marL="0">
              <a:buNone/>
            </a:pPr>
            <a:r>
              <a:rPr lang="en-US" sz="1100" dirty="0">
                <a:solidFill>
                  <a:srgbClr val="1A2440"/>
                </a:solidFill>
                <a:latin typeface="Source Sans 3" pitchFamily="34" charset="0"/>
                <a:ea typeface="Source Sans 3" pitchFamily="34" charset="-122"/>
                <a:cs typeface="Source Sans 3" pitchFamily="34" charset="-120"/>
              </a:rPr>
              <a:t>United States</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Protocol Duration: </a:t>
            </a:r>
            <a:pPr indent="0" marL="0">
              <a:buNone/>
            </a:pPr>
            <a:r>
              <a:rPr lang="en-US" sz="1100" dirty="0">
                <a:solidFill>
                  <a:srgbClr val="1A2440"/>
                </a:solidFill>
                <a:latin typeface="Source Sans 3" pitchFamily="34" charset="0"/>
                <a:ea typeface="Source Sans 3" pitchFamily="34" charset="-122"/>
                <a:cs typeface="Source Sans 3" pitchFamily="34" charset="-120"/>
              </a:rPr>
              <a:t>90 days</a:t>
            </a:r>
            <a:endParaRPr lang="en-US" sz="1100" dirty="0"/>
          </a:p>
        </p:txBody>
      </p:sp>
      <p:sp>
        <p:nvSpPr>
          <p:cNvPr id="5" name="Shape 3"/>
          <p:cNvSpPr/>
          <p:nvPr/>
        </p:nvSpPr>
        <p:spPr>
          <a:xfrm>
            <a:off x="4572000" y="868680"/>
            <a:ext cx="4114800" cy="20116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Text 4"/>
          <p:cNvSpPr/>
          <p:nvPr/>
        </p:nvSpPr>
        <p:spPr>
          <a:xfrm>
            <a:off x="4754880" y="914400"/>
            <a:ext cx="3749040" cy="274320"/>
          </a:xfrm>
          <a:prstGeom prst="rect">
            <a:avLst/>
          </a:prstGeom>
          <a:noFill/>
          <a:ln/>
        </p:spPr>
        <p:txBody>
          <a:bodyPr wrap="square" rtlCol="0" anchor="ctr"/>
          <a:lstStyle/>
          <a:p>
            <a:pPr indent="0" marL="0">
              <a:buNone/>
            </a:pPr>
            <a:r>
              <a:rPr lang="en-US" sz="1100" b="1" dirty="0">
                <a:solidFill>
                  <a:srgbClr val="C9A54E"/>
                </a:solidFill>
                <a:latin typeface="Source Sans 3" pitchFamily="34" charset="0"/>
                <a:ea typeface="Source Sans 3" pitchFamily="34" charset="-122"/>
                <a:cs typeface="Source Sans 3" pitchFamily="34" charset="-120"/>
              </a:rPr>
              <a:t>Current Assessments:</a:t>
            </a:r>
            <a:endParaRPr lang="en-US" sz="1100" dirty="0"/>
          </a:p>
        </p:txBody>
      </p:sp>
      <p:sp>
        <p:nvSpPr>
          <p:cNvPr id="7" name="Text 5"/>
          <p:cNvSpPr/>
          <p:nvPr/>
        </p:nvSpPr>
        <p:spPr>
          <a:xfrm>
            <a:off x="4754880" y="1188720"/>
            <a:ext cx="3749040" cy="822960"/>
          </a:xfrm>
          <a:prstGeom prst="rect">
            <a:avLst/>
          </a:prstGeom>
          <a:noFill/>
          <a:ln/>
        </p:spPr>
        <p:txBody>
          <a:bodyPr wrap="square" rtlCol="0" anchor="t"/>
          <a:lstStyle/>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Recurring breast cancer</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Mercury toxicity (9 amalgam fillings)</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Post-cholecystectomy syndrome</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Post-appendectomy immune compromise</a:t>
            </a:r>
            <a:endParaRPr lang="en-US" sz="1000" dirty="0"/>
          </a:p>
        </p:txBody>
      </p:sp>
      <p:sp>
        <p:nvSpPr>
          <p:cNvPr id="8" name="Text 6"/>
          <p:cNvSpPr/>
          <p:nvPr/>
        </p:nvSpPr>
        <p:spPr>
          <a:xfrm>
            <a:off x="4754880" y="2011680"/>
            <a:ext cx="3749040" cy="274320"/>
          </a:xfrm>
          <a:prstGeom prst="rect">
            <a:avLst/>
          </a:prstGeom>
          <a:noFill/>
          <a:ln/>
        </p:spPr>
        <p:txBody>
          <a:bodyPr wrap="square" rtlCol="0" anchor="ctr"/>
          <a:lstStyle/>
          <a:p>
            <a:pPr indent="0" marL="0">
              <a:buNone/>
            </a:pPr>
            <a:r>
              <a:rPr lang="en-US" sz="1100" b="1" dirty="0">
                <a:solidFill>
                  <a:srgbClr val="C9A54E"/>
                </a:solidFill>
                <a:latin typeface="Source Sans 3" pitchFamily="34" charset="0"/>
                <a:ea typeface="Source Sans 3" pitchFamily="34" charset="-122"/>
                <a:cs typeface="Source Sans 3" pitchFamily="34" charset="-120"/>
              </a:rPr>
              <a:t>Symptoms:</a:t>
            </a:r>
            <a:endParaRPr lang="en-US" sz="1100" dirty="0"/>
          </a:p>
        </p:txBody>
      </p:sp>
      <p:sp>
        <p:nvSpPr>
          <p:cNvPr id="9" name="Text 7"/>
          <p:cNvSpPr/>
          <p:nvPr/>
        </p:nvSpPr>
        <p:spPr>
          <a:xfrm>
            <a:off x="4754880" y="2286000"/>
            <a:ext cx="3749040" cy="548640"/>
          </a:xfrm>
          <a:prstGeom prst="rect">
            <a:avLst/>
          </a:prstGeom>
          <a:noFill/>
          <a:ln/>
        </p:spPr>
        <p:txBody>
          <a:bodyPr wrap="square" rtlCol="0" anchor="t"/>
          <a:lstStyle/>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Recurring breast cancer — disease has returned after previous protocol</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9 amalgam fillings — massive mercury exposure source</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No gallbladder — compromised bile production and fat-soluble nutrient absorption</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No appendix — reduced immune tissue and microbiome reservoir</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Fatigue and declining vitality</a:t>
            </a:r>
            <a:endParaRPr lang="en-US" sz="1000" dirty="0"/>
          </a:p>
        </p:txBody>
      </p:sp>
      <p:sp>
        <p:nvSpPr>
          <p:cNvPr id="10" name="Shape 8"/>
          <p:cNvSpPr/>
          <p:nvPr/>
        </p:nvSpPr>
        <p:spPr>
          <a:xfrm>
            <a:off x="457200" y="3063240"/>
            <a:ext cx="8229600" cy="18288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1" name="Text 9"/>
          <p:cNvSpPr/>
          <p:nvPr/>
        </p:nvSpPr>
        <p:spPr>
          <a:xfrm>
            <a:off x="640080" y="3108960"/>
            <a:ext cx="7863840" cy="274320"/>
          </a:xfrm>
          <a:prstGeom prst="rect">
            <a:avLst/>
          </a:prstGeom>
          <a:noFill/>
          <a:ln/>
        </p:spPr>
        <p:txBody>
          <a:bodyPr wrap="square" rtlCol="0" anchor="ctr"/>
          <a:lstStyle/>
          <a:p>
            <a:pPr indent="0" marL="0">
              <a:buNone/>
            </a:pPr>
            <a:r>
              <a:rPr lang="en-US" sz="1200" b="1" dirty="0">
                <a:solidFill>
                  <a:srgbClr val="C9A54E"/>
                </a:solidFill>
                <a:latin typeface="Playfair Display" pitchFamily="34" charset="0"/>
                <a:ea typeface="Playfair Display" pitchFamily="34" charset="-122"/>
                <a:cs typeface="Playfair Display" pitchFamily="34" charset="-120"/>
              </a:rPr>
              <a:t>Recommended Starter Books:</a:t>
            </a:r>
            <a:endParaRPr lang="en-US" sz="1200" dirty="0"/>
          </a:p>
        </p:txBody>
      </p:sp>
      <p:sp>
        <p:nvSpPr>
          <p:cNvPr id="12" name="Text 10"/>
          <p:cNvSpPr/>
          <p:nvPr/>
        </p:nvSpPr>
        <p:spPr>
          <a:xfrm>
            <a:off x="640080" y="3429000"/>
            <a:ext cx="7863840" cy="1371600"/>
          </a:xfrm>
          <a:prstGeom prst="rect">
            <a:avLst/>
          </a:prstGeom>
          <a:noFill/>
          <a:ln/>
        </p:spPr>
        <p:txBody>
          <a:bodyPr wrap="square" rtlCol="0" anchor="t"/>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Rapid Virus Recovery</a:t>
            </a:r>
            <a:pPr indent="0" marL="0">
              <a:buNone/>
            </a:pPr>
            <a:r>
              <a:rPr lang="en-US" sz="900" dirty="0">
                <a:solidFill>
                  <a:srgbClr val="5A6B8A"/>
                </a:solidFill>
                <a:latin typeface="Source Sans 3" pitchFamily="34" charset="0"/>
                <a:ea typeface="Source Sans 3" pitchFamily="34" charset="-122"/>
                <a:cs typeface="Source Sans 3" pitchFamily="34" charset="-120"/>
              </a:rPr>
              <a:t> — Essential reading on breaking up biofilm with nebulization and high-dose vitamin C therapy for viral recovery</a:t>
            </a:r>
            <a:endParaRPr lang="en-US" sz="10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Dental Dangers</a:t>
            </a:r>
            <a:pPr indent="0" marL="0">
              <a:buNone/>
            </a:pPr>
            <a:r>
              <a:rPr lang="en-US" sz="900" dirty="0">
                <a:solidFill>
                  <a:srgbClr val="5A6B8A"/>
                </a:solidFill>
                <a:latin typeface="Source Sans 3" pitchFamily="34" charset="0"/>
                <a:ea typeface="Source Sans 3" pitchFamily="34" charset="-122"/>
                <a:cs typeface="Source Sans 3" pitchFamily="34" charset="-120"/>
              </a:rPr>
              <a:t> — Please read over Dental Dangers as amalgam issues and periodontal problems can significantly hurt longevity goals</a:t>
            </a:r>
            <a:endParaRPr lang="en-US" sz="10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A World Without Cancer</a:t>
            </a:r>
            <a:pPr indent="0" marL="0">
              <a:buNone/>
            </a:pPr>
            <a:r>
              <a:rPr lang="en-US" sz="900" dirty="0">
                <a:solidFill>
                  <a:srgbClr val="5A6B8A"/>
                </a:solidFill>
                <a:latin typeface="Source Sans 3" pitchFamily="34" charset="0"/>
                <a:ea typeface="Source Sans 3" pitchFamily="34" charset="-122"/>
                <a:cs typeface="Source Sans 3" pitchFamily="34" charset="-120"/>
              </a:rPr>
              <a:t> — The link between nitrilosides and cancer — the story of B17 Laetrile and why it matters for your protocol</a:t>
            </a:r>
            <a:endParaRPr lang="en-US" sz="10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The Iodine Crisis</a:t>
            </a:r>
            <a:pPr indent="0" marL="0">
              <a:buNone/>
            </a:pPr>
            <a:r>
              <a:rPr lang="en-US" sz="900" dirty="0">
                <a:solidFill>
                  <a:srgbClr val="5A6B8A"/>
                </a:solidFill>
                <a:latin typeface="Source Sans 3" pitchFamily="34" charset="0"/>
                <a:ea typeface="Source Sans 3" pitchFamily="34" charset="-122"/>
                <a:cs typeface="Source Sans 3" pitchFamily="34" charset="-120"/>
              </a:rPr>
              <a:t> — Critical reading on the relationship between selenium, iodine, and cancer rise in the U.S.</a:t>
            </a:r>
            <a:endParaRPr lang="en-US" sz="10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A Cancer Therapy: Results of Fifty Cases</a:t>
            </a:r>
            <a:pPr indent="0" marL="0">
              <a:buNone/>
            </a:pPr>
            <a:r>
              <a:rPr lang="en-US" sz="900" dirty="0">
                <a:solidFill>
                  <a:srgbClr val="5A6B8A"/>
                </a:solidFill>
                <a:latin typeface="Source Sans 3" pitchFamily="34" charset="0"/>
                <a:ea typeface="Source Sans 3" pitchFamily="34" charset="-122"/>
                <a:cs typeface="Source Sans 3" pitchFamily="34" charset="-120"/>
              </a:rPr>
              <a:t> — The original Gerson therapy clinical documentation — foundational for understanding dietary protocols in cancer care</a:t>
            </a:r>
            <a:endParaRPr lang="en-US" sz="10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The Metabolic Approach to Cancer</a:t>
            </a:r>
            <a:pPr indent="0" marL="0">
              <a:buNone/>
            </a:pPr>
            <a:r>
              <a:rPr lang="en-US" sz="900" dirty="0">
                <a:solidFill>
                  <a:srgbClr val="5A6B8A"/>
                </a:solidFill>
                <a:latin typeface="Source Sans 3" pitchFamily="34" charset="0"/>
                <a:ea typeface="Source Sans 3" pitchFamily="34" charset="-122"/>
                <a:cs typeface="Source Sans 3" pitchFamily="34" charset="-120"/>
              </a:rPr>
              <a:t> — Integrative oncology nutrition and metabolic terrain assessment — essential for understanding cancer as a metabolic disease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A2440"/>
                </a:solidFill>
                <a:latin typeface="Playfair Display" pitchFamily="34" charset="0"/>
                <a:ea typeface="Playfair Display" pitchFamily="34" charset="-122"/>
                <a:cs typeface="Playfair Display" pitchFamily="34" charset="-120"/>
              </a:rPr>
              <a:t>Member Timeline</a:t>
            </a:r>
            <a:endParaRPr lang="en-US" sz="2800" dirty="0"/>
          </a:p>
        </p:txBody>
      </p:sp>
      <p:sp>
        <p:nvSpPr>
          <p:cNvPr id="3" name="Shape 1"/>
          <p:cNvSpPr/>
          <p:nvPr/>
        </p:nvSpPr>
        <p:spPr>
          <a:xfrm>
            <a:off x="457200" y="868680"/>
            <a:ext cx="8229600" cy="3931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3657600"/>
          </a:xfrm>
          <a:prstGeom prst="rect">
            <a:avLst/>
          </a:prstGeom>
          <a:noFill/>
          <a:ln/>
        </p:spPr>
        <p:txBody>
          <a:bodyPr wrap="square" rtlCol="0" anchor="t"/>
          <a:lstStyle/>
          <a:p>
            <a:pPr indent="0" marL="0">
              <a:buNone/>
            </a:pPr>
            <a:r>
              <a:rPr lang="en-US" sz="1100" b="1" dirty="0">
                <a:solidFill>
                  <a:srgbClr val="C9A54E"/>
                </a:solidFill>
                <a:latin typeface="Source Sans 3" pitchFamily="34" charset="0"/>
                <a:ea typeface="Source Sans 3" pitchFamily="34" charset="-122"/>
                <a:cs typeface="Source Sans 3" pitchFamily="34" charset="-120"/>
              </a:rPr>
              <a:t>Unknown</a:t>
            </a:r>
            <a:pPr indent="0" marL="0">
              <a:buNone/>
            </a:pPr>
            <a:r>
              <a:rPr lang="en-US" sz="1100" dirty="0">
                <a:solidFill>
                  <a:srgbClr val="1A2440"/>
                </a:solidFill>
                <a:latin typeface="Source Sans 3" pitchFamily="34" charset="0"/>
                <a:ea typeface="Source Sans 3" pitchFamily="34" charset="-122"/>
                <a:cs typeface="Source Sans 3" pitchFamily="34" charset="-120"/>
              </a:rPr>
              <a:t> — 9 amalgam (mercury) fillings placed</a:t>
            </a:r>
            <a:pPr indent="0" marL="0">
              <a:buNone/>
            </a:pPr>
            <a:r>
              <a:rPr lang="en-US" sz="900" dirty="0">
                <a:solidFill>
                  <a:srgbClr val="5A6B8A"/>
                </a:solidFill>
                <a:latin typeface="Source Sans 3" pitchFamily="34" charset="0"/>
                <a:ea typeface="Source Sans 3" pitchFamily="34" charset="-122"/>
                <a:cs typeface="Source Sans 3" pitchFamily="34" charset="-120"/>
              </a:rPr>
              <a:t> (Each amalgam releases 1-3 mcg mercury vapor daily — 9 fillings = massive chronic mercury exposure (9-27 mcg/day). Mercury is immunosuppressive and directly linked to breast cancer risk.)</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Unknown</a:t>
            </a:r>
            <a:pPr indent="0" marL="0">
              <a:buNone/>
            </a:pPr>
            <a:r>
              <a:rPr lang="en-US" sz="1100" dirty="0">
                <a:solidFill>
                  <a:srgbClr val="1A2440"/>
                </a:solidFill>
                <a:latin typeface="Source Sans 3" pitchFamily="34" charset="0"/>
                <a:ea typeface="Source Sans 3" pitchFamily="34" charset="-122"/>
                <a:cs typeface="Source Sans 3" pitchFamily="34" charset="-120"/>
              </a:rPr>
              <a:t> — Gallbladder removed (cholecystectomy)</a:t>
            </a:r>
            <a:pPr indent="0" marL="0">
              <a:buNone/>
            </a:pPr>
            <a:r>
              <a:rPr lang="en-US" sz="900" dirty="0">
                <a:solidFill>
                  <a:srgbClr val="5A6B8A"/>
                </a:solidFill>
                <a:latin typeface="Source Sans 3" pitchFamily="34" charset="0"/>
                <a:ea typeface="Source Sans 3" pitchFamily="34" charset="-122"/>
                <a:cs typeface="Source Sans 3" pitchFamily="34" charset="-120"/>
              </a:rPr>
              <a:t> (Loss of bile storage impairs fat digestion, fat-soluble vitamin absorption (A, D, E, K), and bile's role in toxin elimination. Creates chronic nutrient malabsorption.)</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Unknown</a:t>
            </a:r>
            <a:pPr indent="0" marL="0">
              <a:buNone/>
            </a:pPr>
            <a:r>
              <a:rPr lang="en-US" sz="1100" dirty="0">
                <a:solidFill>
                  <a:srgbClr val="1A2440"/>
                </a:solidFill>
                <a:latin typeface="Source Sans 3" pitchFamily="34" charset="0"/>
                <a:ea typeface="Source Sans 3" pitchFamily="34" charset="-122"/>
                <a:cs typeface="Source Sans 3" pitchFamily="34" charset="-120"/>
              </a:rPr>
              <a:t> — Appendix removed (appendectomy)</a:t>
            </a:r>
            <a:pPr indent="0" marL="0">
              <a:buNone/>
            </a:pPr>
            <a:r>
              <a:rPr lang="en-US" sz="900" dirty="0">
                <a:solidFill>
                  <a:srgbClr val="5A6B8A"/>
                </a:solidFill>
                <a:latin typeface="Source Sans 3" pitchFamily="34" charset="0"/>
                <a:ea typeface="Source Sans 3" pitchFamily="34" charset="-122"/>
                <a:cs typeface="Source Sans 3" pitchFamily="34" charset="-120"/>
              </a:rPr>
              <a:t> (Loss of appendix removes immune tissue reservoir and microbiome 'safe house'. Reduces immune resilience and microbiome recovery capacity.)</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Unknown</a:t>
            </a:r>
            <a:pPr indent="0" marL="0">
              <a:buNone/>
            </a:pPr>
            <a:r>
              <a:rPr lang="en-US" sz="1100" dirty="0">
                <a:solidFill>
                  <a:srgbClr val="1A2440"/>
                </a:solidFill>
                <a:latin typeface="Source Sans 3" pitchFamily="34" charset="0"/>
                <a:ea typeface="Source Sans 3" pitchFamily="34" charset="-122"/>
                <a:cs typeface="Source Sans 3" pitchFamily="34" charset="-120"/>
              </a:rPr>
              <a:t> — Initial breast cancer assessment and protocol</a:t>
            </a:r>
            <a:pPr indent="0" marL="0">
              <a:buNone/>
            </a:pPr>
            <a:r>
              <a:rPr lang="en-US" sz="900" dirty="0">
                <a:solidFill>
                  <a:srgbClr val="5A6B8A"/>
                </a:solidFill>
                <a:latin typeface="Source Sans 3" pitchFamily="34" charset="0"/>
                <a:ea typeface="Source Sans 3" pitchFamily="34" charset="-122"/>
                <a:cs typeface="Source Sans 3" pitchFamily="34" charset="-120"/>
              </a:rPr>
              <a:t> (First cancer occurrence — root causes not addressed by conventional protocol)</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75</a:t>
            </a:r>
            <a:pPr indent="0" marL="0">
              <a:buNone/>
            </a:pPr>
            <a:r>
              <a:rPr lang="en-US" sz="1100" dirty="0">
                <a:solidFill>
                  <a:srgbClr val="1A2440"/>
                </a:solidFill>
                <a:latin typeface="Source Sans 3" pitchFamily="34" charset="0"/>
                <a:ea typeface="Source Sans 3" pitchFamily="34" charset="-122"/>
                <a:cs typeface="Source Sans 3" pitchFamily="34" charset="-120"/>
              </a:rPr>
              <a:t> — Breast cancer recurrence</a:t>
            </a:r>
            <a:pPr indent="0" marL="0">
              <a:buNone/>
            </a:pPr>
            <a:r>
              <a:rPr lang="en-US" sz="900" dirty="0">
                <a:solidFill>
                  <a:srgbClr val="5A6B8A"/>
                </a:solidFill>
                <a:latin typeface="Source Sans 3" pitchFamily="34" charset="0"/>
                <a:ea typeface="Source Sans 3" pitchFamily="34" charset="-122"/>
                <a:cs typeface="Source Sans 3" pitchFamily="34" charset="-120"/>
              </a:rPr>
              <a:t> (Cancer returned because root causes (mercury, nutrient depletion, immune suppression) were never resolved. Conventional protocol addressed symptoms, not etiology.)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A2440"/>
                </a:solidFill>
                <a:latin typeface="Playfair Display" pitchFamily="34" charset="0"/>
                <a:ea typeface="Playfair Display" pitchFamily="34" charset="-122"/>
                <a:cs typeface="Playfair Display" pitchFamily="34" charset="-120"/>
              </a:rPr>
              <a:t>Trustee's Analysis</a:t>
            </a:r>
            <a:endParaRPr lang="en-US" sz="2800" dirty="0"/>
          </a:p>
        </p:txBody>
      </p:sp>
      <p:sp>
        <p:nvSpPr>
          <p:cNvPr id="3" name="Shape 1"/>
          <p:cNvSpPr/>
          <p:nvPr/>
        </p:nvSpPr>
        <p:spPr>
          <a:xfrm>
            <a:off x="457200" y="868680"/>
            <a:ext cx="8229600" cy="3931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3657600"/>
          </a:xfrm>
          <a:prstGeom prst="rect">
            <a:avLst/>
          </a:prstGeom>
          <a:noFill/>
          <a:ln/>
        </p:spPr>
        <p:txBody>
          <a:bodyPr wrap="square" rtlCol="0" anchor="t"/>
          <a:lstStyle/>
          <a:p>
            <a:pPr indent="0" marL="0">
              <a:buNone/>
            </a:pPr>
            <a:r>
              <a:rPr lang="en-US" sz="1200" dirty="0">
                <a:solidFill>
                  <a:srgbClr val="1A2440"/>
                </a:solidFill>
                <a:latin typeface="Source Sans 3" pitchFamily="34" charset="0"/>
                <a:ea typeface="Source Sans 3" pitchFamily="34" charset="-122"/>
                <a:cs typeface="Source Sans 3" pitchFamily="34" charset="-120"/>
              </a:rPr>
              <a:t>Margaret’s 90-day protocol targets metastatic breast cancer recurrence, massive mercury burden from 9 amalgam fillings, immune and digestive compromise from multiple surgeries, and chronic deficiencies. The 5-phase (5R) protocol begins with intensive parasite clearance (prerequisite for safe metal chelation), sequences mitochondrial and immune repair, employs advanced detox (IV, IM, oral, topical, and ECS/CBD:THC suppository protocols), restores fat-soluble nutrients (with high-dose ox bile), and incorporates specialized oncologic and female hormone-balancing strategies.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A2440"/>
                </a:solidFill>
                <a:latin typeface="Playfair Display" pitchFamily="34" charset="0"/>
                <a:ea typeface="Playfair Display" pitchFamily="34" charset="-122"/>
                <a:cs typeface="Playfair Display" pitchFamily="34" charset="-120"/>
              </a:rPr>
              <a:t>Root Cause Analysis</a:t>
            </a:r>
            <a:endParaRPr lang="en-US" sz="2800" dirty="0"/>
          </a:p>
        </p:txBody>
      </p:sp>
      <p:sp>
        <p:nvSpPr>
          <p:cNvPr id="3" name="Shape 1"/>
          <p:cNvSpPr/>
          <p:nvPr/>
        </p:nvSpPr>
        <p:spPr>
          <a:xfrm>
            <a:off x="457200" y="914400"/>
            <a:ext cx="8229600" cy="7315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Shape 2"/>
          <p:cNvSpPr/>
          <p:nvPr/>
        </p:nvSpPr>
        <p:spPr>
          <a:xfrm>
            <a:off x="457200" y="914400"/>
            <a:ext cx="73152" cy="731520"/>
          </a:xfrm>
          <a:prstGeom prst="rect">
            <a:avLst/>
          </a:prstGeom>
          <a:solidFill>
            <a:srgbClr val="C62828"/>
          </a:solidFill>
          <a:ln/>
        </p:spPr>
      </p:sp>
      <p:sp>
        <p:nvSpPr>
          <p:cNvPr id="5" name="Text 3"/>
          <p:cNvSpPr/>
          <p:nvPr/>
        </p:nvSpPr>
        <p:spPr>
          <a:xfrm>
            <a:off x="640080" y="914400"/>
            <a:ext cx="2743200" cy="365760"/>
          </a:xfrm>
          <a:prstGeom prst="rect">
            <a:avLst/>
          </a:prstGeom>
          <a:noFill/>
          <a:ln/>
        </p:spPr>
        <p:txBody>
          <a:bodyPr wrap="square" rtlCol="0" anchor="ctr"/>
          <a:lstStyle/>
          <a:p>
            <a:pPr indent="0" marL="0">
              <a:buNone/>
            </a:pPr>
            <a:r>
              <a:rPr lang="en-US" sz="1200" b="1" dirty="0">
                <a:solidFill>
                  <a:srgbClr val="1A2440"/>
                </a:solidFill>
                <a:latin typeface="Playfair Display" pitchFamily="34" charset="0"/>
                <a:ea typeface="Playfair Display" pitchFamily="34" charset="-122"/>
                <a:cs typeface="Playfair Display" pitchFamily="34" charset="-120"/>
              </a:rPr>
              <a:t>1. Chronic mercury toxicity from 9 amalgams</a:t>
            </a:r>
            <a:endParaRPr lang="en-US" sz="1200" dirty="0"/>
          </a:p>
        </p:txBody>
      </p:sp>
      <p:sp>
        <p:nvSpPr>
          <p:cNvPr id="6" name="Text 4"/>
          <p:cNvSpPr/>
          <p:nvPr/>
        </p:nvSpPr>
        <p:spPr>
          <a:xfrm>
            <a:off x="640080" y="1243584"/>
            <a:ext cx="1828800" cy="292608"/>
          </a:xfrm>
          <a:prstGeom prst="rect">
            <a:avLst/>
          </a:prstGeom>
          <a:noFill/>
          <a:ln/>
        </p:spPr>
        <p:txBody>
          <a:bodyPr wrap="square" rtlCol="0" anchor="t"/>
          <a:lstStyle/>
          <a:p>
            <a:pPr indent="0" marL="0">
              <a:buNone/>
            </a:pPr>
            <a:r>
              <a:rPr lang="en-US" sz="800" dirty="0">
                <a:solidFill>
                  <a:srgbClr val="C62828"/>
                </a:solidFill>
                <a:latin typeface="Source Sans 3" pitchFamily="34" charset="0"/>
                <a:ea typeface="Source Sans 3" pitchFamily="34" charset="-122"/>
                <a:cs typeface="Source Sans 3" pitchFamily="34" charset="-120"/>
              </a:rPr>
              <a:t>PRIMARY</a:t>
            </a:r>
            <a:endParaRPr lang="en-US" sz="800" dirty="0"/>
          </a:p>
        </p:txBody>
      </p:sp>
      <p:sp>
        <p:nvSpPr>
          <p:cNvPr id="7" name="Text 5"/>
          <p:cNvSpPr/>
          <p:nvPr/>
        </p:nvSpPr>
        <p:spPr>
          <a:xfrm>
            <a:off x="3200400" y="914400"/>
            <a:ext cx="5303520" cy="7315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Decades of continuous, high-level mercury vapor absorption from 9 fillings has suppressed immune surveillance, promoted genetic instability, disrupted estrogen metabolism and severely depleted selenium/glutathione reserves.</a:t>
            </a:r>
            <a:endParaRPr lang="en-US" sz="1000" dirty="0"/>
          </a:p>
        </p:txBody>
      </p:sp>
      <p:sp>
        <p:nvSpPr>
          <p:cNvPr id="8" name="Shape 6"/>
          <p:cNvSpPr/>
          <p:nvPr/>
        </p:nvSpPr>
        <p:spPr>
          <a:xfrm>
            <a:off x="457200" y="1737360"/>
            <a:ext cx="8229600" cy="7315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9" name="Shape 7"/>
          <p:cNvSpPr/>
          <p:nvPr/>
        </p:nvSpPr>
        <p:spPr>
          <a:xfrm>
            <a:off x="457200" y="1737360"/>
            <a:ext cx="73152" cy="731520"/>
          </a:xfrm>
          <a:prstGeom prst="rect">
            <a:avLst/>
          </a:prstGeom>
          <a:solidFill>
            <a:srgbClr val="C9A54E"/>
          </a:solidFill>
          <a:ln/>
        </p:spPr>
      </p:sp>
      <p:sp>
        <p:nvSpPr>
          <p:cNvPr id="10" name="Text 8"/>
          <p:cNvSpPr/>
          <p:nvPr/>
        </p:nvSpPr>
        <p:spPr>
          <a:xfrm>
            <a:off x="640080" y="1737360"/>
            <a:ext cx="2743200" cy="365760"/>
          </a:xfrm>
          <a:prstGeom prst="rect">
            <a:avLst/>
          </a:prstGeom>
          <a:noFill/>
          <a:ln/>
        </p:spPr>
        <p:txBody>
          <a:bodyPr wrap="square" rtlCol="0" anchor="ctr"/>
          <a:lstStyle/>
          <a:p>
            <a:pPr indent="0" marL="0">
              <a:buNone/>
            </a:pPr>
            <a:r>
              <a:rPr lang="en-US" sz="1200" b="1" dirty="0">
                <a:solidFill>
                  <a:srgbClr val="1A2440"/>
                </a:solidFill>
                <a:latin typeface="Playfair Display" pitchFamily="34" charset="0"/>
                <a:ea typeface="Playfair Display" pitchFamily="34" charset="-122"/>
                <a:cs typeface="Playfair Display" pitchFamily="34" charset="-120"/>
              </a:rPr>
              <a:t>2. Bile and fat-soluble nutrient loss (post-cholecystectomy)</a:t>
            </a:r>
            <a:endParaRPr lang="en-US" sz="1200" dirty="0"/>
          </a:p>
        </p:txBody>
      </p:sp>
      <p:sp>
        <p:nvSpPr>
          <p:cNvPr id="11" name="Text 9"/>
          <p:cNvSpPr/>
          <p:nvPr/>
        </p:nvSpPr>
        <p:spPr>
          <a:xfrm>
            <a:off x="640080" y="2066544"/>
            <a:ext cx="1828800" cy="292608"/>
          </a:xfrm>
          <a:prstGeom prst="rect">
            <a:avLst/>
          </a:prstGeom>
          <a:noFill/>
          <a:ln/>
        </p:spPr>
        <p:txBody>
          <a:bodyPr wrap="square" rtlCol="0" anchor="t"/>
          <a:lstStyle/>
          <a:p>
            <a:pPr indent="0" marL="0">
              <a:buNone/>
            </a:pPr>
            <a:r>
              <a:rPr lang="en-US" sz="800" dirty="0">
                <a:solidFill>
                  <a:srgbClr val="C9A54E"/>
                </a:solidFill>
                <a:latin typeface="Source Sans 3" pitchFamily="34" charset="0"/>
                <a:ea typeface="Source Sans 3" pitchFamily="34" charset="-122"/>
                <a:cs typeface="Source Sans 3" pitchFamily="34" charset="-120"/>
              </a:rPr>
              <a:t>SECONDARY</a:t>
            </a:r>
            <a:endParaRPr lang="en-US" sz="800" dirty="0"/>
          </a:p>
        </p:txBody>
      </p:sp>
      <p:sp>
        <p:nvSpPr>
          <p:cNvPr id="12" name="Text 10"/>
          <p:cNvSpPr/>
          <p:nvPr/>
        </p:nvSpPr>
        <p:spPr>
          <a:xfrm>
            <a:off x="3200400" y="1737360"/>
            <a:ext cx="5303520" cy="7315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Continuous, dilute bile release leads to compromised digestion, low absorption of vitamins A, D, E, K, and poor toxin clearance – all major cancer risk factors.</a:t>
            </a:r>
            <a:endParaRPr lang="en-US" sz="1000" dirty="0"/>
          </a:p>
        </p:txBody>
      </p:sp>
      <p:sp>
        <p:nvSpPr>
          <p:cNvPr id="13" name="Shape 11"/>
          <p:cNvSpPr/>
          <p:nvPr/>
        </p:nvSpPr>
        <p:spPr>
          <a:xfrm>
            <a:off x="457200" y="2560320"/>
            <a:ext cx="8229600" cy="7315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4" name="Shape 12"/>
          <p:cNvSpPr/>
          <p:nvPr/>
        </p:nvSpPr>
        <p:spPr>
          <a:xfrm>
            <a:off x="457200" y="2560320"/>
            <a:ext cx="73152" cy="731520"/>
          </a:xfrm>
          <a:prstGeom prst="rect">
            <a:avLst/>
          </a:prstGeom>
          <a:solidFill>
            <a:srgbClr val="C8CFE0"/>
          </a:solidFill>
          <a:ln/>
        </p:spPr>
      </p:sp>
      <p:sp>
        <p:nvSpPr>
          <p:cNvPr id="15" name="Text 13"/>
          <p:cNvSpPr/>
          <p:nvPr/>
        </p:nvSpPr>
        <p:spPr>
          <a:xfrm>
            <a:off x="640080" y="2560320"/>
            <a:ext cx="2743200" cy="365760"/>
          </a:xfrm>
          <a:prstGeom prst="rect">
            <a:avLst/>
          </a:prstGeom>
          <a:noFill/>
          <a:ln/>
        </p:spPr>
        <p:txBody>
          <a:bodyPr wrap="square" rtlCol="0" anchor="ctr"/>
          <a:lstStyle/>
          <a:p>
            <a:pPr indent="0" marL="0">
              <a:buNone/>
            </a:pPr>
            <a:r>
              <a:rPr lang="en-US" sz="1200" b="1" dirty="0">
                <a:solidFill>
                  <a:srgbClr val="1A2440"/>
                </a:solidFill>
                <a:latin typeface="Playfair Display" pitchFamily="34" charset="0"/>
                <a:ea typeface="Playfair Display" pitchFamily="34" charset="-122"/>
                <a:cs typeface="Playfair Display" pitchFamily="34" charset="-120"/>
              </a:rPr>
              <a:t>3. Gut immune-microbiome reservoir loss (post-appendectomy)</a:t>
            </a:r>
            <a:endParaRPr lang="en-US" sz="1200" dirty="0"/>
          </a:p>
        </p:txBody>
      </p:sp>
      <p:sp>
        <p:nvSpPr>
          <p:cNvPr id="16" name="Text 14"/>
          <p:cNvSpPr/>
          <p:nvPr/>
        </p:nvSpPr>
        <p:spPr>
          <a:xfrm>
            <a:off x="640080" y="2889504"/>
            <a:ext cx="1828800" cy="292608"/>
          </a:xfrm>
          <a:prstGeom prst="rect">
            <a:avLst/>
          </a:prstGeom>
          <a:noFill/>
          <a:ln/>
        </p:spPr>
        <p:txBody>
          <a:bodyPr wrap="square" rtlCol="0" anchor="t"/>
          <a:lstStyle/>
          <a:p>
            <a:pPr indent="0" marL="0">
              <a:buNone/>
            </a:pPr>
            <a:r>
              <a:rPr lang="en-US" sz="800" dirty="0">
                <a:solidFill>
                  <a:srgbClr val="C8CFE0"/>
                </a:solidFill>
                <a:latin typeface="Source Sans 3" pitchFamily="34" charset="0"/>
                <a:ea typeface="Source Sans 3" pitchFamily="34" charset="-122"/>
                <a:cs typeface="Source Sans 3" pitchFamily="34" charset="-120"/>
              </a:rPr>
              <a:t>TERTIARY</a:t>
            </a:r>
            <a:endParaRPr lang="en-US" sz="800" dirty="0"/>
          </a:p>
        </p:txBody>
      </p:sp>
      <p:sp>
        <p:nvSpPr>
          <p:cNvPr id="17" name="Text 15"/>
          <p:cNvSpPr/>
          <p:nvPr/>
        </p:nvSpPr>
        <p:spPr>
          <a:xfrm>
            <a:off x="3200400" y="2560320"/>
            <a:ext cx="5303520" cy="7315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The absence of appendix weakens mucosal immunity and microbiome stability, increasing risk for infections, chronic inflammation and neoplastic escape.</a:t>
            </a:r>
            <a:endParaRPr lang="en-US" sz="1000" dirty="0"/>
          </a:p>
        </p:txBody>
      </p:sp>
      <p:sp>
        <p:nvSpPr>
          <p:cNvPr id="18" name="Shape 16"/>
          <p:cNvSpPr/>
          <p:nvPr/>
        </p:nvSpPr>
        <p:spPr>
          <a:xfrm>
            <a:off x="457200" y="3383280"/>
            <a:ext cx="8229600" cy="7315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9" name="Shape 17"/>
          <p:cNvSpPr/>
          <p:nvPr/>
        </p:nvSpPr>
        <p:spPr>
          <a:xfrm>
            <a:off x="457200" y="3383280"/>
            <a:ext cx="73152" cy="731520"/>
          </a:xfrm>
          <a:prstGeom prst="rect">
            <a:avLst/>
          </a:prstGeom>
          <a:solidFill>
            <a:srgbClr val="2E7D32"/>
          </a:solidFill>
          <a:ln/>
        </p:spPr>
      </p:sp>
      <p:sp>
        <p:nvSpPr>
          <p:cNvPr id="20" name="Text 18"/>
          <p:cNvSpPr/>
          <p:nvPr/>
        </p:nvSpPr>
        <p:spPr>
          <a:xfrm>
            <a:off x="640080" y="3383280"/>
            <a:ext cx="2743200" cy="365760"/>
          </a:xfrm>
          <a:prstGeom prst="rect">
            <a:avLst/>
          </a:prstGeom>
          <a:noFill/>
          <a:ln/>
        </p:spPr>
        <p:txBody>
          <a:bodyPr wrap="square" rtlCol="0" anchor="ctr"/>
          <a:lstStyle/>
          <a:p>
            <a:pPr indent="0" marL="0">
              <a:buNone/>
            </a:pPr>
            <a:r>
              <a:rPr lang="en-US" sz="1200" b="1" dirty="0">
                <a:solidFill>
                  <a:srgbClr val="1A2440"/>
                </a:solidFill>
                <a:latin typeface="Playfair Display" pitchFamily="34" charset="0"/>
                <a:ea typeface="Playfair Display" pitchFamily="34" charset="-122"/>
                <a:cs typeface="Playfair Display" pitchFamily="34" charset="-120"/>
              </a:rPr>
              <a:t>4. Estrogen metabolism disruption</a:t>
            </a:r>
            <a:endParaRPr lang="en-US" sz="1200" dirty="0"/>
          </a:p>
        </p:txBody>
      </p:sp>
      <p:sp>
        <p:nvSpPr>
          <p:cNvPr id="21" name="Text 19"/>
          <p:cNvSpPr/>
          <p:nvPr/>
        </p:nvSpPr>
        <p:spPr>
          <a:xfrm>
            <a:off x="640080" y="3712464"/>
            <a:ext cx="1828800" cy="292608"/>
          </a:xfrm>
          <a:prstGeom prst="rect">
            <a:avLst/>
          </a:prstGeom>
          <a:noFill/>
          <a:ln/>
        </p:spPr>
        <p:txBody>
          <a:bodyPr wrap="square" rtlCol="0" anchor="t"/>
          <a:lstStyle/>
          <a:p>
            <a:pPr indent="0" marL="0">
              <a:buNone/>
            </a:pPr>
            <a:r>
              <a:rPr lang="en-US" sz="800" dirty="0">
                <a:solidFill>
                  <a:srgbClr val="2E7D32"/>
                </a:solidFill>
                <a:latin typeface="Source Sans 3" pitchFamily="34" charset="0"/>
                <a:ea typeface="Source Sans 3" pitchFamily="34" charset="-122"/>
                <a:cs typeface="Source Sans 3" pitchFamily="34" charset="-120"/>
              </a:rPr>
              <a:t>QUATERNARY</a:t>
            </a:r>
            <a:endParaRPr lang="en-US" sz="800" dirty="0"/>
          </a:p>
        </p:txBody>
      </p:sp>
      <p:sp>
        <p:nvSpPr>
          <p:cNvPr id="22" name="Text 20"/>
          <p:cNvSpPr/>
          <p:nvPr/>
        </p:nvSpPr>
        <p:spPr>
          <a:xfrm>
            <a:off x="3200400" y="3383280"/>
            <a:ext cx="5303520" cy="7315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Mercury disables COMT and blocks proper estrogen breakdown, while lack of bile increases recirculation of carcinogenic estrogen metabolites.</a:t>
            </a:r>
            <a:endParaRPr lang="en-US" sz="1000" dirty="0"/>
          </a:p>
        </p:txBody>
      </p:sp>
      <p:sp>
        <p:nvSpPr>
          <p:cNvPr id="23" name="Shape 21"/>
          <p:cNvSpPr/>
          <p:nvPr/>
        </p:nvSpPr>
        <p:spPr>
          <a:xfrm>
            <a:off x="457200" y="4206240"/>
            <a:ext cx="8229600" cy="7315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4" name="Shape 22"/>
          <p:cNvSpPr/>
          <p:nvPr/>
        </p:nvSpPr>
        <p:spPr>
          <a:xfrm>
            <a:off x="457200" y="4206240"/>
            <a:ext cx="73152" cy="731520"/>
          </a:xfrm>
          <a:prstGeom prst="rect">
            <a:avLst/>
          </a:prstGeom>
          <a:solidFill>
            <a:srgbClr val="243055"/>
          </a:solidFill>
          <a:ln/>
        </p:spPr>
      </p:sp>
      <p:sp>
        <p:nvSpPr>
          <p:cNvPr id="25" name="Text 23"/>
          <p:cNvSpPr/>
          <p:nvPr/>
        </p:nvSpPr>
        <p:spPr>
          <a:xfrm>
            <a:off x="640080" y="4206240"/>
            <a:ext cx="2743200" cy="365760"/>
          </a:xfrm>
          <a:prstGeom prst="rect">
            <a:avLst/>
          </a:prstGeom>
          <a:noFill/>
          <a:ln/>
        </p:spPr>
        <p:txBody>
          <a:bodyPr wrap="square" rtlCol="0" anchor="ctr"/>
          <a:lstStyle/>
          <a:p>
            <a:pPr indent="0" marL="0">
              <a:buNone/>
            </a:pPr>
            <a:r>
              <a:rPr lang="en-US" sz="1200" b="1" dirty="0">
                <a:solidFill>
                  <a:srgbClr val="1A2440"/>
                </a:solidFill>
                <a:latin typeface="Playfair Display" pitchFamily="34" charset="0"/>
                <a:ea typeface="Playfair Display" pitchFamily="34" charset="-122"/>
                <a:cs typeface="Playfair Display" pitchFamily="34" charset="-120"/>
              </a:rPr>
              <a:t>5. Untreated parasite burden</a:t>
            </a:r>
            <a:endParaRPr lang="en-US" sz="1200" dirty="0"/>
          </a:p>
        </p:txBody>
      </p:sp>
      <p:sp>
        <p:nvSpPr>
          <p:cNvPr id="26" name="Text 24"/>
          <p:cNvSpPr/>
          <p:nvPr/>
        </p:nvSpPr>
        <p:spPr>
          <a:xfrm>
            <a:off x="640080" y="4535424"/>
            <a:ext cx="1828800" cy="292608"/>
          </a:xfrm>
          <a:prstGeom prst="rect">
            <a:avLst/>
          </a:prstGeom>
          <a:noFill/>
          <a:ln/>
        </p:spPr>
        <p:txBody>
          <a:bodyPr wrap="square" rtlCol="0" anchor="t"/>
          <a:lstStyle/>
          <a:p>
            <a:pPr indent="0" marL="0">
              <a:buNone/>
            </a:pPr>
            <a:r>
              <a:rPr lang="en-US" sz="800" dirty="0">
                <a:solidFill>
                  <a:srgbClr val="243055"/>
                </a:solidFill>
                <a:latin typeface="Source Sans 3" pitchFamily="34" charset="0"/>
                <a:ea typeface="Source Sans 3" pitchFamily="34" charset="-122"/>
                <a:cs typeface="Source Sans 3" pitchFamily="34" charset="-120"/>
              </a:rPr>
              <a:t>QUINARY</a:t>
            </a:r>
            <a:endParaRPr lang="en-US" sz="800" dirty="0"/>
          </a:p>
        </p:txBody>
      </p:sp>
      <p:sp>
        <p:nvSpPr>
          <p:cNvPr id="27" name="Text 25"/>
          <p:cNvSpPr/>
          <p:nvPr/>
        </p:nvSpPr>
        <p:spPr>
          <a:xfrm>
            <a:off x="3200400" y="4206240"/>
            <a:ext cx="5303520" cy="7315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Unaddressed parasite colonization harbors heavy metals, suppresses antitumor immunity, and exhausts micronutrients. Needs initial clearance before heavy metal chelation.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Playfair Display" pitchFamily="34" charset="0"/>
                <a:ea typeface="Playfair Display" pitchFamily="34" charset="-122"/>
                <a:cs typeface="Playfair Display" pitchFamily="34" charset="-120"/>
              </a:rPr>
              <a:t>5 R's to Healing at FF PMA</a:t>
            </a:r>
            <a:endParaRPr lang="en-US" sz="2800" dirty="0"/>
          </a:p>
        </p:txBody>
      </p:sp>
      <p:sp>
        <p:nvSpPr>
          <p:cNvPr id="3" name="Shape 1"/>
          <p:cNvSpPr/>
          <p:nvPr/>
        </p:nvSpPr>
        <p:spPr>
          <a:xfrm>
            <a:off x="457200" y="1005840"/>
            <a:ext cx="8229600" cy="685800"/>
          </a:xfrm>
          <a:prstGeom prst="rect">
            <a:avLst/>
          </a:prstGeom>
          <a:solidFill>
            <a:srgbClr val="243055"/>
          </a:solidFill>
          <a:ln/>
        </p:spPr>
      </p:sp>
      <p:sp>
        <p:nvSpPr>
          <p:cNvPr id="4" name="Shape 2"/>
          <p:cNvSpPr/>
          <p:nvPr/>
        </p:nvSpPr>
        <p:spPr>
          <a:xfrm>
            <a:off x="457200" y="1005840"/>
            <a:ext cx="73152" cy="685800"/>
          </a:xfrm>
          <a:prstGeom prst="rect">
            <a:avLst/>
          </a:prstGeom>
          <a:solidFill>
            <a:srgbClr val="C62828"/>
          </a:solidFill>
          <a:ln/>
        </p:spPr>
      </p:sp>
      <p:sp>
        <p:nvSpPr>
          <p:cNvPr id="5" name="Text 3"/>
          <p:cNvSpPr/>
          <p:nvPr/>
        </p:nvSpPr>
        <p:spPr>
          <a:xfrm>
            <a:off x="640080" y="1005840"/>
            <a:ext cx="3200400" cy="320040"/>
          </a:xfrm>
          <a:prstGeom prst="rect">
            <a:avLst/>
          </a:prstGeom>
          <a:noFill/>
          <a:ln/>
        </p:spPr>
        <p:txBody>
          <a:bodyPr wrap="square" rtlCol="0" anchor="ctr"/>
          <a:lstStyle/>
          <a:p>
            <a:pPr indent="0" marL="0">
              <a:buNone/>
            </a:pPr>
            <a:r>
              <a:rPr lang="en-US" sz="1300" b="1" dirty="0">
                <a:solidFill>
                  <a:srgbClr val="C62828"/>
                </a:solidFill>
                <a:latin typeface="Playfair Display" pitchFamily="34" charset="0"/>
                <a:ea typeface="Playfair Display" pitchFamily="34" charset="-122"/>
                <a:cs typeface="Playfair Display" pitchFamily="34" charset="-120"/>
              </a:rPr>
              <a:t>Phase 1: REMOVE</a:t>
            </a:r>
            <a:endParaRPr lang="en-US" sz="1300" dirty="0"/>
          </a:p>
        </p:txBody>
      </p:sp>
      <p:sp>
        <p:nvSpPr>
          <p:cNvPr id="6" name="Text 4"/>
          <p:cNvSpPr/>
          <p:nvPr/>
        </p:nvSpPr>
        <p:spPr>
          <a:xfrm>
            <a:off x="640080" y="1325880"/>
            <a:ext cx="1828800" cy="274320"/>
          </a:xfrm>
          <a:prstGeom prst="rect">
            <a:avLst/>
          </a:prstGeom>
          <a:noFill/>
          <a:ln/>
        </p:spPr>
        <p:txBody>
          <a:bodyPr wrap="square" rtlCol="0" anchor="t"/>
          <a:lstStyle/>
          <a:p>
            <a:pPr indent="0" marL="0">
              <a:buNone/>
            </a:pPr>
            <a:r>
              <a:rPr lang="en-US" sz="900" dirty="0">
                <a:solidFill>
                  <a:srgbClr val="5A6B8A"/>
                </a:solidFill>
                <a:latin typeface="Source Sans 3" pitchFamily="34" charset="0"/>
                <a:ea typeface="Source Sans 3" pitchFamily="34" charset="-122"/>
                <a:cs typeface="Source Sans 3" pitchFamily="34" charset="-120"/>
              </a:rPr>
              <a:t>Week 1-3</a:t>
            </a:r>
            <a:endParaRPr lang="en-US" sz="900" dirty="0"/>
          </a:p>
        </p:txBody>
      </p:sp>
      <p:sp>
        <p:nvSpPr>
          <p:cNvPr id="7" name="Text 5"/>
          <p:cNvSpPr/>
          <p:nvPr/>
        </p:nvSpPr>
        <p:spPr>
          <a:xfrm>
            <a:off x="3840480" y="1005840"/>
            <a:ext cx="4663440" cy="685800"/>
          </a:xfrm>
          <a:prstGeom prst="rect">
            <a:avLst/>
          </a:prstGeom>
          <a:noFill/>
          <a:ln/>
        </p:spPr>
        <p:txBody>
          <a:bodyPr wrap="square" rtlCol="0" anchor="ctr"/>
          <a:lstStyle/>
          <a:p>
            <a:pPr indent="0" marL="0">
              <a:buNone/>
            </a:pPr>
            <a:r>
              <a:rPr lang="en-US" sz="1000" dirty="0">
                <a:solidFill>
                  <a:srgbClr val="FFFFFF"/>
                </a:solidFill>
                <a:latin typeface="Source Sans 3" pitchFamily="34" charset="0"/>
                <a:ea typeface="Source Sans 3" pitchFamily="34" charset="-122"/>
                <a:cs typeface="Source Sans 3" pitchFamily="34" charset="-120"/>
              </a:rPr>
              <a:t>Pathogen/parasite and biofilm clearance; initiate estrogen detox and replenish fat-soluble nutrients; prime gentle drainage (not chelation yet).</a:t>
            </a:r>
            <a:endParaRPr lang="en-US" sz="1000" dirty="0"/>
          </a:p>
        </p:txBody>
      </p:sp>
      <p:sp>
        <p:nvSpPr>
          <p:cNvPr id="8" name="Shape 6"/>
          <p:cNvSpPr/>
          <p:nvPr/>
        </p:nvSpPr>
        <p:spPr>
          <a:xfrm>
            <a:off x="457200" y="1783080"/>
            <a:ext cx="8229600" cy="685800"/>
          </a:xfrm>
          <a:prstGeom prst="rect">
            <a:avLst/>
          </a:prstGeom>
          <a:solidFill>
            <a:srgbClr val="243055"/>
          </a:solidFill>
          <a:ln/>
        </p:spPr>
      </p:sp>
      <p:sp>
        <p:nvSpPr>
          <p:cNvPr id="9" name="Shape 7"/>
          <p:cNvSpPr/>
          <p:nvPr/>
        </p:nvSpPr>
        <p:spPr>
          <a:xfrm>
            <a:off x="457200" y="1783080"/>
            <a:ext cx="73152" cy="685800"/>
          </a:xfrm>
          <a:prstGeom prst="rect">
            <a:avLst/>
          </a:prstGeom>
          <a:solidFill>
            <a:srgbClr val="C9A54E"/>
          </a:solidFill>
          <a:ln/>
        </p:spPr>
      </p:sp>
      <p:sp>
        <p:nvSpPr>
          <p:cNvPr id="10" name="Text 8"/>
          <p:cNvSpPr/>
          <p:nvPr/>
        </p:nvSpPr>
        <p:spPr>
          <a:xfrm>
            <a:off x="640080" y="1783080"/>
            <a:ext cx="3200400" cy="320040"/>
          </a:xfrm>
          <a:prstGeom prst="rect">
            <a:avLst/>
          </a:prstGeom>
          <a:noFill/>
          <a:ln/>
        </p:spPr>
        <p:txBody>
          <a:bodyPr wrap="square" rtlCol="0" anchor="ctr"/>
          <a:lstStyle/>
          <a:p>
            <a:pPr indent="0" marL="0">
              <a:buNone/>
            </a:pPr>
            <a:r>
              <a:rPr lang="en-US" sz="1300" b="1" dirty="0">
                <a:solidFill>
                  <a:srgbClr val="C9A54E"/>
                </a:solidFill>
                <a:latin typeface="Playfair Display" pitchFamily="34" charset="0"/>
                <a:ea typeface="Playfair Display" pitchFamily="34" charset="-122"/>
                <a:cs typeface="Playfair Display" pitchFamily="34" charset="-120"/>
              </a:rPr>
              <a:t>Phase 2: RESTORE</a:t>
            </a:r>
            <a:endParaRPr lang="en-US" sz="1300" dirty="0"/>
          </a:p>
        </p:txBody>
      </p:sp>
      <p:sp>
        <p:nvSpPr>
          <p:cNvPr id="11" name="Text 9"/>
          <p:cNvSpPr/>
          <p:nvPr/>
        </p:nvSpPr>
        <p:spPr>
          <a:xfrm>
            <a:off x="640080" y="2103120"/>
            <a:ext cx="1828800" cy="274320"/>
          </a:xfrm>
          <a:prstGeom prst="rect">
            <a:avLst/>
          </a:prstGeom>
          <a:noFill/>
          <a:ln/>
        </p:spPr>
        <p:txBody>
          <a:bodyPr wrap="square" rtlCol="0" anchor="t"/>
          <a:lstStyle/>
          <a:p>
            <a:pPr indent="0" marL="0">
              <a:buNone/>
            </a:pPr>
            <a:r>
              <a:rPr lang="en-US" sz="900" dirty="0">
                <a:solidFill>
                  <a:srgbClr val="5A6B8A"/>
                </a:solidFill>
                <a:latin typeface="Source Sans 3" pitchFamily="34" charset="0"/>
                <a:ea typeface="Source Sans 3" pitchFamily="34" charset="-122"/>
                <a:cs typeface="Source Sans 3" pitchFamily="34" charset="-120"/>
              </a:rPr>
              <a:t>Week 4-5</a:t>
            </a:r>
            <a:endParaRPr lang="en-US" sz="900" dirty="0"/>
          </a:p>
        </p:txBody>
      </p:sp>
      <p:sp>
        <p:nvSpPr>
          <p:cNvPr id="12" name="Text 10"/>
          <p:cNvSpPr/>
          <p:nvPr/>
        </p:nvSpPr>
        <p:spPr>
          <a:xfrm>
            <a:off x="3840480" y="1783080"/>
            <a:ext cx="4663440" cy="685800"/>
          </a:xfrm>
          <a:prstGeom prst="rect">
            <a:avLst/>
          </a:prstGeom>
          <a:noFill/>
          <a:ln/>
        </p:spPr>
        <p:txBody>
          <a:bodyPr wrap="square" rtlCol="0" anchor="ctr"/>
          <a:lstStyle/>
          <a:p>
            <a:pPr indent="0" marL="0">
              <a:buNone/>
            </a:pPr>
            <a:r>
              <a:rPr lang="en-US" sz="1000" dirty="0">
                <a:solidFill>
                  <a:srgbClr val="FFFFFF"/>
                </a:solidFill>
                <a:latin typeface="Source Sans 3" pitchFamily="34" charset="0"/>
                <a:ea typeface="Source Sans 3" pitchFamily="34" charset="-122"/>
                <a:cs typeface="Source Sans 3" pitchFamily="34" charset="-120"/>
              </a:rPr>
              <a:t>Aggressive mitochondrial, antioxidant, and liver restore; immune and fat absorption optimization; maintain cancer suppression.</a:t>
            </a:r>
            <a:endParaRPr lang="en-US" sz="1000" dirty="0"/>
          </a:p>
        </p:txBody>
      </p:sp>
      <p:sp>
        <p:nvSpPr>
          <p:cNvPr id="13" name="Shape 11"/>
          <p:cNvSpPr/>
          <p:nvPr/>
        </p:nvSpPr>
        <p:spPr>
          <a:xfrm>
            <a:off x="457200" y="2560320"/>
            <a:ext cx="8229600" cy="685800"/>
          </a:xfrm>
          <a:prstGeom prst="rect">
            <a:avLst/>
          </a:prstGeom>
          <a:solidFill>
            <a:srgbClr val="243055"/>
          </a:solidFill>
          <a:ln/>
        </p:spPr>
      </p:sp>
      <p:sp>
        <p:nvSpPr>
          <p:cNvPr id="14" name="Shape 12"/>
          <p:cNvSpPr/>
          <p:nvPr/>
        </p:nvSpPr>
        <p:spPr>
          <a:xfrm>
            <a:off x="457200" y="2560320"/>
            <a:ext cx="73152" cy="685800"/>
          </a:xfrm>
          <a:prstGeom prst="rect">
            <a:avLst/>
          </a:prstGeom>
          <a:solidFill>
            <a:srgbClr val="C8CFE0"/>
          </a:solidFill>
          <a:ln/>
        </p:spPr>
      </p:sp>
      <p:sp>
        <p:nvSpPr>
          <p:cNvPr id="15" name="Text 13"/>
          <p:cNvSpPr/>
          <p:nvPr/>
        </p:nvSpPr>
        <p:spPr>
          <a:xfrm>
            <a:off x="640080" y="2560320"/>
            <a:ext cx="3200400" cy="320040"/>
          </a:xfrm>
          <a:prstGeom prst="rect">
            <a:avLst/>
          </a:prstGeom>
          <a:noFill/>
          <a:ln/>
        </p:spPr>
        <p:txBody>
          <a:bodyPr wrap="square" rtlCol="0" anchor="ctr"/>
          <a:lstStyle/>
          <a:p>
            <a:pPr indent="0" marL="0">
              <a:buNone/>
            </a:pPr>
            <a:r>
              <a:rPr lang="en-US" sz="1300" b="1" dirty="0">
                <a:solidFill>
                  <a:srgbClr val="C8CFE0"/>
                </a:solidFill>
                <a:latin typeface="Playfair Display" pitchFamily="34" charset="0"/>
                <a:ea typeface="Playfair Display" pitchFamily="34" charset="-122"/>
                <a:cs typeface="Playfair Display" pitchFamily="34" charset="-120"/>
              </a:rPr>
              <a:t>Phase 3: REPLENISH</a:t>
            </a:r>
            <a:endParaRPr lang="en-US" sz="1300" dirty="0"/>
          </a:p>
        </p:txBody>
      </p:sp>
      <p:sp>
        <p:nvSpPr>
          <p:cNvPr id="16" name="Text 14"/>
          <p:cNvSpPr/>
          <p:nvPr/>
        </p:nvSpPr>
        <p:spPr>
          <a:xfrm>
            <a:off x="640080" y="2880360"/>
            <a:ext cx="1828800" cy="274320"/>
          </a:xfrm>
          <a:prstGeom prst="rect">
            <a:avLst/>
          </a:prstGeom>
          <a:noFill/>
          <a:ln/>
        </p:spPr>
        <p:txBody>
          <a:bodyPr wrap="square" rtlCol="0" anchor="t"/>
          <a:lstStyle/>
          <a:p>
            <a:pPr indent="0" marL="0">
              <a:buNone/>
            </a:pPr>
            <a:r>
              <a:rPr lang="en-US" sz="900" dirty="0">
                <a:solidFill>
                  <a:srgbClr val="5A6B8A"/>
                </a:solidFill>
                <a:latin typeface="Source Sans 3" pitchFamily="34" charset="0"/>
                <a:ea typeface="Source Sans 3" pitchFamily="34" charset="-122"/>
                <a:cs typeface="Source Sans 3" pitchFamily="34" charset="-120"/>
              </a:rPr>
              <a:t>Week 6-8</a:t>
            </a:r>
            <a:endParaRPr lang="en-US" sz="900" dirty="0"/>
          </a:p>
        </p:txBody>
      </p:sp>
      <p:sp>
        <p:nvSpPr>
          <p:cNvPr id="17" name="Text 15"/>
          <p:cNvSpPr/>
          <p:nvPr/>
        </p:nvSpPr>
        <p:spPr>
          <a:xfrm>
            <a:off x="3840480" y="2560320"/>
            <a:ext cx="4663440" cy="685800"/>
          </a:xfrm>
          <a:prstGeom prst="rect">
            <a:avLst/>
          </a:prstGeom>
          <a:noFill/>
          <a:ln/>
        </p:spPr>
        <p:txBody>
          <a:bodyPr wrap="square" rtlCol="0" anchor="ctr"/>
          <a:lstStyle/>
          <a:p>
            <a:pPr indent="0" marL="0">
              <a:buNone/>
            </a:pPr>
            <a:r>
              <a:rPr lang="en-US" sz="1000" dirty="0">
                <a:solidFill>
                  <a:srgbClr val="FFFFFF"/>
                </a:solidFill>
                <a:latin typeface="Source Sans 3" pitchFamily="34" charset="0"/>
                <a:ea typeface="Source Sans 3" pitchFamily="34" charset="-122"/>
                <a:cs typeface="Source Sans 3" pitchFamily="34" charset="-120"/>
              </a:rPr>
              <a:t>Intensive micronutrient replenishment (selenium, zinc, D, A, E, K, B-complex); Sirtuin+mito stack; optimize methylation/detox and antioxidant defense.</a:t>
            </a:r>
            <a:endParaRPr lang="en-US" sz="1000" dirty="0"/>
          </a:p>
        </p:txBody>
      </p:sp>
      <p:sp>
        <p:nvSpPr>
          <p:cNvPr id="18" name="Shape 16"/>
          <p:cNvSpPr/>
          <p:nvPr/>
        </p:nvSpPr>
        <p:spPr>
          <a:xfrm>
            <a:off x="457200" y="3337560"/>
            <a:ext cx="8229600" cy="685800"/>
          </a:xfrm>
          <a:prstGeom prst="rect">
            <a:avLst/>
          </a:prstGeom>
          <a:solidFill>
            <a:srgbClr val="243055"/>
          </a:solidFill>
          <a:ln/>
        </p:spPr>
      </p:sp>
      <p:sp>
        <p:nvSpPr>
          <p:cNvPr id="19" name="Shape 17"/>
          <p:cNvSpPr/>
          <p:nvPr/>
        </p:nvSpPr>
        <p:spPr>
          <a:xfrm>
            <a:off x="457200" y="3337560"/>
            <a:ext cx="73152" cy="685800"/>
          </a:xfrm>
          <a:prstGeom prst="rect">
            <a:avLst/>
          </a:prstGeom>
          <a:solidFill>
            <a:srgbClr val="2E7D32"/>
          </a:solidFill>
          <a:ln/>
        </p:spPr>
      </p:sp>
      <p:sp>
        <p:nvSpPr>
          <p:cNvPr id="20" name="Text 18"/>
          <p:cNvSpPr/>
          <p:nvPr/>
        </p:nvSpPr>
        <p:spPr>
          <a:xfrm>
            <a:off x="640080" y="3337560"/>
            <a:ext cx="3200400" cy="320040"/>
          </a:xfrm>
          <a:prstGeom prst="rect">
            <a:avLst/>
          </a:prstGeom>
          <a:noFill/>
          <a:ln/>
        </p:spPr>
        <p:txBody>
          <a:bodyPr wrap="square" rtlCol="0" anchor="ctr"/>
          <a:lstStyle/>
          <a:p>
            <a:pPr indent="0" marL="0">
              <a:buNone/>
            </a:pPr>
            <a:r>
              <a:rPr lang="en-US" sz="1300" b="1" dirty="0">
                <a:solidFill>
                  <a:srgbClr val="2E7D32"/>
                </a:solidFill>
                <a:latin typeface="Playfair Display" pitchFamily="34" charset="0"/>
                <a:ea typeface="Playfair Display" pitchFamily="34" charset="-122"/>
                <a:cs typeface="Playfair Display" pitchFamily="34" charset="-120"/>
              </a:rPr>
              <a:t>Phase 4: REGENERATE</a:t>
            </a:r>
            <a:endParaRPr lang="en-US" sz="1300" dirty="0"/>
          </a:p>
        </p:txBody>
      </p:sp>
      <p:sp>
        <p:nvSpPr>
          <p:cNvPr id="21" name="Text 19"/>
          <p:cNvSpPr/>
          <p:nvPr/>
        </p:nvSpPr>
        <p:spPr>
          <a:xfrm>
            <a:off x="640080" y="3657600"/>
            <a:ext cx="1828800" cy="274320"/>
          </a:xfrm>
          <a:prstGeom prst="rect">
            <a:avLst/>
          </a:prstGeom>
          <a:noFill/>
          <a:ln/>
        </p:spPr>
        <p:txBody>
          <a:bodyPr wrap="square" rtlCol="0" anchor="t"/>
          <a:lstStyle/>
          <a:p>
            <a:pPr indent="0" marL="0">
              <a:buNone/>
            </a:pPr>
            <a:r>
              <a:rPr lang="en-US" sz="900" dirty="0">
                <a:solidFill>
                  <a:srgbClr val="5A6B8A"/>
                </a:solidFill>
                <a:latin typeface="Source Sans 3" pitchFamily="34" charset="0"/>
                <a:ea typeface="Source Sans 3" pitchFamily="34" charset="-122"/>
                <a:cs typeface="Source Sans 3" pitchFamily="34" charset="-120"/>
              </a:rPr>
              <a:t>Week 9-11</a:t>
            </a:r>
            <a:endParaRPr lang="en-US" sz="900" dirty="0"/>
          </a:p>
        </p:txBody>
      </p:sp>
      <p:sp>
        <p:nvSpPr>
          <p:cNvPr id="22" name="Text 20"/>
          <p:cNvSpPr/>
          <p:nvPr/>
        </p:nvSpPr>
        <p:spPr>
          <a:xfrm>
            <a:off x="3840480" y="3337560"/>
            <a:ext cx="4663440" cy="685800"/>
          </a:xfrm>
          <a:prstGeom prst="rect">
            <a:avLst/>
          </a:prstGeom>
          <a:noFill/>
          <a:ln/>
        </p:spPr>
        <p:txBody>
          <a:bodyPr wrap="square" rtlCol="0" anchor="ctr"/>
          <a:lstStyle/>
          <a:p>
            <a:pPr indent="0" marL="0">
              <a:buNone/>
            </a:pPr>
            <a:r>
              <a:rPr lang="en-US" sz="1000" dirty="0">
                <a:solidFill>
                  <a:srgbClr val="FFFFFF"/>
                </a:solidFill>
                <a:latin typeface="Source Sans 3" pitchFamily="34" charset="0"/>
                <a:ea typeface="Source Sans 3" pitchFamily="34" charset="-122"/>
                <a:cs typeface="Source Sans 3" pitchFamily="34" charset="-120"/>
              </a:rPr>
              <a:t>Safe chelation introduction (post-amalgam-removal and after parasite/biofilm protocols only); IV and oral chelation plus aggressive repair.</a:t>
            </a:r>
            <a:endParaRPr lang="en-US" sz="1000" dirty="0"/>
          </a:p>
        </p:txBody>
      </p:sp>
      <p:sp>
        <p:nvSpPr>
          <p:cNvPr id="23" name="Shape 21"/>
          <p:cNvSpPr/>
          <p:nvPr/>
        </p:nvSpPr>
        <p:spPr>
          <a:xfrm>
            <a:off x="457200" y="4114800"/>
            <a:ext cx="8229600" cy="685800"/>
          </a:xfrm>
          <a:prstGeom prst="rect">
            <a:avLst/>
          </a:prstGeom>
          <a:solidFill>
            <a:srgbClr val="243055"/>
          </a:solidFill>
          <a:ln/>
        </p:spPr>
      </p:sp>
      <p:sp>
        <p:nvSpPr>
          <p:cNvPr id="24" name="Shape 22"/>
          <p:cNvSpPr/>
          <p:nvPr/>
        </p:nvSpPr>
        <p:spPr>
          <a:xfrm>
            <a:off x="457200" y="4114800"/>
            <a:ext cx="73152" cy="685800"/>
          </a:xfrm>
          <a:prstGeom prst="rect">
            <a:avLst/>
          </a:prstGeom>
          <a:solidFill>
            <a:srgbClr val="243055"/>
          </a:solidFill>
          <a:ln/>
        </p:spPr>
      </p:sp>
      <p:sp>
        <p:nvSpPr>
          <p:cNvPr id="25" name="Text 23"/>
          <p:cNvSpPr/>
          <p:nvPr/>
        </p:nvSpPr>
        <p:spPr>
          <a:xfrm>
            <a:off x="640080" y="4114800"/>
            <a:ext cx="3200400" cy="320040"/>
          </a:xfrm>
          <a:prstGeom prst="rect">
            <a:avLst/>
          </a:prstGeom>
          <a:noFill/>
          <a:ln/>
        </p:spPr>
        <p:txBody>
          <a:bodyPr wrap="square" rtlCol="0" anchor="ctr"/>
          <a:lstStyle/>
          <a:p>
            <a:pPr indent="0" marL="0">
              <a:buNone/>
            </a:pPr>
            <a:r>
              <a:rPr lang="en-US" sz="1300" b="1" dirty="0">
                <a:solidFill>
                  <a:srgbClr val="243055"/>
                </a:solidFill>
                <a:latin typeface="Playfair Display" pitchFamily="34" charset="0"/>
                <a:ea typeface="Playfair Display" pitchFamily="34" charset="-122"/>
                <a:cs typeface="Playfair Display" pitchFamily="34" charset="-120"/>
              </a:rPr>
              <a:t>Phase 5: REBALANCE</a:t>
            </a:r>
            <a:endParaRPr lang="en-US" sz="1300" dirty="0"/>
          </a:p>
        </p:txBody>
      </p:sp>
      <p:sp>
        <p:nvSpPr>
          <p:cNvPr id="26" name="Text 24"/>
          <p:cNvSpPr/>
          <p:nvPr/>
        </p:nvSpPr>
        <p:spPr>
          <a:xfrm>
            <a:off x="640080" y="4434840"/>
            <a:ext cx="1828800" cy="274320"/>
          </a:xfrm>
          <a:prstGeom prst="rect">
            <a:avLst/>
          </a:prstGeom>
          <a:noFill/>
          <a:ln/>
        </p:spPr>
        <p:txBody>
          <a:bodyPr wrap="square" rtlCol="0" anchor="t"/>
          <a:lstStyle/>
          <a:p>
            <a:pPr indent="0" marL="0">
              <a:buNone/>
            </a:pPr>
            <a:r>
              <a:rPr lang="en-US" sz="900" dirty="0">
                <a:solidFill>
                  <a:srgbClr val="5A6B8A"/>
                </a:solidFill>
                <a:latin typeface="Source Sans 3" pitchFamily="34" charset="0"/>
                <a:ea typeface="Source Sans 3" pitchFamily="34" charset="-122"/>
                <a:cs typeface="Source Sans 3" pitchFamily="34" charset="-120"/>
              </a:rPr>
              <a:t>Week 12+</a:t>
            </a:r>
            <a:endParaRPr lang="en-US" sz="900" dirty="0"/>
          </a:p>
        </p:txBody>
      </p:sp>
      <p:sp>
        <p:nvSpPr>
          <p:cNvPr id="27" name="Text 25"/>
          <p:cNvSpPr/>
          <p:nvPr/>
        </p:nvSpPr>
        <p:spPr>
          <a:xfrm>
            <a:off x="3840480" y="4114800"/>
            <a:ext cx="4663440" cy="685800"/>
          </a:xfrm>
          <a:prstGeom prst="rect">
            <a:avLst/>
          </a:prstGeom>
          <a:noFill/>
          <a:ln/>
        </p:spPr>
        <p:txBody>
          <a:bodyPr wrap="square" rtlCol="0" anchor="ctr"/>
          <a:lstStyle/>
          <a:p>
            <a:pPr indent="0" marL="0">
              <a:buNone/>
            </a:pPr>
            <a:r>
              <a:rPr lang="en-US" sz="1000" dirty="0">
                <a:solidFill>
                  <a:srgbClr val="FFFFFF"/>
                </a:solidFill>
                <a:latin typeface="Source Sans 3" pitchFamily="34" charset="0"/>
                <a:ea typeface="Source Sans 3" pitchFamily="34" charset="-122"/>
                <a:cs typeface="Source Sans 3" pitchFamily="34" charset="-120"/>
              </a:rPr>
              <a:t>Long-term cancer surveillance, detox maintenance, and metabolic immunity rebuild.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A2440"/>
                </a:solidFill>
                <a:latin typeface="Playfair Display" pitchFamily="34" charset="0"/>
                <a:ea typeface="Playfair Display" pitchFamily="34" charset="-122"/>
                <a:cs typeface="Playfair Display" pitchFamily="34" charset="-120"/>
              </a:rPr>
              <a:t>Daily Schedule</a:t>
            </a:r>
            <a:endParaRPr lang="en-US" sz="2800" dirty="0"/>
          </a:p>
        </p:txBody>
      </p:sp>
      <p:sp>
        <p:nvSpPr>
          <p:cNvPr id="3" name="Shape 1"/>
          <p:cNvSpPr/>
          <p:nvPr/>
        </p:nvSpPr>
        <p:spPr>
          <a:xfrm>
            <a:off x="457200" y="914400"/>
            <a:ext cx="1965960" cy="320040"/>
          </a:xfrm>
          <a:prstGeom prst="rect">
            <a:avLst/>
          </a:prstGeom>
          <a:solidFill>
            <a:srgbClr val="C9A54E"/>
          </a:solidFill>
          <a:ln/>
        </p:spPr>
      </p:sp>
      <p:sp>
        <p:nvSpPr>
          <p:cNvPr id="4" name="Text 2"/>
          <p:cNvSpPr/>
          <p:nvPr/>
        </p:nvSpPr>
        <p:spPr>
          <a:xfrm>
            <a:off x="457200" y="914400"/>
            <a:ext cx="1965960" cy="320040"/>
          </a:xfrm>
          <a:prstGeom prst="rect">
            <a:avLst/>
          </a:prstGeom>
          <a:noFill/>
          <a:ln/>
        </p:spPr>
        <p:txBody>
          <a:bodyPr wrap="square" rtlCol="0" anchor="ctr"/>
          <a:lstStyle/>
          <a:p>
            <a:pPr algn="ctr" indent="0" marL="0">
              <a:buNone/>
            </a:pPr>
            <a:r>
              <a:rPr lang="en-US" sz="1100" b="1" dirty="0">
                <a:solidFill>
                  <a:srgbClr val="FFFFFF"/>
                </a:solidFill>
                <a:latin typeface="Source Sans 3" pitchFamily="34" charset="0"/>
                <a:ea typeface="Source Sans 3" pitchFamily="34" charset="-122"/>
                <a:cs typeface="Source Sans 3" pitchFamily="34" charset="-120"/>
              </a:rPr>
              <a:t>MORNING</a:t>
            </a:r>
            <a:endParaRPr lang="en-US" sz="1100" dirty="0"/>
          </a:p>
        </p:txBody>
      </p:sp>
      <p:sp>
        <p:nvSpPr>
          <p:cNvPr id="5" name="Shape 3"/>
          <p:cNvSpPr/>
          <p:nvPr/>
        </p:nvSpPr>
        <p:spPr>
          <a:xfrm>
            <a:off x="457200" y="1234440"/>
            <a:ext cx="1965960" cy="3474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Text 4"/>
          <p:cNvSpPr/>
          <p:nvPr/>
        </p:nvSpPr>
        <p:spPr>
          <a:xfrm>
            <a:off x="502920" y="1280160"/>
            <a:ext cx="1874520" cy="3383280"/>
          </a:xfrm>
          <a:prstGeom prst="rect">
            <a:avLst/>
          </a:prstGeom>
          <a:noFill/>
          <a:ln/>
        </p:spPr>
        <p:txBody>
          <a:bodyPr wrap="square" rtlCol="0" anchor="t"/>
          <a:lstStyle/>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Filtered water + 1/4 tsp Celtic salt + 10-20 drops TraceMinerals — Hydration &amp; mineral repletion</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Bio-Vitamin All-in-One Micronized Liquid — 1 tbsp for 90 Essential Nutrients</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Adaptogen Greens (with Digestive Enzymes) — 1 scoop in water</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Ox Bile w/ main fat-containing meal — 125-250mg</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Liposomal Vitamin D3/K2 + A + E (combined formulation + ox bile) — 1 tbsp</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Liposomal Glutathione — 1 tbsp</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CoQ10 (IM OR oral) — 100mg IM or 200mg oral</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GlyNAC (glycine + NAC) — 600mg NAC + 2000mg glycine</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MitoStac stack — Resveratrol 500mg, pterostilbene 100mg, quercetin 500mg, fisetin 500mg</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Mighty Blue (methylene blue) — 0.5-1mg/kg</a:t>
            </a:r>
            <a:endParaRPr lang="en-US" sz="800" dirty="0"/>
          </a:p>
        </p:txBody>
      </p:sp>
      <p:sp>
        <p:nvSpPr>
          <p:cNvPr id="7" name="Shape 5"/>
          <p:cNvSpPr/>
          <p:nvPr/>
        </p:nvSpPr>
        <p:spPr>
          <a:xfrm>
            <a:off x="2560320" y="914400"/>
            <a:ext cx="1965960" cy="320040"/>
          </a:xfrm>
          <a:prstGeom prst="rect">
            <a:avLst/>
          </a:prstGeom>
          <a:solidFill>
            <a:srgbClr val="243055"/>
          </a:solidFill>
          <a:ln/>
        </p:spPr>
      </p:sp>
      <p:sp>
        <p:nvSpPr>
          <p:cNvPr id="8" name="Text 6"/>
          <p:cNvSpPr/>
          <p:nvPr/>
        </p:nvSpPr>
        <p:spPr>
          <a:xfrm>
            <a:off x="2560320" y="914400"/>
            <a:ext cx="1965960" cy="320040"/>
          </a:xfrm>
          <a:prstGeom prst="rect">
            <a:avLst/>
          </a:prstGeom>
          <a:noFill/>
          <a:ln/>
        </p:spPr>
        <p:txBody>
          <a:bodyPr wrap="square" rtlCol="0" anchor="ctr"/>
          <a:lstStyle/>
          <a:p>
            <a:pPr algn="ctr" indent="0" marL="0">
              <a:buNone/>
            </a:pPr>
            <a:r>
              <a:rPr lang="en-US" sz="1100" b="1" dirty="0">
                <a:solidFill>
                  <a:srgbClr val="FFFFFF"/>
                </a:solidFill>
                <a:latin typeface="Source Sans 3" pitchFamily="34" charset="0"/>
                <a:ea typeface="Source Sans 3" pitchFamily="34" charset="-122"/>
                <a:cs typeface="Source Sans 3" pitchFamily="34" charset="-120"/>
              </a:rPr>
              <a:t>MIDDAY</a:t>
            </a:r>
            <a:endParaRPr lang="en-US" sz="1100" dirty="0"/>
          </a:p>
        </p:txBody>
      </p:sp>
      <p:sp>
        <p:nvSpPr>
          <p:cNvPr id="9" name="Shape 7"/>
          <p:cNvSpPr/>
          <p:nvPr/>
        </p:nvSpPr>
        <p:spPr>
          <a:xfrm>
            <a:off x="2560320" y="1234440"/>
            <a:ext cx="1965960" cy="3474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0" name="Text 8"/>
          <p:cNvSpPr/>
          <p:nvPr/>
        </p:nvSpPr>
        <p:spPr>
          <a:xfrm>
            <a:off x="2606040" y="1280160"/>
            <a:ext cx="1874520" cy="3383280"/>
          </a:xfrm>
          <a:prstGeom prst="rect">
            <a:avLst/>
          </a:prstGeom>
          <a:noFill/>
          <a:ln/>
        </p:spPr>
        <p:txBody>
          <a:bodyPr wrap="square" rtlCol="0" anchor="t"/>
          <a:lstStyle/>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Filtered water — at least 40oz before 2PM</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Selenium + Magnesium + Zinc (Liposomal) — 1 tbsp</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Astaxanthin w/Vitamin C (Liposomal) — 1 tbsp</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Probiotic (oral, 100B CFU + Prebiotic Fiber) — With meal</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Ox bile (w/main meals) — 125-250mg</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DIM + Calcium-D-Glucarate — DIM 200mg, Cal-D-Glu 500mg</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Mighty Blue (optional dose 2) — Per protocol</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Fenbendazole — 444mg capsule</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Ivermectin — 12mg tablet</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Serrapeptase/Nattokinase — Biofilm disruptor</a:t>
            </a:r>
            <a:endParaRPr lang="en-US" sz="800" dirty="0"/>
          </a:p>
        </p:txBody>
      </p:sp>
      <p:sp>
        <p:nvSpPr>
          <p:cNvPr id="11" name="Shape 9"/>
          <p:cNvSpPr/>
          <p:nvPr/>
        </p:nvSpPr>
        <p:spPr>
          <a:xfrm>
            <a:off x="4663440" y="914400"/>
            <a:ext cx="1965960" cy="320040"/>
          </a:xfrm>
          <a:prstGeom prst="rect">
            <a:avLst/>
          </a:prstGeom>
          <a:solidFill>
            <a:srgbClr val="1A2440"/>
          </a:solidFill>
          <a:ln/>
        </p:spPr>
      </p:sp>
      <p:sp>
        <p:nvSpPr>
          <p:cNvPr id="12" name="Text 10"/>
          <p:cNvSpPr/>
          <p:nvPr/>
        </p:nvSpPr>
        <p:spPr>
          <a:xfrm>
            <a:off x="4663440" y="914400"/>
            <a:ext cx="1965960" cy="320040"/>
          </a:xfrm>
          <a:prstGeom prst="rect">
            <a:avLst/>
          </a:prstGeom>
          <a:noFill/>
          <a:ln/>
        </p:spPr>
        <p:txBody>
          <a:bodyPr wrap="square" rtlCol="0" anchor="ctr"/>
          <a:lstStyle/>
          <a:p>
            <a:pPr algn="ctr" indent="0" marL="0">
              <a:buNone/>
            </a:pPr>
            <a:r>
              <a:rPr lang="en-US" sz="1100" b="1" dirty="0">
                <a:solidFill>
                  <a:srgbClr val="FFFFFF"/>
                </a:solidFill>
                <a:latin typeface="Source Sans 3" pitchFamily="34" charset="0"/>
                <a:ea typeface="Source Sans 3" pitchFamily="34" charset="-122"/>
                <a:cs typeface="Source Sans 3" pitchFamily="34" charset="-120"/>
              </a:rPr>
              <a:t>EVENING</a:t>
            </a:r>
            <a:endParaRPr lang="en-US" sz="1100" dirty="0"/>
          </a:p>
        </p:txBody>
      </p:sp>
      <p:sp>
        <p:nvSpPr>
          <p:cNvPr id="13" name="Shape 11"/>
          <p:cNvSpPr/>
          <p:nvPr/>
        </p:nvSpPr>
        <p:spPr>
          <a:xfrm>
            <a:off x="4663440" y="1234440"/>
            <a:ext cx="1965960" cy="3474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4" name="Text 12"/>
          <p:cNvSpPr/>
          <p:nvPr/>
        </p:nvSpPr>
        <p:spPr>
          <a:xfrm>
            <a:off x="4709160" y="1280160"/>
            <a:ext cx="1874520" cy="3383280"/>
          </a:xfrm>
          <a:prstGeom prst="rect">
            <a:avLst/>
          </a:prstGeom>
          <a:noFill/>
          <a:ln/>
        </p:spPr>
        <p:txBody>
          <a:bodyPr wrap="square" rtlCol="0" anchor="t"/>
          <a:lstStyle/>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Ox bile with dinner — 125-250mg</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Glutathione IM — 600mg</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BPC-157 Oral (pure, delayed release) — 500mcg</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Gut Feeling (vegan GI formula) — 1 scoop in water</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Sirtuin stack (MitoStac) — repeat dose if splitting</a:t>
            </a:r>
            <a:endParaRPr lang="en-US" sz="800" dirty="0"/>
          </a:p>
        </p:txBody>
      </p:sp>
      <p:sp>
        <p:nvSpPr>
          <p:cNvPr id="15" name="Shape 13"/>
          <p:cNvSpPr/>
          <p:nvPr/>
        </p:nvSpPr>
        <p:spPr>
          <a:xfrm>
            <a:off x="6766560" y="914400"/>
            <a:ext cx="1965960" cy="320040"/>
          </a:xfrm>
          <a:prstGeom prst="rect">
            <a:avLst/>
          </a:prstGeom>
          <a:solidFill>
            <a:srgbClr val="0A0E1A"/>
          </a:solidFill>
          <a:ln/>
        </p:spPr>
      </p:sp>
      <p:sp>
        <p:nvSpPr>
          <p:cNvPr id="16" name="Text 14"/>
          <p:cNvSpPr/>
          <p:nvPr/>
        </p:nvSpPr>
        <p:spPr>
          <a:xfrm>
            <a:off x="6766560" y="914400"/>
            <a:ext cx="1965960" cy="320040"/>
          </a:xfrm>
          <a:prstGeom prst="rect">
            <a:avLst/>
          </a:prstGeom>
          <a:noFill/>
          <a:ln/>
        </p:spPr>
        <p:txBody>
          <a:bodyPr wrap="square" rtlCol="0" anchor="ctr"/>
          <a:lstStyle/>
          <a:p>
            <a:pPr algn="ctr" indent="0" marL="0">
              <a:buNone/>
            </a:pPr>
            <a:r>
              <a:rPr lang="en-US" sz="1100" b="1" dirty="0">
                <a:solidFill>
                  <a:srgbClr val="FFFFFF"/>
                </a:solidFill>
                <a:latin typeface="Source Sans 3" pitchFamily="34" charset="0"/>
                <a:ea typeface="Source Sans 3" pitchFamily="34" charset="-122"/>
                <a:cs typeface="Source Sans 3" pitchFamily="34" charset="-120"/>
              </a:rPr>
              <a:t>BEDTIME</a:t>
            </a:r>
            <a:endParaRPr lang="en-US" sz="1100" dirty="0"/>
          </a:p>
        </p:txBody>
      </p:sp>
      <p:sp>
        <p:nvSpPr>
          <p:cNvPr id="17" name="Shape 15"/>
          <p:cNvSpPr/>
          <p:nvPr/>
        </p:nvSpPr>
        <p:spPr>
          <a:xfrm>
            <a:off x="6766560" y="1234440"/>
            <a:ext cx="1965960" cy="3474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8" name="Text 16"/>
          <p:cNvSpPr/>
          <p:nvPr/>
        </p:nvSpPr>
        <p:spPr>
          <a:xfrm>
            <a:off x="6812280" y="1280160"/>
            <a:ext cx="1874520" cy="3383280"/>
          </a:xfrm>
          <a:prstGeom prst="rect">
            <a:avLst/>
          </a:prstGeom>
          <a:noFill/>
          <a:ln/>
        </p:spPr>
        <p:txBody>
          <a:bodyPr wrap="square" rtlCol="0" anchor="t"/>
          <a:lstStyle/>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PinealPep — 1-2 capsules for sleep/anti-aging</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ECS Suppository (CBN:CBD:THC 12:6:2, DMSO 10mg, in cacao butter) — Insert after final bowel/urination, then lie down</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KPV (oral) — 500mcg for anti-inflammatory/immune</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Frequency healing — 528 Hz/741 Hz music/frequency 20 min pre-sleep, headphones</a:t>
            </a:r>
            <a:endParaRPr lang="en-US" sz="800" dirty="0"/>
          </a:p>
          <a:p>
            <a:pPr marL="342900" indent="-342900">
              <a:buSzPct val="100000"/>
              <a:buChar char="•"/>
            </a:pPr>
            <a:r>
              <a:rPr lang="en-US" sz="800" dirty="0">
                <a:solidFill>
                  <a:srgbClr val="1A2440"/>
                </a:solidFill>
                <a:latin typeface="Source Sans 3" pitchFamily="34" charset="0"/>
                <a:ea typeface="Source Sans 3" pitchFamily="34" charset="-122"/>
                <a:cs typeface="Source Sans 3" pitchFamily="34" charset="-120"/>
              </a:rPr>
              <a:t>Filtered water — 8-12oz for overnight rehydration</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A2440"/>
                </a:solidFill>
                <a:latin typeface="Playfair Display" pitchFamily="34" charset="0"/>
                <a:ea typeface="Playfair Display" pitchFamily="34" charset="-122"/>
                <a:cs typeface="Playfair Display" pitchFamily="34" charset="-120"/>
              </a:rPr>
              <a:t>Therapeutics: Forgotten Formula Products</a:t>
            </a:r>
            <a:endParaRPr lang="en-US" sz="2400" dirty="0"/>
          </a:p>
        </p:txBody>
      </p:sp>
      <p:sp>
        <p:nvSpPr>
          <p:cNvPr id="3" name="Shape 1"/>
          <p:cNvSpPr/>
          <p:nvPr/>
        </p:nvSpPr>
        <p:spPr>
          <a:xfrm>
            <a:off x="457200" y="914400"/>
            <a:ext cx="82296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3200400"/>
          </a:xfrm>
          <a:prstGeom prst="rect">
            <a:avLst/>
          </a:prstGeom>
          <a:noFill/>
          <a:ln/>
        </p:spPr>
        <p:txBody>
          <a:bodyPr wrap="square" rtlCol="0" anchor="t"/>
          <a:lstStyle/>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Bio-Vitamin All-in-One Micronized Liquid — 1 tablespoon (AM)</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Complete Reds — 1 scoop (AM)</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Adaptogen Greens + Digestive Enzymes — 1 scoop (AM)</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The Elixir for Everything tincture — 0.5ml (AM (hold sublingual 1min))</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French Celtic Salt — 1/4 tsp in water (AM)</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FF Trace Mineral Concentrate — 10-20 drops in water (AM)</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Ox Bile — 125-250mg (With each fat-containing meal)</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Liposomal Vitamin D3 + K2 — 5000 IU/200mcg per day (AM (with ox bile))</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Liposomal A + E — per manufacturer (AM (with ox bile))</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Astaxanthin w/Vitamin C Liposomal — 1 tablespoon (Midday)</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Selenium + Magnesium/Zinc Liposomal — 1 tablespoon (Midday)</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DIM — 200mg (Midday)</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Calcium-d-glucarate — 500mg (Midday)</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CoQ10 IM or oral — 100mg IM or 200mg oral (morning)</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GlyNAC — 600mg NAC + 2000mg glycine (AM)</a:t>
            </a:r>
            <a:endParaRPr lang="en-US" sz="1100" dirty="0"/>
          </a:p>
          <a:p>
            <a:pPr marL="342900" indent="-342900">
              <a:buSzPct val="100000"/>
              <a:buChar char="•"/>
            </a:pPr>
            <a:r>
              <a:rPr lang="en-US" sz="1100" dirty="0">
                <a:solidFill>
                  <a:srgbClr val="1A2440"/>
                </a:solidFill>
                <a:latin typeface="Source Sans 3" pitchFamily="34" charset="0"/>
                <a:ea typeface="Source Sans 3" pitchFamily="34" charset="-122"/>
                <a:cs typeface="Source Sans 3" pitchFamily="34" charset="-120"/>
              </a:rPr>
              <a:t>MitoStac stack — see SirtuinStack (AM, optionally divided)</a:t>
            </a:r>
            <a:endParaRPr lang="en-US" sz="1100" dirty="0"/>
          </a:p>
        </p:txBody>
      </p:sp>
      <p:sp>
        <p:nvSpPr>
          <p:cNvPr id="5" name="Text 3">
            <a:hlinkClick r:id="rId1" tooltip=""/>
          </p:cNvPr>
          <p:cNvSpPr/>
          <p:nvPr/>
        </p:nvSpPr>
        <p:spPr>
          <a:xfrm>
            <a:off x="640080" y="4297680"/>
            <a:ext cx="7863840" cy="365760"/>
          </a:xfrm>
          <a:prstGeom prst="rect">
            <a:avLst/>
          </a:prstGeom>
          <a:noFill/>
          <a:ln/>
        </p:spPr>
        <p:txBody>
          <a:bodyPr wrap="square" rtlCol="0" anchor="ctr"/>
          <a:lstStyle/>
          <a:p>
            <a:pPr indent="0" marL="0">
              <a:buNone/>
            </a:pPr>
            <a:r>
              <a:rPr lang="en-US" sz="1000" u="sng" dirty="0">
                <a:solidFill>
                  <a:srgbClr val="C9A54E"/>
                </a:solidFill>
                <a:latin typeface="Source Sans 3" pitchFamily="34" charset="0"/>
                <a:ea typeface="Source Sans 3" pitchFamily="34" charset="-122"/>
                <a:cs typeface="Source Sans 3" pitchFamily="34" charset="-120"/>
                <a:hlinkClick r:id="rId1" invalidUrl="" action="" tgtFrame="" tooltip="" history="1" highlightClick="0" endSnd="0">
                  <a:extLst>
                    <a:ext uri="{A12FA001-AC4F-418D-AE19-62706E023703}">
                      <ahyp:hlinkClr xmlns:ahyp="http://schemas.microsoft.com/office/drawing/2018/hyperlinkcolor" val="tx"/>
                    </a:ext>
                  </a:extLst>
                </a:hlinkClick>
              </a:rPr>
              <a:t>Shop: https://www.forgottenformula.com/shop</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C9A54E"/>
                </a:solidFill>
                <a:latin typeface="Playfair Display" pitchFamily="34" charset="0"/>
                <a:ea typeface="Playfair Display" pitchFamily="34" charset="-122"/>
                <a:cs typeface="Playfair Display" pitchFamily="34" charset="-120"/>
              </a:rPr>
              <a:t>Therapeutics: Injectable Peptide Protocol</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914400"/>
        </p:xfrm>
        <a:graphic>
          <a:graphicData uri="http://schemas.openxmlformats.org/drawingml/2006/table">
            <a:tbl>
              <a:tblPr/>
              <a:tblGrid>
                <a:gridCol w="1371600"/>
                <a:gridCol w="1645920"/>
                <a:gridCol w="1097280"/>
                <a:gridCol w="1097280"/>
                <a:gridCol w="914400"/>
                <a:gridCol w="2468880"/>
              </a:tblGrid>
              <a:tr h="0">
                <a:tc>
                  <a:txBody>
                    <a:bodyPr/>
                    <a:lstStyle/>
                    <a:p>
                      <a:pPr indent="0" marL="0">
                        <a:buNone/>
                      </a:pPr>
                      <a:r>
                        <a:rPr lang="en-US" sz="900" b="1" dirty="0">
                          <a:solidFill>
                            <a:srgbClr val="0A0E1A"/>
                          </a:solidFill>
                        </a:rPr>
                        <a:t>Peptide</a:t>
                      </a:r>
                      <a:endParaRPr lang="en-US" sz="9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C9A54E"/>
                    </a:solidFill>
                  </a:tcPr>
                </a:tc>
                <a:tc>
                  <a:txBody>
                    <a:bodyPr/>
                    <a:lstStyle/>
                    <a:p>
                      <a:pPr indent="0" marL="0">
                        <a:buNone/>
                      </a:pPr>
                      <a:r>
                        <a:rPr lang="en-US" sz="900" b="1" dirty="0">
                          <a:solidFill>
                            <a:srgbClr val="0A0E1A"/>
                          </a:solidFill>
                        </a:rPr>
                        <a:t>Vial/Recon</a:t>
                      </a:r>
                      <a:endParaRPr lang="en-US" sz="9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C9A54E"/>
                    </a:solidFill>
                  </a:tcPr>
                </a:tc>
                <a:tc>
                  <a:txBody>
                    <a:bodyPr/>
                    <a:lstStyle/>
                    <a:p>
                      <a:pPr indent="0" marL="0">
                        <a:buNone/>
                      </a:pPr>
                      <a:r>
                        <a:rPr lang="en-US" sz="900" b="1" dirty="0">
                          <a:solidFill>
                            <a:srgbClr val="0A0E1A"/>
                          </a:solidFill>
                        </a:rPr>
                        <a:t>Dose</a:t>
                      </a:r>
                      <a:endParaRPr lang="en-US" sz="9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C9A54E"/>
                    </a:solidFill>
                  </a:tcPr>
                </a:tc>
                <a:tc>
                  <a:txBody>
                    <a:bodyPr/>
                    <a:lstStyle/>
                    <a:p>
                      <a:pPr indent="0" marL="0">
                        <a:buNone/>
                      </a:pPr>
                      <a:r>
                        <a:rPr lang="en-US" sz="900" b="1" dirty="0">
                          <a:solidFill>
                            <a:srgbClr val="0A0E1A"/>
                          </a:solidFill>
                        </a:rPr>
                        <a:t>Frequency</a:t>
                      </a:r>
                      <a:endParaRPr lang="en-US" sz="9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C9A54E"/>
                    </a:solidFill>
                  </a:tcPr>
                </a:tc>
                <a:tc>
                  <a:txBody>
                    <a:bodyPr/>
                    <a:lstStyle/>
                    <a:p>
                      <a:pPr indent="0" marL="0">
                        <a:buNone/>
                      </a:pPr>
                      <a:r>
                        <a:rPr lang="en-US" sz="900" b="1" dirty="0">
                          <a:solidFill>
                            <a:srgbClr val="0A0E1A"/>
                          </a:solidFill>
                        </a:rPr>
                        <a:t>Duration</a:t>
                      </a:r>
                      <a:endParaRPr lang="en-US" sz="9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C9A54E"/>
                    </a:solidFill>
                  </a:tcPr>
                </a:tc>
                <a:tc>
                  <a:txBody>
                    <a:bodyPr/>
                    <a:lstStyle/>
                    <a:p>
                      <a:pPr indent="0" marL="0">
                        <a:buNone/>
                      </a:pPr>
                      <a:r>
                        <a:rPr lang="en-US" sz="900" b="1" dirty="0">
                          <a:solidFill>
                            <a:srgbClr val="0A0E1A"/>
                          </a:solidFill>
                        </a:rPr>
                        <a:t>Purpose</a:t>
                      </a:r>
                      <a:endParaRPr lang="en-US" sz="9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C9A54E"/>
                    </a:solidFill>
                  </a:tcPr>
                </a:tc>
              </a:tr>
              <a:tr h="0">
                <a:tc>
                  <a:txBody>
                    <a:bodyPr/>
                    <a:lstStyle/>
                    <a:p>
                      <a:pPr indent="0" marL="0">
                        <a:buNone/>
                      </a:pPr>
                      <a:r>
                        <a:rPr lang="en-US" sz="800" b="1" dirty="0">
                          <a:solidFill>
                            <a:srgbClr val="C9A54E"/>
                          </a:solidFill>
                        </a:rPr>
                        <a:t>Thymosin Alpha-1 (TA-1)</a:t>
                      </a:r>
                      <a:endParaRPr lang="en-US" sz="8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700" dirty="0">
                          <a:solidFill>
                            <a:srgbClr val="C8CFE0"/>
                          </a:solidFill>
                        </a:rPr>
                        <a:t>5mg vial</a:t>
                      </a:r>
                      <a:endParaRPr lang="en-US" sz="700" dirty="0"/>
                    </a:p>
                    <a:p>
                      <a:pPr indent="0" marL="0">
                        <a:buNone/>
                      </a:pPr>
                      <a:r>
                        <a:rPr lang="en-US" sz="700" dirty="0">
                          <a:solidFill>
                            <a:srgbClr val="C8CFE0"/>
                          </a:solidFill>
                        </a:rPr>
                        <a:t>Reconstitute with 1mL BAC water</a:t>
                      </a:r>
                      <a:endParaRPr lang="en-US" sz="7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800" dirty="0">
                          <a:solidFill>
                            <a:srgbClr val="C8CFE0"/>
                          </a:solidFill>
                        </a:rPr>
                        <a:t>1.6mg</a:t>
                      </a:r>
                      <a:endParaRPr lang="en-US" sz="8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800" dirty="0">
                          <a:solidFill>
                            <a:srgbClr val="C8CFE0"/>
                          </a:solidFill>
                        </a:rPr>
                        <a:t>2x weekly</a:t>
                      </a:r>
                      <a:endParaRPr lang="en-US" sz="8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800" dirty="0">
                          <a:solidFill>
                            <a:srgbClr val="C8CFE0"/>
                          </a:solidFill>
                        </a:rPr>
                        <a:t>90 days</a:t>
                      </a:r>
                      <a:endParaRPr lang="en-US" sz="8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700" dirty="0">
                          <a:solidFill>
                            <a:srgbClr val="8A95B0"/>
                          </a:solidFill>
                        </a:rPr>
                        <a:t>Immune restoration, cancer immunosurveillance</a:t>
                      </a:r>
                      <a:endParaRPr lang="en-US" sz="7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r>
              <a:tr h="0">
                <a:tc>
                  <a:txBody>
                    <a:bodyPr/>
                    <a:lstStyle/>
                    <a:p>
                      <a:pPr indent="0" marL="0">
                        <a:buNone/>
                      </a:pPr>
                      <a:r>
                        <a:rPr lang="en-US" sz="800" b="1" dirty="0">
                          <a:solidFill>
                            <a:srgbClr val="C9A54E"/>
                          </a:solidFill>
                        </a:rPr>
                        <a:t>GHK-Cu</a:t>
                      </a:r>
                      <a:endParaRPr lang="en-US" sz="8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700" dirty="0">
                          <a:solidFill>
                            <a:srgbClr val="C8CFE0"/>
                          </a:solidFill>
                        </a:rPr>
                        <a:t>50mg vial</a:t>
                      </a:r>
                      <a:endParaRPr lang="en-US" sz="700" dirty="0"/>
                    </a:p>
                    <a:p>
                      <a:pPr indent="0" marL="0">
                        <a:buNone/>
                      </a:pPr>
                      <a:r>
                        <a:rPr lang="en-US" sz="700" dirty="0">
                          <a:solidFill>
                            <a:srgbClr val="C8CFE0"/>
                          </a:solidFill>
                        </a:rPr>
                        <a:t>2mL BAC water (25mg/mL)</a:t>
                      </a:r>
                      <a:endParaRPr lang="en-US" sz="7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800" dirty="0">
                          <a:solidFill>
                            <a:srgbClr val="C8CFE0"/>
                          </a:solidFill>
                        </a:rPr>
                        <a:t>2mg</a:t>
                      </a:r>
                      <a:endParaRPr lang="en-US" sz="8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800" dirty="0">
                          <a:solidFill>
                            <a:srgbClr val="C8CFE0"/>
                          </a:solidFill>
                        </a:rPr>
                        <a:t>daily</a:t>
                      </a:r>
                      <a:endParaRPr lang="en-US" sz="8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800" dirty="0">
                          <a:solidFill>
                            <a:srgbClr val="C8CFE0"/>
                          </a:solidFill>
                        </a:rPr>
                        <a:t>90 days</a:t>
                      </a:r>
                      <a:endParaRPr lang="en-US" sz="8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700" dirty="0">
                          <a:solidFill>
                            <a:srgbClr val="8A95B0"/>
                          </a:solidFill>
                        </a:rPr>
                        <a:t>Tissue regeneration, wound/injury repair, anti-aging</a:t>
                      </a:r>
                      <a:endParaRPr lang="en-US" sz="7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r>
              <a:tr h="0">
                <a:tc>
                  <a:txBody>
                    <a:bodyPr/>
                    <a:lstStyle/>
                    <a:p>
                      <a:pPr indent="0" marL="0">
                        <a:buNone/>
                      </a:pPr>
                      <a:r>
                        <a:rPr lang="en-US" sz="800" b="1" dirty="0">
                          <a:solidFill>
                            <a:srgbClr val="C9A54E"/>
                          </a:solidFill>
                        </a:rPr>
                        <a:t>BPC-157/TB-500 Blend</a:t>
                      </a:r>
                      <a:endParaRPr lang="en-US" sz="8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700" dirty="0">
                          <a:solidFill>
                            <a:srgbClr val="C8CFE0"/>
                          </a:solidFill>
                        </a:rPr>
                        <a:t>10mg blend (5mg each)</a:t>
                      </a:r>
                      <a:endParaRPr lang="en-US" sz="700" dirty="0"/>
                    </a:p>
                    <a:p>
                      <a:pPr indent="0" marL="0">
                        <a:buNone/>
                      </a:pPr>
                      <a:r>
                        <a:rPr lang="en-US" sz="700" dirty="0">
                          <a:solidFill>
                            <a:srgbClr val="C8CFE0"/>
                          </a:solidFill>
                        </a:rPr>
                        <a:t>1mL BAC water</a:t>
                      </a:r>
                      <a:endParaRPr lang="en-US" sz="7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800" dirty="0">
                          <a:solidFill>
                            <a:srgbClr val="C8CFE0"/>
                          </a:solidFill>
                        </a:rPr>
                        <a:t>0.5mL (2.5mg each)</a:t>
                      </a:r>
                      <a:endParaRPr lang="en-US" sz="8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800" dirty="0">
                          <a:solidFill>
                            <a:srgbClr val="C8CFE0"/>
                          </a:solidFill>
                        </a:rPr>
                        <a:t>daily</a:t>
                      </a:r>
                      <a:endParaRPr lang="en-US" sz="8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800" dirty="0">
                          <a:solidFill>
                            <a:srgbClr val="C8CFE0"/>
                          </a:solidFill>
                        </a:rPr>
                        <a:t>4-6 weeks, then 2x weekly maintenance</a:t>
                      </a:r>
                      <a:endParaRPr lang="en-US" sz="8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c>
                  <a:txBody>
                    <a:bodyPr/>
                    <a:lstStyle/>
                    <a:p>
                      <a:pPr indent="0" marL="0">
                        <a:buNone/>
                      </a:pPr>
                      <a:r>
                        <a:rPr lang="en-US" sz="700" dirty="0">
                          <a:solidFill>
                            <a:srgbClr val="8A95B0"/>
                          </a:solidFill>
                        </a:rPr>
                        <a:t>GI recovery, tissue repair, mitochondrial integrity</a:t>
                      </a:r>
                      <a:endParaRPr lang="en-US" sz="700" dirty="0"/>
                    </a:p>
                  </a:txBody>
                  <a:tcPr marL="91440" marR="91440" marT="45720" marB="45720">
                    <a:lnL w="6350" cap="flat" cmpd="sng" algn="ctr">
                      <a:solidFill>
                        <a:srgbClr val="1A2440"/>
                      </a:solidFill>
                      <a:prstDash val="solid"/>
                      <a:round/>
                      <a:headEnd type="none" w="med" len="med"/>
                      <a:tailEnd type="none" w="med" len="med"/>
                    </a:lnL>
                    <a:lnR w="6350" cap="flat" cmpd="sng" algn="ctr">
                      <a:solidFill>
                        <a:srgbClr val="1A2440"/>
                      </a:solidFill>
                      <a:prstDash val="solid"/>
                      <a:round/>
                      <a:headEnd type="none" w="med" len="med"/>
                      <a:tailEnd type="none" w="med" len="med"/>
                    </a:lnR>
                    <a:lnT w="6350" cap="flat" cmpd="sng" algn="ctr">
                      <a:solidFill>
                        <a:srgbClr val="1A2440"/>
                      </a:solidFill>
                      <a:prstDash val="solid"/>
                      <a:round/>
                      <a:headEnd type="none" w="med" len="med"/>
                      <a:tailEnd type="none" w="med" len="med"/>
                    </a:lnT>
                    <a:lnB w="6350" cap="flat" cmpd="sng" algn="ctr">
                      <a:solidFill>
                        <a:srgbClr val="1A2440"/>
                      </a:solidFill>
                      <a:prstDash val="solid"/>
                      <a:round/>
                      <a:headEnd type="none" w="med" len="med"/>
                      <a:tailEnd type="none" w="med" len="med"/>
                    </a:lnB>
                    <a:solidFill>
                      <a:srgbClr val="243055"/>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A2440"/>
                </a:solidFill>
                <a:latin typeface="Playfair Display" pitchFamily="34" charset="0"/>
                <a:ea typeface="Playfair Display" pitchFamily="34" charset="-122"/>
                <a:cs typeface="Playfair Display" pitchFamily="34" charset="-120"/>
              </a:rPr>
              <a:t>Therapeutics: Oral Peptides</a:t>
            </a:r>
            <a:endParaRPr lang="en-US" sz="2400" dirty="0"/>
          </a:p>
        </p:txBody>
      </p:sp>
      <p:sp>
        <p:nvSpPr>
          <p:cNvPr id="3" name="Shape 1"/>
          <p:cNvSpPr/>
          <p:nvPr/>
        </p:nvSpPr>
        <p:spPr>
          <a:xfrm>
            <a:off x="457200" y="914400"/>
            <a:ext cx="82296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3657600"/>
          </a:xfrm>
          <a:prstGeom prst="rect">
            <a:avLst/>
          </a:prstGeom>
          <a:noFill/>
          <a:ln/>
        </p:spPr>
        <p:txBody>
          <a:bodyPr wrap="square" rtlCol="0" anchor="t"/>
          <a:lstStyle/>
          <a:p>
            <a:pPr indent="0" marL="0">
              <a:buNone/>
            </a:pPr>
            <a:r>
              <a:rPr lang="en-US" sz="1200" b="1" dirty="0">
                <a:solidFill>
                  <a:srgbClr val="1A2440"/>
                </a:solidFill>
                <a:latin typeface="Source Sans 3" pitchFamily="34" charset="0"/>
                <a:ea typeface="Source Sans 3" pitchFamily="34" charset="-122"/>
                <a:cs typeface="Source Sans 3" pitchFamily="34" charset="-120"/>
              </a:rPr>
              <a:t>BPC-157 Pure (Delayed Release)</a:t>
            </a:r>
            <a:pPr indent="0" marL="0">
              <a:buNone/>
            </a:pPr>
            <a:r>
              <a:rPr lang="en-US" sz="1000" dirty="0">
                <a:solidFill>
                  <a:srgbClr val="5A6B8A"/>
                </a:solidFill>
                <a:latin typeface="Source Sans 3" pitchFamily="34" charset="0"/>
                <a:ea typeface="Source Sans 3" pitchFamily="34" charset="-122"/>
                <a:cs typeface="Source Sans 3" pitchFamily="34" charset="-120"/>
              </a:rPr>
              <a:t> — 500mcg | daily | 90 days</a:t>
            </a:r>
            <a:pPr indent="0" marL="0">
              <a:buNone/>
            </a:pPr>
            <a:endParaRPr lang="en-US" sz="1200" dirty="0"/>
          </a:p>
          <a:p>
            <a:pPr indent="0" marL="0">
              <a:buNone/>
            </a:pPr>
            <a:r>
              <a:rPr lang="en-US" sz="900" dirty="0">
                <a:solidFill>
                  <a:srgbClr val="1A2440"/>
                </a:solidFill>
                <a:latin typeface="Source Sans 3" pitchFamily="34" charset="0"/>
                <a:ea typeface="Source Sans 3" pitchFamily="34" charset="-122"/>
                <a:cs typeface="Source Sans 3" pitchFamily="34" charset="-120"/>
              </a:rPr>
              <a:t>   Purpose: GI repair, leaky gut, systemic recovery</a:t>
            </a:r>
            <a:endParaRPr lang="en-US" sz="1200" dirty="0"/>
          </a:p>
          <a:p>
            <a:pPr indent="0" marL="0">
              <a:buNone/>
            </a:pPr>
            <a:r>
              <a:rPr lang="en-US" sz="1200" b="1" dirty="0">
                <a:solidFill>
                  <a:srgbClr val="1A2440"/>
                </a:solidFill>
                <a:latin typeface="Source Sans 3" pitchFamily="34" charset="0"/>
                <a:ea typeface="Source Sans 3" pitchFamily="34" charset="-122"/>
                <a:cs typeface="Source Sans 3" pitchFamily="34" charset="-120"/>
              </a:rPr>
              <a:t>KPV Oral</a:t>
            </a:r>
            <a:pPr indent="0" marL="0">
              <a:buNone/>
            </a:pPr>
            <a:r>
              <a:rPr lang="en-US" sz="1000" dirty="0">
                <a:solidFill>
                  <a:srgbClr val="5A6B8A"/>
                </a:solidFill>
                <a:latin typeface="Source Sans 3" pitchFamily="34" charset="0"/>
                <a:ea typeface="Source Sans 3" pitchFamily="34" charset="-122"/>
                <a:cs typeface="Source Sans 3" pitchFamily="34" charset="-120"/>
              </a:rPr>
              <a:t> — 500mcg | daily | 90 days</a:t>
            </a:r>
            <a:pPr indent="0" marL="0">
              <a:buNone/>
            </a:pPr>
            <a:endParaRPr lang="en-US" sz="1200" dirty="0"/>
          </a:p>
          <a:p>
            <a:pPr indent="0" marL="0">
              <a:buNone/>
            </a:pPr>
            <a:r>
              <a:rPr lang="en-US" sz="900" dirty="0">
                <a:solidFill>
                  <a:srgbClr val="1A2440"/>
                </a:solidFill>
                <a:latin typeface="Source Sans 3" pitchFamily="34" charset="0"/>
                <a:ea typeface="Source Sans 3" pitchFamily="34" charset="-122"/>
                <a:cs typeface="Source Sans 3" pitchFamily="34" charset="-120"/>
              </a:rPr>
              <a:t>   Purpose: Anti-inflammatory, immune modulation, GI healing</a:t>
            </a:r>
            <a:endParaRPr lang="en-US" sz="1200" dirty="0"/>
          </a:p>
          <a:p>
            <a:pPr indent="0" marL="0">
              <a:buNone/>
            </a:pPr>
            <a:r>
              <a:rPr lang="en-US" sz="1200" b="1" dirty="0">
                <a:solidFill>
                  <a:srgbClr val="1A2440"/>
                </a:solidFill>
                <a:latin typeface="Source Sans 3" pitchFamily="34" charset="0"/>
                <a:ea typeface="Source Sans 3" pitchFamily="34" charset="-122"/>
                <a:cs typeface="Source Sans 3" pitchFamily="34" charset="-120"/>
              </a:rPr>
              <a:t>Thymosin Alpha-1 (Oral)</a:t>
            </a:r>
            <a:pPr indent="0" marL="0">
              <a:buNone/>
            </a:pPr>
            <a:r>
              <a:rPr lang="en-US" sz="1000" dirty="0">
                <a:solidFill>
                  <a:srgbClr val="5A6B8A"/>
                </a:solidFill>
                <a:latin typeface="Source Sans 3" pitchFamily="34" charset="0"/>
                <a:ea typeface="Source Sans 3" pitchFamily="34" charset="-122"/>
                <a:cs typeface="Source Sans 3" pitchFamily="34" charset="-120"/>
              </a:rPr>
              <a:t> — 1 capsule | twice daily | 90 days</a:t>
            </a:r>
            <a:pPr indent="0" marL="0">
              <a:buNone/>
            </a:pPr>
            <a:endParaRPr lang="en-US" sz="1200" dirty="0"/>
          </a:p>
          <a:p>
            <a:pPr indent="0" marL="0">
              <a:buNone/>
            </a:pPr>
            <a:r>
              <a:rPr lang="en-US" sz="900" dirty="0">
                <a:solidFill>
                  <a:srgbClr val="1A2440"/>
                </a:solidFill>
                <a:latin typeface="Source Sans 3" pitchFamily="34" charset="0"/>
                <a:ea typeface="Source Sans 3" pitchFamily="34" charset="-122"/>
                <a:cs typeface="Source Sans 3" pitchFamily="34" charset="-120"/>
              </a:rPr>
              <a:t>   Purpose: Sustained immune modulation and cancer protection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200" b="1" dirty="0">
                <a:solidFill>
                  <a:srgbClr val="1A2440"/>
                </a:solidFill>
                <a:latin typeface="Playfair Display" pitchFamily="34" charset="0"/>
                <a:ea typeface="Playfair Display" pitchFamily="34" charset="-122"/>
                <a:cs typeface="Playfair Display" pitchFamily="34" charset="-120"/>
              </a:rPr>
              <a:t>Therapeutics: Forgotten Formula Oral Bioregulators</a:t>
            </a:r>
            <a:endParaRPr lang="en-US" sz="2200" dirty="0"/>
          </a:p>
        </p:txBody>
      </p:sp>
      <p:sp>
        <p:nvSpPr>
          <p:cNvPr id="3" name="Shape 1"/>
          <p:cNvSpPr/>
          <p:nvPr/>
        </p:nvSpPr>
        <p:spPr>
          <a:xfrm>
            <a:off x="457200" y="914400"/>
            <a:ext cx="82296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960120"/>
            <a:ext cx="7863840" cy="274320"/>
          </a:xfrm>
          <a:prstGeom prst="rect">
            <a:avLst/>
          </a:prstGeom>
          <a:noFill/>
          <a:ln/>
        </p:spPr>
        <p:txBody>
          <a:bodyPr wrap="square" rtlCol="0" anchor="ctr"/>
          <a:lstStyle/>
          <a:p>
            <a:pPr indent="0" marL="0">
              <a:buNone/>
            </a:pPr>
            <a:r>
              <a:rPr lang="en-US" sz="1100" dirty="0">
                <a:solidFill>
                  <a:srgbClr val="5A6B8A"/>
                </a:solidFill>
                <a:latin typeface="Source Sans 3" pitchFamily="34" charset="0"/>
                <a:ea typeface="Source Sans 3" pitchFamily="34" charset="-122"/>
                <a:cs typeface="Source Sans 3" pitchFamily="34" charset="-120"/>
              </a:rPr>
              <a:t>The following bioregulators run for the entire 90-day protocol:</a:t>
            </a:r>
            <a:endParaRPr lang="en-US" sz="1100" dirty="0"/>
          </a:p>
        </p:txBody>
      </p:sp>
      <p:sp>
        <p:nvSpPr>
          <p:cNvPr id="5" name="Text 3"/>
          <p:cNvSpPr/>
          <p:nvPr/>
        </p:nvSpPr>
        <p:spPr>
          <a:xfrm>
            <a:off x="640080" y="1371600"/>
            <a:ext cx="7863840" cy="3200400"/>
          </a:xfrm>
          <a:prstGeom prst="rect">
            <a:avLst/>
          </a:prstGeom>
          <a:noFill/>
          <a:ln/>
        </p:spPr>
        <p:txBody>
          <a:bodyPr wrap="square" rtlCol="0" anchor="t"/>
          <a:lstStyle/>
          <a:p>
            <a:pPr indent="0" marL="0">
              <a:buNone/>
            </a:pPr>
            <a:r>
              <a:rPr lang="en-US" sz="1200" b="1" dirty="0">
                <a:solidFill>
                  <a:srgbClr val="C9A54E"/>
                </a:solidFill>
                <a:latin typeface="Source Sans 3" pitchFamily="34" charset="0"/>
                <a:ea typeface="Source Sans 3" pitchFamily="34" charset="-122"/>
                <a:cs typeface="Source Sans 3" pitchFamily="34" charset="-120"/>
              </a:rPr>
              <a:t>Livagen</a:t>
            </a:r>
            <a:pPr indent="0" marL="0">
              <a:buNone/>
            </a:pPr>
            <a:r>
              <a:rPr lang="en-US" sz="1000" dirty="0">
                <a:solidFill>
                  <a:srgbClr val="1A2440"/>
                </a:solidFill>
                <a:latin typeface="Source Sans 3" pitchFamily="34" charset="0"/>
                <a:ea typeface="Source Sans 3" pitchFamily="34" charset="-122"/>
                <a:cs typeface="Source Sans 3" pitchFamily="34" charset="-120"/>
              </a:rPr>
              <a:t> — Target: Liver | 1 capsule (20mg) | daily | 90 days</a:t>
            </a:r>
            <a:endParaRPr lang="en-US" sz="1200" dirty="0"/>
          </a:p>
          <a:p>
            <a:pPr indent="0" marL="0">
              <a:buNone/>
            </a:pPr>
            <a:r>
              <a:rPr lang="en-US" sz="1200" b="1" dirty="0">
                <a:solidFill>
                  <a:srgbClr val="C9A54E"/>
                </a:solidFill>
                <a:latin typeface="Source Sans 3" pitchFamily="34" charset="0"/>
                <a:ea typeface="Source Sans 3" pitchFamily="34" charset="-122"/>
                <a:cs typeface="Source Sans 3" pitchFamily="34" charset="-120"/>
              </a:rPr>
              <a:t>Cartalax</a:t>
            </a:r>
            <a:pPr indent="0" marL="0">
              <a:buNone/>
            </a:pPr>
            <a:r>
              <a:rPr lang="en-US" sz="1000" dirty="0">
                <a:solidFill>
                  <a:srgbClr val="1A2440"/>
                </a:solidFill>
                <a:latin typeface="Source Sans 3" pitchFamily="34" charset="0"/>
                <a:ea typeface="Source Sans 3" pitchFamily="34" charset="-122"/>
                <a:cs typeface="Source Sans 3" pitchFamily="34" charset="-120"/>
              </a:rPr>
              <a:t> — Target: Cartilage | 1 capsule (20mg) | daily | 90 days</a:t>
            </a:r>
            <a:endParaRPr lang="en-US" sz="1200" dirty="0"/>
          </a:p>
          <a:p>
            <a:pPr indent="0" marL="0">
              <a:buNone/>
            </a:pPr>
            <a:r>
              <a:rPr lang="en-US" sz="1200" b="1" dirty="0">
                <a:solidFill>
                  <a:srgbClr val="C9A54E"/>
                </a:solidFill>
                <a:latin typeface="Source Sans 3" pitchFamily="34" charset="0"/>
                <a:ea typeface="Source Sans 3" pitchFamily="34" charset="-122"/>
                <a:cs typeface="Source Sans 3" pitchFamily="34" charset="-120"/>
              </a:rPr>
              <a:t>Ovary Bioregulator</a:t>
            </a:r>
            <a:pPr indent="0" marL="0">
              <a:buNone/>
            </a:pPr>
            <a:r>
              <a:rPr lang="en-US" sz="1000" dirty="0">
                <a:solidFill>
                  <a:srgbClr val="1A2440"/>
                </a:solidFill>
                <a:latin typeface="Source Sans 3" pitchFamily="34" charset="0"/>
                <a:ea typeface="Source Sans 3" pitchFamily="34" charset="-122"/>
                <a:cs typeface="Source Sans 3" pitchFamily="34" charset="-120"/>
              </a:rPr>
              <a:t> — Target: Ovary | 2 capsules (10mg each) | daily | 90 days</a:t>
            </a:r>
            <a:endParaRPr lang="en-US" sz="1200" dirty="0"/>
          </a:p>
          <a:p>
            <a:pPr indent="0" marL="0">
              <a:buNone/>
            </a:pPr>
            <a:r>
              <a:rPr lang="en-US" sz="1200" b="1" dirty="0">
                <a:solidFill>
                  <a:srgbClr val="C9A54E"/>
                </a:solidFill>
                <a:latin typeface="Source Sans 3" pitchFamily="34" charset="0"/>
                <a:ea typeface="Source Sans 3" pitchFamily="34" charset="-122"/>
                <a:cs typeface="Source Sans 3" pitchFamily="34" charset="-120"/>
              </a:rPr>
              <a:t>Thymogen</a:t>
            </a:r>
            <a:pPr indent="0" marL="0">
              <a:buNone/>
            </a:pPr>
            <a:r>
              <a:rPr lang="en-US" sz="1000" dirty="0">
                <a:solidFill>
                  <a:srgbClr val="1A2440"/>
                </a:solidFill>
                <a:latin typeface="Source Sans 3" pitchFamily="34" charset="0"/>
                <a:ea typeface="Source Sans 3" pitchFamily="34" charset="-122"/>
                <a:cs typeface="Source Sans 3" pitchFamily="34" charset="-120"/>
              </a:rPr>
              <a:t> — Target: Thymus | 2 capsules (20mg) | daily | 90 days</a:t>
            </a:r>
            <a:endParaRPr lang="en-US" sz="1200" dirty="0"/>
          </a:p>
          <a:p>
            <a:pPr indent="0" marL="0">
              <a:buNone/>
            </a:pPr>
            <a:r>
              <a:rPr lang="en-US" sz="1200" b="1" dirty="0">
                <a:solidFill>
                  <a:srgbClr val="C9A54E"/>
                </a:solidFill>
                <a:latin typeface="Source Sans 3" pitchFamily="34" charset="0"/>
                <a:ea typeface="Source Sans 3" pitchFamily="34" charset="-122"/>
                <a:cs typeface="Source Sans 3" pitchFamily="34" charset="-120"/>
              </a:rPr>
              <a:t>Pancragen</a:t>
            </a:r>
            <a:pPr indent="0" marL="0">
              <a:buNone/>
            </a:pPr>
            <a:r>
              <a:rPr lang="en-US" sz="1000" dirty="0">
                <a:solidFill>
                  <a:srgbClr val="1A2440"/>
                </a:solidFill>
                <a:latin typeface="Source Sans 3" pitchFamily="34" charset="0"/>
                <a:ea typeface="Source Sans 3" pitchFamily="34" charset="-122"/>
                <a:cs typeface="Source Sans 3" pitchFamily="34" charset="-120"/>
              </a:rPr>
              <a:t> — Target: Pancreas | 2 capsules (20mg) | daily | 90 days</a:t>
            </a:r>
            <a:endParaRPr lang="en-US" sz="1200" dirty="0"/>
          </a:p>
          <a:p>
            <a:pPr indent="0" marL="0">
              <a:buNone/>
            </a:pPr>
            <a:r>
              <a:rPr lang="en-US" sz="1200" b="1" dirty="0">
                <a:solidFill>
                  <a:srgbClr val="C9A54E"/>
                </a:solidFill>
                <a:latin typeface="Source Sans 3" pitchFamily="34" charset="0"/>
                <a:ea typeface="Source Sans 3" pitchFamily="34" charset="-122"/>
                <a:cs typeface="Source Sans 3" pitchFamily="34" charset="-120"/>
              </a:rPr>
              <a:t>Central Nervous System Bioregulator</a:t>
            </a:r>
            <a:pPr indent="0" marL="0">
              <a:buNone/>
            </a:pPr>
            <a:r>
              <a:rPr lang="en-US" sz="1000" dirty="0">
                <a:solidFill>
                  <a:srgbClr val="1A2440"/>
                </a:solidFill>
                <a:latin typeface="Source Sans 3" pitchFamily="34" charset="0"/>
                <a:ea typeface="Source Sans 3" pitchFamily="34" charset="-122"/>
                <a:cs typeface="Source Sans 3" pitchFamily="34" charset="-120"/>
              </a:rPr>
              <a:t> — Target: Brain/CNS | 2 capsules (10mg) | daily | 90 days</a:t>
            </a:r>
            <a:endParaRPr lang="en-US" sz="1200" dirty="0"/>
          </a:p>
          <a:p>
            <a:pPr indent="0" marL="0">
              <a:buNone/>
            </a:pPr>
            <a:r>
              <a:rPr lang="en-US" sz="1200" b="1" dirty="0">
                <a:solidFill>
                  <a:srgbClr val="C9A54E"/>
                </a:solidFill>
                <a:latin typeface="Source Sans 3" pitchFamily="34" charset="0"/>
                <a:ea typeface="Source Sans 3" pitchFamily="34" charset="-122"/>
                <a:cs typeface="Source Sans 3" pitchFamily="34" charset="-120"/>
              </a:rPr>
              <a:t>Kidney Bioregulator</a:t>
            </a:r>
            <a:pPr indent="0" marL="0">
              <a:buNone/>
            </a:pPr>
            <a:r>
              <a:rPr lang="en-US" sz="1000" dirty="0">
                <a:solidFill>
                  <a:srgbClr val="1A2440"/>
                </a:solidFill>
                <a:latin typeface="Source Sans 3" pitchFamily="34" charset="0"/>
                <a:ea typeface="Source Sans 3" pitchFamily="34" charset="-122"/>
                <a:cs typeface="Source Sans 3" pitchFamily="34" charset="-120"/>
              </a:rPr>
              <a:t> — Target: Kidney | 2 capsules (10mg) | daily | 60 days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A2440"/>
                </a:solidFill>
                <a:latin typeface="Playfair Display" pitchFamily="34" charset="0"/>
                <a:ea typeface="Playfair Display" pitchFamily="34" charset="-122"/>
                <a:cs typeface="Playfair Display" pitchFamily="34" charset="-120"/>
              </a:rPr>
              <a:t>Some of your Supplements Explained</a:t>
            </a:r>
            <a:endParaRPr lang="en-US" sz="2400" dirty="0"/>
          </a:p>
        </p:txBody>
      </p:sp>
      <p:sp>
        <p:nvSpPr>
          <p:cNvPr id="3" name="Shape 1"/>
          <p:cNvSpPr/>
          <p:nvPr/>
        </p:nvSpPr>
        <p:spPr>
          <a:xfrm>
            <a:off x="457200" y="914400"/>
            <a:ext cx="82296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3657600"/>
          </a:xfrm>
          <a:prstGeom prst="rect">
            <a:avLst/>
          </a:prstGeom>
          <a:noFill/>
          <a:ln/>
        </p:spPr>
        <p:txBody>
          <a:bodyPr wrap="square" rtlCol="0" anchor="t"/>
          <a:lstStyle/>
          <a:p>
            <a:pPr indent="0" marL="0">
              <a:buNone/>
            </a:pPr>
            <a:r>
              <a:rPr lang="en-US" sz="1100" b="1" dirty="0">
                <a:solidFill>
                  <a:srgbClr val="C9A54E"/>
                </a:solidFill>
                <a:latin typeface="Source Sans 3" pitchFamily="34" charset="0"/>
                <a:ea typeface="Source Sans 3" pitchFamily="34" charset="-122"/>
                <a:cs typeface="Source Sans 3" pitchFamily="34" charset="-120"/>
              </a:rPr>
              <a:t>Bio-Vitamin All-in-One Micronized Liquid</a:t>
            </a:r>
            <a:pPr indent="0" marL="0">
              <a:buNone/>
            </a:pPr>
            <a:r>
              <a:rPr lang="en-US" sz="1000" dirty="0">
                <a:solidFill>
                  <a:srgbClr val="1A2440"/>
                </a:solidFill>
                <a:latin typeface="Source Sans 3" pitchFamily="34" charset="0"/>
                <a:ea typeface="Source Sans 3" pitchFamily="34" charset="-122"/>
                <a:cs typeface="Source Sans 3" pitchFamily="34" charset="-120"/>
              </a:rPr>
              <a:t> — 1 tablespoon (AM)</a:t>
            </a:r>
            <a:pPr indent="0" marL="0">
              <a:buNone/>
            </a:pP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Full-spectrum micronutrient support</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Complete Reds</a:t>
            </a:r>
            <a:pPr indent="0" marL="0">
              <a:buNone/>
            </a:pPr>
            <a:r>
              <a:rPr lang="en-US" sz="1000" dirty="0">
                <a:solidFill>
                  <a:srgbClr val="1A2440"/>
                </a:solidFill>
                <a:latin typeface="Source Sans 3" pitchFamily="34" charset="0"/>
                <a:ea typeface="Source Sans 3" pitchFamily="34" charset="-122"/>
                <a:cs typeface="Source Sans 3" pitchFamily="34" charset="-120"/>
              </a:rPr>
              <a:t> — 1 scoop (AM)</a:t>
            </a:r>
            <a:pPr indent="0" marL="0">
              <a:buNone/>
            </a:pP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Mitochondrial and cardiovascular support</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Adaptogen Greens + Digestive Enzymes</a:t>
            </a:r>
            <a:pPr indent="0" marL="0">
              <a:buNone/>
            </a:pPr>
            <a:r>
              <a:rPr lang="en-US" sz="1000" dirty="0">
                <a:solidFill>
                  <a:srgbClr val="1A2440"/>
                </a:solidFill>
                <a:latin typeface="Source Sans 3" pitchFamily="34" charset="0"/>
                <a:ea typeface="Source Sans 3" pitchFamily="34" charset="-122"/>
                <a:cs typeface="Source Sans 3" pitchFamily="34" charset="-120"/>
              </a:rPr>
              <a:t> — 1 scoop (AM)</a:t>
            </a:r>
            <a:pPr indent="0" marL="0">
              <a:buNone/>
            </a:pP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Alkalizing, digestive, and stress-adaptation support</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The Elixir for Everything tincture</a:t>
            </a:r>
            <a:pPr indent="0" marL="0">
              <a:buNone/>
            </a:pPr>
            <a:r>
              <a:rPr lang="en-US" sz="1000" dirty="0">
                <a:solidFill>
                  <a:srgbClr val="1A2440"/>
                </a:solidFill>
                <a:latin typeface="Source Sans 3" pitchFamily="34" charset="0"/>
                <a:ea typeface="Source Sans 3" pitchFamily="34" charset="-122"/>
                <a:cs typeface="Source Sans 3" pitchFamily="34" charset="-120"/>
              </a:rPr>
              <a:t> — 0.5ml (AM (hold sublingual 1min))</a:t>
            </a:r>
            <a:pPr indent="0" marL="0">
              <a:buNone/>
            </a:pP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Endocannabinoid priming, anti-inflammatory, metabolic support</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French Celtic Salt</a:t>
            </a:r>
            <a:pPr indent="0" marL="0">
              <a:buNone/>
            </a:pPr>
            <a:r>
              <a:rPr lang="en-US" sz="1000" dirty="0">
                <a:solidFill>
                  <a:srgbClr val="1A2440"/>
                </a:solidFill>
                <a:latin typeface="Source Sans 3" pitchFamily="34" charset="0"/>
                <a:ea typeface="Source Sans 3" pitchFamily="34" charset="-122"/>
                <a:cs typeface="Source Sans 3" pitchFamily="34" charset="-120"/>
              </a:rPr>
              <a:t> — 1/4 tsp in water (AM)</a:t>
            </a:r>
            <a:pPr indent="0" marL="0">
              <a:buNone/>
            </a:pP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Trace mineral/electrolyte repletion</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FF Trace Mineral Concentrate</a:t>
            </a:r>
            <a:pPr indent="0" marL="0">
              <a:buNone/>
            </a:pPr>
            <a:r>
              <a:rPr lang="en-US" sz="1000" dirty="0">
                <a:solidFill>
                  <a:srgbClr val="1A2440"/>
                </a:solidFill>
                <a:latin typeface="Source Sans 3" pitchFamily="34" charset="0"/>
                <a:ea typeface="Source Sans 3" pitchFamily="34" charset="-122"/>
                <a:cs typeface="Source Sans 3" pitchFamily="34" charset="-120"/>
              </a:rPr>
              <a:t> — 10-20 drops in water (AM)</a:t>
            </a:r>
            <a:pPr indent="0" marL="0">
              <a:buNone/>
            </a:pP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Broad-spectrum trace elements</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Ox Bile</a:t>
            </a:r>
            <a:pPr indent="0" marL="0">
              <a:buNone/>
            </a:pPr>
            <a:r>
              <a:rPr lang="en-US" sz="1000" dirty="0">
                <a:solidFill>
                  <a:srgbClr val="1A2440"/>
                </a:solidFill>
                <a:latin typeface="Source Sans 3" pitchFamily="34" charset="0"/>
                <a:ea typeface="Source Sans 3" pitchFamily="34" charset="-122"/>
                <a:cs typeface="Source Sans 3" pitchFamily="34" charset="-120"/>
              </a:rPr>
              <a:t> — 125-250mg (With each fat-containing meal)</a:t>
            </a:r>
            <a:pPr indent="0" marL="0">
              <a:buNone/>
            </a:pP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Compensation for missing gallbladder — needed for fat-soluble vitamins</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Liposomal Vitamin D3 + K2</a:t>
            </a:r>
            <a:pPr indent="0" marL="0">
              <a:buNone/>
            </a:pPr>
            <a:r>
              <a:rPr lang="en-US" sz="1000" dirty="0">
                <a:solidFill>
                  <a:srgbClr val="1A2440"/>
                </a:solidFill>
                <a:latin typeface="Source Sans 3" pitchFamily="34" charset="0"/>
                <a:ea typeface="Source Sans 3" pitchFamily="34" charset="-122"/>
                <a:cs typeface="Source Sans 3" pitchFamily="34" charset="-120"/>
              </a:rPr>
              <a:t> — 5000 IU/200mcg per day (AM (with ox bile))</a:t>
            </a:r>
            <a:pPr indent="0" marL="0">
              <a:buNone/>
            </a:pP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Immune function, bone, and hormonal support</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Liposomal A + E</a:t>
            </a:r>
            <a:pPr indent="0" marL="0">
              <a:buNone/>
            </a:pPr>
            <a:r>
              <a:rPr lang="en-US" sz="1000" dirty="0">
                <a:solidFill>
                  <a:srgbClr val="1A2440"/>
                </a:solidFill>
                <a:latin typeface="Source Sans 3" pitchFamily="34" charset="0"/>
                <a:ea typeface="Source Sans 3" pitchFamily="34" charset="-122"/>
                <a:cs typeface="Source Sans 3" pitchFamily="34" charset="-120"/>
              </a:rPr>
              <a:t> — per manufacturer (AM (with ox bile))</a:t>
            </a:r>
            <a:pPr indent="0" marL="0">
              <a:buNone/>
            </a:pP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Fat-soluble deficiency correction</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Astaxanthin w/Vitamin C Liposomal</a:t>
            </a:r>
            <a:pPr indent="0" marL="0">
              <a:buNone/>
            </a:pPr>
            <a:r>
              <a:rPr lang="en-US" sz="1000" dirty="0">
                <a:solidFill>
                  <a:srgbClr val="1A2440"/>
                </a:solidFill>
                <a:latin typeface="Source Sans 3" pitchFamily="34" charset="0"/>
                <a:ea typeface="Source Sans 3" pitchFamily="34" charset="-122"/>
                <a:cs typeface="Source Sans 3" pitchFamily="34" charset="-120"/>
              </a:rPr>
              <a:t> — 1 tablespoon (Midday)</a:t>
            </a:r>
            <a:pPr indent="0" marL="0">
              <a:buNone/>
            </a:pP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ONC antioxidant plus skin/brain support</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Selenium + Magnesium/Zinc Liposomal</a:t>
            </a:r>
            <a:pPr indent="0" marL="0">
              <a:buNone/>
            </a:pPr>
            <a:r>
              <a:rPr lang="en-US" sz="1000" dirty="0">
                <a:solidFill>
                  <a:srgbClr val="1A2440"/>
                </a:solidFill>
                <a:latin typeface="Source Sans 3" pitchFamily="34" charset="0"/>
                <a:ea typeface="Source Sans 3" pitchFamily="34" charset="-122"/>
                <a:cs typeface="Source Sans 3" pitchFamily="34" charset="-120"/>
              </a:rPr>
              <a:t> — 1 tablespoon (Midday)</a:t>
            </a:r>
            <a:pPr indent="0" marL="0">
              <a:buNone/>
            </a:pP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Heavy metal protection (selenium), cofactor for detox, anti-cancer</a:t>
            </a:r>
            <a:endParaRPr lang="en-US" sz="1100" dirty="0"/>
          </a:p>
          <a:p>
            <a:pPr indent="0" marL="0">
              <a:buNone/>
            </a:pPr>
            <a:r>
              <a:rPr lang="en-US" sz="1100" b="1" dirty="0">
                <a:solidFill>
                  <a:srgbClr val="C9A54E"/>
                </a:solidFill>
                <a:latin typeface="Source Sans 3" pitchFamily="34" charset="0"/>
                <a:ea typeface="Source Sans 3" pitchFamily="34" charset="-122"/>
                <a:cs typeface="Source Sans 3" pitchFamily="34" charset="-120"/>
              </a:rPr>
              <a:t>DIM</a:t>
            </a:r>
            <a:pPr indent="0" marL="0">
              <a:buNone/>
            </a:pPr>
            <a:r>
              <a:rPr lang="en-US" sz="1000" dirty="0">
                <a:solidFill>
                  <a:srgbClr val="1A2440"/>
                </a:solidFill>
                <a:latin typeface="Source Sans 3" pitchFamily="34" charset="0"/>
                <a:ea typeface="Source Sans 3" pitchFamily="34" charset="-122"/>
                <a:cs typeface="Source Sans 3" pitchFamily="34" charset="-120"/>
              </a:rPr>
              <a:t> — 200mg (Midday)</a:t>
            </a:r>
            <a:pPr indent="0" marL="0">
              <a:buNone/>
            </a:pP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Estrogen metabolism</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A2440"/>
                </a:solidFill>
                <a:latin typeface="Playfair Display" pitchFamily="34" charset="0"/>
                <a:ea typeface="Playfair Display" pitchFamily="34" charset="-122"/>
                <a:cs typeface="Playfair Display" pitchFamily="34" charset="-120"/>
              </a:rPr>
              <a:t>Supplement Timing Guide</a:t>
            </a:r>
            <a:endParaRPr lang="en-US" sz="2400" dirty="0"/>
          </a:p>
        </p:txBody>
      </p:sp>
      <p:sp>
        <p:nvSpPr>
          <p:cNvPr id="3" name="Text 1"/>
          <p:cNvSpPr/>
          <p:nvPr/>
        </p:nvSpPr>
        <p:spPr>
          <a:xfrm>
            <a:off x="457200" y="777240"/>
            <a:ext cx="8229600" cy="274320"/>
          </a:xfrm>
          <a:prstGeom prst="rect">
            <a:avLst/>
          </a:prstGeom>
          <a:noFill/>
          <a:ln/>
        </p:spPr>
        <p:txBody>
          <a:bodyPr wrap="square" rtlCol="0" anchor="ctr"/>
          <a:lstStyle/>
          <a:p>
            <a:pPr indent="0" marL="0">
              <a:buNone/>
            </a:pPr>
            <a:r>
              <a:rPr lang="en-US" sz="1100" i="1" dirty="0">
                <a:solidFill>
                  <a:srgbClr val="5A6B8A"/>
                </a:solidFill>
                <a:latin typeface="Source Sans 3" pitchFamily="34" charset="0"/>
                <a:ea typeface="Source Sans 3" pitchFamily="34" charset="-122"/>
                <a:cs typeface="Source Sans 3" pitchFamily="34" charset="-120"/>
              </a:rPr>
              <a:t>Proper timing maximizes absorption and minimizes interactions</a:t>
            </a:r>
            <a:endParaRPr lang="en-US" sz="1100" dirty="0"/>
          </a:p>
        </p:txBody>
      </p:sp>
      <p:sp>
        <p:nvSpPr>
          <p:cNvPr id="4" name="Shape 2"/>
          <p:cNvSpPr/>
          <p:nvPr/>
        </p:nvSpPr>
        <p:spPr>
          <a:xfrm>
            <a:off x="457200" y="1097280"/>
            <a:ext cx="8229600" cy="274320"/>
          </a:xfrm>
          <a:prstGeom prst="rect">
            <a:avLst/>
          </a:prstGeom>
          <a:solidFill>
            <a:srgbClr val="1A2440"/>
          </a:solidFill>
          <a:ln/>
        </p:spPr>
      </p:sp>
      <p:sp>
        <p:nvSpPr>
          <p:cNvPr id="5" name="Text 3"/>
          <p:cNvSpPr/>
          <p:nvPr/>
        </p:nvSpPr>
        <p:spPr>
          <a:xfrm>
            <a:off x="640080" y="1097280"/>
            <a:ext cx="7863840" cy="274320"/>
          </a:xfrm>
          <a:prstGeom prst="rect">
            <a:avLst/>
          </a:prstGeom>
          <a:noFill/>
          <a:ln/>
        </p:spPr>
        <p:txBody>
          <a:bodyPr wrap="square" rtlCol="0" anchor="ctr"/>
          <a:lstStyle/>
          <a:p>
            <a:pPr indent="0" marL="0">
              <a:buNone/>
            </a:pPr>
            <a:r>
              <a:rPr lang="en-US" sz="1100" b="1" dirty="0">
                <a:solidFill>
                  <a:srgbClr val="FFFFFF"/>
                </a:solidFill>
                <a:latin typeface="Source Sans 3" pitchFamily="34" charset="0"/>
                <a:ea typeface="Source Sans 3" pitchFamily="34" charset="-122"/>
                <a:cs typeface="Source Sans 3" pitchFamily="34" charset="-120"/>
              </a:rPr>
              <a:t>Morning (Empty Stomach)</a:t>
            </a:r>
            <a:endParaRPr lang="en-US" sz="1100" dirty="0"/>
          </a:p>
        </p:txBody>
      </p:sp>
      <p:sp>
        <p:nvSpPr>
          <p:cNvPr id="6" name="Shape 4"/>
          <p:cNvSpPr/>
          <p:nvPr/>
        </p:nvSpPr>
        <p:spPr>
          <a:xfrm>
            <a:off x="457200" y="1417320"/>
            <a:ext cx="8229600" cy="3200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7" name="Text 5"/>
          <p:cNvSpPr/>
          <p:nvPr/>
        </p:nvSpPr>
        <p:spPr>
          <a:xfrm>
            <a:off x="640080" y="1417320"/>
            <a:ext cx="7863840" cy="320040"/>
          </a:xfrm>
          <a:prstGeom prst="rect">
            <a:avLst/>
          </a:prstGeom>
          <a:noFill/>
          <a:ln/>
        </p:spPr>
        <p:txBody>
          <a:bodyPr wrap="square" rtlCol="0" anchor="ctr"/>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HEPA DTOX (liver blend) (liposomal)</a:t>
            </a:r>
            <a:pPr indent="0" marL="0">
              <a:buNone/>
            </a:pPr>
            <a:r>
              <a:rPr lang="en-US" sz="900" dirty="0">
                <a:solidFill>
                  <a:srgbClr val="5A6B8A"/>
                </a:solidFill>
                <a:latin typeface="Source Sans 3" pitchFamily="34" charset="0"/>
                <a:ea typeface="Source Sans 3" pitchFamily="34" charset="-122"/>
                <a:cs typeface="Source Sans 3" pitchFamily="34" charset="-120"/>
              </a:rPr>
              <a:t> — 1 tablespoon</a:t>
            </a:r>
            <a:endParaRPr lang="en-US" sz="1000" dirty="0"/>
          </a:p>
        </p:txBody>
      </p:sp>
      <p:sp>
        <p:nvSpPr>
          <p:cNvPr id="8" name="Shape 6"/>
          <p:cNvSpPr/>
          <p:nvPr/>
        </p:nvSpPr>
        <p:spPr>
          <a:xfrm>
            <a:off x="457200" y="1856232"/>
            <a:ext cx="8229600" cy="274320"/>
          </a:xfrm>
          <a:prstGeom prst="rect">
            <a:avLst/>
          </a:prstGeom>
          <a:solidFill>
            <a:srgbClr val="1A2440"/>
          </a:solidFill>
          <a:ln/>
        </p:spPr>
      </p:sp>
      <p:sp>
        <p:nvSpPr>
          <p:cNvPr id="9" name="Text 7"/>
          <p:cNvSpPr/>
          <p:nvPr/>
        </p:nvSpPr>
        <p:spPr>
          <a:xfrm>
            <a:off x="640080" y="1856232"/>
            <a:ext cx="7863840" cy="274320"/>
          </a:xfrm>
          <a:prstGeom prst="rect">
            <a:avLst/>
          </a:prstGeom>
          <a:noFill/>
          <a:ln/>
        </p:spPr>
        <p:txBody>
          <a:bodyPr wrap="square" rtlCol="0" anchor="ctr"/>
          <a:lstStyle/>
          <a:p>
            <a:pPr indent="0" marL="0">
              <a:buNone/>
            </a:pPr>
            <a:r>
              <a:rPr lang="en-US" sz="1100" b="1" dirty="0">
                <a:solidFill>
                  <a:srgbClr val="FFFFFF"/>
                </a:solidFill>
                <a:latin typeface="Source Sans 3" pitchFamily="34" charset="0"/>
                <a:ea typeface="Source Sans 3" pitchFamily="34" charset="-122"/>
                <a:cs typeface="Source Sans 3" pitchFamily="34" charset="-120"/>
              </a:rPr>
              <a:t>With Breakfast</a:t>
            </a:r>
            <a:endParaRPr lang="en-US" sz="1100" dirty="0"/>
          </a:p>
        </p:txBody>
      </p:sp>
      <p:sp>
        <p:nvSpPr>
          <p:cNvPr id="10" name="Shape 8"/>
          <p:cNvSpPr/>
          <p:nvPr/>
        </p:nvSpPr>
        <p:spPr>
          <a:xfrm>
            <a:off x="457200" y="2176272"/>
            <a:ext cx="8229600" cy="3200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1" name="Text 9"/>
          <p:cNvSpPr/>
          <p:nvPr/>
        </p:nvSpPr>
        <p:spPr>
          <a:xfrm>
            <a:off x="640080" y="2176272"/>
            <a:ext cx="7863840" cy="320040"/>
          </a:xfrm>
          <a:prstGeom prst="rect">
            <a:avLst/>
          </a:prstGeom>
          <a:noFill/>
          <a:ln/>
        </p:spPr>
        <p:txBody>
          <a:bodyPr wrap="square" rtlCol="0" anchor="ctr"/>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Bio-Vitamin All-in-One Micronized Liquid</a:t>
            </a:r>
            <a:pPr indent="0" marL="0">
              <a:buNone/>
            </a:pPr>
            <a:r>
              <a:rPr lang="en-US" sz="900" dirty="0">
                <a:solidFill>
                  <a:srgbClr val="5A6B8A"/>
                </a:solidFill>
                <a:latin typeface="Source Sans 3" pitchFamily="34" charset="0"/>
                <a:ea typeface="Source Sans 3" pitchFamily="34" charset="-122"/>
                <a:cs typeface="Source Sans 3" pitchFamily="34" charset="-120"/>
              </a:rPr>
              <a:t> — 1 tablespoon</a:t>
            </a:r>
            <a:endParaRPr lang="en-US" sz="1000" dirty="0"/>
          </a:p>
        </p:txBody>
      </p:sp>
      <p:sp>
        <p:nvSpPr>
          <p:cNvPr id="12" name="Shape 10"/>
          <p:cNvSpPr/>
          <p:nvPr/>
        </p:nvSpPr>
        <p:spPr>
          <a:xfrm>
            <a:off x="457200" y="2523744"/>
            <a:ext cx="8229600" cy="3200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3" name="Text 11"/>
          <p:cNvSpPr/>
          <p:nvPr/>
        </p:nvSpPr>
        <p:spPr>
          <a:xfrm>
            <a:off x="640080" y="2523744"/>
            <a:ext cx="7863840" cy="320040"/>
          </a:xfrm>
          <a:prstGeom prst="rect">
            <a:avLst/>
          </a:prstGeom>
          <a:noFill/>
          <a:ln/>
        </p:spPr>
        <p:txBody>
          <a:bodyPr wrap="square" rtlCol="0" anchor="ctr"/>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Complete Reds</a:t>
            </a:r>
            <a:pPr indent="0" marL="0">
              <a:buNone/>
            </a:pPr>
            <a:r>
              <a:rPr lang="en-US" sz="900" dirty="0">
                <a:solidFill>
                  <a:srgbClr val="5A6B8A"/>
                </a:solidFill>
                <a:latin typeface="Source Sans 3" pitchFamily="34" charset="0"/>
                <a:ea typeface="Source Sans 3" pitchFamily="34" charset="-122"/>
                <a:cs typeface="Source Sans 3" pitchFamily="34" charset="-120"/>
              </a:rPr>
              <a:t> — 1 scoop</a:t>
            </a:r>
            <a:endParaRPr lang="en-US" sz="1000" dirty="0"/>
          </a:p>
        </p:txBody>
      </p:sp>
      <p:sp>
        <p:nvSpPr>
          <p:cNvPr id="14" name="Shape 12"/>
          <p:cNvSpPr/>
          <p:nvPr/>
        </p:nvSpPr>
        <p:spPr>
          <a:xfrm>
            <a:off x="457200" y="2871216"/>
            <a:ext cx="8229600" cy="3200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5" name="Text 13"/>
          <p:cNvSpPr/>
          <p:nvPr/>
        </p:nvSpPr>
        <p:spPr>
          <a:xfrm>
            <a:off x="640080" y="2871216"/>
            <a:ext cx="7863840" cy="320040"/>
          </a:xfrm>
          <a:prstGeom prst="rect">
            <a:avLst/>
          </a:prstGeom>
          <a:noFill/>
          <a:ln/>
        </p:spPr>
        <p:txBody>
          <a:bodyPr wrap="square" rtlCol="0" anchor="ctr"/>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Adaptogen Greens + Digestive Enzymes</a:t>
            </a:r>
            <a:pPr indent="0" marL="0">
              <a:buNone/>
            </a:pPr>
            <a:r>
              <a:rPr lang="en-US" sz="900" dirty="0">
                <a:solidFill>
                  <a:srgbClr val="5A6B8A"/>
                </a:solidFill>
                <a:latin typeface="Source Sans 3" pitchFamily="34" charset="0"/>
                <a:ea typeface="Source Sans 3" pitchFamily="34" charset="-122"/>
                <a:cs typeface="Source Sans 3" pitchFamily="34" charset="-120"/>
              </a:rPr>
              <a:t> — 1 scoop</a:t>
            </a:r>
            <a:endParaRPr lang="en-US" sz="1000" dirty="0"/>
          </a:p>
        </p:txBody>
      </p:sp>
      <p:sp>
        <p:nvSpPr>
          <p:cNvPr id="16" name="Shape 14"/>
          <p:cNvSpPr/>
          <p:nvPr/>
        </p:nvSpPr>
        <p:spPr>
          <a:xfrm>
            <a:off x="457200" y="3218688"/>
            <a:ext cx="8229600" cy="3200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7" name="Text 15"/>
          <p:cNvSpPr/>
          <p:nvPr/>
        </p:nvSpPr>
        <p:spPr>
          <a:xfrm>
            <a:off x="640080" y="3218688"/>
            <a:ext cx="7863840" cy="320040"/>
          </a:xfrm>
          <a:prstGeom prst="rect">
            <a:avLst/>
          </a:prstGeom>
          <a:noFill/>
          <a:ln/>
        </p:spPr>
        <p:txBody>
          <a:bodyPr wrap="square" rtlCol="0" anchor="ctr"/>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The Elixir for Everything tincture</a:t>
            </a:r>
            <a:pPr indent="0" marL="0">
              <a:buNone/>
            </a:pPr>
            <a:r>
              <a:rPr lang="en-US" sz="900" dirty="0">
                <a:solidFill>
                  <a:srgbClr val="5A6B8A"/>
                </a:solidFill>
                <a:latin typeface="Source Sans 3" pitchFamily="34" charset="0"/>
                <a:ea typeface="Source Sans 3" pitchFamily="34" charset="-122"/>
                <a:cs typeface="Source Sans 3" pitchFamily="34" charset="-120"/>
              </a:rPr>
              <a:t> — 0.5ml</a:t>
            </a:r>
            <a:endParaRPr lang="en-US" sz="1000" dirty="0"/>
          </a:p>
        </p:txBody>
      </p:sp>
      <p:sp>
        <p:nvSpPr>
          <p:cNvPr id="18" name="Shape 16"/>
          <p:cNvSpPr/>
          <p:nvPr/>
        </p:nvSpPr>
        <p:spPr>
          <a:xfrm>
            <a:off x="457200" y="3657600"/>
            <a:ext cx="8229600" cy="274320"/>
          </a:xfrm>
          <a:prstGeom prst="rect">
            <a:avLst/>
          </a:prstGeom>
          <a:solidFill>
            <a:srgbClr val="1A2440"/>
          </a:solidFill>
          <a:ln/>
        </p:spPr>
      </p:sp>
      <p:sp>
        <p:nvSpPr>
          <p:cNvPr id="19" name="Text 17"/>
          <p:cNvSpPr/>
          <p:nvPr/>
        </p:nvSpPr>
        <p:spPr>
          <a:xfrm>
            <a:off x="640080" y="3657600"/>
            <a:ext cx="7863840" cy="274320"/>
          </a:xfrm>
          <a:prstGeom prst="rect">
            <a:avLst/>
          </a:prstGeom>
          <a:noFill/>
          <a:ln/>
        </p:spPr>
        <p:txBody>
          <a:bodyPr wrap="square" rtlCol="0" anchor="ctr"/>
          <a:lstStyle/>
          <a:p>
            <a:pPr indent="0" marL="0">
              <a:buNone/>
            </a:pPr>
            <a:r>
              <a:rPr lang="en-US" sz="1100" b="1" dirty="0">
                <a:solidFill>
                  <a:srgbClr val="FFFFFF"/>
                </a:solidFill>
                <a:latin typeface="Source Sans 3" pitchFamily="34" charset="0"/>
                <a:ea typeface="Source Sans 3" pitchFamily="34" charset="-122"/>
                <a:cs typeface="Source Sans 3" pitchFamily="34" charset="-120"/>
              </a:rPr>
              <a:t>Midday</a:t>
            </a:r>
            <a:endParaRPr lang="en-US" sz="1100" dirty="0"/>
          </a:p>
        </p:txBody>
      </p:sp>
      <p:sp>
        <p:nvSpPr>
          <p:cNvPr id="20" name="Shape 18"/>
          <p:cNvSpPr/>
          <p:nvPr/>
        </p:nvSpPr>
        <p:spPr>
          <a:xfrm>
            <a:off x="457200" y="3977640"/>
            <a:ext cx="8229600" cy="3200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1" name="Text 19"/>
          <p:cNvSpPr/>
          <p:nvPr/>
        </p:nvSpPr>
        <p:spPr>
          <a:xfrm>
            <a:off x="640080" y="3977640"/>
            <a:ext cx="7863840" cy="320040"/>
          </a:xfrm>
          <a:prstGeom prst="rect">
            <a:avLst/>
          </a:prstGeom>
          <a:noFill/>
          <a:ln/>
        </p:spPr>
        <p:txBody>
          <a:bodyPr wrap="square" rtlCol="0" anchor="ctr"/>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Astaxanthin w/Vitamin C Liposomal</a:t>
            </a:r>
            <a:pPr indent="0" marL="0">
              <a:buNone/>
            </a:pPr>
            <a:r>
              <a:rPr lang="en-US" sz="900" dirty="0">
                <a:solidFill>
                  <a:srgbClr val="5A6B8A"/>
                </a:solidFill>
                <a:latin typeface="Source Sans 3" pitchFamily="34" charset="0"/>
                <a:ea typeface="Source Sans 3" pitchFamily="34" charset="-122"/>
                <a:cs typeface="Source Sans 3" pitchFamily="34" charset="-120"/>
              </a:rPr>
              <a:t> — 1 tablespoon</a:t>
            </a:r>
            <a:endParaRPr lang="en-US" sz="1000" dirty="0"/>
          </a:p>
        </p:txBody>
      </p:sp>
      <p:sp>
        <p:nvSpPr>
          <p:cNvPr id="22" name="Shape 20"/>
          <p:cNvSpPr/>
          <p:nvPr/>
        </p:nvSpPr>
        <p:spPr>
          <a:xfrm>
            <a:off x="457200" y="4325112"/>
            <a:ext cx="8229600" cy="3200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3" name="Text 21"/>
          <p:cNvSpPr/>
          <p:nvPr/>
        </p:nvSpPr>
        <p:spPr>
          <a:xfrm>
            <a:off x="640080" y="4325112"/>
            <a:ext cx="7863840" cy="320040"/>
          </a:xfrm>
          <a:prstGeom prst="rect">
            <a:avLst/>
          </a:prstGeom>
          <a:noFill/>
          <a:ln/>
        </p:spPr>
        <p:txBody>
          <a:bodyPr wrap="square" rtlCol="0" anchor="ctr"/>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Selenium + Magnesium/Zinc Liposomal</a:t>
            </a:r>
            <a:pPr indent="0" marL="0">
              <a:buNone/>
            </a:pPr>
            <a:r>
              <a:rPr lang="en-US" sz="900" dirty="0">
                <a:solidFill>
                  <a:srgbClr val="5A6B8A"/>
                </a:solidFill>
                <a:latin typeface="Source Sans 3" pitchFamily="34" charset="0"/>
                <a:ea typeface="Source Sans 3" pitchFamily="34" charset="-122"/>
                <a:cs typeface="Source Sans 3" pitchFamily="34" charset="-120"/>
              </a:rPr>
              <a:t> — 1 tablespoon</a:t>
            </a:r>
            <a:endParaRPr lang="en-US" sz="1000" dirty="0"/>
          </a:p>
        </p:txBody>
      </p:sp>
      <p:sp>
        <p:nvSpPr>
          <p:cNvPr id="24" name="Shape 22"/>
          <p:cNvSpPr/>
          <p:nvPr/>
        </p:nvSpPr>
        <p:spPr>
          <a:xfrm>
            <a:off x="457200" y="4672584"/>
            <a:ext cx="8229600" cy="3200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5" name="Text 23"/>
          <p:cNvSpPr/>
          <p:nvPr/>
        </p:nvSpPr>
        <p:spPr>
          <a:xfrm>
            <a:off x="640080" y="4672584"/>
            <a:ext cx="7863840" cy="320040"/>
          </a:xfrm>
          <a:prstGeom prst="rect">
            <a:avLst/>
          </a:prstGeom>
          <a:noFill/>
          <a:ln/>
        </p:spPr>
        <p:txBody>
          <a:bodyPr wrap="square" rtlCol="0" anchor="ctr"/>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DIM</a:t>
            </a:r>
            <a:pPr indent="0" marL="0">
              <a:buNone/>
            </a:pPr>
            <a:r>
              <a:rPr lang="en-US" sz="900" dirty="0">
                <a:solidFill>
                  <a:srgbClr val="5A6B8A"/>
                </a:solidFill>
                <a:latin typeface="Source Sans 3" pitchFamily="34" charset="0"/>
                <a:ea typeface="Source Sans 3" pitchFamily="34" charset="-122"/>
                <a:cs typeface="Source Sans 3" pitchFamily="34" charset="-120"/>
              </a:rPr>
              <a:t> — 200mg</a:t>
            </a:r>
            <a:endParaRPr lang="en-US" sz="1000" dirty="0"/>
          </a:p>
        </p:txBody>
      </p:sp>
      <p:sp>
        <p:nvSpPr>
          <p:cNvPr id="26" name="Shape 24"/>
          <p:cNvSpPr/>
          <p:nvPr/>
        </p:nvSpPr>
        <p:spPr>
          <a:xfrm>
            <a:off x="457200" y="5020056"/>
            <a:ext cx="8229600" cy="3200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7" name="Text 25"/>
          <p:cNvSpPr/>
          <p:nvPr/>
        </p:nvSpPr>
        <p:spPr>
          <a:xfrm>
            <a:off x="640080" y="5020056"/>
            <a:ext cx="7863840" cy="320040"/>
          </a:xfrm>
          <a:prstGeom prst="rect">
            <a:avLst/>
          </a:prstGeom>
          <a:noFill/>
          <a:ln/>
        </p:spPr>
        <p:txBody>
          <a:bodyPr wrap="square" rtlCol="0" anchor="ctr"/>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Calcium-d-glucarate</a:t>
            </a:r>
            <a:pPr indent="0" marL="0">
              <a:buNone/>
            </a:pPr>
            <a:r>
              <a:rPr lang="en-US" sz="900" dirty="0">
                <a:solidFill>
                  <a:srgbClr val="5A6B8A"/>
                </a:solidFill>
                <a:latin typeface="Source Sans 3" pitchFamily="34" charset="0"/>
                <a:ea typeface="Source Sans 3" pitchFamily="34" charset="-122"/>
                <a:cs typeface="Source Sans 3" pitchFamily="34" charset="-120"/>
              </a:rPr>
              <a:t> — 500mg</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A2440"/>
                </a:solidFill>
                <a:latin typeface="Playfair Display" pitchFamily="34" charset="0"/>
                <a:ea typeface="Playfair Display" pitchFamily="34" charset="-122"/>
                <a:cs typeface="Playfair Display" pitchFamily="34" charset="-120"/>
              </a:rPr>
              <a:t>Therapeutics: IV &amp; IM Therapy Schedule</a:t>
            </a:r>
            <a:endParaRPr lang="en-US" sz="2400" dirty="0"/>
          </a:p>
        </p:txBody>
      </p:sp>
      <p:sp>
        <p:nvSpPr>
          <p:cNvPr id="3" name="Text 1"/>
          <p:cNvSpPr/>
          <p:nvPr/>
        </p:nvSpPr>
        <p:spPr>
          <a:xfrm>
            <a:off x="457200" y="914400"/>
            <a:ext cx="8229600" cy="274320"/>
          </a:xfrm>
          <a:prstGeom prst="rect">
            <a:avLst/>
          </a:prstGeom>
          <a:noFill/>
          <a:ln/>
        </p:spPr>
        <p:txBody>
          <a:bodyPr wrap="square" rtlCol="0" anchor="ctr"/>
          <a:lstStyle/>
          <a:p>
            <a:pPr indent="0" marL="0">
              <a:buNone/>
            </a:pPr>
            <a:r>
              <a:rPr lang="en-US" sz="1300" b="1" dirty="0">
                <a:solidFill>
                  <a:srgbClr val="C9A54E"/>
                </a:solidFill>
                <a:latin typeface="Source Sans 3" pitchFamily="34" charset="0"/>
                <a:ea typeface="Source Sans 3" pitchFamily="34" charset="-122"/>
                <a:cs typeface="Source Sans 3" pitchFamily="34" charset="-120"/>
              </a:rPr>
              <a:t>IV Therapies:</a:t>
            </a:r>
            <a:endParaRPr lang="en-US" sz="1300" dirty="0"/>
          </a:p>
        </p:txBody>
      </p:sp>
      <p:sp>
        <p:nvSpPr>
          <p:cNvPr id="4" name="Shape 2"/>
          <p:cNvSpPr/>
          <p:nvPr/>
        </p:nvSpPr>
        <p:spPr>
          <a:xfrm>
            <a:off x="457200" y="1234440"/>
            <a:ext cx="82296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5" name="Text 3"/>
          <p:cNvSpPr/>
          <p:nvPr/>
        </p:nvSpPr>
        <p:spPr>
          <a:xfrm>
            <a:off x="640080" y="1234440"/>
            <a:ext cx="7863840" cy="5029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Glutathione IV — 1x weekly (Phase 1-5), 2x weekly during chelation for 45-60 min | Primary antioxidant/mercury detox; immune and neuroprotection</a:t>
            </a:r>
            <a:endParaRPr lang="en-US" sz="1000" dirty="0"/>
          </a:p>
        </p:txBody>
      </p:sp>
      <p:sp>
        <p:nvSpPr>
          <p:cNvPr id="6" name="Shape 4"/>
          <p:cNvSpPr/>
          <p:nvPr/>
        </p:nvSpPr>
        <p:spPr>
          <a:xfrm>
            <a:off x="457200" y="1828800"/>
            <a:ext cx="82296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7" name="Text 5"/>
          <p:cNvSpPr/>
          <p:nvPr/>
        </p:nvSpPr>
        <p:spPr>
          <a:xfrm>
            <a:off x="640080" y="1828800"/>
            <a:ext cx="7863840" cy="5029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Myers' Cocktail — 1x weekly for 8 weeks, then every 2-4 weeks for 30-60 min | Comprehensive nutrient repletion, energy, immune buffering</a:t>
            </a:r>
            <a:endParaRPr lang="en-US" sz="1000" dirty="0"/>
          </a:p>
        </p:txBody>
      </p:sp>
      <p:sp>
        <p:nvSpPr>
          <p:cNvPr id="8" name="Shape 6"/>
          <p:cNvSpPr/>
          <p:nvPr/>
        </p:nvSpPr>
        <p:spPr>
          <a:xfrm>
            <a:off x="457200" y="2423160"/>
            <a:ext cx="82296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9" name="Text 7"/>
          <p:cNvSpPr/>
          <p:nvPr/>
        </p:nvSpPr>
        <p:spPr>
          <a:xfrm>
            <a:off x="640080" y="2423160"/>
            <a:ext cx="7863840" cy="5029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EDTA Chelation Therapy — Every 2 weeks x 6-8 sessions (ONLY after SMART amalgam removal and parasite clearance) for 2-3 hours | Mercury and heavy metal chelation</a:t>
            </a:r>
            <a:endParaRPr lang="en-US" sz="1000" dirty="0"/>
          </a:p>
        </p:txBody>
      </p:sp>
      <p:sp>
        <p:nvSpPr>
          <p:cNvPr id="10" name="Shape 8"/>
          <p:cNvSpPr/>
          <p:nvPr/>
        </p:nvSpPr>
        <p:spPr>
          <a:xfrm>
            <a:off x="457200" y="3017520"/>
            <a:ext cx="82296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1" name="Text 9"/>
          <p:cNvSpPr/>
          <p:nvPr/>
        </p:nvSpPr>
        <p:spPr>
          <a:xfrm>
            <a:off x="640080" y="3017520"/>
            <a:ext cx="7863840" cy="5029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Alpha Lipoic Acid (ALA) IV — 1x weekly (Phase 2/3), start low at 300mg for 30-90 min | Liver/nerve/kidney protection, mercury mobilization (once parasites are clear)</a:t>
            </a:r>
            <a:endParaRPr lang="en-US" sz="1000" dirty="0"/>
          </a:p>
        </p:txBody>
      </p:sp>
      <p:sp>
        <p:nvSpPr>
          <p:cNvPr id="12" name="Shape 10"/>
          <p:cNvSpPr/>
          <p:nvPr/>
        </p:nvSpPr>
        <p:spPr>
          <a:xfrm>
            <a:off x="457200" y="3611880"/>
            <a:ext cx="82296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3" name="Text 11"/>
          <p:cNvSpPr/>
          <p:nvPr/>
        </p:nvSpPr>
        <p:spPr>
          <a:xfrm>
            <a:off x="640080" y="3611880"/>
            <a:ext cx="7863840" cy="5029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High Dose Vitamin C IV — 1x weekly x 8-12 weeks; then PRN for immune for 2-3 hours | Direct anti-tumor, collagen support, oxidative cancer suppression</a:t>
            </a:r>
            <a:endParaRPr lang="en-US" sz="1000" dirty="0"/>
          </a:p>
        </p:txBody>
      </p:sp>
      <p:sp>
        <p:nvSpPr>
          <p:cNvPr id="14" name="Text 12"/>
          <p:cNvSpPr/>
          <p:nvPr/>
        </p:nvSpPr>
        <p:spPr>
          <a:xfrm>
            <a:off x="457200" y="4389120"/>
            <a:ext cx="8229600" cy="274320"/>
          </a:xfrm>
          <a:prstGeom prst="rect">
            <a:avLst/>
          </a:prstGeom>
          <a:noFill/>
          <a:ln/>
        </p:spPr>
        <p:txBody>
          <a:bodyPr wrap="square" rtlCol="0" anchor="ctr"/>
          <a:lstStyle/>
          <a:p>
            <a:pPr indent="0" marL="0">
              <a:buNone/>
            </a:pPr>
            <a:r>
              <a:rPr lang="en-US" sz="1300" b="1" dirty="0">
                <a:solidFill>
                  <a:srgbClr val="C9A54E"/>
                </a:solidFill>
                <a:latin typeface="Source Sans 3" pitchFamily="34" charset="0"/>
                <a:ea typeface="Source Sans 3" pitchFamily="34" charset="-122"/>
                <a:cs typeface="Source Sans 3" pitchFamily="34" charset="-120"/>
              </a:rPr>
              <a:t>IM Therapies:</a:t>
            </a:r>
            <a:endParaRPr lang="en-US" sz="1300" dirty="0"/>
          </a:p>
        </p:txBody>
      </p:sp>
      <p:sp>
        <p:nvSpPr>
          <p:cNvPr id="15" name="Shape 13"/>
          <p:cNvSpPr/>
          <p:nvPr/>
        </p:nvSpPr>
        <p:spPr>
          <a:xfrm>
            <a:off x="457200" y="4709160"/>
            <a:ext cx="82296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6" name="Text 14"/>
          <p:cNvSpPr/>
          <p:nvPr/>
        </p:nvSpPr>
        <p:spPr>
          <a:xfrm>
            <a:off x="640080" y="4709160"/>
            <a:ext cx="7863840" cy="5029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Lipo-B (Lipotropic Complex) — 2mL IM (432mg), 23ga 1" needle in glute/lat thigh | weekly x 8, then 2x/month | Liver, metabolic, energy, and methylation support</a:t>
            </a:r>
            <a:endParaRPr lang="en-US" sz="1000" dirty="0"/>
          </a:p>
        </p:txBody>
      </p:sp>
      <p:sp>
        <p:nvSpPr>
          <p:cNvPr id="17" name="Shape 15"/>
          <p:cNvSpPr/>
          <p:nvPr/>
        </p:nvSpPr>
        <p:spPr>
          <a:xfrm>
            <a:off x="457200" y="5303520"/>
            <a:ext cx="82296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8" name="Text 16"/>
          <p:cNvSpPr/>
          <p:nvPr/>
        </p:nvSpPr>
        <p:spPr>
          <a:xfrm>
            <a:off x="640080" y="5303520"/>
            <a:ext cx="7863840" cy="5029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Vitamin D3 (cholecalciferol) — 50,000 IU IM | monthly (with labs) | Correct severe deficiency from fat malabsorption</a:t>
            </a:r>
            <a:endParaRPr lang="en-US" sz="1000" dirty="0"/>
          </a:p>
        </p:txBody>
      </p:sp>
      <p:sp>
        <p:nvSpPr>
          <p:cNvPr id="19" name="Shape 17"/>
          <p:cNvSpPr/>
          <p:nvPr/>
        </p:nvSpPr>
        <p:spPr>
          <a:xfrm>
            <a:off x="457200" y="5897880"/>
            <a:ext cx="82296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0" name="Text 18"/>
          <p:cNvSpPr/>
          <p:nvPr/>
        </p:nvSpPr>
        <p:spPr>
          <a:xfrm>
            <a:off x="640080" y="5897880"/>
            <a:ext cx="7863840" cy="5029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Vitamin B12 (methyl) — 1000mcg IM | weekly x 8, then monthly | Anticancer, energy, methylation, neuropathy protection</a:t>
            </a:r>
            <a:endParaRPr lang="en-US" sz="1000" dirty="0"/>
          </a:p>
        </p:txBody>
      </p:sp>
      <p:sp>
        <p:nvSpPr>
          <p:cNvPr id="21" name="Shape 19"/>
          <p:cNvSpPr/>
          <p:nvPr/>
        </p:nvSpPr>
        <p:spPr>
          <a:xfrm>
            <a:off x="457200" y="6492240"/>
            <a:ext cx="82296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2" name="Text 20"/>
          <p:cNvSpPr/>
          <p:nvPr/>
        </p:nvSpPr>
        <p:spPr>
          <a:xfrm>
            <a:off x="640080" y="6492240"/>
            <a:ext cx="7863840" cy="5029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Glutathione IM — 600mg | 2-3x weekly | Antioxidant/bile support/chelation assist</a:t>
            </a:r>
            <a:endParaRPr lang="en-US" sz="1000" dirty="0"/>
          </a:p>
        </p:txBody>
      </p:sp>
      <p:sp>
        <p:nvSpPr>
          <p:cNvPr id="23" name="Shape 21"/>
          <p:cNvSpPr/>
          <p:nvPr/>
        </p:nvSpPr>
        <p:spPr>
          <a:xfrm>
            <a:off x="457200" y="7086600"/>
            <a:ext cx="82296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4" name="Text 22"/>
          <p:cNvSpPr/>
          <p:nvPr/>
        </p:nvSpPr>
        <p:spPr>
          <a:xfrm>
            <a:off x="640080" y="7086600"/>
            <a:ext cx="7863840" cy="502920"/>
          </a:xfrm>
          <a:prstGeom prst="rect">
            <a:avLst/>
          </a:prstGeom>
          <a:noFill/>
          <a:ln/>
        </p:spPr>
        <p:txBody>
          <a:bodyPr wrap="square" rtlCol="0" anchor="ctr"/>
          <a:lstStyle/>
          <a:p>
            <a:pPr indent="0" marL="0">
              <a:buNone/>
            </a:pPr>
            <a:r>
              <a:rPr lang="en-US" sz="1000" dirty="0">
                <a:solidFill>
                  <a:srgbClr val="1A2440"/>
                </a:solidFill>
                <a:latin typeface="Source Sans 3" pitchFamily="34" charset="0"/>
                <a:ea typeface="Source Sans 3" pitchFamily="34" charset="-122"/>
                <a:cs typeface="Source Sans 3" pitchFamily="34" charset="-120"/>
              </a:rPr>
              <a:t>CoQ10 (ubiquinone) — 100mg IM | weekly | Mitochondrial, cardiac, breast cytoprotection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C9A54E"/>
                </a:solidFill>
                <a:latin typeface="Playfair Display" pitchFamily="34" charset="0"/>
                <a:ea typeface="Playfair Display" pitchFamily="34" charset="-122"/>
                <a:cs typeface="Playfair Display" pitchFamily="34" charset="-120"/>
              </a:rPr>
              <a:t>Detox &amp; Pathogen Support</a:t>
            </a:r>
            <a:endParaRPr lang="en-US" sz="2400" dirty="0"/>
          </a:p>
        </p:txBody>
      </p:sp>
      <p:sp>
        <p:nvSpPr>
          <p:cNvPr id="3" name="Shape 1"/>
          <p:cNvSpPr/>
          <p:nvPr/>
        </p:nvSpPr>
        <p:spPr>
          <a:xfrm>
            <a:off x="457200" y="914400"/>
            <a:ext cx="82296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3657600"/>
          </a:xfrm>
          <a:prstGeom prst="rect">
            <a:avLst/>
          </a:prstGeom>
          <a:noFill/>
          <a:ln/>
        </p:spPr>
        <p:txBody>
          <a:bodyPr wrap="square" rtlCol="0" anchor="t"/>
          <a:lstStyle/>
          <a:p>
            <a:pPr indent="0" marL="0">
              <a:buNone/>
            </a:pPr>
            <a:r>
              <a:rPr lang="en-US" sz="1200" b="1" dirty="0">
                <a:solidFill>
                  <a:srgbClr val="C9A54E"/>
                </a:solidFill>
                <a:latin typeface="Source Sans 3" pitchFamily="34" charset="0"/>
                <a:ea typeface="Source Sans 3" pitchFamily="34" charset="-122"/>
                <a:cs typeface="Source Sans 3" pitchFamily="34" charset="-120"/>
              </a:rPr>
              <a:t>Epsom Salt Detox Bath</a:t>
            </a:r>
            <a:pPr indent="0" marL="0">
              <a:buNone/>
            </a:pPr>
            <a:r>
              <a:rPr lang="en-US" sz="1000" dirty="0">
                <a:solidFill>
                  <a:srgbClr val="1A2440"/>
                </a:solidFill>
                <a:latin typeface="Source Sans 3" pitchFamily="34" charset="0"/>
                <a:ea typeface="Source Sans 3" pitchFamily="34" charset="-122"/>
                <a:cs typeface="Source Sans 3" pitchFamily="34" charset="-120"/>
              </a:rPr>
              <a:t> — Soak (2 cups Epsom salt, 1 cup baking soda, 20 min hot bath) | 2x weekly for Ongoing</a:t>
            </a:r>
            <a:pPr indent="0" marL="0">
              <a:buNone/>
            </a:pP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Hydrate before and after. Add lavender oil for sleep aid.</a:t>
            </a:r>
            <a:endParaRPr lang="en-US" sz="1200" dirty="0"/>
          </a:p>
          <a:p>
            <a:pPr indent="0" marL="0">
              <a:buNone/>
            </a:pPr>
            <a:r>
              <a:rPr lang="en-US" sz="1200" b="1" dirty="0">
                <a:solidFill>
                  <a:srgbClr val="C9A54E"/>
                </a:solidFill>
                <a:latin typeface="Source Sans 3" pitchFamily="34" charset="0"/>
                <a:ea typeface="Source Sans 3" pitchFamily="34" charset="-122"/>
                <a:cs typeface="Source Sans 3" pitchFamily="34" charset="-120"/>
              </a:rPr>
              <a:t>Bentonite Clay + Apple Cider Detox Bath</a:t>
            </a:r>
            <a:pPr indent="0" marL="0">
              <a:buNone/>
            </a:pPr>
            <a:r>
              <a:rPr lang="en-US" sz="1000" dirty="0">
                <a:solidFill>
                  <a:srgbClr val="1A2440"/>
                </a:solidFill>
                <a:latin typeface="Source Sans 3" pitchFamily="34" charset="0"/>
                <a:ea typeface="Source Sans 3" pitchFamily="34" charset="-122"/>
                <a:cs typeface="Source Sans 3" pitchFamily="34" charset="-120"/>
              </a:rPr>
              <a:t> — Soak (1 cup clay pre-mixed, 1 cup Epsom, 1/2 cup ACV) | 1x weekly for Ongoing</a:t>
            </a:r>
            <a:pPr indent="0" marL="0">
              <a:buNone/>
            </a:pP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No metal utensils. Hydrate well. Not for broken skin.</a:t>
            </a:r>
            <a:endParaRPr lang="en-US" sz="1200" dirty="0"/>
          </a:p>
          <a:p>
            <a:pPr indent="0" marL="0">
              <a:buNone/>
            </a:pPr>
            <a:r>
              <a:rPr lang="en-US" sz="1200" b="1" dirty="0">
                <a:solidFill>
                  <a:srgbClr val="C9A54E"/>
                </a:solidFill>
                <a:latin typeface="Source Sans 3" pitchFamily="34" charset="0"/>
                <a:ea typeface="Source Sans 3" pitchFamily="34" charset="-122"/>
                <a:cs typeface="Source Sans 3" pitchFamily="34" charset="-120"/>
              </a:rPr>
              <a:t>Castor Oil Packs</a:t>
            </a:r>
            <a:pPr indent="0" marL="0">
              <a:buNone/>
            </a:pPr>
            <a:r>
              <a:rPr lang="en-US" sz="1000" dirty="0">
                <a:solidFill>
                  <a:srgbClr val="1A2440"/>
                </a:solidFill>
                <a:latin typeface="Source Sans 3" pitchFamily="34" charset="0"/>
                <a:ea typeface="Source Sans 3" pitchFamily="34" charset="-122"/>
                <a:cs typeface="Source Sans 3" pitchFamily="34" charset="-120"/>
              </a:rPr>
              <a:t> — Pack to upper right abdomen/liver area 30-45min | 3-4x weekly in phase 1-3, 2x/week maintenance for Ongoing</a:t>
            </a:r>
            <a:pPr indent="0" marL="0">
              <a:buNone/>
            </a:pP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Follow standard PMA protocol—apply heat, then rest.</a:t>
            </a:r>
            <a:endParaRPr lang="en-US" sz="1200" dirty="0"/>
          </a:p>
          <a:p>
            <a:pPr indent="0" marL="0">
              <a:buNone/>
            </a:pPr>
            <a:r>
              <a:rPr lang="en-US" sz="1200" b="1" dirty="0">
                <a:solidFill>
                  <a:srgbClr val="C9A54E"/>
                </a:solidFill>
                <a:latin typeface="Source Sans 3" pitchFamily="34" charset="0"/>
                <a:ea typeface="Source Sans 3" pitchFamily="34" charset="-122"/>
                <a:cs typeface="Source Sans 3" pitchFamily="34" charset="-120"/>
              </a:rPr>
              <a:t>Infrared Sauna</a:t>
            </a:r>
            <a:pPr indent="0" marL="0">
              <a:buNone/>
            </a:pPr>
            <a:r>
              <a:rPr lang="en-US" sz="1000" dirty="0">
                <a:solidFill>
                  <a:srgbClr val="1A2440"/>
                </a:solidFill>
                <a:latin typeface="Source Sans 3" pitchFamily="34" charset="0"/>
                <a:ea typeface="Source Sans 3" pitchFamily="34" charset="-122"/>
                <a:cs typeface="Source Sans 3" pitchFamily="34" charset="-120"/>
              </a:rPr>
              <a:t> — 30–40 min at 120–145°F | 2x weekly (post-IV recommended) for Ongoing</a:t>
            </a:r>
            <a:pPr indent="0" marL="0">
              <a:buNone/>
            </a:pP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Shower after, hydrate before and after. Monitor for BP issues.</a:t>
            </a:r>
            <a:endParaRPr lang="en-US" sz="1200" dirty="0"/>
          </a:p>
          <a:p>
            <a:pPr indent="0" marL="0">
              <a:buNone/>
            </a:pPr>
            <a:r>
              <a:rPr lang="en-US" sz="1200" b="1" dirty="0">
                <a:solidFill>
                  <a:srgbClr val="C9A54E"/>
                </a:solidFill>
                <a:latin typeface="Source Sans 3" pitchFamily="34" charset="0"/>
                <a:ea typeface="Source Sans 3" pitchFamily="34" charset="-122"/>
                <a:cs typeface="Source Sans 3" pitchFamily="34" charset="-120"/>
              </a:rPr>
              <a:t>Coffee enema</a:t>
            </a:r>
            <a:pPr indent="0" marL="0">
              <a:buNone/>
            </a:pPr>
            <a:r>
              <a:rPr lang="en-US" sz="1000" dirty="0">
                <a:solidFill>
                  <a:srgbClr val="1A2440"/>
                </a:solidFill>
                <a:latin typeface="Source Sans 3" pitchFamily="34" charset="0"/>
                <a:ea typeface="Source Sans 3" pitchFamily="34" charset="-122"/>
                <a:cs typeface="Source Sans 3" pitchFamily="34" charset="-120"/>
              </a:rPr>
              <a:t> — Organic, mold-free coffee retained 12–15 min | 1–2x weekly (Phase 2+) for As tolerated</a:t>
            </a:r>
            <a:pPr indent="0" marL="0">
              <a:buNone/>
            </a:pP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Refill fluids, follow with probiotic.</a:t>
            </a:r>
            <a:endParaRPr lang="en-US" sz="1200" dirty="0"/>
          </a:p>
          <a:p>
            <a:pPr indent="0" marL="0">
              <a:buNone/>
            </a:pPr>
            <a:r>
              <a:rPr lang="en-US" sz="1200" b="1" dirty="0">
                <a:solidFill>
                  <a:srgbClr val="C9A54E"/>
                </a:solidFill>
                <a:latin typeface="Source Sans 3" pitchFamily="34" charset="0"/>
                <a:ea typeface="Source Sans 3" pitchFamily="34" charset="-122"/>
                <a:cs typeface="Source Sans 3" pitchFamily="34" charset="-120"/>
              </a:rPr>
              <a:t>Dry Skin Brushing</a:t>
            </a:r>
            <a:pPr indent="0" marL="0">
              <a:buNone/>
            </a:pPr>
            <a:r>
              <a:rPr lang="en-US" sz="1000" dirty="0">
                <a:solidFill>
                  <a:srgbClr val="1A2440"/>
                </a:solidFill>
                <a:latin typeface="Source Sans 3" pitchFamily="34" charset="0"/>
                <a:ea typeface="Source Sans 3" pitchFamily="34" charset="-122"/>
                <a:cs typeface="Source Sans 3" pitchFamily="34" charset="-120"/>
              </a:rPr>
              <a:t> — Before bath/shower, always toward heart | Daily for Ongoing</a:t>
            </a:r>
            <a:pPr indent="0" marL="0">
              <a:buNone/>
            </a:pP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Stimulate lymphatics, best pre-am detox bath/sauna.</a:t>
            </a:r>
            <a:endParaRPr lang="en-US" sz="1200" dirty="0"/>
          </a:p>
          <a:p>
            <a:pPr indent="0" marL="0">
              <a:buNone/>
            </a:pPr>
            <a:r>
              <a:rPr lang="en-US" sz="1200" b="1" dirty="0">
                <a:solidFill>
                  <a:srgbClr val="C9A54E"/>
                </a:solidFill>
                <a:latin typeface="Source Sans 3" pitchFamily="34" charset="0"/>
                <a:ea typeface="Source Sans 3" pitchFamily="34" charset="-122"/>
                <a:cs typeface="Source Sans 3" pitchFamily="34" charset="-120"/>
              </a:rPr>
              <a:t>EDTA Chelation Protocol</a:t>
            </a:r>
            <a:pPr indent="0" marL="0">
              <a:buNone/>
            </a:pPr>
            <a:r>
              <a:rPr lang="en-US" sz="1000" dirty="0">
                <a:solidFill>
                  <a:srgbClr val="1A2440"/>
                </a:solidFill>
                <a:latin typeface="Source Sans 3" pitchFamily="34" charset="0"/>
                <a:ea typeface="Source Sans 3" pitchFamily="34" charset="-122"/>
                <a:cs typeface="Source Sans 3" pitchFamily="34" charset="-120"/>
              </a:rPr>
              <a:t> — IV Chelation | Weekly during Phase 1-2 for 8-12 sessions</a:t>
            </a:r>
            <a:pPr indent="0" marL="0">
              <a:buNone/>
            </a:pP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EDTA IV chelation — must be administered at clinic. Pre-session with glutathione IV. Monitor kidney function and mineral levels throughout.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A2440"/>
                </a:solidFill>
                <a:latin typeface="Playfair Display" pitchFamily="34" charset="0"/>
                <a:ea typeface="Playfair Display" pitchFamily="34" charset="-122"/>
                <a:cs typeface="Playfair Display" pitchFamily="34" charset="-120"/>
              </a:rPr>
              <a:t>Parasite &amp; Antiviral Protocols</a:t>
            </a:r>
            <a:endParaRPr lang="en-US" sz="2400" dirty="0"/>
          </a:p>
        </p:txBody>
      </p:sp>
      <p:sp>
        <p:nvSpPr>
          <p:cNvPr id="3" name="Shape 1"/>
          <p:cNvSpPr/>
          <p:nvPr/>
        </p:nvSpPr>
        <p:spPr>
          <a:xfrm>
            <a:off x="457200" y="914400"/>
            <a:ext cx="82296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3657600"/>
          </a:xfrm>
          <a:prstGeom prst="rect">
            <a:avLst/>
          </a:prstGeom>
          <a:noFill/>
          <a:ln/>
        </p:spPr>
        <p:txBody>
          <a:bodyPr wrap="square" rtlCol="0" anchor="t"/>
          <a:lstStyle/>
          <a:p>
            <a:pPr indent="0" marL="0">
              <a:buNone/>
            </a:pPr>
            <a:r>
              <a:rPr lang="en-US" sz="1200" b="1" dirty="0">
                <a:solidFill>
                  <a:srgbClr val="C9A54E"/>
                </a:solidFill>
                <a:latin typeface="Source Sans 3" pitchFamily="34" charset="0"/>
                <a:ea typeface="Source Sans 3" pitchFamily="34" charset="-122"/>
                <a:cs typeface="Source Sans 3" pitchFamily="34" charset="-120"/>
              </a:rPr>
              <a:t>Menvera (Ivermectin + Mebendazole)</a:t>
            </a:r>
            <a:pPr indent="0" marL="0">
              <a:buNone/>
            </a:pPr>
            <a:r>
              <a:rPr lang="en-US" sz="1000" dirty="0">
                <a:solidFill>
                  <a:srgbClr val="1A2440"/>
                </a:solidFill>
                <a:latin typeface="Source Sans 3" pitchFamily="34" charset="0"/>
                <a:ea typeface="Source Sans 3" pitchFamily="34" charset="-122"/>
                <a:cs typeface="Source Sans 3" pitchFamily="34" charset="-120"/>
              </a:rPr>
              <a:t> — 12mg Ivermectin + 100mg Mebendazole/tablet | 1 tablet M/W/F x 4 weeks (repeat 2–4 weeks if needed) for Phase 1–2</a:t>
            </a:r>
            <a:pPr indent="0" marL="0">
              <a:buNone/>
            </a:pP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Purpose: Broad-spectrum antiparasitic, initial burden reduction</a:t>
            </a:r>
            <a:endParaRPr lang="en-US" sz="1200" dirty="0"/>
          </a:p>
          <a:p>
            <a:pPr indent="0" marL="0">
              <a:buNone/>
            </a:pPr>
            <a:r>
              <a:rPr lang="en-US" sz="1200" b="1" dirty="0">
                <a:solidFill>
                  <a:srgbClr val="C9A54E"/>
                </a:solidFill>
                <a:latin typeface="Source Sans 3" pitchFamily="34" charset="0"/>
                <a:ea typeface="Source Sans 3" pitchFamily="34" charset="-122"/>
                <a:cs typeface="Source Sans 3" pitchFamily="34" charset="-120"/>
              </a:rPr>
              <a:t>Henben (Fenbendazole)</a:t>
            </a:r>
            <a:pPr indent="0" marL="0">
              <a:buNone/>
            </a:pPr>
            <a:r>
              <a:rPr lang="en-US" sz="1000" dirty="0">
                <a:solidFill>
                  <a:srgbClr val="1A2440"/>
                </a:solidFill>
                <a:latin typeface="Source Sans 3" pitchFamily="34" charset="0"/>
                <a:ea typeface="Source Sans 3" pitchFamily="34" charset="-122"/>
                <a:cs typeface="Source Sans 3" pitchFamily="34" charset="-120"/>
              </a:rPr>
              <a:t> — 444mg capsule | 1 capsule M/W/F x 4–6 weeks (repeat 1 month every 6 months prophylaxis) for Phase 1–2</a:t>
            </a:r>
            <a:pPr indent="0" marL="0">
              <a:buNone/>
            </a:pP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Purpose: Anti-parasitic and off-label cancer suppression</a:t>
            </a:r>
            <a:endParaRPr lang="en-US" sz="1200" dirty="0"/>
          </a:p>
          <a:p>
            <a:pPr indent="0" marL="0">
              <a:buNone/>
            </a:pPr>
            <a:r>
              <a:rPr lang="en-US" sz="1200" b="1" dirty="0">
                <a:solidFill>
                  <a:srgbClr val="C9A54E"/>
                </a:solidFill>
                <a:latin typeface="Source Sans 3" pitchFamily="34" charset="0"/>
                <a:ea typeface="Source Sans 3" pitchFamily="34" charset="-122"/>
                <a:cs typeface="Source Sans 3" pitchFamily="34" charset="-120"/>
              </a:rPr>
              <a:t>Biofilm Disruptors (Serrapeptase, Nattokinase)</a:t>
            </a:r>
            <a:pPr indent="0" marL="0">
              <a:buNone/>
            </a:pPr>
            <a:r>
              <a:rPr lang="en-US" sz="1000" dirty="0">
                <a:solidFill>
                  <a:srgbClr val="1A2440"/>
                </a:solidFill>
                <a:latin typeface="Source Sans 3" pitchFamily="34" charset="0"/>
                <a:ea typeface="Source Sans 3" pitchFamily="34" charset="-122"/>
                <a:cs typeface="Source Sans 3" pitchFamily="34" charset="-120"/>
              </a:rPr>
              <a:t> — Per manufacturer | Daily with enzymes 1h before/2h after food for Phase 1–2</a:t>
            </a:r>
            <a:pPr indent="0" marL="0">
              <a:buNone/>
            </a:pP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Purpose: Disrupt parasite/bacterial biofilms to enable clearing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0" y="1645920"/>
            <a:ext cx="9144000" cy="731520"/>
          </a:xfrm>
          <a:prstGeom prst="rect">
            <a:avLst/>
          </a:prstGeom>
          <a:noFill/>
          <a:ln/>
        </p:spPr>
        <p:txBody>
          <a:bodyPr wrap="square" rtlCol="0" anchor="ctr"/>
          <a:lstStyle/>
          <a:p>
            <a:pPr algn="ctr" indent="0" marL="0">
              <a:buNone/>
            </a:pPr>
            <a:r>
              <a:rPr lang="en-US" sz="3600" b="1" dirty="0">
                <a:solidFill>
                  <a:srgbClr val="FFFFFF"/>
                </a:solidFill>
                <a:latin typeface="Playfair Display" pitchFamily="34" charset="0"/>
                <a:ea typeface="Playfair Display" pitchFamily="34" charset="-122"/>
                <a:cs typeface="Playfair Display" pitchFamily="34" charset="-120"/>
              </a:rPr>
              <a:t>ECS PROTOCOL</a:t>
            </a:r>
            <a:endParaRPr lang="en-US" sz="3600" dirty="0"/>
          </a:p>
        </p:txBody>
      </p:sp>
      <p:sp>
        <p:nvSpPr>
          <p:cNvPr id="3" name="Text 1"/>
          <p:cNvSpPr/>
          <p:nvPr/>
        </p:nvSpPr>
        <p:spPr>
          <a:xfrm>
            <a:off x="914400" y="2377440"/>
            <a:ext cx="7315200" cy="548640"/>
          </a:xfrm>
          <a:prstGeom prst="rect">
            <a:avLst/>
          </a:prstGeom>
          <a:noFill/>
          <a:ln/>
        </p:spPr>
        <p:txBody>
          <a:bodyPr wrap="square" rtlCol="0" anchor="ctr"/>
          <a:lstStyle/>
          <a:p>
            <a:pPr algn="ctr" indent="0" marL="0">
              <a:buNone/>
            </a:pPr>
            <a:r>
              <a:rPr lang="en-US" sz="1400" dirty="0">
                <a:solidFill>
                  <a:srgbClr val="C9A54E"/>
                </a:solidFill>
                <a:latin typeface="Source Sans 3" pitchFamily="34" charset="0"/>
                <a:ea typeface="Source Sans 3" pitchFamily="34" charset="-122"/>
                <a:cs typeface="Source Sans 3" pitchFamily="34" charset="-120"/>
              </a:rPr>
              <a:t>Endocannabinoid System Optimization — Suppositories, Tinctures &amp; Targeted Ratios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indent="0" marL="0">
              <a:buNone/>
            </a:pPr>
            <a:r>
              <a:rPr lang="en-US" sz="2200" b="1" dirty="0">
                <a:solidFill>
                  <a:srgbClr val="1A2440"/>
                </a:solidFill>
                <a:latin typeface="Playfair Display" pitchFamily="34" charset="0"/>
                <a:ea typeface="Playfair Display" pitchFamily="34" charset="-122"/>
                <a:cs typeface="Playfair Display" pitchFamily="34" charset="-120"/>
              </a:rPr>
              <a:t>ECS Protocol — Endocannabinoid System</a:t>
            </a:r>
            <a:endParaRPr lang="en-US" sz="2200" dirty="0"/>
          </a:p>
        </p:txBody>
      </p:sp>
      <p:sp>
        <p:nvSpPr>
          <p:cNvPr id="3" name="Text 1"/>
          <p:cNvSpPr/>
          <p:nvPr/>
        </p:nvSpPr>
        <p:spPr>
          <a:xfrm>
            <a:off x="457200" y="685800"/>
            <a:ext cx="8229600" cy="457200"/>
          </a:xfrm>
          <a:prstGeom prst="rect">
            <a:avLst/>
          </a:prstGeom>
          <a:noFill/>
          <a:ln/>
        </p:spPr>
        <p:txBody>
          <a:bodyPr wrap="square" rtlCol="0" anchor="ctr"/>
          <a:lstStyle/>
          <a:p>
            <a:pPr indent="0" marL="0">
              <a:buNone/>
            </a:pPr>
            <a:r>
              <a:rPr lang="en-US" sz="1000" dirty="0">
                <a:solidFill>
                  <a:srgbClr val="5A6B8A"/>
                </a:solidFill>
                <a:latin typeface="Source Sans 3" pitchFamily="34" charset="0"/>
                <a:ea typeface="Source Sans 3" pitchFamily="34" charset="-122"/>
                <a:cs typeface="Source Sans 3" pitchFamily="34" charset="-120"/>
              </a:rPr>
              <a:t>Aggressive anti-tumor ECS modulation with dual daytime (1:1 CBD:THC+DMSO) and nighttime (CBN dominant) suppository rotation plus daily Elixir tincture for systemic endocannabinoid tone. Ratios support anti-proliferative, immune normalization, sleep and gut barrier restoration.</a:t>
            </a:r>
            <a:endParaRPr lang="en-US" sz="1000" dirty="0"/>
          </a:p>
        </p:txBody>
      </p:sp>
      <p:sp>
        <p:nvSpPr>
          <p:cNvPr id="4" name="Shape 2"/>
          <p:cNvSpPr/>
          <p:nvPr/>
        </p:nvSpPr>
        <p:spPr>
          <a:xfrm>
            <a:off x="274320" y="1280160"/>
            <a:ext cx="4114800" cy="1645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5" name="Text 3"/>
          <p:cNvSpPr/>
          <p:nvPr/>
        </p:nvSpPr>
        <p:spPr>
          <a:xfrm>
            <a:off x="457200" y="1371600"/>
            <a:ext cx="3749040" cy="1463040"/>
          </a:xfrm>
          <a:prstGeom prst="rect">
            <a:avLst/>
          </a:prstGeom>
          <a:noFill/>
          <a:ln/>
        </p:spPr>
        <p:txBody>
          <a:bodyPr wrap="square" rtlCol="0" anchor="t"/>
          <a:lstStyle/>
          <a:p>
            <a:pPr indent="0" marL="0">
              <a:buNone/>
            </a:pPr>
            <a:r>
              <a:rPr lang="en-US" sz="1200" b="1" dirty="0">
                <a:solidFill>
                  <a:srgbClr val="1A2440"/>
                </a:solidFill>
                <a:latin typeface="Source Sans 3" pitchFamily="34" charset="0"/>
                <a:ea typeface="Source Sans 3" pitchFamily="34" charset="-122"/>
                <a:cs typeface="Source Sans 3" pitchFamily="34" charset="-120"/>
              </a:rPr>
              <a:t>DAYTIME SUPPOSITORY</a:t>
            </a:r>
            <a:endParaRPr lang="en-US" sz="12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CBD: 80</a:t>
            </a:r>
            <a:endParaRPr lang="en-US" sz="12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CBG: 10</a:t>
            </a:r>
            <a:endParaRPr lang="en-US" sz="12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DMSO: 20</a:t>
            </a: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Base: cacao butter</a:t>
            </a: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Delivery: rectal</a:t>
            </a:r>
            <a:endParaRPr lang="en-US" sz="1200" dirty="0"/>
          </a:p>
        </p:txBody>
      </p:sp>
      <p:sp>
        <p:nvSpPr>
          <p:cNvPr id="6" name="Shape 4"/>
          <p:cNvSpPr/>
          <p:nvPr/>
        </p:nvSpPr>
        <p:spPr>
          <a:xfrm>
            <a:off x="4754880" y="1280160"/>
            <a:ext cx="4114800" cy="1645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7" name="Text 5"/>
          <p:cNvSpPr/>
          <p:nvPr/>
        </p:nvSpPr>
        <p:spPr>
          <a:xfrm>
            <a:off x="4937760" y="1371600"/>
            <a:ext cx="3749040" cy="1463040"/>
          </a:xfrm>
          <a:prstGeom prst="rect">
            <a:avLst/>
          </a:prstGeom>
          <a:noFill/>
          <a:ln/>
        </p:spPr>
        <p:txBody>
          <a:bodyPr wrap="square" rtlCol="0" anchor="t"/>
          <a:lstStyle/>
          <a:p>
            <a:pPr indent="0" marL="0">
              <a:buNone/>
            </a:pPr>
            <a:r>
              <a:rPr lang="en-US" sz="1200" b="1" dirty="0">
                <a:solidFill>
                  <a:srgbClr val="1A2440"/>
                </a:solidFill>
                <a:latin typeface="Source Sans 3" pitchFamily="34" charset="0"/>
                <a:ea typeface="Source Sans 3" pitchFamily="34" charset="-122"/>
                <a:cs typeface="Source Sans 3" pitchFamily="34" charset="-120"/>
              </a:rPr>
              <a:t>NIGHTTIME SUPPOSITORY</a:t>
            </a:r>
            <a:endParaRPr lang="en-US" sz="12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CBD: 12</a:t>
            </a:r>
            <a:endParaRPr lang="en-US" sz="12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THC: 4</a:t>
            </a:r>
            <a:endParaRPr lang="en-US" sz="12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CBN: 24</a:t>
            </a: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DMSO: 10</a:t>
            </a:r>
            <a:endParaRPr lang="en-US" sz="12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Base: cacao butter</a:t>
            </a:r>
            <a:endParaRPr lang="en-US" sz="1200" dirty="0"/>
          </a:p>
        </p:txBody>
      </p:sp>
      <p:sp>
        <p:nvSpPr>
          <p:cNvPr id="8" name="Shape 6"/>
          <p:cNvSpPr/>
          <p:nvPr/>
        </p:nvSpPr>
        <p:spPr>
          <a:xfrm>
            <a:off x="274320" y="3108960"/>
            <a:ext cx="8595360" cy="6400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9" name="Text 7"/>
          <p:cNvSpPr/>
          <p:nvPr/>
        </p:nvSpPr>
        <p:spPr>
          <a:xfrm>
            <a:off x="457200" y="3154680"/>
            <a:ext cx="8229600" cy="548640"/>
          </a:xfrm>
          <a:prstGeom prst="rect">
            <a:avLst/>
          </a:prstGeom>
          <a:noFill/>
          <a:ln/>
        </p:spPr>
        <p:txBody>
          <a:bodyPr wrap="square" rtlCol="0" anchor="ctr"/>
          <a:lstStyle/>
          <a:p>
            <a:pPr indent="0" marL="0">
              <a:buNone/>
            </a:pPr>
            <a:r>
              <a:rPr lang="en-US" sz="1100" b="1" dirty="0">
                <a:solidFill>
                  <a:srgbClr val="1A2440"/>
                </a:solidFill>
                <a:latin typeface="Source Sans 3" pitchFamily="34" charset="0"/>
                <a:ea typeface="Source Sans 3" pitchFamily="34" charset="-122"/>
                <a:cs typeface="Source Sans 3" pitchFamily="34" charset="-120"/>
              </a:rPr>
              <a:t>Elixir for Everything: </a:t>
            </a:r>
            <a:pPr indent="0" marL="0">
              <a:buNone/>
            </a:pPr>
            <a:r>
              <a:rPr lang="en-US" sz="1000" dirty="0">
                <a:solidFill>
                  <a:srgbClr val="1A2440"/>
                </a:solidFill>
                <a:latin typeface="Source Sans 3" pitchFamily="34" charset="0"/>
                <a:ea typeface="Source Sans 3" pitchFamily="34" charset="-122"/>
                <a:cs typeface="Source Sans 3" pitchFamily="34" charset="-120"/>
              </a:rPr>
              <a:t>0.5ml AM — CBD, CBG, CBC, CBDV, CBN, THCV, CBDA, CBGA, CBCA, THCA, CBDVA, CBCVA</a:t>
            </a:r>
            <a:endParaRPr lang="en-US" sz="1100" dirty="0"/>
          </a:p>
        </p:txBody>
      </p:sp>
      <p:sp>
        <p:nvSpPr>
          <p:cNvPr id="10" name="Shape 8"/>
          <p:cNvSpPr/>
          <p:nvPr/>
        </p:nvSpPr>
        <p:spPr>
          <a:xfrm>
            <a:off x="274320" y="3931920"/>
            <a:ext cx="8595360" cy="10058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1" name="Text 9"/>
          <p:cNvSpPr/>
          <p:nvPr/>
        </p:nvSpPr>
        <p:spPr>
          <a:xfrm>
            <a:off x="457200" y="3977640"/>
            <a:ext cx="8229600" cy="914400"/>
          </a:xfrm>
          <a:prstGeom prst="rect">
            <a:avLst/>
          </a:prstGeom>
          <a:noFill/>
          <a:ln/>
        </p:spPr>
        <p:txBody>
          <a:bodyPr wrap="square" rtlCol="0" anchor="t"/>
          <a:lstStyle/>
          <a:p>
            <a:pPr indent="0" marL="0">
              <a:buNone/>
            </a:pPr>
            <a:r>
              <a:rPr lang="en-US" sz="1100" b="1" dirty="0">
                <a:solidFill>
                  <a:srgbClr val="1A2440"/>
                </a:solidFill>
                <a:latin typeface="Source Sans 3" pitchFamily="34" charset="0"/>
                <a:ea typeface="Source Sans 3" pitchFamily="34" charset="-122"/>
                <a:cs typeface="Source Sans 3" pitchFamily="34" charset="-120"/>
              </a:rPr>
              <a:t>TARGETED CANNABINOID RATIOS</a:t>
            </a:r>
            <a:endParaRPr lang="en-US" sz="1100" dirty="0"/>
          </a:p>
          <a:p>
            <a:pPr indent="0" marL="0">
              <a:buNone/>
            </a:pPr>
            <a:r>
              <a:rPr lang="en-US" sz="1000" b="1" dirty="0">
                <a:solidFill>
                  <a:srgbClr val="C9A54E"/>
                </a:solidFill>
                <a:latin typeface="Source Sans 3" pitchFamily="34" charset="0"/>
                <a:ea typeface="Source Sans 3" pitchFamily="34" charset="-122"/>
                <a:cs typeface="Source Sans 3" pitchFamily="34" charset="-120"/>
              </a:rPr>
              <a:t>Breast cancer suppression: </a:t>
            </a:r>
            <a:pPr indent="0" marL="0">
              <a:buNone/>
            </a:pPr>
            <a:r>
              <a:rPr lang="en-US" sz="900" dirty="0">
                <a:solidFill>
                  <a:srgbClr val="1A2440"/>
                </a:solidFill>
                <a:latin typeface="Source Sans 3" pitchFamily="34" charset="0"/>
                <a:ea typeface="Source Sans 3" pitchFamily="34" charset="-122"/>
                <a:cs typeface="Source Sans 3" pitchFamily="34" charset="-120"/>
              </a:rPr>
              <a:t>CBD:THC 1:1 — Synergistic apoptosis, immune balance</a:t>
            </a:r>
            <a:endParaRPr lang="en-US" sz="1100" dirty="0"/>
          </a:p>
          <a:p>
            <a:pPr indent="0" marL="0">
              <a:buNone/>
            </a:pPr>
            <a:r>
              <a:rPr lang="en-US" sz="1000" b="1" dirty="0">
                <a:solidFill>
                  <a:srgbClr val="C9A54E"/>
                </a:solidFill>
                <a:latin typeface="Source Sans 3" pitchFamily="34" charset="0"/>
                <a:ea typeface="Source Sans 3" pitchFamily="34" charset="-122"/>
                <a:cs typeface="Source Sans 3" pitchFamily="34" charset="-120"/>
              </a:rPr>
              <a:t>Biofilm/parasite: </a:t>
            </a:r>
            <a:pPr indent="0" marL="0">
              <a:buNone/>
            </a:pPr>
            <a:r>
              <a:rPr lang="en-US" sz="900" dirty="0">
                <a:solidFill>
                  <a:srgbClr val="1A2440"/>
                </a:solidFill>
                <a:latin typeface="Source Sans 3" pitchFamily="34" charset="0"/>
                <a:ea typeface="Source Sans 3" pitchFamily="34" charset="-122"/>
                <a:cs typeface="Source Sans 3" pitchFamily="34" charset="-120"/>
              </a:rPr>
              <a:t>CBD:CBG:CBN:THC 4:1:0.5:4 — CBG/CBN target biofilm/parasitic pathways</a:t>
            </a:r>
            <a:endParaRPr lang="en-US" sz="1100" dirty="0"/>
          </a:p>
          <a:p>
            <a:pPr indent="0" marL="0">
              <a:buNone/>
            </a:pPr>
            <a:r>
              <a:rPr lang="en-US" sz="1000" b="1" dirty="0">
                <a:solidFill>
                  <a:srgbClr val="C9A54E"/>
                </a:solidFill>
                <a:latin typeface="Source Sans 3" pitchFamily="34" charset="0"/>
                <a:ea typeface="Source Sans 3" pitchFamily="34" charset="-122"/>
                <a:cs typeface="Source Sans 3" pitchFamily="34" charset="-120"/>
              </a:rPr>
              <a:t>Sleep/repair: </a:t>
            </a:r>
            <a:pPr indent="0" marL="0">
              <a:buNone/>
            </a:pPr>
            <a:r>
              <a:rPr lang="en-US" sz="900" dirty="0">
                <a:solidFill>
                  <a:srgbClr val="1A2440"/>
                </a:solidFill>
                <a:latin typeface="Source Sans 3" pitchFamily="34" charset="0"/>
                <a:ea typeface="Source Sans 3" pitchFamily="34" charset="-122"/>
                <a:cs typeface="Source Sans 3" pitchFamily="34" charset="-120"/>
              </a:rPr>
              <a:t>CBN-dominant at night — Restore deep sleep, GABAergic anticancer</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indent="0" marL="0">
              <a:buNone/>
            </a:pPr>
            <a:r>
              <a:rPr lang="en-US" sz="2200" b="1" dirty="0">
                <a:solidFill>
                  <a:srgbClr val="1A2440"/>
                </a:solidFill>
                <a:latin typeface="Playfair Display" pitchFamily="34" charset="0"/>
                <a:ea typeface="Playfair Display" pitchFamily="34" charset="-122"/>
                <a:cs typeface="Playfair Display" pitchFamily="34" charset="-120"/>
              </a:rPr>
              <a:t>Suppository Protocols</a:t>
            </a:r>
            <a:endParaRPr lang="en-US" sz="2200" dirty="0"/>
          </a:p>
        </p:txBody>
      </p:sp>
      <p:sp>
        <p:nvSpPr>
          <p:cNvPr id="3" name="Shape 1"/>
          <p:cNvSpPr/>
          <p:nvPr/>
        </p:nvSpPr>
        <p:spPr>
          <a:xfrm>
            <a:off x="457200" y="731520"/>
            <a:ext cx="8229600" cy="41148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822960"/>
            <a:ext cx="7863840" cy="3931920"/>
          </a:xfrm>
          <a:prstGeom prst="rect">
            <a:avLst/>
          </a:prstGeom>
          <a:noFill/>
          <a:ln/>
        </p:spPr>
        <p:txBody>
          <a:bodyPr wrap="square" rtlCol="0" anchor="t"/>
          <a:lstStyle/>
          <a:p>
            <a:pPr indent="0" marL="0">
              <a:buNone/>
            </a:pPr>
            <a:r>
              <a:rPr lang="en-US" sz="1100" b="1" dirty="0">
                <a:solidFill>
                  <a:srgbClr val="1A2440"/>
                </a:solidFill>
                <a:latin typeface="Source Sans 3" pitchFamily="34" charset="0"/>
                <a:ea typeface="Source Sans 3" pitchFamily="34" charset="-122"/>
                <a:cs typeface="Source Sans 3" pitchFamily="34" charset="-120"/>
              </a:rPr>
              <a:t>ECS Anti-cancer Suppository (daytime)</a:t>
            </a:r>
            <a:endParaRPr lang="en-US" sz="1100" dirty="0"/>
          </a:p>
          <a:p>
            <a:pPr indent="0" marL="0">
              <a:buNone/>
            </a:pPr>
            <a:r>
              <a:rPr lang="en-US" sz="900" dirty="0">
                <a:solidFill>
                  <a:srgbClr val="1A2440"/>
                </a:solidFill>
                <a:latin typeface="Source Sans 3" pitchFamily="34" charset="0"/>
                <a:ea typeface="Source Sans 3" pitchFamily="34" charset="-122"/>
                <a:cs typeface="Source Sans 3" pitchFamily="34" charset="-120"/>
              </a:rPr>
              <a:t>Formula: CBD:THC 1:1 + DMSO 20mg | Base: cacao butter | Freq: daily</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Purpose: Direct breast and immune anti-tumor effects, biofilm &amp; metastatic suppression</a:t>
            </a:r>
            <a:endParaRPr lang="en-US" sz="1100" dirty="0"/>
          </a:p>
          <a:p>
            <a:pPr indent="0" marL="0">
              <a:buNone/>
            </a:pPr>
            <a:endParaRPr lang="en-US" sz="1100" dirty="0"/>
          </a:p>
          <a:p>
            <a:pPr indent="0" marL="0">
              <a:buNone/>
            </a:pPr>
            <a:r>
              <a:rPr lang="en-US" sz="1100" b="1" dirty="0">
                <a:solidFill>
                  <a:srgbClr val="1A2440"/>
                </a:solidFill>
                <a:latin typeface="Source Sans 3" pitchFamily="34" charset="0"/>
                <a:ea typeface="Source Sans 3" pitchFamily="34" charset="-122"/>
                <a:cs typeface="Source Sans 3" pitchFamily="34" charset="-120"/>
              </a:rPr>
              <a:t>ECS Nighttime Immune Sleep (nighttime)</a:t>
            </a:r>
            <a:endParaRPr lang="en-US" sz="1100" dirty="0"/>
          </a:p>
          <a:p>
            <a:pPr indent="0" marL="0">
              <a:buNone/>
            </a:pPr>
            <a:r>
              <a:rPr lang="en-US" sz="900" dirty="0">
                <a:solidFill>
                  <a:srgbClr val="1A2440"/>
                </a:solidFill>
                <a:latin typeface="Source Sans 3" pitchFamily="34" charset="0"/>
                <a:ea typeface="Source Sans 3" pitchFamily="34" charset="-122"/>
                <a:cs typeface="Source Sans 3" pitchFamily="34" charset="-120"/>
              </a:rPr>
              <a:t>Formula: CBN:CBD:THC 12:6:2 | Base: cacao butter | Freq: nightly</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Purpose: GABAergic cancer protection, sleep, immune tone reset</a:t>
            </a:r>
            <a:endParaRPr lang="en-US" sz="1100" dirty="0"/>
          </a:p>
          <a:p>
            <a:pPr indent="0" marL="0">
              <a:buNone/>
            </a:pPr>
            <a:endParaRPr lang="en-US" sz="1100" dirty="0"/>
          </a:p>
          <a:p>
            <a:pPr indent="0" marL="0">
              <a:buNone/>
            </a:pPr>
            <a:r>
              <a:rPr lang="en-US" sz="1100" b="1" dirty="0">
                <a:solidFill>
                  <a:srgbClr val="1A2440"/>
                </a:solidFill>
                <a:latin typeface="Source Sans 3" pitchFamily="34" charset="0"/>
                <a:ea typeface="Source Sans 3" pitchFamily="34" charset="-122"/>
                <a:cs typeface="Source Sans 3" pitchFamily="34" charset="-120"/>
              </a:rPr>
              <a:t>EDTA Suppository (nighttime)</a:t>
            </a:r>
            <a:endParaRPr lang="en-US" sz="1100" dirty="0"/>
          </a:p>
          <a:p>
            <a:pPr indent="0" marL="0">
              <a:buNone/>
            </a:pPr>
            <a:r>
              <a:rPr lang="en-US" sz="900" dirty="0">
                <a:solidFill>
                  <a:srgbClr val="1A2440"/>
                </a:solidFill>
                <a:latin typeface="Source Sans 3" pitchFamily="34" charset="0"/>
                <a:ea typeface="Source Sans 3" pitchFamily="34" charset="-122"/>
                <a:cs typeface="Source Sans 3" pitchFamily="34" charset="-120"/>
              </a:rPr>
              <a:t>Formula: EDTA + Vitamin C | Base: cacao butter | Freq: every other night (Phase 4 only)</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Purpose: Heavy metal chelation (GI tract and systemic) post-amalgam removal</a:t>
            </a:r>
            <a:endParaRPr lang="en-US" sz="1100" dirty="0"/>
          </a:p>
          <a:p>
            <a:pPr indent="0" marL="0">
              <a:buNone/>
            </a:pPr>
            <a:endParaRPr lang="en-US" sz="1100" dirty="0"/>
          </a:p>
          <a:p>
            <a:pPr indent="0" marL="0">
              <a:buNone/>
            </a:pPr>
            <a:r>
              <a:rPr lang="en-US" sz="1100" b="1" dirty="0">
                <a:solidFill>
                  <a:srgbClr val="1A2440"/>
                </a:solidFill>
                <a:latin typeface="Source Sans 3" pitchFamily="34" charset="0"/>
                <a:ea typeface="Source Sans 3" pitchFamily="34" charset="-122"/>
                <a:cs typeface="Source Sans 3" pitchFamily="34" charset="-120"/>
              </a:rPr>
              <a:t>Probiotic Suppository (nighttime)</a:t>
            </a:r>
            <a:endParaRPr lang="en-US" sz="1100" dirty="0"/>
          </a:p>
          <a:p>
            <a:pPr indent="0" marL="0">
              <a:buNone/>
            </a:pPr>
            <a:r>
              <a:rPr lang="en-US" sz="900" dirty="0">
                <a:solidFill>
                  <a:srgbClr val="1A2440"/>
                </a:solidFill>
                <a:latin typeface="Source Sans 3" pitchFamily="34" charset="0"/>
                <a:ea typeface="Source Sans 3" pitchFamily="34" charset="-122"/>
                <a:cs typeface="Source Sans 3" pitchFamily="34" charset="-120"/>
              </a:rPr>
              <a:t>Formula: 18-strain multi-probiotic matrix | Base: cocoa butter | Freq: alternate nights</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Purpose: Rebuild vaginal/rectal microbiome, reduce local inflammation</a:t>
            </a:r>
            <a:endParaRPr lang="en-US" sz="1100" dirty="0"/>
          </a:p>
          <a:p>
            <a:pPr indent="0" marL="0">
              <a:buNone/>
            </a:pP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0" y="1645920"/>
            <a:ext cx="9144000" cy="731520"/>
          </a:xfrm>
          <a:prstGeom prst="rect">
            <a:avLst/>
          </a:prstGeom>
          <a:noFill/>
          <a:ln/>
        </p:spPr>
        <p:txBody>
          <a:bodyPr wrap="square" rtlCol="0" anchor="ctr"/>
          <a:lstStyle/>
          <a:p>
            <a:pPr algn="ctr" indent="0" marL="0">
              <a:buNone/>
            </a:pPr>
            <a:r>
              <a:rPr lang="en-US" sz="3200" b="1" dirty="0">
                <a:solidFill>
                  <a:srgbClr val="FFFFFF"/>
                </a:solidFill>
                <a:latin typeface="Playfair Display" pitchFamily="34" charset="0"/>
                <a:ea typeface="Playfair Display" pitchFamily="34" charset="-122"/>
                <a:cs typeface="Playfair Display" pitchFamily="34" charset="-120"/>
              </a:rPr>
              <a:t>MITOCHONDRIAL &amp; SIRTUIN SUPPORT</a:t>
            </a:r>
            <a:endParaRPr lang="en-US" sz="3200" dirty="0"/>
          </a:p>
        </p:txBody>
      </p:sp>
      <p:sp>
        <p:nvSpPr>
          <p:cNvPr id="3" name="Text 1"/>
          <p:cNvSpPr/>
          <p:nvPr/>
        </p:nvSpPr>
        <p:spPr>
          <a:xfrm>
            <a:off x="914400" y="2377440"/>
            <a:ext cx="7315200" cy="548640"/>
          </a:xfrm>
          <a:prstGeom prst="rect">
            <a:avLst/>
          </a:prstGeom>
          <a:noFill/>
          <a:ln/>
        </p:spPr>
        <p:txBody>
          <a:bodyPr wrap="square" rtlCol="0" anchor="ctr"/>
          <a:lstStyle/>
          <a:p>
            <a:pPr algn="ctr" indent="0" marL="0">
              <a:buNone/>
            </a:pPr>
            <a:r>
              <a:rPr lang="en-US" sz="1400" dirty="0">
                <a:solidFill>
                  <a:srgbClr val="C9A54E"/>
                </a:solidFill>
                <a:latin typeface="Source Sans 3" pitchFamily="34" charset="0"/>
                <a:ea typeface="Source Sans 3" pitchFamily="34" charset="-122"/>
                <a:cs typeface="Source Sans 3" pitchFamily="34" charset="-120"/>
              </a:rPr>
              <a:t>NAD+, GlyNAC, MitoSTAC Complex, Methylation, Cellular Energy Restoration</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indent="0" marL="0">
              <a:buNone/>
            </a:pPr>
            <a:r>
              <a:rPr lang="en-US" sz="2200" b="1" dirty="0">
                <a:solidFill>
                  <a:srgbClr val="1A2440"/>
                </a:solidFill>
                <a:latin typeface="Playfair Display" pitchFamily="34" charset="0"/>
                <a:ea typeface="Playfair Display" pitchFamily="34" charset="-122"/>
                <a:cs typeface="Playfair Display" pitchFamily="34" charset="-120"/>
              </a:rPr>
              <a:t>Sirtuin &amp; Mitochondrial Stack</a:t>
            </a:r>
            <a:endParaRPr lang="en-US" sz="2200" dirty="0"/>
          </a:p>
        </p:txBody>
      </p:sp>
      <p:sp>
        <p:nvSpPr>
          <p:cNvPr id="3" name="Shape 1"/>
          <p:cNvSpPr/>
          <p:nvPr/>
        </p:nvSpPr>
        <p:spPr>
          <a:xfrm>
            <a:off x="274320" y="731520"/>
            <a:ext cx="4114800" cy="1645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457200" y="822960"/>
            <a:ext cx="3749040" cy="1463040"/>
          </a:xfrm>
          <a:prstGeom prst="rect">
            <a:avLst/>
          </a:prstGeom>
          <a:noFill/>
          <a:ln/>
        </p:spPr>
        <p:txBody>
          <a:bodyPr wrap="square" rtlCol="0" anchor="t"/>
          <a:lstStyle/>
          <a:p>
            <a:pPr indent="0" marL="0">
              <a:buNone/>
            </a:pPr>
            <a:r>
              <a:rPr lang="en-US" sz="1100" b="1" dirty="0">
                <a:solidFill>
                  <a:srgbClr val="4A3080"/>
                </a:solidFill>
                <a:latin typeface="Source Sans 3" pitchFamily="34" charset="0"/>
                <a:ea typeface="Source Sans 3" pitchFamily="34" charset="-122"/>
                <a:cs typeface="Source Sans 3" pitchFamily="34" charset="-120"/>
              </a:rPr>
              <a:t>MitoSTAC Complex (Sirtuin Activation)</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Resveratrol: 500mg daily</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Pterostilbene: 100mg daily</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Quercetin: 500mg daily</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Fisetin: 500mg daily</a:t>
            </a:r>
            <a:endParaRPr lang="en-US" sz="1100" dirty="0"/>
          </a:p>
        </p:txBody>
      </p:sp>
      <p:sp>
        <p:nvSpPr>
          <p:cNvPr id="5" name="Shape 3"/>
          <p:cNvSpPr/>
          <p:nvPr/>
        </p:nvSpPr>
        <p:spPr>
          <a:xfrm>
            <a:off x="4754880" y="731520"/>
            <a:ext cx="4114800" cy="1645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Text 4"/>
          <p:cNvSpPr/>
          <p:nvPr/>
        </p:nvSpPr>
        <p:spPr>
          <a:xfrm>
            <a:off x="4937760" y="822960"/>
            <a:ext cx="3749040" cy="1463040"/>
          </a:xfrm>
          <a:prstGeom prst="rect">
            <a:avLst/>
          </a:prstGeom>
          <a:noFill/>
          <a:ln/>
        </p:spPr>
        <p:txBody>
          <a:bodyPr wrap="square" rtlCol="0" anchor="t"/>
          <a:lstStyle/>
          <a:p>
            <a:pPr indent="0" marL="0">
              <a:buNone/>
            </a:pPr>
            <a:r>
              <a:rPr lang="en-US" sz="1100" b="1" dirty="0">
                <a:solidFill>
                  <a:srgbClr val="4A3080"/>
                </a:solidFill>
                <a:latin typeface="Source Sans 3" pitchFamily="34" charset="0"/>
                <a:ea typeface="Source Sans 3" pitchFamily="34" charset="-122"/>
                <a:cs typeface="Source Sans 3" pitchFamily="34" charset="-120"/>
              </a:rPr>
              <a:t>NAD+ &amp; GlyNAC</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NMN: 500mg — daily</a:t>
            </a:r>
            <a:endParaRPr lang="en-US" sz="1100" dirty="0"/>
          </a:p>
          <a:p>
            <a:pPr indent="0" marL="0">
              <a:buNone/>
            </a:pPr>
            <a:endParaRPr lang="en-US" sz="11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GlyNAC Protocol:</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Glycine: 2000mg</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NAC: 600mg</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Frequency: daily</a:t>
            </a:r>
            <a:endParaRPr lang="en-US" sz="1100" dirty="0"/>
          </a:p>
        </p:txBody>
      </p:sp>
      <p:sp>
        <p:nvSpPr>
          <p:cNvPr id="7" name="Shape 5"/>
          <p:cNvSpPr/>
          <p:nvPr/>
        </p:nvSpPr>
        <p:spPr>
          <a:xfrm>
            <a:off x="274320" y="2560320"/>
            <a:ext cx="8595360" cy="12801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8" name="Text 6"/>
          <p:cNvSpPr/>
          <p:nvPr/>
        </p:nvSpPr>
        <p:spPr>
          <a:xfrm>
            <a:off x="457200" y="2606040"/>
            <a:ext cx="8229600" cy="1188720"/>
          </a:xfrm>
          <a:prstGeom prst="rect">
            <a:avLst/>
          </a:prstGeom>
          <a:noFill/>
          <a:ln/>
        </p:spPr>
        <p:txBody>
          <a:bodyPr wrap="square" rtlCol="0" anchor="t"/>
          <a:lstStyle/>
          <a:p>
            <a:pPr indent="0" marL="0">
              <a:buNone/>
            </a:pPr>
            <a:r>
              <a:rPr lang="en-US" sz="1100" b="1" dirty="0">
                <a:solidFill>
                  <a:srgbClr val="4A3080"/>
                </a:solidFill>
                <a:latin typeface="Source Sans 3" pitchFamily="34" charset="0"/>
                <a:ea typeface="Source Sans 3" pitchFamily="34" charset="-122"/>
                <a:cs typeface="Source Sans 3" pitchFamily="34" charset="-120"/>
              </a:rPr>
              <a:t>Mitochondrial Support Stack</a:t>
            </a:r>
            <a:endParaRPr lang="en-US" sz="1100" dirty="0"/>
          </a:p>
          <a:p>
            <a:pPr indent="0" marL="0">
              <a:buNone/>
            </a:pPr>
            <a:r>
              <a:rPr lang="en-US" sz="900" dirty="0">
                <a:solidFill>
                  <a:srgbClr val="1A2440"/>
                </a:solidFill>
                <a:latin typeface="Source Sans 3" pitchFamily="34" charset="0"/>
                <a:ea typeface="Source Sans 3" pitchFamily="34" charset="-122"/>
                <a:cs typeface="Source Sans 3" pitchFamily="34" charset="-120"/>
              </a:rPr>
              <a:t>CoQ10 (IM or oral): 100mg IM or 200mg oral — Electron transport, cardiac, breast protection</a:t>
            </a:r>
            <a:endParaRPr lang="en-US" sz="1100" dirty="0"/>
          </a:p>
          <a:p>
            <a:pPr indent="0" marL="0">
              <a:buNone/>
            </a:pPr>
            <a:r>
              <a:rPr lang="en-US" sz="900" dirty="0">
                <a:solidFill>
                  <a:srgbClr val="1A2440"/>
                </a:solidFill>
                <a:latin typeface="Source Sans 3" pitchFamily="34" charset="0"/>
                <a:ea typeface="Source Sans 3" pitchFamily="34" charset="-122"/>
                <a:cs typeface="Source Sans 3" pitchFamily="34" charset="-120"/>
              </a:rPr>
              <a:t>PQQ: 20mg — Mitochondrial biogenesis</a:t>
            </a:r>
            <a:endParaRPr lang="en-US" sz="1100" dirty="0"/>
          </a:p>
          <a:p>
            <a:pPr indent="0" marL="0">
              <a:buNone/>
            </a:pPr>
            <a:r>
              <a:rPr lang="en-US" sz="900" dirty="0">
                <a:solidFill>
                  <a:srgbClr val="1A2440"/>
                </a:solidFill>
                <a:latin typeface="Source Sans 3" pitchFamily="34" charset="0"/>
                <a:ea typeface="Source Sans 3" pitchFamily="34" charset="-122"/>
                <a:cs typeface="Source Sans 3" pitchFamily="34" charset="-120"/>
              </a:rPr>
              <a:t>D-ribose: 5g — ATP cycling</a:t>
            </a:r>
            <a:endParaRPr lang="en-US" sz="1100" dirty="0"/>
          </a:p>
          <a:p>
            <a:pPr indent="0" marL="0">
              <a:buNone/>
            </a:pPr>
            <a:r>
              <a:rPr lang="en-US" sz="900" dirty="0">
                <a:solidFill>
                  <a:srgbClr val="1A2440"/>
                </a:solidFill>
                <a:latin typeface="Source Sans 3" pitchFamily="34" charset="0"/>
                <a:ea typeface="Source Sans 3" pitchFamily="34" charset="-122"/>
                <a:cs typeface="Source Sans 3" pitchFamily="34" charset="-120"/>
              </a:rPr>
              <a:t>L-carnitine: 1000mg — Fatty acid mitochondrial import</a:t>
            </a:r>
            <a:endParaRPr lang="en-US" sz="1100" dirty="0"/>
          </a:p>
        </p:txBody>
      </p:sp>
      <p:sp>
        <p:nvSpPr>
          <p:cNvPr id="9" name="Shape 7"/>
          <p:cNvSpPr/>
          <p:nvPr/>
        </p:nvSpPr>
        <p:spPr>
          <a:xfrm>
            <a:off x="274320" y="4023360"/>
            <a:ext cx="8595360" cy="8229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0" name="Text 8"/>
          <p:cNvSpPr/>
          <p:nvPr/>
        </p:nvSpPr>
        <p:spPr>
          <a:xfrm>
            <a:off x="457200" y="4069080"/>
            <a:ext cx="8229600" cy="731520"/>
          </a:xfrm>
          <a:prstGeom prst="rect">
            <a:avLst/>
          </a:prstGeom>
          <a:noFill/>
          <a:ln/>
        </p:spPr>
        <p:txBody>
          <a:bodyPr wrap="square" rtlCol="0" anchor="t"/>
          <a:lstStyle/>
          <a:p>
            <a:pPr indent="0" marL="0">
              <a:buNone/>
            </a:pPr>
            <a:r>
              <a:rPr lang="en-US" sz="1100" b="1" dirty="0">
                <a:solidFill>
                  <a:srgbClr val="4A3080"/>
                </a:solidFill>
                <a:latin typeface="Source Sans 3" pitchFamily="34" charset="0"/>
                <a:ea typeface="Source Sans 3" pitchFamily="34" charset="-122"/>
                <a:cs typeface="Source Sans 3" pitchFamily="34" charset="-120"/>
              </a:rPr>
              <a:t>Methylation Support: </a:t>
            </a:r>
            <a:pPr indent="0" marL="0">
              <a:buNone/>
            </a:pPr>
            <a:r>
              <a:rPr lang="en-US" sz="1000" dirty="0">
                <a:solidFill>
                  <a:srgbClr val="1A2440"/>
                </a:solidFill>
                <a:latin typeface="Source Sans 3" pitchFamily="34" charset="0"/>
                <a:ea typeface="Source Sans 3" pitchFamily="34" charset="-122"/>
                <a:cs typeface="Source Sans 3" pitchFamily="34" charset="-120"/>
              </a:rPr>
              <a:t>Methyl B12 1000mcg IM weekly or oral equivalent | Methylfolate 400-800mcg daily | B-complex (methylated) per label</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indent="0" marL="0">
              <a:buNone/>
            </a:pPr>
            <a:r>
              <a:rPr lang="en-US" sz="2200" b="1" dirty="0">
                <a:solidFill>
                  <a:srgbClr val="1A2440"/>
                </a:solidFill>
                <a:latin typeface="Playfair Display" pitchFamily="34" charset="0"/>
                <a:ea typeface="Playfair Display" pitchFamily="34" charset="-122"/>
                <a:cs typeface="Playfair Display" pitchFamily="34" charset="-120"/>
              </a:rPr>
              <a:t>Liposomal Supplements</a:t>
            </a:r>
            <a:endParaRPr lang="en-US" sz="2200" dirty="0"/>
          </a:p>
        </p:txBody>
      </p:sp>
      <p:sp>
        <p:nvSpPr>
          <p:cNvPr id="3" name="Shape 1"/>
          <p:cNvSpPr/>
          <p:nvPr/>
        </p:nvSpPr>
        <p:spPr>
          <a:xfrm>
            <a:off x="457200" y="731520"/>
            <a:ext cx="8229600" cy="41148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822960"/>
            <a:ext cx="7863840" cy="3931920"/>
          </a:xfrm>
          <a:prstGeom prst="rect">
            <a:avLst/>
          </a:prstGeom>
          <a:noFill/>
          <a:ln/>
        </p:spPr>
        <p:txBody>
          <a:bodyPr wrap="square" rtlCol="0" anchor="t"/>
          <a:lstStyle/>
          <a:p>
            <a:pPr indent="0" marL="0">
              <a:buNone/>
            </a:pPr>
            <a:r>
              <a:rPr lang="en-US" sz="1100" b="1" dirty="0">
                <a:solidFill>
                  <a:srgbClr val="1A2440"/>
                </a:solidFill>
                <a:latin typeface="Source Sans 3" pitchFamily="34" charset="0"/>
                <a:ea typeface="Source Sans 3" pitchFamily="34" charset="-122"/>
                <a:cs typeface="Source Sans 3" pitchFamily="34" charset="-120"/>
              </a:rPr>
              <a:t>Liposomal Glutathione</a:t>
            </a:r>
            <a:pPr indent="0" marL="0">
              <a:buNone/>
            </a:pPr>
            <a:r>
              <a:rPr lang="en-US" sz="1000" dirty="0">
                <a:solidFill>
                  <a:srgbClr val="1A2440"/>
                </a:solidFill>
                <a:latin typeface="Source Sans 3" pitchFamily="34" charset="0"/>
                <a:ea typeface="Source Sans 3" pitchFamily="34" charset="-122"/>
                <a:cs typeface="Source Sans 3" pitchFamily="34" charset="-120"/>
              </a:rPr>
              <a:t> — 1 tablespoon (AM)</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Purpose: Mercury detox support, antioxidant defence</a:t>
            </a:r>
            <a:endParaRPr lang="en-US" sz="1100" dirty="0"/>
          </a:p>
          <a:p>
            <a:pPr indent="0" marL="0">
              <a:buNone/>
            </a:pPr>
            <a:r>
              <a:rPr lang="en-US" sz="1100" b="1" dirty="0">
                <a:solidFill>
                  <a:srgbClr val="1A2440"/>
                </a:solidFill>
                <a:latin typeface="Source Sans 3" pitchFamily="34" charset="0"/>
                <a:ea typeface="Source Sans 3" pitchFamily="34" charset="-122"/>
                <a:cs typeface="Source Sans 3" pitchFamily="34" charset="-120"/>
              </a:rPr>
              <a:t>Liposomal Curcumin+6</a:t>
            </a:r>
            <a:pPr indent="0" marL="0">
              <a:buNone/>
            </a:pPr>
            <a:r>
              <a:rPr lang="en-US" sz="1000" dirty="0">
                <a:solidFill>
                  <a:srgbClr val="1A2440"/>
                </a:solidFill>
                <a:latin typeface="Source Sans 3" pitchFamily="34" charset="0"/>
                <a:ea typeface="Source Sans 3" pitchFamily="34" charset="-122"/>
                <a:cs typeface="Source Sans 3" pitchFamily="34" charset="-120"/>
              </a:rPr>
              <a:t> — 1 tablespoon (AM or PM)</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Purpose: Cancer suppression, anti-inflammatory</a:t>
            </a:r>
            <a:endParaRPr lang="en-US" sz="1100" dirty="0"/>
          </a:p>
          <a:p>
            <a:pPr indent="0" marL="0">
              <a:buNone/>
            </a:pPr>
            <a:r>
              <a:rPr lang="en-US" sz="1100" b="1" dirty="0">
                <a:solidFill>
                  <a:srgbClr val="1A2440"/>
                </a:solidFill>
                <a:latin typeface="Source Sans 3" pitchFamily="34" charset="0"/>
                <a:ea typeface="Source Sans 3" pitchFamily="34" charset="-122"/>
                <a:cs typeface="Source Sans 3" pitchFamily="34" charset="-120"/>
              </a:rPr>
              <a:t>Astaxanthin w/ Vitamin C</a:t>
            </a:r>
            <a:pPr indent="0" marL="0">
              <a:buNone/>
            </a:pPr>
            <a:r>
              <a:rPr lang="en-US" sz="1000" dirty="0">
                <a:solidFill>
                  <a:srgbClr val="1A2440"/>
                </a:solidFill>
                <a:latin typeface="Source Sans 3" pitchFamily="34" charset="0"/>
                <a:ea typeface="Source Sans 3" pitchFamily="34" charset="-122"/>
                <a:cs typeface="Source Sans 3" pitchFamily="34" charset="-120"/>
              </a:rPr>
              <a:t> — 1 tablespoon (Midday)</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Purpose: Oxidative/cancer protection, eye and nerve support</a:t>
            </a:r>
            <a:endParaRPr lang="en-US" sz="1100" dirty="0"/>
          </a:p>
          <a:p>
            <a:pPr indent="0" marL="0">
              <a:buNone/>
            </a:pPr>
            <a:r>
              <a:rPr lang="en-US" sz="1100" b="1" dirty="0">
                <a:solidFill>
                  <a:srgbClr val="1A2440"/>
                </a:solidFill>
                <a:latin typeface="Source Sans 3" pitchFamily="34" charset="0"/>
                <a:ea typeface="Source Sans 3" pitchFamily="34" charset="-122"/>
                <a:cs typeface="Source Sans 3" pitchFamily="34" charset="-120"/>
              </a:rPr>
              <a:t>Vitamin D + K2</a:t>
            </a:r>
            <a:pPr indent="0" marL="0">
              <a:buNone/>
            </a:pPr>
            <a:r>
              <a:rPr lang="en-US" sz="1000" dirty="0">
                <a:solidFill>
                  <a:srgbClr val="1A2440"/>
                </a:solidFill>
                <a:latin typeface="Source Sans 3" pitchFamily="34" charset="0"/>
                <a:ea typeface="Source Sans 3" pitchFamily="34" charset="-122"/>
                <a:cs typeface="Source Sans 3" pitchFamily="34" charset="-120"/>
              </a:rPr>
              <a:t> — 1 tablespoon (5000IU D3/200mcg K2) (AM)</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Purpose: Immune and hormone resilience</a:t>
            </a:r>
            <a:endParaRPr lang="en-US" sz="1100" dirty="0"/>
          </a:p>
          <a:p>
            <a:pPr indent="0" marL="0">
              <a:buNone/>
            </a:pPr>
            <a:r>
              <a:rPr lang="en-US" sz="1100" b="1" dirty="0">
                <a:solidFill>
                  <a:srgbClr val="1A2440"/>
                </a:solidFill>
                <a:latin typeface="Source Sans 3" pitchFamily="34" charset="0"/>
                <a:ea typeface="Source Sans 3" pitchFamily="34" charset="-122"/>
                <a:cs typeface="Source Sans 3" pitchFamily="34" charset="-120"/>
              </a:rPr>
              <a:t>HEPA DTOX (liver blend)</a:t>
            </a:r>
            <a:pPr indent="0" marL="0">
              <a:buNone/>
            </a:pPr>
            <a:r>
              <a:rPr lang="en-US" sz="1000" dirty="0">
                <a:solidFill>
                  <a:srgbClr val="1A2440"/>
                </a:solidFill>
                <a:latin typeface="Source Sans 3" pitchFamily="34" charset="0"/>
                <a:ea typeface="Source Sans 3" pitchFamily="34" charset="-122"/>
                <a:cs typeface="Source Sans 3" pitchFamily="34" charset="-120"/>
              </a:rPr>
              <a:t> — 1 tablespoon (Morning)</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   Purpose: Liver and bile detoxification</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indent="0" marL="0">
              <a:buNone/>
            </a:pPr>
            <a:r>
              <a:rPr lang="en-US" sz="2200" b="1" dirty="0">
                <a:solidFill>
                  <a:srgbClr val="1A2440"/>
                </a:solidFill>
                <a:latin typeface="Playfair Display" pitchFamily="34" charset="0"/>
                <a:ea typeface="Playfair Display" pitchFamily="34" charset="-122"/>
                <a:cs typeface="Playfair Display" pitchFamily="34" charset="-120"/>
              </a:rPr>
              <a:t>Nebulization Protocols</a:t>
            </a:r>
            <a:endParaRPr lang="en-US" sz="2200" dirty="0"/>
          </a:p>
        </p:txBody>
      </p:sp>
      <p:sp>
        <p:nvSpPr>
          <p:cNvPr id="3" name="Shape 1"/>
          <p:cNvSpPr/>
          <p:nvPr/>
        </p:nvSpPr>
        <p:spPr>
          <a:xfrm>
            <a:off x="457200" y="731520"/>
            <a:ext cx="8229600" cy="41148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822960"/>
            <a:ext cx="7863840" cy="3931920"/>
          </a:xfrm>
          <a:prstGeom prst="rect">
            <a:avLst/>
          </a:prstGeom>
          <a:noFill/>
          <a:ln/>
        </p:spPr>
        <p:txBody>
          <a:bodyPr wrap="square" rtlCol="0" anchor="t"/>
          <a:lstStyle/>
          <a:p>
            <a:pPr indent="0" marL="0">
              <a:buNone/>
            </a:pPr>
            <a:r>
              <a:rPr lang="en-US" sz="1100" b="1" dirty="0">
                <a:solidFill>
                  <a:srgbClr val="1A2440"/>
                </a:solidFill>
                <a:latin typeface="Source Sans 3" pitchFamily="34" charset="0"/>
                <a:ea typeface="Source Sans 3" pitchFamily="34" charset="-122"/>
                <a:cs typeface="Source Sans 3" pitchFamily="34" charset="-120"/>
              </a:rPr>
              <a:t>Nebulized Glutathione</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Solution: 200mg in 3mL saline | Dose: 200mg</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Frequency: 3x weekly | Duration: 10-15 minutes</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Purpose: Mycotoxin clearance from respiratory system</a:t>
            </a:r>
            <a:endParaRPr lang="en-US" sz="1100" dirty="0"/>
          </a:p>
          <a:p>
            <a:pPr indent="0" marL="0">
              <a:buNone/>
            </a:pPr>
            <a:endParaRPr lang="en-US" sz="1100" dirty="0"/>
          </a:p>
          <a:p>
            <a:pPr indent="0" marL="0">
              <a:buNone/>
            </a:pPr>
            <a:r>
              <a:rPr lang="en-US" sz="1100" b="1" dirty="0">
                <a:solidFill>
                  <a:srgbClr val="1A2440"/>
                </a:solidFill>
                <a:latin typeface="Source Sans 3" pitchFamily="34" charset="0"/>
                <a:ea typeface="Source Sans 3" pitchFamily="34" charset="-122"/>
                <a:cs typeface="Source Sans 3" pitchFamily="34" charset="-120"/>
              </a:rPr>
              <a:t>Nebulized Hydrogen Peroxide</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Solution: 0.04% food-grade H2O2 in saline | Dose: 3mL</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Frequency: 2x weekly | Duration: 10 minutes</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Purpose: Antimicrobial respiratory support</a:t>
            </a:r>
            <a:endParaRPr lang="en-US" sz="1100" dirty="0"/>
          </a:p>
          <a:p>
            <a:pPr indent="0" marL="0">
              <a:buNone/>
            </a:pP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indent="0" marL="0">
              <a:buNone/>
            </a:pPr>
            <a:r>
              <a:rPr lang="en-US" sz="2200" b="1" dirty="0">
                <a:solidFill>
                  <a:srgbClr val="1A2440"/>
                </a:solidFill>
                <a:latin typeface="Playfair Display" pitchFamily="34" charset="0"/>
                <a:ea typeface="Playfair Display" pitchFamily="34" charset="-122"/>
                <a:cs typeface="Playfair Display" pitchFamily="34" charset="-120"/>
              </a:rPr>
              <a:t>Topical Protocols</a:t>
            </a:r>
            <a:endParaRPr lang="en-US" sz="2200" dirty="0"/>
          </a:p>
        </p:txBody>
      </p:sp>
      <p:sp>
        <p:nvSpPr>
          <p:cNvPr id="3" name="Shape 1"/>
          <p:cNvSpPr/>
          <p:nvPr/>
        </p:nvSpPr>
        <p:spPr>
          <a:xfrm>
            <a:off x="457200" y="731520"/>
            <a:ext cx="8229600" cy="41148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822960"/>
            <a:ext cx="7863840" cy="3931920"/>
          </a:xfrm>
          <a:prstGeom prst="rect">
            <a:avLst/>
          </a:prstGeom>
          <a:noFill/>
          <a:ln/>
        </p:spPr>
        <p:txBody>
          <a:bodyPr wrap="square" rtlCol="0" anchor="t"/>
          <a:lstStyle/>
          <a:p>
            <a:pPr indent="0" marL="0">
              <a:buNone/>
            </a:pPr>
            <a:r>
              <a:rPr lang="en-US" sz="1100" b="1" dirty="0">
                <a:solidFill>
                  <a:srgbClr val="1A2440"/>
                </a:solidFill>
                <a:latin typeface="Source Sans 3" pitchFamily="34" charset="0"/>
                <a:ea typeface="Source Sans 3" pitchFamily="34" charset="-122"/>
                <a:cs typeface="Source Sans 3" pitchFamily="34" charset="-120"/>
              </a:rPr>
              <a:t>DMSO Extended Recovery Cooling Lotion (lotion)</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Application: Apply to breast/chest wall and lymphatics 2x/day | Frequency: AM and PM</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Purpose: Local pain control, biofilm penetration, anti-tumor/circulation</a:t>
            </a:r>
            <a:endParaRPr lang="en-US" sz="1100" dirty="0"/>
          </a:p>
          <a:p>
            <a:pPr indent="0" marL="0">
              <a:buNone/>
            </a:pPr>
            <a:endParaRPr lang="en-US" sz="1100" dirty="0"/>
          </a:p>
          <a:p>
            <a:pPr indent="0" marL="0">
              <a:buNone/>
            </a:pPr>
            <a:r>
              <a:rPr lang="en-US" sz="1100" b="1" dirty="0">
                <a:solidFill>
                  <a:srgbClr val="1A2440"/>
                </a:solidFill>
                <a:latin typeface="Source Sans 3" pitchFamily="34" charset="0"/>
                <a:ea typeface="Source Sans 3" pitchFamily="34" charset="-122"/>
                <a:cs typeface="Source Sans 3" pitchFamily="34" charset="-120"/>
              </a:rPr>
              <a:t>Kaneh Bosem (Ancient Healing Oil) (oil)</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Application: Apply small amount to breast, axilla, chest/upper abdomen skin 1-2x daily | Frequency: PM or as-needed</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Purpose: Anti-inflammatory, skin healing, local ECS signaling</a:t>
            </a:r>
            <a:endParaRPr lang="en-US" sz="1100" dirty="0"/>
          </a:p>
          <a:p>
            <a:pPr indent="0" marL="0">
              <a:buNone/>
            </a:pP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indent="0" marL="0">
              <a:buNone/>
            </a:pPr>
            <a:r>
              <a:rPr lang="en-US" sz="2200" b="1" dirty="0">
                <a:solidFill>
                  <a:srgbClr val="1A2440"/>
                </a:solidFill>
                <a:latin typeface="Playfair Display" pitchFamily="34" charset="0"/>
                <a:ea typeface="Playfair Display" pitchFamily="34" charset="-122"/>
                <a:cs typeface="Playfair Display" pitchFamily="34" charset="-120"/>
              </a:rPr>
              <a:t>Exosome Therapy</a:t>
            </a:r>
            <a:endParaRPr lang="en-US" sz="2200" dirty="0"/>
          </a:p>
        </p:txBody>
      </p:sp>
      <p:sp>
        <p:nvSpPr>
          <p:cNvPr id="3" name="Shape 1"/>
          <p:cNvSpPr/>
          <p:nvPr/>
        </p:nvSpPr>
        <p:spPr>
          <a:xfrm>
            <a:off x="457200" y="731520"/>
            <a:ext cx="8229600" cy="41148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822960"/>
            <a:ext cx="7863840" cy="3931920"/>
          </a:xfrm>
          <a:prstGeom prst="rect">
            <a:avLst/>
          </a:prstGeom>
          <a:noFill/>
          <a:ln/>
        </p:spPr>
        <p:txBody>
          <a:bodyPr wrap="square" rtlCol="0" anchor="t"/>
          <a:lstStyle/>
          <a:p>
            <a:pPr indent="0" marL="0">
              <a:buNone/>
            </a:pPr>
            <a:r>
              <a:rPr lang="en-US" sz="1100" b="1" dirty="0">
                <a:solidFill>
                  <a:srgbClr val="1A2440"/>
                </a:solidFill>
                <a:latin typeface="Source Sans 3" pitchFamily="34" charset="0"/>
                <a:ea typeface="Source Sans 3" pitchFamily="34" charset="-122"/>
                <a:cs typeface="Source Sans 3" pitchFamily="34" charset="-120"/>
              </a:rPr>
              <a:t>100 Billion MSC-Derived Exosomes</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Source: MSC | 100B/5ml | Route: IV</a:t>
            </a:r>
            <a:endParaRPr lang="en-US" sz="1100" dirty="0"/>
          </a:p>
          <a:p>
            <a:pPr indent="0" marL="0">
              <a:buNone/>
            </a:pPr>
            <a:r>
              <a:rPr lang="en-US" sz="1000" dirty="0">
                <a:solidFill>
                  <a:srgbClr val="1A2440"/>
                </a:solidFill>
                <a:latin typeface="Source Sans 3" pitchFamily="34" charset="0"/>
                <a:ea typeface="Source Sans 3" pitchFamily="34" charset="-122"/>
                <a:cs typeface="Source Sans 3" pitchFamily="34" charset="-120"/>
              </a:rPr>
              <a:t>Frequency: 1x monthly for 2-3 months (optional, as budget allows)</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Purpose: Immune correction, regenerative signaling, anti-cancer</a:t>
            </a:r>
            <a:endParaRPr lang="en-US" sz="1100" dirty="0"/>
          </a:p>
          <a:p>
            <a:pPr indent="0" marL="0">
              <a:buNone/>
            </a:pP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indent="0" marL="0">
              <a:buNone/>
            </a:pPr>
            <a:r>
              <a:rPr lang="en-US" sz="2200" b="1" dirty="0">
                <a:solidFill>
                  <a:srgbClr val="1A2440"/>
                </a:solidFill>
                <a:latin typeface="Playfair Display" pitchFamily="34" charset="0"/>
                <a:ea typeface="Playfair Display" pitchFamily="34" charset="-122"/>
                <a:cs typeface="Playfair Display" pitchFamily="34" charset="-120"/>
              </a:rPr>
              <a:t>Dietary Protocol</a:t>
            </a:r>
            <a:endParaRPr lang="en-US" sz="2200" dirty="0"/>
          </a:p>
        </p:txBody>
      </p:sp>
      <p:sp>
        <p:nvSpPr>
          <p:cNvPr id="3" name="Shape 1"/>
          <p:cNvSpPr/>
          <p:nvPr/>
        </p:nvSpPr>
        <p:spPr>
          <a:xfrm>
            <a:off x="457200" y="731520"/>
            <a:ext cx="8229600" cy="1188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Shape 2"/>
          <p:cNvSpPr/>
          <p:nvPr/>
        </p:nvSpPr>
        <p:spPr>
          <a:xfrm>
            <a:off x="457200" y="731520"/>
            <a:ext cx="54864" cy="1188720"/>
          </a:xfrm>
          <a:prstGeom prst="rect">
            <a:avLst/>
          </a:prstGeom>
          <a:solidFill>
            <a:srgbClr val="C62828"/>
          </a:solidFill>
          <a:ln/>
        </p:spPr>
      </p:sp>
      <p:sp>
        <p:nvSpPr>
          <p:cNvPr id="5" name="Text 3"/>
          <p:cNvSpPr/>
          <p:nvPr/>
        </p:nvSpPr>
        <p:spPr>
          <a:xfrm>
            <a:off x="640080" y="777240"/>
            <a:ext cx="7863840" cy="1097280"/>
          </a:xfrm>
          <a:prstGeom prst="rect">
            <a:avLst/>
          </a:prstGeom>
          <a:noFill/>
          <a:ln/>
        </p:spPr>
        <p:txBody>
          <a:bodyPr wrap="square" rtlCol="0" anchor="t"/>
          <a:lstStyle/>
          <a:p>
            <a:pPr indent="0" marL="0">
              <a:buNone/>
            </a:pPr>
            <a:r>
              <a:rPr lang="en-US" sz="1100" b="1" dirty="0">
                <a:solidFill>
                  <a:srgbClr val="1A2440"/>
                </a:solidFill>
                <a:latin typeface="Source Sans 3" pitchFamily="34" charset="0"/>
                <a:ea typeface="Source Sans 3" pitchFamily="34" charset="-122"/>
                <a:cs typeface="Source Sans 3" pitchFamily="34" charset="-120"/>
              </a:rPr>
              <a:t>Elimination (Week 1-3)</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Remove processed/inflammatory foods, begin anti-cancer fiber and phytonutrient loading</a:t>
            </a:r>
            <a:endParaRPr lang="en-US" sz="1100" dirty="0"/>
          </a:p>
          <a:p>
            <a:pPr indent="0" marL="0">
              <a:buNone/>
            </a:pPr>
            <a:r>
              <a:rPr lang="en-US" sz="900" dirty="0">
                <a:solidFill>
                  <a:srgbClr val="C62828"/>
                </a:solidFill>
                <a:latin typeface="Source Sans 3" pitchFamily="34" charset="0"/>
                <a:ea typeface="Source Sans 3" pitchFamily="34" charset="-122"/>
                <a:cs typeface="Source Sans 3" pitchFamily="34" charset="-120"/>
              </a:rPr>
              <a:t>Eliminate: Gluten, dairy, processed foods, refined sugar, alcohol, fried foods, conventional animal fats</a:t>
            </a:r>
            <a:endParaRPr lang="en-US" sz="1100" dirty="0"/>
          </a:p>
          <a:p>
            <a:pPr indent="0" marL="0">
              <a:buNone/>
            </a:pPr>
            <a:r>
              <a:rPr lang="en-US" sz="900" dirty="0">
                <a:solidFill>
                  <a:srgbClr val="2E7D32"/>
                </a:solidFill>
                <a:latin typeface="Source Sans 3" pitchFamily="34" charset="0"/>
                <a:ea typeface="Source Sans 3" pitchFamily="34" charset="-122"/>
                <a:cs typeface="Source Sans 3" pitchFamily="34" charset="-120"/>
              </a:rPr>
              <a:t>Emphasize: Sulfur vegetables, crucifers, artichokes, beets, arugula, lemons/grapefruit, wild fish, nuts, anti-cancer mushrooms</a:t>
            </a:r>
            <a:endParaRPr lang="en-US" sz="1100" dirty="0"/>
          </a:p>
        </p:txBody>
      </p:sp>
      <p:sp>
        <p:nvSpPr>
          <p:cNvPr id="6" name="Shape 4"/>
          <p:cNvSpPr/>
          <p:nvPr/>
        </p:nvSpPr>
        <p:spPr>
          <a:xfrm>
            <a:off x="457200" y="2011680"/>
            <a:ext cx="8229600" cy="1188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7" name="Shape 5"/>
          <p:cNvSpPr/>
          <p:nvPr/>
        </p:nvSpPr>
        <p:spPr>
          <a:xfrm>
            <a:off x="457200" y="2011680"/>
            <a:ext cx="54864" cy="1188720"/>
          </a:xfrm>
          <a:prstGeom prst="rect">
            <a:avLst/>
          </a:prstGeom>
          <a:solidFill>
            <a:srgbClr val="C9A54E"/>
          </a:solidFill>
          <a:ln/>
        </p:spPr>
      </p:sp>
      <p:sp>
        <p:nvSpPr>
          <p:cNvPr id="8" name="Text 6"/>
          <p:cNvSpPr/>
          <p:nvPr/>
        </p:nvSpPr>
        <p:spPr>
          <a:xfrm>
            <a:off x="640080" y="2057400"/>
            <a:ext cx="7863840" cy="1097280"/>
          </a:xfrm>
          <a:prstGeom prst="rect">
            <a:avLst/>
          </a:prstGeom>
          <a:noFill/>
          <a:ln/>
        </p:spPr>
        <p:txBody>
          <a:bodyPr wrap="square" rtlCol="0" anchor="t"/>
          <a:lstStyle/>
          <a:p>
            <a:pPr indent="0" marL="0">
              <a:buNone/>
            </a:pPr>
            <a:r>
              <a:rPr lang="en-US" sz="1100" b="1" dirty="0">
                <a:solidFill>
                  <a:srgbClr val="1A2440"/>
                </a:solidFill>
                <a:latin typeface="Source Sans 3" pitchFamily="34" charset="0"/>
                <a:ea typeface="Source Sans 3" pitchFamily="34" charset="-122"/>
                <a:cs typeface="Source Sans 3" pitchFamily="34" charset="-120"/>
              </a:rPr>
              <a:t>Anti-inflammatory Repletion (Week 3-8)</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Intensive fat-soluble and mitochondrial nutrient repletion, with continued pathogen clearing.</a:t>
            </a:r>
            <a:endParaRPr lang="en-US" sz="1100" dirty="0"/>
          </a:p>
          <a:p>
            <a:pPr indent="0" marL="0">
              <a:buNone/>
            </a:pPr>
            <a:r>
              <a:rPr lang="en-US" sz="900" dirty="0">
                <a:solidFill>
                  <a:srgbClr val="C62828"/>
                </a:solidFill>
                <a:latin typeface="Source Sans 3" pitchFamily="34" charset="0"/>
                <a:ea typeface="Source Sans 3" pitchFamily="34" charset="-122"/>
                <a:cs typeface="Source Sans 3" pitchFamily="34" charset="-120"/>
              </a:rPr>
              <a:t>Eliminate: All inflammatory foods above, excess omega-6, excess high-fat meals without ox bile</a:t>
            </a:r>
            <a:endParaRPr lang="en-US" sz="1100" dirty="0"/>
          </a:p>
          <a:p>
            <a:pPr indent="0" marL="0">
              <a:buNone/>
            </a:pPr>
            <a:r>
              <a:rPr lang="en-US" sz="900" dirty="0">
                <a:solidFill>
                  <a:srgbClr val="2E7D32"/>
                </a:solidFill>
                <a:latin typeface="Source Sans 3" pitchFamily="34" charset="0"/>
                <a:ea typeface="Source Sans 3" pitchFamily="34" charset="-122"/>
                <a:cs typeface="Source Sans 3" pitchFamily="34" charset="-120"/>
              </a:rPr>
              <a:t>Emphasize: Ox bile supplements with every fat meal, Organic greens, protein diversity, moderate low-glycemic carbs, Broths, prebiotics, and fermented foods as tolerated</a:t>
            </a:r>
            <a:endParaRPr lang="en-US" sz="1100" dirty="0"/>
          </a:p>
        </p:txBody>
      </p:sp>
      <p:sp>
        <p:nvSpPr>
          <p:cNvPr id="9" name="Shape 7"/>
          <p:cNvSpPr/>
          <p:nvPr/>
        </p:nvSpPr>
        <p:spPr>
          <a:xfrm>
            <a:off x="457200" y="3291840"/>
            <a:ext cx="8229600" cy="1188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0" name="Shape 8"/>
          <p:cNvSpPr/>
          <p:nvPr/>
        </p:nvSpPr>
        <p:spPr>
          <a:xfrm>
            <a:off x="457200" y="3291840"/>
            <a:ext cx="54864" cy="1188720"/>
          </a:xfrm>
          <a:prstGeom prst="rect">
            <a:avLst/>
          </a:prstGeom>
          <a:solidFill>
            <a:srgbClr val="2E7D32"/>
          </a:solidFill>
          <a:ln/>
        </p:spPr>
      </p:sp>
      <p:sp>
        <p:nvSpPr>
          <p:cNvPr id="11" name="Text 9"/>
          <p:cNvSpPr/>
          <p:nvPr/>
        </p:nvSpPr>
        <p:spPr>
          <a:xfrm>
            <a:off x="640080" y="3337560"/>
            <a:ext cx="7863840" cy="1097280"/>
          </a:xfrm>
          <a:prstGeom prst="rect">
            <a:avLst/>
          </a:prstGeom>
          <a:noFill/>
          <a:ln/>
        </p:spPr>
        <p:txBody>
          <a:bodyPr wrap="square" rtlCol="0" anchor="t"/>
          <a:lstStyle/>
          <a:p>
            <a:pPr indent="0" marL="0">
              <a:buNone/>
            </a:pPr>
            <a:r>
              <a:rPr lang="en-US" sz="1100" b="1" dirty="0">
                <a:solidFill>
                  <a:srgbClr val="1A2440"/>
                </a:solidFill>
                <a:latin typeface="Source Sans 3" pitchFamily="34" charset="0"/>
                <a:ea typeface="Source Sans 3" pitchFamily="34" charset="-122"/>
                <a:cs typeface="Source Sans 3" pitchFamily="34" charset="-120"/>
              </a:rPr>
              <a:t>Detox/Chelation-Optimized Nutrition (Week 8-11)</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High antioxidants, focus on gut and liver recovery, add binder-friendly fibers (chia/flax/pectin blends, cooked functional fungi)</a:t>
            </a:r>
            <a:endParaRPr lang="en-US" sz="1100" dirty="0"/>
          </a:p>
          <a:p>
            <a:pPr indent="0" marL="0">
              <a:buNone/>
            </a:pPr>
            <a:r>
              <a:rPr lang="en-US" sz="900" dirty="0">
                <a:solidFill>
                  <a:srgbClr val="2E7D32"/>
                </a:solidFill>
                <a:latin typeface="Source Sans 3" pitchFamily="34" charset="0"/>
                <a:ea typeface="Source Sans 3" pitchFamily="34" charset="-122"/>
                <a:cs typeface="Source Sans 3" pitchFamily="34" charset="-120"/>
              </a:rPr>
              <a:t>Emphasize: Binders with fibers post-chelation IV, All listed fat-soluble nutrients, Reinforced fresh-pressed juices (beet, carrot, artichoke, dandelion)</a:t>
            </a:r>
            <a:endParaRPr lang="en-US" sz="1100" dirty="0"/>
          </a:p>
        </p:txBody>
      </p:sp>
      <p:sp>
        <p:nvSpPr>
          <p:cNvPr id="12" name="Shape 10"/>
          <p:cNvSpPr/>
          <p:nvPr/>
        </p:nvSpPr>
        <p:spPr>
          <a:xfrm>
            <a:off x="457200" y="4572000"/>
            <a:ext cx="8229600" cy="1188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3" name="Shape 11"/>
          <p:cNvSpPr/>
          <p:nvPr/>
        </p:nvSpPr>
        <p:spPr>
          <a:xfrm>
            <a:off x="457200" y="4572000"/>
            <a:ext cx="54864" cy="1188720"/>
          </a:xfrm>
          <a:prstGeom prst="rect">
            <a:avLst/>
          </a:prstGeom>
          <a:solidFill>
            <a:srgbClr val="1A2440"/>
          </a:solidFill>
          <a:ln/>
        </p:spPr>
      </p:sp>
      <p:sp>
        <p:nvSpPr>
          <p:cNvPr id="14" name="Text 12"/>
          <p:cNvSpPr/>
          <p:nvPr/>
        </p:nvSpPr>
        <p:spPr>
          <a:xfrm>
            <a:off x="640080" y="4617720"/>
            <a:ext cx="7863840" cy="1097280"/>
          </a:xfrm>
          <a:prstGeom prst="rect">
            <a:avLst/>
          </a:prstGeom>
          <a:noFill/>
          <a:ln/>
        </p:spPr>
        <p:txBody>
          <a:bodyPr wrap="square" rtlCol="0" anchor="t"/>
          <a:lstStyle/>
          <a:p>
            <a:pPr indent="0" marL="0">
              <a:buNone/>
            </a:pPr>
            <a:r>
              <a:rPr lang="en-US" sz="1100" b="1" dirty="0">
                <a:solidFill>
                  <a:srgbClr val="1A2440"/>
                </a:solidFill>
                <a:latin typeface="Source Sans 3" pitchFamily="34" charset="0"/>
                <a:ea typeface="Source Sans 3" pitchFamily="34" charset="-122"/>
                <a:cs typeface="Source Sans 3" pitchFamily="34" charset="-120"/>
              </a:rPr>
              <a:t>Maintenance (Week 12+)</a:t>
            </a:r>
            <a:endParaRPr lang="en-US" sz="1100" dirty="0"/>
          </a:p>
          <a:p>
            <a:pPr indent="0" marL="0">
              <a:buNone/>
            </a:pPr>
            <a:r>
              <a:rPr lang="en-US" sz="900" dirty="0">
                <a:solidFill>
                  <a:srgbClr val="5A6B8A"/>
                </a:solidFill>
                <a:latin typeface="Source Sans 3" pitchFamily="34" charset="0"/>
                <a:ea typeface="Source Sans 3" pitchFamily="34" charset="-122"/>
                <a:cs typeface="Source Sans 3" pitchFamily="34" charset="-120"/>
              </a:rPr>
              <a:t>Cycle anti-cancer foods, respond to lab trends, rotate various microgreens and phytochemical sources.</a:t>
            </a:r>
            <a:endParaRPr lang="en-US" sz="1100" dirty="0"/>
          </a:p>
          <a:p>
            <a:pPr indent="0" marL="0">
              <a:buNone/>
            </a:pPr>
            <a:r>
              <a:rPr lang="en-US" sz="900" dirty="0">
                <a:solidFill>
                  <a:srgbClr val="2E7D32"/>
                </a:solidFill>
                <a:latin typeface="Source Sans 3" pitchFamily="34" charset="0"/>
                <a:ea typeface="Source Sans 3" pitchFamily="34" charset="-122"/>
                <a:cs typeface="Source Sans 3" pitchFamily="34" charset="-120"/>
              </a:rPr>
              <a:t>Emphasize: Rotate greens and functional foods, Periodically use plant-based protein</a:t>
            </a:r>
            <a:endParaRPr lang="en-US" sz="1100" dirty="0"/>
          </a:p>
        </p:txBody>
      </p:sp>
      <p:sp>
        <p:nvSpPr>
          <p:cNvPr id="15" name="Shape 13"/>
          <p:cNvSpPr/>
          <p:nvPr/>
        </p:nvSpPr>
        <p:spPr>
          <a:xfrm>
            <a:off x="457200" y="5852160"/>
            <a:ext cx="8229600" cy="5486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6" name="Text 14"/>
          <p:cNvSpPr/>
          <p:nvPr/>
        </p:nvSpPr>
        <p:spPr>
          <a:xfrm>
            <a:off x="640080" y="5897880"/>
            <a:ext cx="7863840" cy="457200"/>
          </a:xfrm>
          <a:prstGeom prst="rect">
            <a:avLst/>
          </a:prstGeom>
          <a:noFill/>
          <a:ln/>
        </p:spPr>
        <p:txBody>
          <a:bodyPr wrap="square" rtlCol="0" anchor="ctr"/>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Intermittent Fasting: 14:10 or 16:8 </a:t>
            </a:r>
            <a:pPr indent="0" marL="0">
              <a:buNone/>
            </a:pPr>
            <a:r>
              <a:rPr lang="en-US" sz="900" dirty="0">
                <a:solidFill>
                  <a:srgbClr val="1A2440"/>
                </a:solidFill>
                <a:latin typeface="Source Sans 3" pitchFamily="34" charset="0"/>
                <a:ea typeface="Source Sans 3" pitchFamily="34" charset="-122"/>
                <a:cs typeface="Source Sans 3" pitchFamily="34" charset="-120"/>
              </a:rPr>
              <a:t>— Eat between 10AM–8PM (16:8) or as tolerated (Promote autophagy, hormone sensitivity, glycemic control)</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A2440"/>
                </a:solidFill>
                <a:latin typeface="Playfair Display" pitchFamily="34" charset="0"/>
                <a:ea typeface="Playfair Display" pitchFamily="34" charset="-122"/>
                <a:cs typeface="Playfair Display" pitchFamily="34" charset="-120"/>
              </a:rPr>
              <a:t>Lifestyle &amp; Dietary Guidelines</a:t>
            </a:r>
            <a:endParaRPr lang="en-US" sz="2400" dirty="0"/>
          </a:p>
        </p:txBody>
      </p:sp>
      <p:sp>
        <p:nvSpPr>
          <p:cNvPr id="3" name="Shape 1"/>
          <p:cNvSpPr/>
          <p:nvPr/>
        </p:nvSpPr>
        <p:spPr>
          <a:xfrm>
            <a:off x="457200" y="914400"/>
            <a:ext cx="393192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914400"/>
            <a:ext cx="3566160" cy="274320"/>
          </a:xfrm>
          <a:prstGeom prst="rect">
            <a:avLst/>
          </a:prstGeom>
          <a:noFill/>
          <a:ln/>
        </p:spPr>
        <p:txBody>
          <a:bodyPr wrap="square" rtlCol="0" anchor="ctr"/>
          <a:lstStyle/>
          <a:p>
            <a:pPr indent="0" marL="0">
              <a:buNone/>
            </a:pPr>
            <a:r>
              <a:rPr lang="en-US" sz="1200" b="1" dirty="0">
                <a:solidFill>
                  <a:srgbClr val="C9A54E"/>
                </a:solidFill>
                <a:latin typeface="Source Sans 3" pitchFamily="34" charset="0"/>
                <a:ea typeface="Source Sans 3" pitchFamily="34" charset="-122"/>
                <a:cs typeface="Source Sans 3" pitchFamily="34" charset="-120"/>
              </a:rPr>
              <a:t>Lifestyle</a:t>
            </a:r>
            <a:endParaRPr lang="en-US" sz="1200" dirty="0"/>
          </a:p>
        </p:txBody>
      </p:sp>
      <p:sp>
        <p:nvSpPr>
          <p:cNvPr id="5" name="Text 3"/>
          <p:cNvSpPr/>
          <p:nvPr/>
        </p:nvSpPr>
        <p:spPr>
          <a:xfrm>
            <a:off x="640080" y="1234440"/>
            <a:ext cx="3566160" cy="3383280"/>
          </a:xfrm>
          <a:prstGeom prst="rect">
            <a:avLst/>
          </a:prstGeom>
          <a:noFill/>
          <a:ln/>
        </p:spPr>
        <p:txBody>
          <a:bodyPr wrap="square" rtlCol="0" anchor="t"/>
          <a:lstStyle/>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Hydration: 80–100oz filtered water/day, always include trace minerals, salt, and periodic lemon/lime.</a:t>
            </a:r>
            <a:endParaRPr lang="en-US" sz="900" dirty="0"/>
          </a:p>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Mind-Body: Solfeggio music (528Hz/741Hz), daily meditation/mindfulness and nature exposure.</a:t>
            </a:r>
            <a:endParaRPr lang="en-US" sz="900" dirty="0"/>
          </a:p>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Movement: Gentle walking, stretching, yoga; avoid strenuous activity during detox/chelation.</a:t>
            </a:r>
            <a:endParaRPr lang="en-US" sz="900" dirty="0"/>
          </a:p>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Dental: Partner with a SMART certified biological dentist for amalgam removal; do not remove fillings before parasite clearance complete.</a:t>
            </a:r>
            <a:endParaRPr lang="en-US" sz="900" dirty="0"/>
          </a:p>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AM/PM Routine: Priority self-care—create 'healing window' routines AM and bedtime with supplements/rituals.</a:t>
            </a:r>
            <a:endParaRPr lang="en-US" sz="900" dirty="0"/>
          </a:p>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Sauna: Sweat 2x/week minimum for detox support; always replete electrolytes after.</a:t>
            </a:r>
            <a:endParaRPr lang="en-US" sz="900" dirty="0"/>
          </a:p>
        </p:txBody>
      </p:sp>
      <p:sp>
        <p:nvSpPr>
          <p:cNvPr id="6" name="Shape 4"/>
          <p:cNvSpPr/>
          <p:nvPr/>
        </p:nvSpPr>
        <p:spPr>
          <a:xfrm>
            <a:off x="4663440" y="914400"/>
            <a:ext cx="402336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7" name="Text 5"/>
          <p:cNvSpPr/>
          <p:nvPr/>
        </p:nvSpPr>
        <p:spPr>
          <a:xfrm>
            <a:off x="4846320" y="914400"/>
            <a:ext cx="3657600" cy="274320"/>
          </a:xfrm>
          <a:prstGeom prst="rect">
            <a:avLst/>
          </a:prstGeom>
          <a:noFill/>
          <a:ln/>
        </p:spPr>
        <p:txBody>
          <a:bodyPr wrap="square" rtlCol="0" anchor="ctr"/>
          <a:lstStyle/>
          <a:p>
            <a:pPr indent="0" marL="0">
              <a:buNone/>
            </a:pPr>
            <a:r>
              <a:rPr lang="en-US" sz="1200" b="1" dirty="0">
                <a:solidFill>
                  <a:srgbClr val="2E7D32"/>
                </a:solidFill>
                <a:latin typeface="Source Sans 3" pitchFamily="34" charset="0"/>
                <a:ea typeface="Source Sans 3" pitchFamily="34" charset="-122"/>
                <a:cs typeface="Source Sans 3" pitchFamily="34" charset="-120"/>
              </a:rPr>
              <a:t>Dietary Guidelines</a:t>
            </a:r>
            <a:endParaRPr lang="en-US" sz="1200" dirty="0"/>
          </a:p>
        </p:txBody>
      </p:sp>
      <p:sp>
        <p:nvSpPr>
          <p:cNvPr id="8" name="Text 6"/>
          <p:cNvSpPr/>
          <p:nvPr/>
        </p:nvSpPr>
        <p:spPr>
          <a:xfrm>
            <a:off x="4846320" y="1234440"/>
            <a:ext cx="3657600" cy="3383280"/>
          </a:xfrm>
          <a:prstGeom prst="rect">
            <a:avLst/>
          </a:prstGeom>
          <a:noFill/>
          <a:ln/>
        </p:spPr>
        <p:txBody>
          <a:bodyPr wrap="square" rtlCol="0" anchor="t"/>
          <a:lstStyle/>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Strictly avoid processed foods, fried foods, refined sugar, and alcohol.</a:t>
            </a:r>
            <a:endParaRPr lang="en-US" sz="900" dirty="0"/>
          </a:p>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Anti-inflammatory, modified keto (low animal fat/saturated fat, moderate protein, highly diverse vegetables).</a:t>
            </a:r>
            <a:endParaRPr lang="en-US" sz="900" dirty="0"/>
          </a:p>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High-fiber cruciferous/bitters/leafy greens; use beets and artichokes daily.</a:t>
            </a:r>
            <a:endParaRPr lang="en-US" sz="900" dirty="0"/>
          </a:p>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Use only organic extra virgin olive oil, avocado oil, coconut oil.</a:t>
            </a:r>
            <a:endParaRPr lang="en-US" sz="900" dirty="0"/>
          </a:p>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No dairy except for high-quality organic ghee (low casein/lactose, high butyrate).</a:t>
            </a:r>
            <a:endParaRPr lang="en-US" sz="900" dirty="0"/>
          </a:p>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Emphasize wild-caught fish, pasture-raised poultry, anti-cancer functional fungi.</a:t>
            </a:r>
            <a:endParaRPr lang="en-US" sz="900" dirty="0"/>
          </a:p>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All fat-soluble supplementation must be taken WITH ox bile (see AM/PM schedule above).</a:t>
            </a:r>
            <a:endParaRPr lang="en-US" sz="900" dirty="0"/>
          </a:p>
          <a:p>
            <a:pPr marL="342900" indent="-342900">
              <a:buSzPct val="100000"/>
              <a:buChar char="•"/>
            </a:pPr>
            <a:r>
              <a:rPr lang="en-US" sz="900" dirty="0">
                <a:solidFill>
                  <a:srgbClr val="1A2440"/>
                </a:solidFill>
                <a:latin typeface="Source Sans 3" pitchFamily="34" charset="0"/>
                <a:ea typeface="Source Sans 3" pitchFamily="34" charset="-122"/>
                <a:cs typeface="Source Sans 3" pitchFamily="34" charset="-120"/>
              </a:rPr>
              <a:t>Daily fresh (not reconstituted) lemon or grapefruit water in AM.</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A2440"/>
                </a:solidFill>
                <a:latin typeface="Playfair Display" pitchFamily="34" charset="0"/>
                <a:ea typeface="Playfair Display" pitchFamily="34" charset="-122"/>
                <a:cs typeface="Playfair Display" pitchFamily="34" charset="-120"/>
              </a:rPr>
              <a:t>Follow-Up Plan &amp; Lab Orders</a:t>
            </a:r>
            <a:endParaRPr lang="en-US" sz="2400" dirty="0"/>
          </a:p>
        </p:txBody>
      </p:sp>
      <p:sp>
        <p:nvSpPr>
          <p:cNvPr id="3" name="Shape 1"/>
          <p:cNvSpPr/>
          <p:nvPr/>
        </p:nvSpPr>
        <p:spPr>
          <a:xfrm>
            <a:off x="457200" y="914400"/>
            <a:ext cx="82296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274320"/>
          </a:xfrm>
          <a:prstGeom prst="rect">
            <a:avLst/>
          </a:prstGeom>
          <a:noFill/>
          <a:ln/>
        </p:spPr>
        <p:txBody>
          <a:bodyPr wrap="square" rtlCol="0" anchor="ctr"/>
          <a:lstStyle/>
          <a:p>
            <a:pPr indent="0" marL="0">
              <a:buNone/>
            </a:pPr>
            <a:r>
              <a:rPr lang="en-US" sz="1200" b="1" dirty="0">
                <a:solidFill>
                  <a:srgbClr val="C9A54E"/>
                </a:solidFill>
                <a:latin typeface="Source Sans 3" pitchFamily="34" charset="0"/>
                <a:ea typeface="Source Sans 3" pitchFamily="34" charset="-122"/>
                <a:cs typeface="Source Sans 3" pitchFamily="34" charset="-120"/>
              </a:rPr>
              <a:t>Follow-Up Schedule:</a:t>
            </a:r>
            <a:endParaRPr lang="en-US" sz="1200" dirty="0"/>
          </a:p>
        </p:txBody>
      </p:sp>
      <p:sp>
        <p:nvSpPr>
          <p:cNvPr id="5" name="Text 3"/>
          <p:cNvSpPr/>
          <p:nvPr/>
        </p:nvSpPr>
        <p:spPr>
          <a:xfrm>
            <a:off x="640080" y="1325880"/>
            <a:ext cx="7863840" cy="1371600"/>
          </a:xfrm>
          <a:prstGeom prst="rect">
            <a:avLst/>
          </a:prstGeom>
          <a:noFill/>
          <a:ln/>
        </p:spPr>
        <p:txBody>
          <a:bodyPr wrap="square" rtlCol="0" anchor="t"/>
          <a:lstStyle/>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Week 2: Parasite clearance assessment—continue or step up dosing as needed.</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Week 4: Repeat liver, kidney, immune labs (CMP, LFTs, CBC, Vitamin D, ferritin, selenium, GGT, thyroid, hormone panel).</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Week 5: SMART amalgam removal consult with dental referral (confirm protocol for safe extraction).</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Week 6: If parasite clearance and amalgam removal complete, initiate first EDTA IV chelation and increase post-IV monitoring.</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Week 8: Reassess nutrients, adjust fat-soluble vitamin and antioxidants based on labs and symptoms.</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Week 12: Transition to maintenance: reduce IV to monthly, continue ECS, Sirtuin stack cycling, ongoing anti-cancer and detox rotation.</a:t>
            </a:r>
            <a:endParaRPr lang="en-US" sz="1000" dirty="0"/>
          </a:p>
        </p:txBody>
      </p:sp>
      <p:sp>
        <p:nvSpPr>
          <p:cNvPr id="6" name="Text 4"/>
          <p:cNvSpPr/>
          <p:nvPr/>
        </p:nvSpPr>
        <p:spPr>
          <a:xfrm>
            <a:off x="640080" y="2880360"/>
            <a:ext cx="7863840" cy="274320"/>
          </a:xfrm>
          <a:prstGeom prst="rect">
            <a:avLst/>
          </a:prstGeom>
          <a:noFill/>
          <a:ln/>
        </p:spPr>
        <p:txBody>
          <a:bodyPr wrap="square" rtlCol="0" anchor="ctr"/>
          <a:lstStyle/>
          <a:p>
            <a:pPr indent="0" marL="0">
              <a:buNone/>
            </a:pPr>
            <a:r>
              <a:rPr lang="en-US" sz="1200" b="1" dirty="0">
                <a:solidFill>
                  <a:srgbClr val="C9A54E"/>
                </a:solidFill>
                <a:latin typeface="Source Sans 3" pitchFamily="34" charset="0"/>
                <a:ea typeface="Source Sans 3" pitchFamily="34" charset="-122"/>
                <a:cs typeface="Source Sans 3" pitchFamily="34" charset="-120"/>
              </a:rPr>
              <a:t>Required Labs:</a:t>
            </a:r>
            <a:endParaRPr lang="en-US" sz="1200" dirty="0"/>
          </a:p>
        </p:txBody>
      </p:sp>
      <p:sp>
        <p:nvSpPr>
          <p:cNvPr id="7" name="Text 5"/>
          <p:cNvSpPr/>
          <p:nvPr/>
        </p:nvSpPr>
        <p:spPr>
          <a:xfrm>
            <a:off x="640080" y="3200400"/>
            <a:ext cx="7863840" cy="1371600"/>
          </a:xfrm>
          <a:prstGeom prst="rect">
            <a:avLst/>
          </a:prstGeom>
          <a:noFill/>
          <a:ln/>
        </p:spPr>
        <p:txBody>
          <a:bodyPr wrap="square" rtlCol="0" anchor="t"/>
          <a:lstStyle/>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Baseline and monthly: CMP (liver/kidney), CBC w/diff, ferritin, CRP, GGT, Selenium, magnesium, RBC zinc/copper, homocysteine.</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Baseline: vitamin D, A, E, K, B12, folate, ceruloplasmin.</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Estradiol, estrone, estriol, testosterone, SHBG, FSH/LH (for ongoing estrogen surveillance).</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Thyroid panel (TSH, fT3, fT4, rT3, thyroid antibodies).</a:t>
            </a:r>
            <a:endParaRPr lang="en-US" sz="1000" dirty="0"/>
          </a:p>
          <a:p>
            <a:pPr marL="342900" indent="-342900">
              <a:buSzPct val="100000"/>
              <a:buChar char="•"/>
            </a:pPr>
            <a:r>
              <a:rPr lang="en-US" sz="1000" dirty="0">
                <a:solidFill>
                  <a:srgbClr val="1A2440"/>
                </a:solidFill>
                <a:latin typeface="Source Sans 3" pitchFamily="34" charset="0"/>
                <a:ea typeface="Source Sans 3" pitchFamily="34" charset="-122"/>
                <a:cs typeface="Source Sans 3" pitchFamily="34" charset="-120"/>
              </a:rPr>
              <a:t>Heavy metals (urine DMSA/DMPS), only post-amalgam removal and phase 3+.</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A2440"/>
                </a:solidFill>
                <a:latin typeface="Playfair Display" pitchFamily="34" charset="0"/>
                <a:ea typeface="Playfair Display" pitchFamily="34" charset="-122"/>
                <a:cs typeface="Playfair Display" pitchFamily="34" charset="-120"/>
              </a:rPr>
              <a:t>Recommended Reading</a:t>
            </a:r>
            <a:endParaRPr lang="en-US" sz="2800" dirty="0"/>
          </a:p>
        </p:txBody>
      </p:sp>
      <p:sp>
        <p:nvSpPr>
          <p:cNvPr id="3" name="Shape 1"/>
          <p:cNvSpPr/>
          <p:nvPr/>
        </p:nvSpPr>
        <p:spPr>
          <a:xfrm>
            <a:off x="457200" y="914400"/>
            <a:ext cx="8229600" cy="4800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Shape 2"/>
          <p:cNvSpPr/>
          <p:nvPr/>
        </p:nvSpPr>
        <p:spPr>
          <a:xfrm>
            <a:off x="457200" y="914400"/>
            <a:ext cx="54864" cy="480060"/>
          </a:xfrm>
          <a:prstGeom prst="rect">
            <a:avLst/>
          </a:prstGeom>
          <a:solidFill>
            <a:srgbClr val="C9A54E"/>
          </a:solidFill>
          <a:ln/>
        </p:spPr>
      </p:sp>
      <p:sp>
        <p:nvSpPr>
          <p:cNvPr id="5" name="Text 3"/>
          <p:cNvSpPr/>
          <p:nvPr/>
        </p:nvSpPr>
        <p:spPr>
          <a:xfrm>
            <a:off x="640080" y="914400"/>
            <a:ext cx="2743200" cy="240030"/>
          </a:xfrm>
          <a:prstGeom prst="rect">
            <a:avLst/>
          </a:prstGeom>
          <a:noFill/>
          <a:ln/>
        </p:spPr>
        <p:txBody>
          <a:bodyPr wrap="square" rtlCol="0" anchor="b"/>
          <a:lstStyle/>
          <a:p>
            <a:pPr indent="0" marL="0">
              <a:buNone/>
            </a:pPr>
            <a:r>
              <a:rPr lang="en-US" sz="1100" b="1" dirty="0">
                <a:solidFill>
                  <a:srgbClr val="1A2440"/>
                </a:solidFill>
                <a:latin typeface="Playfair Display" pitchFamily="34" charset="0"/>
                <a:ea typeface="Playfair Display" pitchFamily="34" charset="-122"/>
                <a:cs typeface="Playfair Display" pitchFamily="34" charset="-120"/>
              </a:rPr>
              <a:t>Rapid Virus Recovery</a:t>
            </a:r>
            <a:endParaRPr lang="en-US" sz="1100" dirty="0"/>
          </a:p>
        </p:txBody>
      </p:sp>
      <p:sp>
        <p:nvSpPr>
          <p:cNvPr id="6" name="Text 4"/>
          <p:cNvSpPr/>
          <p:nvPr/>
        </p:nvSpPr>
        <p:spPr>
          <a:xfrm>
            <a:off x="640080" y="1154430"/>
            <a:ext cx="2743200" cy="192024"/>
          </a:xfrm>
          <a:prstGeom prst="rect">
            <a:avLst/>
          </a:prstGeom>
          <a:noFill/>
          <a:ln/>
        </p:spPr>
        <p:txBody>
          <a:bodyPr wrap="square" rtlCol="0" anchor="t"/>
          <a:lstStyle/>
          <a:p>
            <a:pPr indent="0" marL="0">
              <a:buNone/>
            </a:pPr>
            <a:r>
              <a:rPr lang="en-US" sz="800" dirty="0">
                <a:solidFill>
                  <a:srgbClr val="C9A54E"/>
                </a:solidFill>
                <a:latin typeface="Source Sans 3" pitchFamily="34" charset="0"/>
                <a:ea typeface="Source Sans 3" pitchFamily="34" charset="-122"/>
                <a:cs typeface="Source Sans 3" pitchFamily="34" charset="-120"/>
              </a:rPr>
              <a:t>by Dr. Thomas Levy</a:t>
            </a:r>
            <a:endParaRPr lang="en-US" sz="800" dirty="0"/>
          </a:p>
        </p:txBody>
      </p:sp>
      <p:sp>
        <p:nvSpPr>
          <p:cNvPr id="7" name="Text 5"/>
          <p:cNvSpPr/>
          <p:nvPr/>
        </p:nvSpPr>
        <p:spPr>
          <a:xfrm>
            <a:off x="3474720" y="914400"/>
            <a:ext cx="5029200" cy="480060"/>
          </a:xfrm>
          <a:prstGeom prst="rect">
            <a:avLst/>
          </a:prstGeom>
          <a:noFill/>
          <a:ln/>
        </p:spPr>
        <p:txBody>
          <a:bodyPr wrap="square" rtlCol="0" anchor="ctr"/>
          <a:lstStyle/>
          <a:p>
            <a:pPr indent="0" marL="0">
              <a:buNone/>
            </a:pPr>
            <a:r>
              <a:rPr lang="en-US" sz="900" dirty="0">
                <a:solidFill>
                  <a:srgbClr val="1A2440"/>
                </a:solidFill>
                <a:latin typeface="Source Sans 3" pitchFamily="34" charset="0"/>
                <a:ea typeface="Source Sans 3" pitchFamily="34" charset="-122"/>
                <a:cs typeface="Source Sans 3" pitchFamily="34" charset="-120"/>
              </a:rPr>
              <a:t>Essential reading on breaking up biofilm with nebulization and high-dose vitamin C therapy for viral recovery</a:t>
            </a:r>
            <a:endParaRPr lang="en-US" sz="900" dirty="0"/>
          </a:p>
        </p:txBody>
      </p:sp>
      <p:sp>
        <p:nvSpPr>
          <p:cNvPr id="8" name="Shape 6"/>
          <p:cNvSpPr/>
          <p:nvPr/>
        </p:nvSpPr>
        <p:spPr>
          <a:xfrm>
            <a:off x="457200" y="1467612"/>
            <a:ext cx="8229600" cy="4800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9" name="Shape 7"/>
          <p:cNvSpPr/>
          <p:nvPr/>
        </p:nvSpPr>
        <p:spPr>
          <a:xfrm>
            <a:off x="457200" y="1467612"/>
            <a:ext cx="54864" cy="480060"/>
          </a:xfrm>
          <a:prstGeom prst="rect">
            <a:avLst/>
          </a:prstGeom>
          <a:solidFill>
            <a:srgbClr val="C9A54E"/>
          </a:solidFill>
          <a:ln/>
        </p:spPr>
      </p:sp>
      <p:sp>
        <p:nvSpPr>
          <p:cNvPr id="10" name="Text 8"/>
          <p:cNvSpPr/>
          <p:nvPr/>
        </p:nvSpPr>
        <p:spPr>
          <a:xfrm>
            <a:off x="640080" y="1467612"/>
            <a:ext cx="2743200" cy="240030"/>
          </a:xfrm>
          <a:prstGeom prst="rect">
            <a:avLst/>
          </a:prstGeom>
          <a:noFill/>
          <a:ln/>
        </p:spPr>
        <p:txBody>
          <a:bodyPr wrap="square" rtlCol="0" anchor="b"/>
          <a:lstStyle/>
          <a:p>
            <a:pPr indent="0" marL="0">
              <a:buNone/>
            </a:pPr>
            <a:r>
              <a:rPr lang="en-US" sz="1100" b="1" dirty="0">
                <a:solidFill>
                  <a:srgbClr val="1A2440"/>
                </a:solidFill>
                <a:latin typeface="Playfair Display" pitchFamily="34" charset="0"/>
                <a:ea typeface="Playfair Display" pitchFamily="34" charset="-122"/>
                <a:cs typeface="Playfair Display" pitchFamily="34" charset="-120"/>
              </a:rPr>
              <a:t>Dental Dangers</a:t>
            </a:r>
            <a:endParaRPr lang="en-US" sz="1100" dirty="0"/>
          </a:p>
        </p:txBody>
      </p:sp>
      <p:sp>
        <p:nvSpPr>
          <p:cNvPr id="11" name="Text 9"/>
          <p:cNvSpPr/>
          <p:nvPr/>
        </p:nvSpPr>
        <p:spPr>
          <a:xfrm>
            <a:off x="640080" y="1707642"/>
            <a:ext cx="2743200" cy="192024"/>
          </a:xfrm>
          <a:prstGeom prst="rect">
            <a:avLst/>
          </a:prstGeom>
          <a:noFill/>
          <a:ln/>
        </p:spPr>
        <p:txBody>
          <a:bodyPr wrap="square" rtlCol="0" anchor="t"/>
          <a:lstStyle/>
          <a:p>
            <a:pPr indent="0" marL="0">
              <a:buNone/>
            </a:pPr>
            <a:r>
              <a:rPr lang="en-US" sz="800" dirty="0">
                <a:solidFill>
                  <a:srgbClr val="C9A54E"/>
                </a:solidFill>
                <a:latin typeface="Source Sans 3" pitchFamily="34" charset="0"/>
                <a:ea typeface="Source Sans 3" pitchFamily="34" charset="-122"/>
                <a:cs typeface="Source Sans 3" pitchFamily="34" charset="-120"/>
              </a:rPr>
              <a:t>by Dr. Bruce Shelton</a:t>
            </a:r>
            <a:endParaRPr lang="en-US" sz="800" dirty="0"/>
          </a:p>
        </p:txBody>
      </p:sp>
      <p:sp>
        <p:nvSpPr>
          <p:cNvPr id="12" name="Text 10"/>
          <p:cNvSpPr/>
          <p:nvPr/>
        </p:nvSpPr>
        <p:spPr>
          <a:xfrm>
            <a:off x="3474720" y="1467612"/>
            <a:ext cx="5029200" cy="480060"/>
          </a:xfrm>
          <a:prstGeom prst="rect">
            <a:avLst/>
          </a:prstGeom>
          <a:noFill/>
          <a:ln/>
        </p:spPr>
        <p:txBody>
          <a:bodyPr wrap="square" rtlCol="0" anchor="ctr"/>
          <a:lstStyle/>
          <a:p>
            <a:pPr indent="0" marL="0">
              <a:buNone/>
            </a:pPr>
            <a:r>
              <a:rPr lang="en-US" sz="900" dirty="0">
                <a:solidFill>
                  <a:srgbClr val="1A2440"/>
                </a:solidFill>
                <a:latin typeface="Source Sans 3" pitchFamily="34" charset="0"/>
                <a:ea typeface="Source Sans 3" pitchFamily="34" charset="-122"/>
                <a:cs typeface="Source Sans 3" pitchFamily="34" charset="-120"/>
              </a:rPr>
              <a:t>Please read over Dental Dangers as amalgam issues and periodontal problems can significantly hurt longevity goals</a:t>
            </a:r>
            <a:endParaRPr lang="en-US" sz="900" dirty="0"/>
          </a:p>
        </p:txBody>
      </p:sp>
      <p:sp>
        <p:nvSpPr>
          <p:cNvPr id="13" name="Shape 11"/>
          <p:cNvSpPr/>
          <p:nvPr/>
        </p:nvSpPr>
        <p:spPr>
          <a:xfrm>
            <a:off x="457200" y="2020824"/>
            <a:ext cx="8229600" cy="4800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4" name="Shape 12"/>
          <p:cNvSpPr/>
          <p:nvPr/>
        </p:nvSpPr>
        <p:spPr>
          <a:xfrm>
            <a:off x="457200" y="2020824"/>
            <a:ext cx="54864" cy="480060"/>
          </a:xfrm>
          <a:prstGeom prst="rect">
            <a:avLst/>
          </a:prstGeom>
          <a:solidFill>
            <a:srgbClr val="C9A54E"/>
          </a:solidFill>
          <a:ln/>
        </p:spPr>
      </p:sp>
      <p:sp>
        <p:nvSpPr>
          <p:cNvPr id="15" name="Text 13"/>
          <p:cNvSpPr/>
          <p:nvPr/>
        </p:nvSpPr>
        <p:spPr>
          <a:xfrm>
            <a:off x="640080" y="2020824"/>
            <a:ext cx="2743200" cy="240030"/>
          </a:xfrm>
          <a:prstGeom prst="rect">
            <a:avLst/>
          </a:prstGeom>
          <a:noFill/>
          <a:ln/>
        </p:spPr>
        <p:txBody>
          <a:bodyPr wrap="square" rtlCol="0" anchor="b"/>
          <a:lstStyle/>
          <a:p>
            <a:pPr indent="0" marL="0">
              <a:buNone/>
            </a:pPr>
            <a:r>
              <a:rPr lang="en-US" sz="1100" b="1" dirty="0">
                <a:solidFill>
                  <a:srgbClr val="1A2440"/>
                </a:solidFill>
                <a:latin typeface="Playfair Display" pitchFamily="34" charset="0"/>
                <a:ea typeface="Playfair Display" pitchFamily="34" charset="-122"/>
                <a:cs typeface="Playfair Display" pitchFamily="34" charset="-120"/>
              </a:rPr>
              <a:t>A World Without Cancer</a:t>
            </a:r>
            <a:endParaRPr lang="en-US" sz="1100" dirty="0"/>
          </a:p>
        </p:txBody>
      </p:sp>
      <p:sp>
        <p:nvSpPr>
          <p:cNvPr id="16" name="Text 14"/>
          <p:cNvSpPr/>
          <p:nvPr/>
        </p:nvSpPr>
        <p:spPr>
          <a:xfrm>
            <a:off x="640080" y="2260854"/>
            <a:ext cx="2743200" cy="192024"/>
          </a:xfrm>
          <a:prstGeom prst="rect">
            <a:avLst/>
          </a:prstGeom>
          <a:noFill/>
          <a:ln/>
        </p:spPr>
        <p:txBody>
          <a:bodyPr wrap="square" rtlCol="0" anchor="t"/>
          <a:lstStyle/>
          <a:p>
            <a:pPr indent="0" marL="0">
              <a:buNone/>
            </a:pPr>
            <a:r>
              <a:rPr lang="en-US" sz="800" dirty="0">
                <a:solidFill>
                  <a:srgbClr val="C9A54E"/>
                </a:solidFill>
                <a:latin typeface="Source Sans 3" pitchFamily="34" charset="0"/>
                <a:ea typeface="Source Sans 3" pitchFamily="34" charset="-122"/>
                <a:cs typeface="Source Sans 3" pitchFamily="34" charset="-120"/>
              </a:rPr>
              <a:t>by G. Edward Griffin</a:t>
            </a:r>
            <a:endParaRPr lang="en-US" sz="800" dirty="0"/>
          </a:p>
        </p:txBody>
      </p:sp>
      <p:sp>
        <p:nvSpPr>
          <p:cNvPr id="17" name="Text 15"/>
          <p:cNvSpPr/>
          <p:nvPr/>
        </p:nvSpPr>
        <p:spPr>
          <a:xfrm>
            <a:off x="3474720" y="2020824"/>
            <a:ext cx="5029200" cy="480060"/>
          </a:xfrm>
          <a:prstGeom prst="rect">
            <a:avLst/>
          </a:prstGeom>
          <a:noFill/>
          <a:ln/>
        </p:spPr>
        <p:txBody>
          <a:bodyPr wrap="square" rtlCol="0" anchor="ctr"/>
          <a:lstStyle/>
          <a:p>
            <a:pPr indent="0" marL="0">
              <a:buNone/>
            </a:pPr>
            <a:r>
              <a:rPr lang="en-US" sz="900" dirty="0">
                <a:solidFill>
                  <a:srgbClr val="1A2440"/>
                </a:solidFill>
                <a:latin typeface="Source Sans 3" pitchFamily="34" charset="0"/>
                <a:ea typeface="Source Sans 3" pitchFamily="34" charset="-122"/>
                <a:cs typeface="Source Sans 3" pitchFamily="34" charset="-120"/>
              </a:rPr>
              <a:t>The link between nitrilosides and cancer — the story of B17 Laetrile and why it matters for your protocol</a:t>
            </a:r>
            <a:endParaRPr lang="en-US" sz="900" dirty="0"/>
          </a:p>
        </p:txBody>
      </p:sp>
      <p:sp>
        <p:nvSpPr>
          <p:cNvPr id="18" name="Shape 16"/>
          <p:cNvSpPr/>
          <p:nvPr/>
        </p:nvSpPr>
        <p:spPr>
          <a:xfrm>
            <a:off x="457200" y="2574036"/>
            <a:ext cx="8229600" cy="4800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9" name="Shape 17"/>
          <p:cNvSpPr/>
          <p:nvPr/>
        </p:nvSpPr>
        <p:spPr>
          <a:xfrm>
            <a:off x="457200" y="2574036"/>
            <a:ext cx="54864" cy="480060"/>
          </a:xfrm>
          <a:prstGeom prst="rect">
            <a:avLst/>
          </a:prstGeom>
          <a:solidFill>
            <a:srgbClr val="C9A54E"/>
          </a:solidFill>
          <a:ln/>
        </p:spPr>
      </p:sp>
      <p:sp>
        <p:nvSpPr>
          <p:cNvPr id="20" name="Text 18"/>
          <p:cNvSpPr/>
          <p:nvPr/>
        </p:nvSpPr>
        <p:spPr>
          <a:xfrm>
            <a:off x="640080" y="2574036"/>
            <a:ext cx="2743200" cy="240030"/>
          </a:xfrm>
          <a:prstGeom prst="rect">
            <a:avLst/>
          </a:prstGeom>
          <a:noFill/>
          <a:ln/>
        </p:spPr>
        <p:txBody>
          <a:bodyPr wrap="square" rtlCol="0" anchor="b"/>
          <a:lstStyle/>
          <a:p>
            <a:pPr indent="0" marL="0">
              <a:buNone/>
            </a:pPr>
            <a:r>
              <a:rPr lang="en-US" sz="1100" b="1" dirty="0">
                <a:solidFill>
                  <a:srgbClr val="1A2440"/>
                </a:solidFill>
                <a:latin typeface="Playfair Display" pitchFamily="34" charset="0"/>
                <a:ea typeface="Playfair Display" pitchFamily="34" charset="-122"/>
                <a:cs typeface="Playfair Display" pitchFamily="34" charset="-120"/>
              </a:rPr>
              <a:t>The Iodine Crisis</a:t>
            </a:r>
            <a:endParaRPr lang="en-US" sz="1100" dirty="0"/>
          </a:p>
        </p:txBody>
      </p:sp>
      <p:sp>
        <p:nvSpPr>
          <p:cNvPr id="21" name="Text 19"/>
          <p:cNvSpPr/>
          <p:nvPr/>
        </p:nvSpPr>
        <p:spPr>
          <a:xfrm>
            <a:off x="640080" y="2814066"/>
            <a:ext cx="2743200" cy="192024"/>
          </a:xfrm>
          <a:prstGeom prst="rect">
            <a:avLst/>
          </a:prstGeom>
          <a:noFill/>
          <a:ln/>
        </p:spPr>
        <p:txBody>
          <a:bodyPr wrap="square" rtlCol="0" anchor="t"/>
          <a:lstStyle/>
          <a:p>
            <a:pPr indent="0" marL="0">
              <a:buNone/>
            </a:pPr>
            <a:r>
              <a:rPr lang="en-US" sz="800" dirty="0">
                <a:solidFill>
                  <a:srgbClr val="C9A54E"/>
                </a:solidFill>
                <a:latin typeface="Source Sans 3" pitchFamily="34" charset="0"/>
                <a:ea typeface="Source Sans 3" pitchFamily="34" charset="-122"/>
                <a:cs typeface="Source Sans 3" pitchFamily="34" charset="-120"/>
              </a:rPr>
              <a:t>by Lynne Farrow</a:t>
            </a:r>
            <a:endParaRPr lang="en-US" sz="800" dirty="0"/>
          </a:p>
        </p:txBody>
      </p:sp>
      <p:sp>
        <p:nvSpPr>
          <p:cNvPr id="22" name="Text 20"/>
          <p:cNvSpPr/>
          <p:nvPr/>
        </p:nvSpPr>
        <p:spPr>
          <a:xfrm>
            <a:off x="3474720" y="2574036"/>
            <a:ext cx="5029200" cy="480060"/>
          </a:xfrm>
          <a:prstGeom prst="rect">
            <a:avLst/>
          </a:prstGeom>
          <a:noFill/>
          <a:ln/>
        </p:spPr>
        <p:txBody>
          <a:bodyPr wrap="square" rtlCol="0" anchor="ctr"/>
          <a:lstStyle/>
          <a:p>
            <a:pPr indent="0" marL="0">
              <a:buNone/>
            </a:pPr>
            <a:r>
              <a:rPr lang="en-US" sz="900" dirty="0">
                <a:solidFill>
                  <a:srgbClr val="1A2440"/>
                </a:solidFill>
                <a:latin typeface="Source Sans 3" pitchFamily="34" charset="0"/>
                <a:ea typeface="Source Sans 3" pitchFamily="34" charset="-122"/>
                <a:cs typeface="Source Sans 3" pitchFamily="34" charset="-120"/>
              </a:rPr>
              <a:t>Critical reading on the relationship between selenium, iodine, and cancer rise in the U.S.</a:t>
            </a:r>
            <a:endParaRPr lang="en-US" sz="900" dirty="0"/>
          </a:p>
        </p:txBody>
      </p:sp>
      <p:sp>
        <p:nvSpPr>
          <p:cNvPr id="23" name="Shape 21"/>
          <p:cNvSpPr/>
          <p:nvPr/>
        </p:nvSpPr>
        <p:spPr>
          <a:xfrm>
            <a:off x="457200" y="3127248"/>
            <a:ext cx="8229600" cy="4800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4" name="Shape 22"/>
          <p:cNvSpPr/>
          <p:nvPr/>
        </p:nvSpPr>
        <p:spPr>
          <a:xfrm>
            <a:off x="457200" y="3127248"/>
            <a:ext cx="54864" cy="480060"/>
          </a:xfrm>
          <a:prstGeom prst="rect">
            <a:avLst/>
          </a:prstGeom>
          <a:solidFill>
            <a:srgbClr val="C9A54E"/>
          </a:solidFill>
          <a:ln/>
        </p:spPr>
      </p:sp>
      <p:sp>
        <p:nvSpPr>
          <p:cNvPr id="25" name="Text 23"/>
          <p:cNvSpPr/>
          <p:nvPr/>
        </p:nvSpPr>
        <p:spPr>
          <a:xfrm>
            <a:off x="640080" y="3127248"/>
            <a:ext cx="2743200" cy="240030"/>
          </a:xfrm>
          <a:prstGeom prst="rect">
            <a:avLst/>
          </a:prstGeom>
          <a:noFill/>
          <a:ln/>
        </p:spPr>
        <p:txBody>
          <a:bodyPr wrap="square" rtlCol="0" anchor="b"/>
          <a:lstStyle/>
          <a:p>
            <a:pPr indent="0" marL="0">
              <a:buNone/>
            </a:pPr>
            <a:r>
              <a:rPr lang="en-US" sz="1100" b="1" dirty="0">
                <a:solidFill>
                  <a:srgbClr val="1A2440"/>
                </a:solidFill>
                <a:latin typeface="Playfair Display" pitchFamily="34" charset="0"/>
                <a:ea typeface="Playfair Display" pitchFamily="34" charset="-122"/>
                <a:cs typeface="Playfair Display" pitchFamily="34" charset="-120"/>
              </a:rPr>
              <a:t>A Cancer Therapy: Results of Fifty Cases</a:t>
            </a:r>
            <a:endParaRPr lang="en-US" sz="1100" dirty="0"/>
          </a:p>
        </p:txBody>
      </p:sp>
      <p:sp>
        <p:nvSpPr>
          <p:cNvPr id="26" name="Text 24"/>
          <p:cNvSpPr/>
          <p:nvPr/>
        </p:nvSpPr>
        <p:spPr>
          <a:xfrm>
            <a:off x="640080" y="3367278"/>
            <a:ext cx="2743200" cy="192024"/>
          </a:xfrm>
          <a:prstGeom prst="rect">
            <a:avLst/>
          </a:prstGeom>
          <a:noFill/>
          <a:ln/>
        </p:spPr>
        <p:txBody>
          <a:bodyPr wrap="square" rtlCol="0" anchor="t"/>
          <a:lstStyle/>
          <a:p>
            <a:pPr indent="0" marL="0">
              <a:buNone/>
            </a:pPr>
            <a:r>
              <a:rPr lang="en-US" sz="800" dirty="0">
                <a:solidFill>
                  <a:srgbClr val="C9A54E"/>
                </a:solidFill>
                <a:latin typeface="Source Sans 3" pitchFamily="34" charset="0"/>
                <a:ea typeface="Source Sans 3" pitchFamily="34" charset="-122"/>
                <a:cs typeface="Source Sans 3" pitchFamily="34" charset="-120"/>
              </a:rPr>
              <a:t>by Dr. Max Gerson</a:t>
            </a:r>
            <a:endParaRPr lang="en-US" sz="800" dirty="0"/>
          </a:p>
        </p:txBody>
      </p:sp>
      <p:sp>
        <p:nvSpPr>
          <p:cNvPr id="27" name="Text 25"/>
          <p:cNvSpPr/>
          <p:nvPr/>
        </p:nvSpPr>
        <p:spPr>
          <a:xfrm>
            <a:off x="3474720" y="3127248"/>
            <a:ext cx="5029200" cy="480060"/>
          </a:xfrm>
          <a:prstGeom prst="rect">
            <a:avLst/>
          </a:prstGeom>
          <a:noFill/>
          <a:ln/>
        </p:spPr>
        <p:txBody>
          <a:bodyPr wrap="square" rtlCol="0" anchor="ctr"/>
          <a:lstStyle/>
          <a:p>
            <a:pPr indent="0" marL="0">
              <a:buNone/>
            </a:pPr>
            <a:r>
              <a:rPr lang="en-US" sz="900" dirty="0">
                <a:solidFill>
                  <a:srgbClr val="1A2440"/>
                </a:solidFill>
                <a:latin typeface="Source Sans 3" pitchFamily="34" charset="0"/>
                <a:ea typeface="Source Sans 3" pitchFamily="34" charset="-122"/>
                <a:cs typeface="Source Sans 3" pitchFamily="34" charset="-120"/>
              </a:rPr>
              <a:t>The original Gerson therapy clinical documentation — foundational for understanding dietary protocols in cancer care</a:t>
            </a:r>
            <a:endParaRPr lang="en-US" sz="900" dirty="0"/>
          </a:p>
        </p:txBody>
      </p:sp>
      <p:sp>
        <p:nvSpPr>
          <p:cNvPr id="28" name="Shape 26"/>
          <p:cNvSpPr/>
          <p:nvPr/>
        </p:nvSpPr>
        <p:spPr>
          <a:xfrm>
            <a:off x="457200" y="3680460"/>
            <a:ext cx="8229600" cy="4800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9" name="Shape 27"/>
          <p:cNvSpPr/>
          <p:nvPr/>
        </p:nvSpPr>
        <p:spPr>
          <a:xfrm>
            <a:off x="457200" y="3680460"/>
            <a:ext cx="54864" cy="480060"/>
          </a:xfrm>
          <a:prstGeom prst="rect">
            <a:avLst/>
          </a:prstGeom>
          <a:solidFill>
            <a:srgbClr val="C9A54E"/>
          </a:solidFill>
          <a:ln/>
        </p:spPr>
      </p:sp>
      <p:sp>
        <p:nvSpPr>
          <p:cNvPr id="30" name="Text 28"/>
          <p:cNvSpPr/>
          <p:nvPr/>
        </p:nvSpPr>
        <p:spPr>
          <a:xfrm>
            <a:off x="640080" y="3680460"/>
            <a:ext cx="2743200" cy="240030"/>
          </a:xfrm>
          <a:prstGeom prst="rect">
            <a:avLst/>
          </a:prstGeom>
          <a:noFill/>
          <a:ln/>
        </p:spPr>
        <p:txBody>
          <a:bodyPr wrap="square" rtlCol="0" anchor="b"/>
          <a:lstStyle/>
          <a:p>
            <a:pPr indent="0" marL="0">
              <a:buNone/>
            </a:pPr>
            <a:r>
              <a:rPr lang="en-US" sz="1100" b="1" dirty="0">
                <a:solidFill>
                  <a:srgbClr val="1A2440"/>
                </a:solidFill>
                <a:latin typeface="Playfair Display" pitchFamily="34" charset="0"/>
                <a:ea typeface="Playfair Display" pitchFamily="34" charset="-122"/>
                <a:cs typeface="Playfair Display" pitchFamily="34" charset="-120"/>
              </a:rPr>
              <a:t>The Metabolic Approach to Cancer</a:t>
            </a:r>
            <a:endParaRPr lang="en-US" sz="1100" dirty="0"/>
          </a:p>
        </p:txBody>
      </p:sp>
      <p:sp>
        <p:nvSpPr>
          <p:cNvPr id="31" name="Text 29"/>
          <p:cNvSpPr/>
          <p:nvPr/>
        </p:nvSpPr>
        <p:spPr>
          <a:xfrm>
            <a:off x="640080" y="3920490"/>
            <a:ext cx="2743200" cy="192024"/>
          </a:xfrm>
          <a:prstGeom prst="rect">
            <a:avLst/>
          </a:prstGeom>
          <a:noFill/>
          <a:ln/>
        </p:spPr>
        <p:txBody>
          <a:bodyPr wrap="square" rtlCol="0" anchor="t"/>
          <a:lstStyle/>
          <a:p>
            <a:pPr indent="0" marL="0">
              <a:buNone/>
            </a:pPr>
            <a:r>
              <a:rPr lang="en-US" sz="800" dirty="0">
                <a:solidFill>
                  <a:srgbClr val="C9A54E"/>
                </a:solidFill>
                <a:latin typeface="Source Sans 3" pitchFamily="34" charset="0"/>
                <a:ea typeface="Source Sans 3" pitchFamily="34" charset="-122"/>
                <a:cs typeface="Source Sans 3" pitchFamily="34" charset="-120"/>
              </a:rPr>
              <a:t>by Dr. Nasha Winters &amp; Jess Higgins Kelley</a:t>
            </a:r>
            <a:endParaRPr lang="en-US" sz="800" dirty="0"/>
          </a:p>
        </p:txBody>
      </p:sp>
      <p:sp>
        <p:nvSpPr>
          <p:cNvPr id="32" name="Text 30"/>
          <p:cNvSpPr/>
          <p:nvPr/>
        </p:nvSpPr>
        <p:spPr>
          <a:xfrm>
            <a:off x="3474720" y="3680460"/>
            <a:ext cx="5029200" cy="480060"/>
          </a:xfrm>
          <a:prstGeom prst="rect">
            <a:avLst/>
          </a:prstGeom>
          <a:noFill/>
          <a:ln/>
        </p:spPr>
        <p:txBody>
          <a:bodyPr wrap="square" rtlCol="0" anchor="ctr"/>
          <a:lstStyle/>
          <a:p>
            <a:pPr indent="0" marL="0">
              <a:buNone/>
            </a:pPr>
            <a:r>
              <a:rPr lang="en-US" sz="900" dirty="0">
                <a:solidFill>
                  <a:srgbClr val="1A2440"/>
                </a:solidFill>
                <a:latin typeface="Source Sans 3" pitchFamily="34" charset="0"/>
                <a:ea typeface="Source Sans 3" pitchFamily="34" charset="-122"/>
                <a:cs typeface="Source Sans 3" pitchFamily="34" charset="-120"/>
              </a:rPr>
              <a:t>Integrative oncology nutrition and metabolic terrain assessment — essential for understanding cancer as a metabolic disease</a:t>
            </a:r>
            <a:endParaRPr lang="en-US" sz="900" dirty="0"/>
          </a:p>
        </p:txBody>
      </p:sp>
      <p:sp>
        <p:nvSpPr>
          <p:cNvPr id="33" name="Shape 31"/>
          <p:cNvSpPr/>
          <p:nvPr/>
        </p:nvSpPr>
        <p:spPr>
          <a:xfrm>
            <a:off x="457200" y="4233672"/>
            <a:ext cx="8229600" cy="4800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34" name="Shape 32"/>
          <p:cNvSpPr/>
          <p:nvPr/>
        </p:nvSpPr>
        <p:spPr>
          <a:xfrm>
            <a:off x="457200" y="4233672"/>
            <a:ext cx="54864" cy="480060"/>
          </a:xfrm>
          <a:prstGeom prst="rect">
            <a:avLst/>
          </a:prstGeom>
          <a:solidFill>
            <a:srgbClr val="C9A54E"/>
          </a:solidFill>
          <a:ln/>
        </p:spPr>
      </p:sp>
      <p:sp>
        <p:nvSpPr>
          <p:cNvPr id="35" name="Text 33"/>
          <p:cNvSpPr/>
          <p:nvPr/>
        </p:nvSpPr>
        <p:spPr>
          <a:xfrm>
            <a:off x="640080" y="4233672"/>
            <a:ext cx="2743200" cy="240030"/>
          </a:xfrm>
          <a:prstGeom prst="rect">
            <a:avLst/>
          </a:prstGeom>
          <a:noFill/>
          <a:ln/>
        </p:spPr>
        <p:txBody>
          <a:bodyPr wrap="square" rtlCol="0" anchor="b"/>
          <a:lstStyle/>
          <a:p>
            <a:pPr indent="0" marL="0">
              <a:buNone/>
            </a:pPr>
            <a:r>
              <a:rPr lang="en-US" sz="1100" b="1" dirty="0">
                <a:solidFill>
                  <a:srgbClr val="1A2440"/>
                </a:solidFill>
                <a:latin typeface="Playfair Display" pitchFamily="34" charset="0"/>
                <a:ea typeface="Playfair Display" pitchFamily="34" charset="-122"/>
                <a:cs typeface="Playfair Display" pitchFamily="34" charset="-120"/>
              </a:rPr>
              <a:t>One Minute Restore</a:t>
            </a:r>
            <a:endParaRPr lang="en-US" sz="1100" dirty="0"/>
          </a:p>
        </p:txBody>
      </p:sp>
      <p:sp>
        <p:nvSpPr>
          <p:cNvPr id="36" name="Text 34"/>
          <p:cNvSpPr/>
          <p:nvPr/>
        </p:nvSpPr>
        <p:spPr>
          <a:xfrm>
            <a:off x="640080" y="4473702"/>
            <a:ext cx="2743200" cy="192024"/>
          </a:xfrm>
          <a:prstGeom prst="rect">
            <a:avLst/>
          </a:prstGeom>
          <a:noFill/>
          <a:ln/>
        </p:spPr>
        <p:txBody>
          <a:bodyPr wrap="square" rtlCol="0" anchor="t"/>
          <a:lstStyle/>
          <a:p>
            <a:pPr indent="0" marL="0">
              <a:buNone/>
            </a:pPr>
            <a:r>
              <a:rPr lang="en-US" sz="800" dirty="0">
                <a:solidFill>
                  <a:srgbClr val="C9A54E"/>
                </a:solidFill>
                <a:latin typeface="Source Sans 3" pitchFamily="34" charset="0"/>
                <a:ea typeface="Source Sans 3" pitchFamily="34" charset="-122"/>
                <a:cs typeface="Source Sans 3" pitchFamily="34" charset="-120"/>
              </a:rPr>
              <a:t>by Madison Cavanaugh</a:t>
            </a:r>
            <a:endParaRPr lang="en-US" sz="800" dirty="0"/>
          </a:p>
        </p:txBody>
      </p:sp>
      <p:sp>
        <p:nvSpPr>
          <p:cNvPr id="37" name="Text 35"/>
          <p:cNvSpPr/>
          <p:nvPr/>
        </p:nvSpPr>
        <p:spPr>
          <a:xfrm>
            <a:off x="3474720" y="4233672"/>
            <a:ext cx="5029200" cy="480060"/>
          </a:xfrm>
          <a:prstGeom prst="rect">
            <a:avLst/>
          </a:prstGeom>
          <a:noFill/>
          <a:ln/>
        </p:spPr>
        <p:txBody>
          <a:bodyPr wrap="square" rtlCol="0" anchor="ctr"/>
          <a:lstStyle/>
          <a:p>
            <a:pPr indent="0" marL="0">
              <a:buNone/>
            </a:pPr>
            <a:r>
              <a:rPr lang="en-US" sz="900" dirty="0">
                <a:solidFill>
                  <a:srgbClr val="1A2440"/>
                </a:solidFill>
                <a:latin typeface="Source Sans 3" pitchFamily="34" charset="0"/>
                <a:ea typeface="Source Sans 3" pitchFamily="34" charset="-122"/>
                <a:cs typeface="Source Sans 3" pitchFamily="34" charset="-120"/>
              </a:rPr>
              <a:t>Hydrogen peroxide therapy overview and its applications for supporting the body's natural healing processes</a:t>
            </a:r>
            <a:endParaRPr lang="en-US" sz="900" dirty="0"/>
          </a:p>
        </p:txBody>
      </p:sp>
      <p:sp>
        <p:nvSpPr>
          <p:cNvPr id="38" name="Shape 36"/>
          <p:cNvSpPr/>
          <p:nvPr/>
        </p:nvSpPr>
        <p:spPr>
          <a:xfrm>
            <a:off x="457200" y="4786884"/>
            <a:ext cx="8229600" cy="4800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39" name="Shape 37"/>
          <p:cNvSpPr/>
          <p:nvPr/>
        </p:nvSpPr>
        <p:spPr>
          <a:xfrm>
            <a:off x="457200" y="4786884"/>
            <a:ext cx="54864" cy="480060"/>
          </a:xfrm>
          <a:prstGeom prst="rect">
            <a:avLst/>
          </a:prstGeom>
          <a:solidFill>
            <a:srgbClr val="C9A54E"/>
          </a:solidFill>
          <a:ln/>
        </p:spPr>
      </p:sp>
      <p:sp>
        <p:nvSpPr>
          <p:cNvPr id="40" name="Text 38"/>
          <p:cNvSpPr/>
          <p:nvPr/>
        </p:nvSpPr>
        <p:spPr>
          <a:xfrm>
            <a:off x="640080" y="4786884"/>
            <a:ext cx="2743200" cy="240030"/>
          </a:xfrm>
          <a:prstGeom prst="rect">
            <a:avLst/>
          </a:prstGeom>
          <a:noFill/>
          <a:ln/>
        </p:spPr>
        <p:txBody>
          <a:bodyPr wrap="square" rtlCol="0" anchor="b"/>
          <a:lstStyle/>
          <a:p>
            <a:pPr indent="0" marL="0">
              <a:buNone/>
            </a:pPr>
            <a:r>
              <a:rPr lang="en-US" sz="1100" b="1" dirty="0">
                <a:solidFill>
                  <a:srgbClr val="1A2440"/>
                </a:solidFill>
                <a:latin typeface="Playfair Display" pitchFamily="34" charset="0"/>
                <a:ea typeface="Playfair Display" pitchFamily="34" charset="-122"/>
                <a:cs typeface="Playfair Display" pitchFamily="34" charset="-120"/>
              </a:rPr>
              <a:t>Cymatics: A Study of Wave Phenomena</a:t>
            </a:r>
            <a:endParaRPr lang="en-US" sz="1100" dirty="0"/>
          </a:p>
        </p:txBody>
      </p:sp>
      <p:sp>
        <p:nvSpPr>
          <p:cNvPr id="41" name="Text 39"/>
          <p:cNvSpPr/>
          <p:nvPr/>
        </p:nvSpPr>
        <p:spPr>
          <a:xfrm>
            <a:off x="640080" y="5026914"/>
            <a:ext cx="2743200" cy="192024"/>
          </a:xfrm>
          <a:prstGeom prst="rect">
            <a:avLst/>
          </a:prstGeom>
          <a:noFill/>
          <a:ln/>
        </p:spPr>
        <p:txBody>
          <a:bodyPr wrap="square" rtlCol="0" anchor="t"/>
          <a:lstStyle/>
          <a:p>
            <a:pPr indent="0" marL="0">
              <a:buNone/>
            </a:pPr>
            <a:r>
              <a:rPr lang="en-US" sz="800" dirty="0">
                <a:solidFill>
                  <a:srgbClr val="C9A54E"/>
                </a:solidFill>
                <a:latin typeface="Source Sans 3" pitchFamily="34" charset="0"/>
                <a:ea typeface="Source Sans 3" pitchFamily="34" charset="-122"/>
                <a:cs typeface="Source Sans 3" pitchFamily="34" charset="-120"/>
              </a:rPr>
              <a:t>by Hans Jenny</a:t>
            </a:r>
            <a:endParaRPr lang="en-US" sz="800" dirty="0"/>
          </a:p>
        </p:txBody>
      </p:sp>
      <p:sp>
        <p:nvSpPr>
          <p:cNvPr id="42" name="Text 40"/>
          <p:cNvSpPr/>
          <p:nvPr/>
        </p:nvSpPr>
        <p:spPr>
          <a:xfrm>
            <a:off x="3474720" y="4786884"/>
            <a:ext cx="5029200" cy="480060"/>
          </a:xfrm>
          <a:prstGeom prst="rect">
            <a:avLst/>
          </a:prstGeom>
          <a:noFill/>
          <a:ln/>
        </p:spPr>
        <p:txBody>
          <a:bodyPr wrap="square" rtlCol="0" anchor="ctr"/>
          <a:lstStyle/>
          <a:p>
            <a:pPr indent="0" marL="0">
              <a:buNone/>
            </a:pPr>
            <a:r>
              <a:rPr lang="en-US" sz="900" dirty="0">
                <a:solidFill>
                  <a:srgbClr val="1A2440"/>
                </a:solidFill>
                <a:latin typeface="Source Sans 3" pitchFamily="34" charset="0"/>
                <a:ea typeface="Source Sans 3" pitchFamily="34" charset="-122"/>
                <a:cs typeface="Source Sans 3" pitchFamily="34" charset="-120"/>
              </a:rPr>
              <a:t>Foundation text for frequency-based healing modalities — understanding how sound and vibration affect cellular health</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A2440"/>
                </a:solidFill>
                <a:latin typeface="Playfair Display" pitchFamily="34" charset="0"/>
                <a:ea typeface="Playfair Display" pitchFamily="34" charset="-122"/>
                <a:cs typeface="Playfair Display" pitchFamily="34" charset="-120"/>
              </a:rPr>
              <a:t>Research Backing Our Protocols</a:t>
            </a:r>
            <a:endParaRPr lang="en-US" sz="2400" dirty="0"/>
          </a:p>
        </p:txBody>
      </p:sp>
      <p:sp>
        <p:nvSpPr>
          <p:cNvPr id="3" name="Shape 1"/>
          <p:cNvSpPr/>
          <p:nvPr/>
        </p:nvSpPr>
        <p:spPr>
          <a:xfrm>
            <a:off x="457200" y="914400"/>
            <a:ext cx="82296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3657600"/>
          </a:xfrm>
          <a:prstGeom prst="rect">
            <a:avLst/>
          </a:prstGeom>
          <a:noFill/>
          <a:ln/>
        </p:spPr>
        <p:txBody>
          <a:bodyPr wrap="square" rtlCol="0" anchor="t"/>
          <a:lstStyle/>
          <a:p>
            <a:pPr indent="0" marL="0">
              <a:buNone/>
            </a:pPr>
            <a:r>
              <a:rPr lang="en-US" sz="1000" b="1" dirty="0">
                <a:solidFill>
                  <a:srgbClr val="C9A54E"/>
                </a:solidFill>
                <a:latin typeface="Source Sans 3" pitchFamily="34" charset="0"/>
                <a:ea typeface="Source Sans 3" pitchFamily="34" charset="-122"/>
                <a:cs typeface="Source Sans 3" pitchFamily="34" charset="-120"/>
              </a:rPr>
              <a:t>Moringa Health Benefits</a:t>
            </a:r>
            <a:pPr indent="0" marL="0">
              <a:buNone/>
            </a:pPr>
            <a:r>
              <a:rPr lang="en-US" sz="900" dirty="0">
                <a:solidFill>
                  <a:srgbClr val="5A6B8A"/>
                </a:solidFill>
                <a:latin typeface="Source Sans 3" pitchFamily="34" charset="0"/>
                <a:ea typeface="Source Sans 3" pitchFamily="34" charset="-122"/>
                <a:cs typeface="Source Sans 3" pitchFamily="34" charset="-120"/>
              </a:rPr>
              <a:t> — Comprehensive overview of moringa's anti-inflammatory, antioxidant, and immune-supporting properties</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https://ensosuperfoods.com/blogs/supergreens/moringa-health-benefits-for-women</a:t>
            </a:r>
            <a:endParaRPr lang="en-US" sz="1000" dirty="0"/>
          </a:p>
          <a:p>
            <a:pPr indent="0" marL="0">
              <a:buNone/>
            </a:pPr>
            <a:r>
              <a:rPr lang="en-US" sz="1000" b="1" dirty="0">
                <a:solidFill>
                  <a:srgbClr val="C9A54E"/>
                </a:solidFill>
                <a:latin typeface="Source Sans 3" pitchFamily="34" charset="0"/>
                <a:ea typeface="Source Sans 3" pitchFamily="34" charset="-122"/>
                <a:cs typeface="Source Sans 3" pitchFamily="34" charset="-120"/>
              </a:rPr>
              <a:t>Chlorella Benefits</a:t>
            </a:r>
            <a:pPr indent="0" marL="0">
              <a:buNone/>
            </a:pPr>
            <a:r>
              <a:rPr lang="en-US" sz="900" dirty="0">
                <a:solidFill>
                  <a:srgbClr val="5A6B8A"/>
                </a:solidFill>
                <a:latin typeface="Source Sans 3" pitchFamily="34" charset="0"/>
                <a:ea typeface="Source Sans 3" pitchFamily="34" charset="-122"/>
                <a:cs typeface="Source Sans 3" pitchFamily="34" charset="-120"/>
              </a:rPr>
              <a:t> — Heavy metal detox, immune support, and nutrient density — why chlorella is in your protocol</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https://www.healthline.com/nutrition/benefits-of-chlorella</a:t>
            </a:r>
            <a:endParaRPr lang="en-US" sz="1000" dirty="0"/>
          </a:p>
          <a:p>
            <a:pPr indent="0" marL="0">
              <a:buNone/>
            </a:pPr>
            <a:r>
              <a:rPr lang="en-US" sz="1000" b="1" dirty="0">
                <a:solidFill>
                  <a:srgbClr val="C9A54E"/>
                </a:solidFill>
                <a:latin typeface="Source Sans 3" pitchFamily="34" charset="0"/>
                <a:ea typeface="Source Sans 3" pitchFamily="34" charset="-122"/>
                <a:cs typeface="Source Sans 3" pitchFamily="34" charset="-120"/>
              </a:rPr>
              <a:t>Marine Phytoplankton Benefits</a:t>
            </a:r>
            <a:pPr indent="0" marL="0">
              <a:buNone/>
            </a:pPr>
            <a:r>
              <a:rPr lang="en-US" sz="900" dirty="0">
                <a:solidFill>
                  <a:srgbClr val="5A6B8A"/>
                </a:solidFill>
                <a:latin typeface="Source Sans 3" pitchFamily="34" charset="0"/>
                <a:ea typeface="Source Sans 3" pitchFamily="34" charset="-122"/>
                <a:cs typeface="Source Sans 3" pitchFamily="34" charset="-120"/>
              </a:rPr>
              <a:t> — How marine phytoplankton provides bioavailable nutrition at the cellular level</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https://flexhealthandwellness.com/blogs/blog/marine-phytoplankton-improves-human-health</a:t>
            </a:r>
            <a:endParaRPr lang="en-US" sz="1000" dirty="0"/>
          </a:p>
          <a:p>
            <a:pPr indent="0" marL="0">
              <a:buNone/>
            </a:pPr>
            <a:r>
              <a:rPr lang="en-US" sz="1000" b="1" dirty="0">
                <a:solidFill>
                  <a:srgbClr val="C9A54E"/>
                </a:solidFill>
                <a:latin typeface="Source Sans 3" pitchFamily="34" charset="0"/>
                <a:ea typeface="Source Sans 3" pitchFamily="34" charset="-122"/>
                <a:cs typeface="Source Sans 3" pitchFamily="34" charset="-120"/>
              </a:rPr>
              <a:t>Sirtuins and Atherosclerosis Reduction</a:t>
            </a:r>
            <a:pPr indent="0" marL="0">
              <a:buNone/>
            </a:pPr>
            <a:r>
              <a:rPr lang="en-US" sz="900" dirty="0">
                <a:solidFill>
                  <a:srgbClr val="5A6B8A"/>
                </a:solidFill>
                <a:latin typeface="Source Sans 3" pitchFamily="34" charset="0"/>
                <a:ea typeface="Source Sans 3" pitchFamily="34" charset="-122"/>
                <a:cs typeface="Source Sans 3" pitchFamily="34" charset="-120"/>
              </a:rPr>
              <a:t> — Peer-reviewed research on how sirtuin activation reduces atherosclerosis — the science behind our NAD+ protocols</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https://www.ahajournals.org/doi/10.1161/CIRCRESAHA.118.312498</a:t>
            </a:r>
            <a:endParaRPr lang="en-US" sz="1000" dirty="0"/>
          </a:p>
          <a:p>
            <a:pPr indent="0" marL="0">
              <a:buNone/>
            </a:pPr>
            <a:r>
              <a:rPr lang="en-US" sz="1000" b="1" dirty="0">
                <a:solidFill>
                  <a:srgbClr val="C9A54E"/>
                </a:solidFill>
                <a:latin typeface="Source Sans 3" pitchFamily="34" charset="0"/>
                <a:ea typeface="Source Sans 3" pitchFamily="34" charset="-122"/>
                <a:cs typeface="Source Sans 3" pitchFamily="34" charset="-120"/>
              </a:rPr>
              <a:t>DMSO IV for Plaque Reduction</a:t>
            </a:r>
            <a:pPr indent="0" marL="0">
              <a:buNone/>
            </a:pPr>
            <a:r>
              <a:rPr lang="en-US" sz="900" dirty="0">
                <a:solidFill>
                  <a:srgbClr val="5A6B8A"/>
                </a:solidFill>
                <a:latin typeface="Source Sans 3" pitchFamily="34" charset="0"/>
                <a:ea typeface="Source Sans 3" pitchFamily="34" charset="-122"/>
                <a:cs typeface="Source Sans 3" pitchFamily="34" charset="-120"/>
              </a:rPr>
              <a:t> — How DMSO IV therapy supports plaque reduction and cardiovascular health</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https://www.lifeextension.com/magazine/2007/7/cover_dmso</a:t>
            </a:r>
            <a:endParaRPr lang="en-US" sz="1000" dirty="0"/>
          </a:p>
          <a:p>
            <a:pPr indent="0" marL="0">
              <a:buNone/>
            </a:pPr>
            <a:r>
              <a:rPr lang="en-US" sz="1000" b="1" dirty="0">
                <a:solidFill>
                  <a:srgbClr val="C9A54E"/>
                </a:solidFill>
                <a:latin typeface="Source Sans 3" pitchFamily="34" charset="0"/>
                <a:ea typeface="Source Sans 3" pitchFamily="34" charset="-122"/>
                <a:cs typeface="Source Sans 3" pitchFamily="34" charset="-120"/>
              </a:rPr>
              <a:t>Hydrogen Peroxide for Clogged Arteries</a:t>
            </a:r>
            <a:pPr indent="0" marL="0">
              <a:buNone/>
            </a:pPr>
            <a:r>
              <a:rPr lang="en-US" sz="900" dirty="0">
                <a:solidFill>
                  <a:srgbClr val="5A6B8A"/>
                </a:solidFill>
                <a:latin typeface="Source Sans 3" pitchFamily="34" charset="0"/>
                <a:ea typeface="Source Sans 3" pitchFamily="34" charset="-122"/>
                <a:cs typeface="Source Sans 3" pitchFamily="34" charset="-120"/>
              </a:rPr>
              <a:t> — How hydrogen peroxide therapy supports arterial clearance and cardiovascular function</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https://rmcgeorgia.com/how-hydrogen-peroxide-helps-clear-clogged-arteries/</a:t>
            </a:r>
            <a:endParaRPr lang="en-US" sz="1000" dirty="0"/>
          </a:p>
          <a:p>
            <a:pPr indent="0" marL="0">
              <a:buNone/>
            </a:pPr>
            <a:r>
              <a:rPr lang="en-US" sz="1000" b="1" dirty="0">
                <a:solidFill>
                  <a:srgbClr val="C9A54E"/>
                </a:solidFill>
                <a:latin typeface="Source Sans 3" pitchFamily="34" charset="0"/>
                <a:ea typeface="Source Sans 3" pitchFamily="34" charset="-122"/>
                <a:cs typeface="Source Sans 3" pitchFamily="34" charset="-120"/>
              </a:rPr>
              <a:t>Fenbendazole and Cancer: Research Overview</a:t>
            </a:r>
            <a:pPr indent="0" marL="0">
              <a:buNone/>
            </a:pPr>
            <a:r>
              <a:rPr lang="en-US" sz="900" dirty="0">
                <a:solidFill>
                  <a:srgbClr val="5A6B8A"/>
                </a:solidFill>
                <a:latin typeface="Source Sans 3" pitchFamily="34" charset="0"/>
                <a:ea typeface="Source Sans 3" pitchFamily="34" charset="-122"/>
                <a:cs typeface="Source Sans 3" pitchFamily="34" charset="-120"/>
              </a:rPr>
              <a:t> — Anti-parasitic compounds showing documented anti-tumor properties in preclinical studies</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https://www.ncbi.nlm.nih.gov/pmc/articles/PMC7523519/</a:t>
            </a:r>
            <a:endParaRPr lang="en-US" sz="1000" dirty="0"/>
          </a:p>
          <a:p>
            <a:pPr indent="0" marL="0">
              <a:buNone/>
            </a:pPr>
            <a:r>
              <a:rPr lang="en-US" sz="1000" b="1" dirty="0">
                <a:solidFill>
                  <a:srgbClr val="C9A54E"/>
                </a:solidFill>
                <a:latin typeface="Source Sans 3" pitchFamily="34" charset="0"/>
                <a:ea typeface="Source Sans 3" pitchFamily="34" charset="-122"/>
                <a:cs typeface="Source Sans 3" pitchFamily="34" charset="-120"/>
              </a:rPr>
              <a:t>High-Dose Vitamin C in Cancer Protocol</a:t>
            </a:r>
            <a:pPr indent="0" marL="0">
              <a:buNone/>
            </a:pPr>
            <a:r>
              <a:rPr lang="en-US" sz="900" dirty="0">
                <a:solidFill>
                  <a:srgbClr val="5A6B8A"/>
                </a:solidFill>
                <a:latin typeface="Source Sans 3" pitchFamily="34" charset="0"/>
                <a:ea typeface="Source Sans 3" pitchFamily="34" charset="-122"/>
                <a:cs typeface="Source Sans 3" pitchFamily="34" charset="-120"/>
              </a:rPr>
              <a:t> — Peer-reviewed evidence for IV vitamin C as adjunctive cancer therapy</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https://www.ncbi.nlm.nih.gov/pmc/articles/PMC5927785/</a:t>
            </a:r>
            <a:endParaRPr lang="en-US" sz="1000" dirty="0"/>
          </a:p>
          <a:p>
            <a:pPr indent="0" marL="0">
              <a:buNone/>
            </a:pPr>
            <a:r>
              <a:rPr lang="en-US" sz="1000" b="1" dirty="0">
                <a:solidFill>
                  <a:srgbClr val="C9A54E"/>
                </a:solidFill>
                <a:latin typeface="Source Sans 3" pitchFamily="34" charset="0"/>
                <a:ea typeface="Source Sans 3" pitchFamily="34" charset="-122"/>
                <a:cs typeface="Source Sans 3" pitchFamily="34" charset="-120"/>
              </a:rPr>
              <a:t>Mercury Toxicity from Dental Amalgam</a:t>
            </a:r>
            <a:pPr indent="0" marL="0">
              <a:buNone/>
            </a:pPr>
            <a:r>
              <a:rPr lang="en-US" sz="900" dirty="0">
                <a:solidFill>
                  <a:srgbClr val="5A6B8A"/>
                </a:solidFill>
                <a:latin typeface="Source Sans 3" pitchFamily="34" charset="0"/>
                <a:ea typeface="Source Sans 3" pitchFamily="34" charset="-122"/>
                <a:cs typeface="Source Sans 3" pitchFamily="34" charset="-120"/>
              </a:rPr>
              <a:t> — Scientific evidence linking mercury amalgam fillings to systemic toxicity and chronic health conditions</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https://www.ncbi.nlm.nih.gov/pmc/articles/PMC3388771/</a:t>
            </a:r>
            <a:endParaRPr lang="en-US" sz="1000" dirty="0"/>
          </a:p>
          <a:p>
            <a:pPr indent="0" marL="0">
              <a:buNone/>
            </a:pPr>
            <a:r>
              <a:rPr lang="en-US" sz="1000" b="1" dirty="0">
                <a:solidFill>
                  <a:srgbClr val="C9A54E"/>
                </a:solidFill>
                <a:latin typeface="Source Sans 3" pitchFamily="34" charset="0"/>
                <a:ea typeface="Source Sans 3" pitchFamily="34" charset="-122"/>
                <a:cs typeface="Source Sans 3" pitchFamily="34" charset="-120"/>
              </a:rPr>
              <a:t>Endocannabinoid System and Immune Regulation</a:t>
            </a:r>
            <a:pPr indent="0" marL="0">
              <a:buNone/>
            </a:pPr>
            <a:r>
              <a:rPr lang="en-US" sz="900" dirty="0">
                <a:solidFill>
                  <a:srgbClr val="5A6B8A"/>
                </a:solidFill>
                <a:latin typeface="Source Sans 3" pitchFamily="34" charset="0"/>
                <a:ea typeface="Source Sans 3" pitchFamily="34" charset="-122"/>
                <a:cs typeface="Source Sans 3" pitchFamily="34" charset="-120"/>
              </a:rPr>
              <a:t> — How the ECS modulates immune response — the science behind our CBD/CBG protocols</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https://www.ncbi.nlm.nih.gov/pmc/articles/PMC7023045/</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8ED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200" b="1" dirty="0">
                <a:solidFill>
                  <a:srgbClr val="1A2440"/>
                </a:solidFill>
                <a:latin typeface="Playfair Display" pitchFamily="34" charset="0"/>
                <a:ea typeface="Playfair Display" pitchFamily="34" charset="-122"/>
                <a:cs typeface="Playfair Display" pitchFamily="34" charset="-120"/>
              </a:rPr>
              <a:t>Additional Research and Google Drive Links</a:t>
            </a:r>
            <a:endParaRPr lang="en-US" sz="2200" dirty="0"/>
          </a:p>
        </p:txBody>
      </p:sp>
      <p:sp>
        <p:nvSpPr>
          <p:cNvPr id="3" name="Shape 1"/>
          <p:cNvSpPr/>
          <p:nvPr/>
        </p:nvSpPr>
        <p:spPr>
          <a:xfrm>
            <a:off x="457200" y="914400"/>
            <a:ext cx="8229600" cy="27432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960120"/>
            <a:ext cx="7863840" cy="274320"/>
          </a:xfrm>
          <a:prstGeom prst="rect">
            <a:avLst/>
          </a:prstGeom>
          <a:noFill/>
          <a:ln/>
        </p:spPr>
        <p:txBody>
          <a:bodyPr wrap="square" rtlCol="0" anchor="ctr"/>
          <a:lstStyle/>
          <a:p>
            <a:pPr indent="0" marL="0">
              <a:buNone/>
            </a:pPr>
            <a:r>
              <a:rPr lang="en-US" sz="1100" dirty="0">
                <a:solidFill>
                  <a:srgbClr val="5A6B8A"/>
                </a:solidFill>
                <a:latin typeface="Source Sans 3" pitchFamily="34" charset="0"/>
                <a:ea typeface="Source Sans 3" pitchFamily="34" charset="-122"/>
                <a:cs typeface="Source Sans 3" pitchFamily="34" charset="-120"/>
              </a:rPr>
              <a:t>Links to Daily Schedule, Library and Research, Detox Baths, and 5 Day fasting instructions</a:t>
            </a:r>
            <a:endParaRPr lang="en-US" sz="1100" dirty="0"/>
          </a:p>
        </p:txBody>
      </p:sp>
      <p:sp>
        <p:nvSpPr>
          <p:cNvPr id="5" name="Text 3"/>
          <p:cNvSpPr/>
          <p:nvPr/>
        </p:nvSpPr>
        <p:spPr>
          <a:xfrm>
            <a:off x="640080" y="1280160"/>
            <a:ext cx="7863840" cy="2286000"/>
          </a:xfrm>
          <a:prstGeom prst="rect">
            <a:avLst/>
          </a:prstGeom>
          <a:noFill/>
          <a:ln/>
        </p:spPr>
        <p:txBody>
          <a:bodyPr wrap="square" rtlCol="0" anchor="t"/>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FF Research Document Library</a:t>
            </a:r>
            <a:pPr indent="0" marL="0">
              <a:buNone/>
            </a:pPr>
            <a:r>
              <a:rPr lang="en-US" sz="900" dirty="0">
                <a:solidFill>
                  <a:srgbClr val="5A6B8A"/>
                </a:solidFill>
                <a:latin typeface="Source Sans 3" pitchFamily="34" charset="0"/>
                <a:ea typeface="Source Sans 3" pitchFamily="34" charset="-122"/>
                <a:cs typeface="Source Sans 3" pitchFamily="34" charset="-120"/>
              </a:rPr>
              <a:t> — Complete research library — peer-reviewed papers, clinical protocols, and educational materials</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https://drive.google.com/drive/folders/1HfK-h2NemdU2ew9L9ZwJCXUMLTI8Q-Rn?usp=drive_link</a:t>
            </a:r>
            <a:endParaRPr lang="en-US" sz="10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FF Main Library</a:t>
            </a:r>
            <a:pPr indent="0" marL="0">
              <a:buNone/>
            </a:pPr>
            <a:r>
              <a:rPr lang="en-US" sz="900" dirty="0">
                <a:solidFill>
                  <a:srgbClr val="5A6B8A"/>
                </a:solidFill>
                <a:latin typeface="Source Sans 3" pitchFamily="34" charset="0"/>
                <a:ea typeface="Source Sans 3" pitchFamily="34" charset="-122"/>
                <a:cs typeface="Source Sans 3" pitchFamily="34" charset="-120"/>
              </a:rPr>
              <a:t> — Master resource folder — all protocol guides, templates, and educational materials</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https://drive.google.com/drive/folders/1s6EdFtZ7dZY7utr8J843CFxyAjuuwHPX?usp=drive_link</a:t>
            </a:r>
            <a:endParaRPr lang="en-US" sz="10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5 Day Fast Protocol</a:t>
            </a:r>
            <a:pPr indent="0" marL="0">
              <a:buNone/>
            </a:pPr>
            <a:r>
              <a:rPr lang="en-US" sz="900" dirty="0">
                <a:solidFill>
                  <a:srgbClr val="5A6B8A"/>
                </a:solidFill>
                <a:latin typeface="Source Sans 3" pitchFamily="34" charset="0"/>
                <a:ea typeface="Source Sans 3" pitchFamily="34" charset="-122"/>
                <a:cs typeface="Source Sans 3" pitchFamily="34" charset="-120"/>
              </a:rPr>
              <a:t> — Guided 5-day fasting protocol for deep cellular repair, autophagy, and immune reset</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https://docs.google.com/document/d/1NqvmXbq4fh3j6AqAVKnCtnaD8vuTjXv3feV43KJdJGg/edit?usp=sharing</a:t>
            </a:r>
            <a:endParaRPr lang="en-US" sz="10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Daily Schedule &amp; Routine Template</a:t>
            </a:r>
            <a:pPr indent="0" marL="0">
              <a:buNone/>
            </a:pPr>
            <a:r>
              <a:rPr lang="en-US" sz="900" dirty="0">
                <a:solidFill>
                  <a:srgbClr val="5A6B8A"/>
                </a:solidFill>
                <a:latin typeface="Source Sans 3" pitchFamily="34" charset="0"/>
                <a:ea typeface="Source Sans 3" pitchFamily="34" charset="-122"/>
                <a:cs typeface="Source Sans 3" pitchFamily="34" charset="-120"/>
              </a:rPr>
              <a:t> — Master daily routine template — timing for supplements, peptides, and therapies</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https://docs.google.com/document/d/1K_36WNxm-dAwDHKqz8juGMHJHzRRzBp2OSwiMA1Wx-Q/edit?usp=sharing</a:t>
            </a:r>
            <a:endParaRPr lang="en-US" sz="10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Detox Bath Protocol</a:t>
            </a:r>
            <a:pPr indent="0" marL="0">
              <a:buNone/>
            </a:pPr>
            <a:r>
              <a:rPr lang="en-US" sz="900" dirty="0">
                <a:solidFill>
                  <a:srgbClr val="5A6B8A"/>
                </a:solidFill>
                <a:latin typeface="Source Sans 3" pitchFamily="34" charset="0"/>
                <a:ea typeface="Source Sans 3" pitchFamily="34" charset="-122"/>
                <a:cs typeface="Source Sans 3" pitchFamily="34" charset="-120"/>
              </a:rPr>
              <a:t> — Baking soda, bentonite clay, and Epsom salt detox bath instructions — 3x/week minimum for chelation support</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https://docs.google.com/document/d/1eTxPg5XQj8R_vJ2kHJ5ZqN9dLfMwY3CaU8PnxC6mkfI/edit?usp=sharing</a:t>
            </a:r>
            <a:endParaRPr lang="en-US" sz="10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Liver &amp; Gallbladder Cleanse Guide</a:t>
            </a:r>
            <a:pPr indent="0" marL="0">
              <a:buNone/>
            </a:pPr>
            <a:r>
              <a:rPr lang="en-US" sz="900" dirty="0">
                <a:solidFill>
                  <a:srgbClr val="5A6B8A"/>
                </a:solidFill>
                <a:latin typeface="Source Sans 3" pitchFamily="34" charset="0"/>
                <a:ea typeface="Source Sans 3" pitchFamily="34" charset="-122"/>
                <a:cs typeface="Source Sans 3" pitchFamily="34" charset="-120"/>
              </a:rPr>
              <a:t> — Step-by-step liver/gallbladder cleanse protocol — flush preparation, execution, and recovery phases</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https://docs.google.com/document/d/1RmT4kQv5nJ9bH2cFgY7LwXpZ3sDqEfNvK8AhJm6wT0U/edit?usp=sharing</a:t>
            </a:r>
            <a:endParaRPr lang="en-US" sz="1000" dirty="0"/>
          </a:p>
        </p:txBody>
      </p:sp>
      <p:sp>
        <p:nvSpPr>
          <p:cNvPr id="6" name="Shape 4"/>
          <p:cNvSpPr/>
          <p:nvPr/>
        </p:nvSpPr>
        <p:spPr>
          <a:xfrm>
            <a:off x="457200" y="3840480"/>
            <a:ext cx="8229600" cy="10058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7" name="Text 5"/>
          <p:cNvSpPr/>
          <p:nvPr/>
        </p:nvSpPr>
        <p:spPr>
          <a:xfrm>
            <a:off x="640080" y="3886200"/>
            <a:ext cx="7863840" cy="914400"/>
          </a:xfrm>
          <a:prstGeom prst="rect">
            <a:avLst/>
          </a:prstGeom>
          <a:noFill/>
          <a:ln/>
        </p:spPr>
        <p:txBody>
          <a:bodyPr wrap="square" rtlCol="0" anchor="t"/>
          <a:lstStyle/>
          <a:p>
            <a:pPr indent="0" marL="0">
              <a:buNone/>
            </a:pPr>
            <a:r>
              <a:rPr lang="en-US" sz="1000" b="1" dirty="0">
                <a:solidFill>
                  <a:srgbClr val="1A2440"/>
                </a:solidFill>
                <a:latin typeface="Source Sans 3" pitchFamily="34" charset="0"/>
                <a:ea typeface="Source Sans 3" pitchFamily="34" charset="-122"/>
                <a:cs typeface="Source Sans 3" pitchFamily="34" charset="-120"/>
              </a:rPr>
              <a:t>Jason Stephenson — Sleep Talk Downs</a:t>
            </a:r>
            <a:pPr indent="0" marL="0">
              <a:buNone/>
            </a:pPr>
            <a:r>
              <a:rPr lang="en-US" sz="900" dirty="0">
                <a:solidFill>
                  <a:srgbClr val="5A6B8A"/>
                </a:solidFill>
                <a:latin typeface="Source Sans 3" pitchFamily="34" charset="0"/>
                <a:ea typeface="Source Sans 3" pitchFamily="34" charset="-122"/>
                <a:cs typeface="Source Sans 3" pitchFamily="34" charset="-120"/>
              </a:rPr>
              <a:t> — Guided sleep meditations and talk-downs for restful, restorative sleep — essential for healing</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https://www.youtube.com/@jasonstephensonmeditation</a:t>
            </a:r>
            <a:endParaRPr lang="en-US" sz="10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PowerThoughts Meditation Club — Healing Frequencies</a:t>
            </a:r>
            <a:pPr indent="0" marL="0">
              <a:buNone/>
            </a:pPr>
            <a:r>
              <a:rPr lang="en-US" sz="900" dirty="0">
                <a:solidFill>
                  <a:srgbClr val="5A6B8A"/>
                </a:solidFill>
                <a:latin typeface="Source Sans 3" pitchFamily="34" charset="0"/>
                <a:ea typeface="Source Sans 3" pitchFamily="34" charset="-122"/>
                <a:cs typeface="Source Sans 3" pitchFamily="34" charset="-120"/>
              </a:rPr>
              <a:t> — Frequency healing work, binaural beats, and solfeggio frequencies for cellular regeneration</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https://www.youtube.com/@PowerThoughtsclub</a:t>
            </a:r>
            <a:endParaRPr lang="en-US" sz="1000" dirty="0"/>
          </a:p>
          <a:p>
            <a:pPr indent="0" marL="0">
              <a:buNone/>
            </a:pPr>
            <a:r>
              <a:rPr lang="en-US" sz="1000" b="1" dirty="0">
                <a:solidFill>
                  <a:srgbClr val="1A2440"/>
                </a:solidFill>
                <a:latin typeface="Source Sans 3" pitchFamily="34" charset="0"/>
                <a:ea typeface="Source Sans 3" pitchFamily="34" charset="-122"/>
                <a:cs typeface="Source Sans 3" pitchFamily="34" charset="-120"/>
              </a:rPr>
              <a:t>Dr. Rachel Knox — The Endocannabinoid System (TED Talk)</a:t>
            </a:r>
            <a:pPr indent="0" marL="0">
              <a:buNone/>
            </a:pPr>
            <a:r>
              <a:rPr lang="en-US" sz="900" dirty="0">
                <a:solidFill>
                  <a:srgbClr val="5A6B8A"/>
                </a:solidFill>
                <a:latin typeface="Source Sans 3" pitchFamily="34" charset="0"/>
                <a:ea typeface="Source Sans 3" pitchFamily="34" charset="-122"/>
                <a:cs typeface="Source Sans 3" pitchFamily="34" charset="-120"/>
              </a:rPr>
              <a:t> — Understanding the ECS — the master regulatory system your body uses for homeostasis</a:t>
            </a:r>
            <a:pPr indent="0" marL="0">
              <a:buNone/>
            </a:pPr>
            <a:endParaRPr lang="en-US" sz="1000" dirty="0"/>
          </a:p>
          <a:p>
            <a:pPr indent="0" marL="0">
              <a:buNone/>
            </a:pPr>
            <a:r>
              <a:rPr lang="en-US" sz="800" dirty="0">
                <a:solidFill>
                  <a:srgbClr val="C9A54E"/>
                </a:solidFill>
                <a:latin typeface="Source Sans 3" pitchFamily="34" charset="0"/>
                <a:ea typeface="Source Sans 3" pitchFamily="34" charset="-122"/>
                <a:cs typeface="Source Sans 3" pitchFamily="34" charset="-120"/>
              </a:rPr>
              <a:t>https://www.youtube.com/watch?v=lWGirZAhDGM</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C9A54E"/>
                </a:solidFill>
                <a:latin typeface="Playfair Display" pitchFamily="34" charset="0"/>
                <a:ea typeface="Playfair Display" pitchFamily="34" charset="-122"/>
                <a:cs typeface="Playfair Display" pitchFamily="34" charset="-120"/>
              </a:rPr>
              <a:t>My Commitment to You</a:t>
            </a:r>
            <a:endParaRPr lang="en-US" sz="2800" dirty="0"/>
          </a:p>
        </p:txBody>
      </p:sp>
      <p:sp>
        <p:nvSpPr>
          <p:cNvPr id="3" name="Text 1"/>
          <p:cNvSpPr/>
          <p:nvPr/>
        </p:nvSpPr>
        <p:spPr>
          <a:xfrm>
            <a:off x="640080" y="914400"/>
            <a:ext cx="7863840" cy="2926080"/>
          </a:xfrm>
          <a:prstGeom prst="rect">
            <a:avLst/>
          </a:prstGeom>
          <a:noFill/>
          <a:ln/>
        </p:spPr>
        <p:txBody>
          <a:bodyPr wrap="square" rtlCol="0" anchor="t"/>
          <a:lstStyle/>
          <a:p>
            <a:pPr indent="0" marL="0">
              <a:buNone/>
            </a:pPr>
            <a:r>
              <a:rPr lang="en-US" sz="1100" dirty="0">
                <a:solidFill>
                  <a:srgbClr val="FFFFFF"/>
                </a:solidFill>
                <a:latin typeface="Source Sans 3" pitchFamily="34" charset="0"/>
                <a:ea typeface="Source Sans 3" pitchFamily="34" charset="-122"/>
                <a:cs typeface="Source Sans 3" pitchFamily="34" charset="-120"/>
              </a:rPr>
              <a:t>I will do everything in my power and knowledge to focus on the root of all problems. Most doctors focus only on the symptoms, not the underlying cause of the disease or issue. We will not give up on you, but you need to work with us on every step of this protocol.</a:t>
            </a:r>
            <a:endParaRPr lang="en-US" sz="1100" dirty="0"/>
          </a:p>
          <a:p>
            <a:pPr indent="0" marL="0">
              <a:buNone/>
            </a:pPr>
            <a:endParaRPr lang="en-US" sz="1100" dirty="0"/>
          </a:p>
          <a:p>
            <a:pPr indent="0" marL="0">
              <a:buNone/>
            </a:pPr>
            <a:r>
              <a:rPr lang="en-US" sz="1100" dirty="0">
                <a:solidFill>
                  <a:srgbClr val="FFFFFF"/>
                </a:solidFill>
                <a:latin typeface="Source Sans 3" pitchFamily="34" charset="0"/>
                <a:ea typeface="Source Sans 3" pitchFamily="34" charset="-122"/>
                <a:cs typeface="Source Sans 3" pitchFamily="34" charset="-120"/>
              </a:rPr>
              <a:t>Don't lose hope and don't give up! There is no single pill or capsule that will fix this. Only a commitment to follow the steps laid herein — if you choose to do so, the ECS, the gut, and your body will take care of itself. Homeostasis is about balance in the body.</a:t>
            </a:r>
            <a:endParaRPr lang="en-US" sz="1100" dirty="0"/>
          </a:p>
          <a:p>
            <a:pPr indent="0" marL="0">
              <a:buNone/>
            </a:pPr>
            <a:endParaRPr lang="en-US" sz="1100" dirty="0"/>
          </a:p>
          <a:p>
            <a:pPr indent="0" marL="0">
              <a:buNone/>
            </a:pPr>
            <a:r>
              <a:rPr lang="en-US" sz="1100" dirty="0">
                <a:solidFill>
                  <a:srgbClr val="FFFFFF"/>
                </a:solidFill>
                <a:latin typeface="Source Sans 3" pitchFamily="34" charset="0"/>
                <a:ea typeface="Source Sans 3" pitchFamily="34" charset="-122"/>
                <a:cs typeface="Source Sans 3" pitchFamily="34" charset="-120"/>
              </a:rPr>
              <a:t>We have provided the educational tools and research to help guide you through your journey. Please utilize these resources. These are extremely specific formulations that only a handful of folks know how to do — it's my lifelong work.</a:t>
            </a:r>
            <a:endParaRPr lang="en-US" sz="1100" dirty="0"/>
          </a:p>
          <a:p>
            <a:pPr indent="0" marL="0">
              <a:buNone/>
            </a:pPr>
            <a:endParaRPr lang="en-US" sz="1100" dirty="0"/>
          </a:p>
          <a:p>
            <a:pPr indent="0" marL="0">
              <a:buNone/>
            </a:pPr>
            <a:r>
              <a:rPr lang="en-US" sz="1200" i="1" dirty="0">
                <a:solidFill>
                  <a:srgbClr val="C9A54E"/>
                </a:solidFill>
                <a:latin typeface="Source Sans 3" pitchFamily="34" charset="0"/>
                <a:ea typeface="Source Sans 3" pitchFamily="34" charset="-122"/>
                <a:cs typeface="Source Sans 3" pitchFamily="34" charset="-120"/>
              </a:rPr>
              <a:t>Hope is coming and a solution is in route. There is no doubt in my mind about the efficacy of our formulations and our 5 steps to health and wellness.</a:t>
            </a:r>
            <a:endParaRPr lang="en-US" sz="1100" dirty="0"/>
          </a:p>
          <a:p>
            <a:pPr indent="0" marL="0">
              <a:buNone/>
            </a:pPr>
            <a:endParaRPr lang="en-US" sz="1100" dirty="0"/>
          </a:p>
          <a:p>
            <a:pPr indent="0" marL="0">
              <a:buNone/>
            </a:pPr>
            <a:r>
              <a:rPr lang="en-US" sz="1100" dirty="0">
                <a:solidFill>
                  <a:srgbClr val="FFFFFF"/>
                </a:solidFill>
                <a:latin typeface="Source Sans 3" pitchFamily="34" charset="0"/>
                <a:ea typeface="Source Sans 3" pitchFamily="34" charset="-122"/>
                <a:cs typeface="Source Sans 3" pitchFamily="34" charset="-120"/>
              </a:rPr>
              <a:t>Thank you for giving us this opportunity. We are looking forward to healing you.</a:t>
            </a:r>
            <a:endParaRPr lang="en-US" sz="1100" dirty="0"/>
          </a:p>
        </p:txBody>
      </p:sp>
      <p:sp>
        <p:nvSpPr>
          <p:cNvPr id="4" name="Text 2"/>
          <p:cNvSpPr/>
          <p:nvPr/>
        </p:nvSpPr>
        <p:spPr>
          <a:xfrm>
            <a:off x="0" y="4023360"/>
            <a:ext cx="9144000" cy="365760"/>
          </a:xfrm>
          <a:prstGeom prst="rect">
            <a:avLst/>
          </a:prstGeom>
          <a:noFill/>
          <a:ln/>
        </p:spPr>
        <p:txBody>
          <a:bodyPr wrap="square" rtlCol="0" anchor="ctr"/>
          <a:lstStyle/>
          <a:p>
            <a:pPr algn="ctr" indent="0" marL="0">
              <a:buNone/>
            </a:pPr>
            <a:r>
              <a:rPr lang="en-US" sz="1600" b="1" dirty="0">
                <a:solidFill>
                  <a:srgbClr val="FFFFFF"/>
                </a:solidFill>
                <a:latin typeface="Playfair Display" pitchFamily="34" charset="0"/>
                <a:ea typeface="Playfair Display" pitchFamily="34" charset="-122"/>
                <a:cs typeface="Playfair Display" pitchFamily="34" charset="-120"/>
              </a:rPr>
              <a:t>Michael Blake</a:t>
            </a:r>
            <a:endParaRPr lang="en-US" sz="1600" dirty="0"/>
          </a:p>
        </p:txBody>
      </p:sp>
      <p:sp>
        <p:nvSpPr>
          <p:cNvPr id="5" name="Text 3"/>
          <p:cNvSpPr/>
          <p:nvPr/>
        </p:nvSpPr>
        <p:spPr>
          <a:xfrm>
            <a:off x="0" y="4389120"/>
            <a:ext cx="9144000" cy="274320"/>
          </a:xfrm>
          <a:prstGeom prst="rect">
            <a:avLst/>
          </a:prstGeom>
          <a:noFill/>
          <a:ln/>
        </p:spPr>
        <p:txBody>
          <a:bodyPr wrap="square" rtlCol="0" anchor="ctr"/>
          <a:lstStyle/>
          <a:p>
            <a:pPr algn="ctr" indent="0" marL="0">
              <a:buNone/>
            </a:pPr>
            <a:r>
              <a:rPr lang="en-US" sz="1200" dirty="0">
                <a:solidFill>
                  <a:srgbClr val="C9A54E"/>
                </a:solidFill>
                <a:latin typeface="Source Sans 3" pitchFamily="34" charset="0"/>
                <a:ea typeface="Source Sans 3" pitchFamily="34" charset="-122"/>
                <a:cs typeface="Source Sans 3" pitchFamily="34" charset="-120"/>
              </a:rPr>
              <a:t>FF Founder and Medical Trustee</a:t>
            </a:r>
            <a:endParaRPr lang="en-US" sz="1200" dirty="0"/>
          </a:p>
        </p:txBody>
      </p:sp>
      <p:sp>
        <p:nvSpPr>
          <p:cNvPr id="6" name="Text 4"/>
          <p:cNvSpPr/>
          <p:nvPr/>
        </p:nvSpPr>
        <p:spPr>
          <a:xfrm>
            <a:off x="914400" y="4663440"/>
            <a:ext cx="7315200" cy="365760"/>
          </a:xfrm>
          <a:prstGeom prst="rect">
            <a:avLst/>
          </a:prstGeom>
          <a:noFill/>
          <a:ln/>
        </p:spPr>
        <p:txBody>
          <a:bodyPr wrap="square" rtlCol="0" anchor="ctr"/>
          <a:lstStyle/>
          <a:p>
            <a:pPr algn="ctr" indent="0" marL="0">
              <a:buNone/>
            </a:pPr>
            <a:r>
              <a:rPr lang="en-US" sz="900" i="1" dirty="0">
                <a:solidFill>
                  <a:srgbClr val="8A95B0"/>
                </a:solidFill>
                <a:latin typeface="Source Sans 3" pitchFamily="34" charset="0"/>
                <a:ea typeface="Source Sans 3" pitchFamily="34" charset="-122"/>
                <a:cs typeface="Source Sans 3" pitchFamily="34" charset="-120"/>
              </a:rPr>
              <a:t>"Before you heal someone, ask him if he's willing to give up the things that make him sick"</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Margaret R. — Member Protocol 2026</dc:title>
  <dc:subject>Structural template derived from Trustee reference PPTX (Drive: 1Tc_hVN7M6c2Q41151GXsvrH8OWAZ7hPL). Color theme: Navy (#1A2440/#0A0E1A) + Gold (#C9A54E) + Lavender (#E8EDF5/#C8CFE0). Fonts: Playfair Display (headers) + Source Sans 3 (body). Based on Trustee_Protocol_Template_UPDATE_1773744290526.pptx.</dc:subject>
  <dc:creator>Forgotten Formula PMA — DR. FORMULA</dc:creator>
  <cp:lastModifiedBy>Forgotten Formula PMA — DR. FORMULA</cp:lastModifiedBy>
  <cp:revision>1</cp:revision>
  <dcterms:created xsi:type="dcterms:W3CDTF">2026-03-17T11:21:11Z</dcterms:created>
  <dcterms:modified xsi:type="dcterms:W3CDTF">2026-03-17T11:21:11Z</dcterms:modified>
</cp:coreProperties>
</file>